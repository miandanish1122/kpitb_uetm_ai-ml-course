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Poppi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g5OkAECEQi8Pdp16di+t+G50m5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oppins-bold.fntdata"/><Relationship Id="rId21" Type="http://schemas.openxmlformats.org/officeDocument/2006/relationships/font" Target="fonts/Poppins-regular.fntdata"/><Relationship Id="rId24" Type="http://schemas.openxmlformats.org/officeDocument/2006/relationships/font" Target="fonts/Poppins-boldItalic.fntdata"/><Relationship Id="rId23" Type="http://schemas.openxmlformats.org/officeDocument/2006/relationships/font" Target="fonts/Poppi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Hello. Ashan Ahmad presents Deep Learning Basics. We cover perceptron fundamentals, multi-layer dense networks, and activation choices. The session includes loss functions, optimizers, and training dynamics, ending with a hands-on TensorFlow example to build a simple net.</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Deep learning utilizes hierarchical neural models within machine learning. Recent success in vision and speech has driven its popularity. This beginner-focused session bridges the gap toward practical implementation, using intuitive examples to clarify core concepts.</a:t>
            </a:r>
            <a:endParaRPr/>
          </a:p>
        </p:txBody>
      </p:sp>
      <p:sp>
        <p:nvSpPr>
          <p:cNvPr id="93" name="Google Shape;93;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Biological neurons inspire artificial perceptrons. Human neurons have dendrites for receiving, soma for integrating, and axons for transmitting. Artificial neurons compute weighted sums plus bias, with thresholds determining output, enabling mathematical learning models.</a:t>
            </a:r>
            <a:endParaRPr/>
          </a:p>
        </p:txBody>
      </p:sp>
      <p:sp>
        <p:nvSpPr>
          <p:cNvPr id="102" name="Google Shape;102;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perceptron model serves as a foundational linear classifier in machine learning. It separates data using a hyperplane and updates weights based on errors to learn from binary classification tasks.</a:t>
            </a:r>
            <a:endParaRPr/>
          </a:p>
        </p:txBody>
      </p:sp>
      <p:sp>
        <p:nvSpPr>
          <p:cNvPr id="126" name="Google Shape;12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Single-layer perceptrons handle basic linear tasks but fail with complexity. They struggle with XOR problems due to missing hidden layers for deep feature extraction. This limitation necessitates multi-layer architectures to map intricate non-linear relationships effectively.</a:t>
            </a:r>
            <a:endParaRPr/>
          </a:p>
        </p:txBody>
      </p:sp>
      <p:sp>
        <p:nvSpPr>
          <p:cNvPr id="152" name="Google Shape;15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Multi-Layer Perceptron stacks dense layers, with neurons receiving all previous outputs. It uses a feed-forward flow to propagate data. Crucially, the approximation theorem guarantees the ability to model any continuous mapping with sufficient neurons.</a:t>
            </a:r>
            <a:endParaRPr/>
          </a:p>
        </p:txBody>
      </p:sp>
      <p:sp>
        <p:nvSpPr>
          <p:cNvPr id="171" name="Google Shape;171;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Activation functions introduce non-linearity to neural networks. Sigmoid maps to (0,1) for probabilities but saturates. Tanh outputs (-1,1) centered on zero, yet still faces vanishing gradients. ReLU variants provide sparse activation with efficient gradient flow for better training.</a:t>
            </a:r>
            <a:endParaRPr/>
          </a:p>
        </p:txBody>
      </p:sp>
      <p:sp>
        <p:nvSpPr>
          <p:cNvPr id="189" name="Google Shape;189;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Standard ReLU offers fast computation but suffers from the dead neuron problem. Leaky ReLU fixes this with a small slope for negative inputs, while Parametric ReLU learns this slope during training for better adaptation.</a:t>
            </a:r>
            <a:endParaRPr/>
          </a:p>
        </p:txBody>
      </p:sp>
      <p:sp>
        <p:nvSpPr>
          <p:cNvPr id="208" name="Google Shape;20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Loss functions quantify the gap between predictions and targets. For classification, categorical cross-entropy handles multi-class problems, while binary cross-entropy is for two-class tasks. Regression uses mean squared error. This choice impacts gradient magnitude, training stability, and convergence.</a:t>
            </a:r>
            <a:endParaRPr/>
          </a:p>
        </p:txBody>
      </p:sp>
      <p:sp>
        <p:nvSpPr>
          <p:cNvPr id="233" name="Google Shape;233;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discusses various optimizers used for updating model parameters. Gradient descent simply moves against the gradient. SGD introduces mini-batches for speed. Momentum smooths out updates. Adam combines these advantages for efficient training.</a:t>
            </a:r>
            <a:endParaRPr/>
          </a:p>
        </p:txBody>
      </p:sp>
      <p:sp>
        <p:nvSpPr>
          <p:cNvPr id="264" name="Google Shape;26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slide details the practical workflow of model training. It covers parameter initialization, forward passes, loss computation, gradient propagation, weight updates by the optimizer, and epoch repetition with validation.</a:t>
            </a:r>
            <a:endParaRPr/>
          </a:p>
        </p:txBody>
      </p:sp>
      <p:sp>
        <p:nvSpPr>
          <p:cNvPr id="283" name="Google Shape;283;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covers the fundamental steps for setting up a TensorFlow environment. Start by installing TensorFlow using pip, then import the library in Python. It's crucial to verify GPU availability to leverage hardware acceleration. Consider using Jupyter Notebook for interactive development. Finally, run a quick sanity check by creating a constant tensor to ensure everything is configured properly before starting your machine learning projects.</a:t>
            </a:r>
            <a:endParaRPr/>
          </a:p>
        </p:txBody>
      </p:sp>
      <p:sp>
        <p:nvSpPr>
          <p:cNvPr id="321" name="Google Shape;321;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demonstrates building a simple neural network with TensorFlow. We defined a Sequential model, added Dense layers with ReLU activations, configured a softmax output for classification, compiled with cross-entropy loss and Adam optimizer, then trained on data with 20 epochs and 0.2 validation split. This step-by-step approach provides a solid foundation for building classification models.</a:t>
            </a:r>
            <a:endParaRPr/>
          </a:p>
        </p:txBody>
      </p:sp>
      <p:sp>
        <p:nvSpPr>
          <p:cNvPr id="345" name="Google Shape;345;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by running `model.evaluate` to get baseline metrics. Visualize training curves to check for overfitting. Use the confusion matrix to spot specific error patterns.</a:t>
            </a:r>
            <a:endParaRPr/>
          </a:p>
        </p:txBody>
      </p:sp>
      <p:sp>
        <p:nvSpPr>
          <p:cNvPr id="372" name="Google Shape;372;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covered neural network fundamentals and TensorFlow. Next, explore deep architectures like CNNs and RNNs. Feel free to ask questions now.</a:t>
            </a:r>
            <a:endParaRPr/>
          </a:p>
        </p:txBody>
      </p:sp>
      <p:sp>
        <p:nvSpPr>
          <p:cNvPr id="406" name="Google Shape;406;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E"/>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9.png"/><Relationship Id="rId10" Type="http://schemas.openxmlformats.org/officeDocument/2006/relationships/image" Target="../media/image14.png"/><Relationship Id="rId9"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13.png"/><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image" Target="../media/image17.png"/><Relationship Id="rId5" Type="http://schemas.openxmlformats.org/officeDocument/2006/relationships/image" Target="../media/image10.png"/><Relationship Id="rId6"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16.png"/><Relationship Id="rId6"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84" name="Shape 84"/>
        <p:cNvGrpSpPr/>
        <p:nvPr/>
      </p:nvGrpSpPr>
      <p:grpSpPr>
        <a:xfrm>
          <a:off x="0" y="0"/>
          <a:ext cx="0" cy="0"/>
          <a:chOff x="0" y="0"/>
          <a:chExt cx="0" cy="0"/>
        </a:xfrm>
      </p:grpSpPr>
      <p:sp>
        <p:nvSpPr>
          <p:cNvPr id="85" name="Google Shape;85;p1"/>
          <p:cNvSpPr/>
          <p:nvPr/>
        </p:nvSpPr>
        <p:spPr>
          <a:xfrm>
            <a:off x="6553200" y="1500187"/>
            <a:ext cx="4572000" cy="3857625"/>
          </a:xfrm>
          <a:prstGeom prst="roundRect">
            <a:avLst>
              <a:gd fmla="val 1975" name="adj"/>
            </a:avLst>
          </a:prstGeom>
          <a:solidFill>
            <a:srgbClr val="FFFFFF"/>
          </a:solidFill>
          <a:ln>
            <a:noFill/>
          </a:ln>
          <a:effectLst>
            <a:outerShdw blurRad="57150" rotWithShape="0" dir="5400000" dist="38100">
              <a:srgbClr val="000000">
                <a:alpha val="9803"/>
              </a:srgbClr>
            </a:outerShdw>
          </a:effectLst>
        </p:spPr>
        <p:txBody>
          <a:bodyPr anchorCtr="0" anchor="ctr" bIns="914400" lIns="381000" spcFirstLastPara="1" rIns="381000" wrap="square" tIns="914400">
            <a:noAutofit/>
          </a:bodyPr>
          <a:lstStyle/>
          <a:p>
            <a:pPr indent="0" lvl="0" marL="0" marR="0" rtl="0" algn="ctr">
              <a:spcBef>
                <a:spcPts val="0"/>
              </a:spcBef>
              <a:spcAft>
                <a:spcPts val="0"/>
              </a:spcAft>
              <a:buNone/>
            </a:pPr>
            <a:r>
              <a:t/>
            </a:r>
            <a:endParaRPr b="0" i="0" sz="1800" u="none" cap="none" strike="noStrike">
              <a:solidFill>
                <a:schemeClr val="accent5"/>
              </a:solidFill>
              <a:latin typeface="Calibri"/>
              <a:ea typeface="Calibri"/>
              <a:cs typeface="Calibri"/>
              <a:sym typeface="Calibri"/>
            </a:endParaRPr>
          </a:p>
        </p:txBody>
      </p:sp>
      <p:sp>
        <p:nvSpPr>
          <p:cNvPr id="86" name="Google Shape;86;p1"/>
          <p:cNvSpPr txBox="1"/>
          <p:nvPr/>
        </p:nvSpPr>
        <p:spPr>
          <a:xfrm>
            <a:off x="6934200" y="3212901"/>
            <a:ext cx="3829200" cy="11613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chemeClr val="accent5"/>
                </a:solidFill>
                <a:latin typeface="Poppins"/>
                <a:ea typeface="Poppins"/>
                <a:cs typeface="Poppins"/>
                <a:sym typeface="Poppins"/>
              </a:rPr>
              <a:t>Covers perceptrons, multi-layer networks, loss functions, optimizers, and a TensorFlow example.</a:t>
            </a:r>
            <a:endParaRPr>
              <a:solidFill>
                <a:schemeClr val="accent5"/>
              </a:solidFill>
            </a:endParaRPr>
          </a:p>
        </p:txBody>
      </p:sp>
      <p:sp>
        <p:nvSpPr>
          <p:cNvPr id="87" name="Google Shape;87;p1"/>
          <p:cNvSpPr txBox="1"/>
          <p:nvPr/>
        </p:nvSpPr>
        <p:spPr>
          <a:xfrm>
            <a:off x="609600" y="2895153"/>
            <a:ext cx="4106100" cy="8349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4684"/>
              </a:lnSpc>
              <a:spcBef>
                <a:spcPts val="0"/>
              </a:spcBef>
              <a:spcAft>
                <a:spcPts val="0"/>
              </a:spcAft>
              <a:buNone/>
            </a:pPr>
            <a:r>
              <a:rPr b="1" i="0" lang="en-US" sz="3202" u="none" cap="none" strike="noStrike">
                <a:solidFill>
                  <a:schemeClr val="accent5"/>
                </a:solidFill>
                <a:latin typeface="Poppins"/>
                <a:ea typeface="Poppins"/>
                <a:cs typeface="Poppins"/>
                <a:sym typeface="Poppins"/>
              </a:rPr>
              <a:t>Deep Learning Basics</a:t>
            </a:r>
            <a:endParaRPr>
              <a:solidFill>
                <a:schemeClr val="accent5"/>
              </a:solidFill>
            </a:endParaRPr>
          </a:p>
        </p:txBody>
      </p:sp>
      <p:sp>
        <p:nvSpPr>
          <p:cNvPr id="88" name="Google Shape;88;p1"/>
          <p:cNvSpPr txBox="1"/>
          <p:nvPr/>
        </p:nvSpPr>
        <p:spPr>
          <a:xfrm>
            <a:off x="6934200" y="2414587"/>
            <a:ext cx="3829200" cy="522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300"/>
              </a:lnSpc>
              <a:spcBef>
                <a:spcPts val="0"/>
              </a:spcBef>
              <a:spcAft>
                <a:spcPts val="0"/>
              </a:spcAft>
              <a:buNone/>
            </a:pPr>
            <a:r>
              <a:rPr b="1" i="0" lang="en-US" sz="1597" u="none" cap="none" strike="noStrike">
                <a:solidFill>
                  <a:schemeClr val="accent5"/>
                </a:solidFill>
                <a:latin typeface="Poppins"/>
                <a:ea typeface="Poppins"/>
                <a:cs typeface="Poppins"/>
                <a:sym typeface="Poppins"/>
              </a:rPr>
              <a:t>From Perceptrons to TensorFlow Implementation</a:t>
            </a:r>
            <a:endParaRPr>
              <a:solidFill>
                <a:schemeClr val="accent5"/>
              </a:solidFill>
            </a:endParaRPr>
          </a:p>
        </p:txBody>
      </p:sp>
      <p:sp>
        <p:nvSpPr>
          <p:cNvPr id="89" name="Google Shape;89;p1"/>
          <p:cNvSpPr/>
          <p:nvPr/>
        </p:nvSpPr>
        <p:spPr>
          <a:xfrm>
            <a:off x="609600" y="3908673"/>
            <a:ext cx="1110555" cy="54173"/>
          </a:xfrm>
          <a:prstGeom prst="roundRect">
            <a:avLst>
              <a:gd fmla="val 35165" name="adj"/>
            </a:avLst>
          </a:prstGeom>
          <a:solidFill>
            <a:srgbClr val="92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accent5"/>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94" name="Shape 94"/>
        <p:cNvGrpSpPr/>
        <p:nvPr/>
      </p:nvGrpSpPr>
      <p:grpSpPr>
        <a:xfrm>
          <a:off x="0" y="0"/>
          <a:ext cx="0" cy="0"/>
          <a:chOff x="0" y="0"/>
          <a:chExt cx="0" cy="0"/>
        </a:xfrm>
      </p:grpSpPr>
      <p:pic>
        <p:nvPicPr>
          <p:cNvPr descr="d74bac7f-4839-4750-85f0-651901b1cd72.png" id="95" name="Google Shape;95;p2"/>
          <p:cNvPicPr preferRelativeResize="0"/>
          <p:nvPr/>
        </p:nvPicPr>
        <p:blipFill rotWithShape="1">
          <a:blip r:embed="rId3">
            <a:alphaModFix/>
          </a:blip>
          <a:srcRect b="0" l="0" r="0" t="0"/>
          <a:stretch/>
        </p:blipFill>
        <p:spPr>
          <a:xfrm>
            <a:off x="7719119" y="1762125"/>
            <a:ext cx="3619500" cy="3333750"/>
          </a:xfrm>
          <a:prstGeom prst="rect">
            <a:avLst/>
          </a:prstGeom>
          <a:noFill/>
          <a:ln>
            <a:noFill/>
          </a:ln>
        </p:spPr>
      </p:pic>
      <p:sp>
        <p:nvSpPr>
          <p:cNvPr id="96" name="Google Shape;96;p2"/>
          <p:cNvSpPr txBox="1"/>
          <p:nvPr/>
        </p:nvSpPr>
        <p:spPr>
          <a:xfrm>
            <a:off x="853380" y="3356818"/>
            <a:ext cx="5448300" cy="12375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42500"/>
              </a:lnSpc>
              <a:spcBef>
                <a:spcPts val="0"/>
              </a:spcBef>
              <a:spcAft>
                <a:spcPts val="0"/>
              </a:spcAft>
              <a:buNone/>
            </a:pPr>
            <a:r>
              <a:rPr b="0" i="0" lang="en-US" sz="1200" u="none" cap="none" strike="noStrike">
                <a:solidFill>
                  <a:schemeClr val="accent5"/>
                </a:solidFill>
                <a:latin typeface="Poppins"/>
                <a:ea typeface="Poppins"/>
                <a:cs typeface="Poppins"/>
                <a:sym typeface="Poppins"/>
              </a:rPr>
              <a:t>Deep learning is a </a:t>
            </a:r>
            <a:r>
              <a:rPr b="1" i="0" lang="en-US" sz="1200" u="none" cap="none" strike="noStrike">
                <a:solidFill>
                  <a:schemeClr val="accent5"/>
                </a:solidFill>
                <a:latin typeface="Poppins"/>
                <a:ea typeface="Poppins"/>
                <a:cs typeface="Poppins"/>
                <a:sym typeface="Poppins"/>
              </a:rPr>
              <a:t>subfield of machine learning</a:t>
            </a:r>
            <a:r>
              <a:rPr b="0" i="0" lang="en-US" sz="1200" u="none" cap="none" strike="noStrike">
                <a:solidFill>
                  <a:schemeClr val="accent5"/>
                </a:solidFill>
                <a:latin typeface="Poppins"/>
                <a:ea typeface="Poppins"/>
                <a:cs typeface="Poppins"/>
                <a:sym typeface="Poppins"/>
              </a:rPr>
              <a:t> centered on hierarchical neural models. Breakthroughs in </a:t>
            </a:r>
            <a:r>
              <a:rPr b="1" i="0" lang="en-US" sz="1200" u="none" cap="none" strike="noStrike">
                <a:solidFill>
                  <a:schemeClr val="accent5"/>
                </a:solidFill>
                <a:latin typeface="Poppins"/>
                <a:ea typeface="Poppins"/>
                <a:cs typeface="Poppins"/>
                <a:sym typeface="Poppins"/>
              </a:rPr>
              <a:t>vision, speech, and language</a:t>
            </a:r>
            <a:r>
              <a:rPr b="0" i="0" lang="en-US" sz="1200" u="none" cap="none" strike="noStrike">
                <a:solidFill>
                  <a:schemeClr val="accent5"/>
                </a:solidFill>
                <a:latin typeface="Poppins"/>
                <a:ea typeface="Poppins"/>
                <a:cs typeface="Poppins"/>
                <a:sym typeface="Poppins"/>
              </a:rPr>
              <a:t> have popularized these architectures. Designed for beginners, this session progresses toward practical implementation, illustrating core concepts with </a:t>
            </a:r>
            <a:r>
              <a:rPr b="1" i="0" lang="en-US" sz="1200" u="none" cap="none" strike="noStrike">
                <a:solidFill>
                  <a:schemeClr val="accent5"/>
                </a:solidFill>
                <a:latin typeface="Poppins"/>
                <a:ea typeface="Poppins"/>
                <a:cs typeface="Poppins"/>
                <a:sym typeface="Poppins"/>
              </a:rPr>
              <a:t>intuitive examples</a:t>
            </a:r>
            <a:r>
              <a:rPr b="0" i="0" lang="en-US" sz="1200" u="none" cap="none" strike="noStrike">
                <a:solidFill>
                  <a:schemeClr val="accent5"/>
                </a:solidFill>
                <a:latin typeface="Poppins"/>
                <a:ea typeface="Poppins"/>
                <a:cs typeface="Poppins"/>
                <a:sym typeface="Poppins"/>
              </a:rPr>
              <a:t>.</a:t>
            </a:r>
            <a:endParaRPr>
              <a:solidFill>
                <a:schemeClr val="accent5"/>
              </a:solidFill>
            </a:endParaRPr>
          </a:p>
        </p:txBody>
      </p:sp>
      <p:sp>
        <p:nvSpPr>
          <p:cNvPr id="97" name="Google Shape;97;p2"/>
          <p:cNvSpPr txBox="1"/>
          <p:nvPr/>
        </p:nvSpPr>
        <p:spPr>
          <a:xfrm>
            <a:off x="853380" y="2143869"/>
            <a:ext cx="5448300" cy="828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4000"/>
              </a:lnSpc>
              <a:spcBef>
                <a:spcPts val="0"/>
              </a:spcBef>
              <a:spcAft>
                <a:spcPts val="0"/>
              </a:spcAft>
              <a:buNone/>
            </a:pPr>
            <a:r>
              <a:rPr b="1" i="0" lang="en-US" sz="3202" u="none" cap="none" strike="noStrike">
                <a:solidFill>
                  <a:schemeClr val="accent5"/>
                </a:solidFill>
                <a:latin typeface="Poppins"/>
                <a:ea typeface="Poppins"/>
                <a:cs typeface="Poppins"/>
                <a:sym typeface="Poppins"/>
              </a:rPr>
              <a:t>Introduction to Deep Learning</a:t>
            </a:r>
            <a:endParaRPr>
              <a:solidFill>
                <a:schemeClr val="accent5"/>
              </a:solidFill>
            </a:endParaRPr>
          </a:p>
        </p:txBody>
      </p:sp>
      <p:sp>
        <p:nvSpPr>
          <p:cNvPr id="98" name="Google Shape;98;p2"/>
          <p:cNvSpPr/>
          <p:nvPr/>
        </p:nvSpPr>
        <p:spPr>
          <a:xfrm>
            <a:off x="853380" y="2997844"/>
            <a:ext cx="1110555" cy="54173"/>
          </a:xfrm>
          <a:prstGeom prst="roundRect">
            <a:avLst>
              <a:gd fmla="val 35165" name="adj"/>
            </a:avLst>
          </a:prstGeom>
          <a:solidFill>
            <a:srgbClr val="92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accent5"/>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103" name="Shape 103"/>
        <p:cNvGrpSpPr/>
        <p:nvPr/>
      </p:nvGrpSpPr>
      <p:grpSpPr>
        <a:xfrm>
          <a:off x="0" y="0"/>
          <a:ext cx="0" cy="0"/>
          <a:chOff x="0" y="0"/>
          <a:chExt cx="0" cy="0"/>
        </a:xfrm>
      </p:grpSpPr>
      <p:pic>
        <p:nvPicPr>
          <p:cNvPr descr="a9ea9d7b-42b8-4406-8add-183f786c4418.png" id="104" name="Google Shape;104;p3"/>
          <p:cNvPicPr preferRelativeResize="0"/>
          <p:nvPr/>
        </p:nvPicPr>
        <p:blipFill rotWithShape="1">
          <a:blip r:embed="rId3">
            <a:alphaModFix/>
          </a:blip>
          <a:srcRect b="0" l="0" r="0" t="0"/>
          <a:stretch/>
        </p:blipFill>
        <p:spPr>
          <a:xfrm>
            <a:off x="0" y="0"/>
            <a:ext cx="1219200" cy="6858000"/>
          </a:xfrm>
          <a:prstGeom prst="rect">
            <a:avLst/>
          </a:prstGeom>
          <a:noFill/>
          <a:ln>
            <a:noFill/>
          </a:ln>
        </p:spPr>
      </p:pic>
      <p:pic>
        <p:nvPicPr>
          <p:cNvPr descr="ed0d4076-d092-467e-93ee-7925a923ded0.png" id="105" name="Google Shape;105;p3"/>
          <p:cNvPicPr preferRelativeResize="0"/>
          <p:nvPr/>
        </p:nvPicPr>
        <p:blipFill rotWithShape="1">
          <a:blip r:embed="rId4">
            <a:alphaModFix/>
          </a:blip>
          <a:srcRect b="0" l="0" r="0" t="0"/>
          <a:stretch/>
        </p:blipFill>
        <p:spPr>
          <a:xfrm>
            <a:off x="0" y="5638800"/>
            <a:ext cx="1828800" cy="1219200"/>
          </a:xfrm>
          <a:prstGeom prst="rect">
            <a:avLst/>
          </a:prstGeom>
          <a:noFill/>
          <a:ln>
            <a:noFill/>
          </a:ln>
        </p:spPr>
      </p:pic>
      <p:sp>
        <p:nvSpPr>
          <p:cNvPr id="106" name="Google Shape;106;p3"/>
          <p:cNvSpPr/>
          <p:nvPr/>
        </p:nvSpPr>
        <p:spPr>
          <a:xfrm>
            <a:off x="7772400" y="1981200"/>
            <a:ext cx="3657600" cy="3048000"/>
          </a:xfrm>
          <a:prstGeom prst="roundRect">
            <a:avLst>
              <a:gd fmla="val 5000" name="adj"/>
            </a:avLst>
          </a:prstGeom>
          <a:solidFill>
            <a:srgbClr val="FFFFFF"/>
          </a:solidFill>
          <a:ln>
            <a:noFill/>
          </a:ln>
          <a:effectLst>
            <a:outerShdw blurRad="142875" rotWithShape="0" dir="5400000" dist="95250">
              <a:srgbClr val="000000">
                <a:alpha val="9803"/>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d650ec90-d60b-4647-bfc4-209532a4aafd.png" id="107" name="Google Shape;107;p3"/>
          <p:cNvPicPr preferRelativeResize="0"/>
          <p:nvPr/>
        </p:nvPicPr>
        <p:blipFill rotWithShape="1">
          <a:blip r:embed="rId5">
            <a:alphaModFix/>
          </a:blip>
          <a:srcRect b="0" l="0" r="0" t="0"/>
          <a:stretch/>
        </p:blipFill>
        <p:spPr>
          <a:xfrm>
            <a:off x="7772400" y="1981200"/>
            <a:ext cx="3657600" cy="3048000"/>
          </a:xfrm>
          <a:prstGeom prst="rect">
            <a:avLst/>
          </a:prstGeom>
          <a:noFill/>
          <a:ln>
            <a:noFill/>
          </a:ln>
        </p:spPr>
      </p:pic>
      <p:sp>
        <p:nvSpPr>
          <p:cNvPr id="108" name="Google Shape;108;p3"/>
          <p:cNvSpPr txBox="1"/>
          <p:nvPr/>
        </p:nvSpPr>
        <p:spPr>
          <a:xfrm>
            <a:off x="762000" y="457200"/>
            <a:ext cx="6724800" cy="4929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202" u="none" cap="none" strike="noStrike">
                <a:solidFill>
                  <a:schemeClr val="accent5"/>
                </a:solidFill>
                <a:latin typeface="Poppins"/>
                <a:ea typeface="Poppins"/>
                <a:cs typeface="Poppins"/>
                <a:sym typeface="Poppins"/>
              </a:rPr>
              <a:t>Biological Inspiration &amp; Neurons</a:t>
            </a:r>
            <a:endParaRPr>
              <a:solidFill>
                <a:schemeClr val="accent5"/>
              </a:solidFill>
            </a:endParaRPr>
          </a:p>
        </p:txBody>
      </p:sp>
      <p:sp>
        <p:nvSpPr>
          <p:cNvPr id="109" name="Google Shape;109;p3"/>
          <p:cNvSpPr txBox="1"/>
          <p:nvPr/>
        </p:nvSpPr>
        <p:spPr>
          <a:xfrm>
            <a:off x="1524000" y="2024211"/>
            <a:ext cx="2343300" cy="12654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500" u="none" cap="none" strike="noStrike">
                <a:solidFill>
                  <a:schemeClr val="accent5"/>
                </a:solidFill>
                <a:latin typeface="Poppins"/>
                <a:ea typeface="Poppins"/>
                <a:cs typeface="Poppins"/>
                <a:sym typeface="Poppins"/>
              </a:rPr>
              <a:t>Human neurons inspire perceptrons: dendrites receive, soma integrates, axon transmits</a:t>
            </a:r>
            <a:endParaRPr>
              <a:solidFill>
                <a:schemeClr val="accent5"/>
              </a:solidFill>
            </a:endParaRPr>
          </a:p>
        </p:txBody>
      </p:sp>
      <p:sp>
        <p:nvSpPr>
          <p:cNvPr id="110" name="Google Shape;110;p3"/>
          <p:cNvSpPr txBox="1"/>
          <p:nvPr/>
        </p:nvSpPr>
        <p:spPr>
          <a:xfrm>
            <a:off x="4991100" y="2024211"/>
            <a:ext cx="2343300" cy="10068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500" u="none" cap="none" strike="noStrike">
                <a:solidFill>
                  <a:schemeClr val="accent5"/>
                </a:solidFill>
                <a:latin typeface="Poppins"/>
                <a:ea typeface="Poppins"/>
                <a:cs typeface="Poppins"/>
                <a:sym typeface="Poppins"/>
              </a:rPr>
              <a:t>Artificial neurons compute weighted sums of inputs plus bias terms</a:t>
            </a:r>
            <a:endParaRPr>
              <a:solidFill>
                <a:schemeClr val="accent5"/>
              </a:solidFill>
            </a:endParaRPr>
          </a:p>
        </p:txBody>
      </p:sp>
      <p:sp>
        <p:nvSpPr>
          <p:cNvPr id="111" name="Google Shape;111;p3"/>
          <p:cNvSpPr txBox="1"/>
          <p:nvPr/>
        </p:nvSpPr>
        <p:spPr>
          <a:xfrm>
            <a:off x="1524000" y="4362598"/>
            <a:ext cx="2343300" cy="10068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500" u="none" cap="none" strike="noStrike">
                <a:solidFill>
                  <a:schemeClr val="accent5"/>
                </a:solidFill>
                <a:latin typeface="Poppins"/>
                <a:ea typeface="Poppins"/>
                <a:cs typeface="Poppins"/>
                <a:sym typeface="Poppins"/>
              </a:rPr>
              <a:t>Activation thresholds determine output signals, enabling mathematical learning</a:t>
            </a:r>
            <a:endParaRPr>
              <a:solidFill>
                <a:schemeClr val="accent5"/>
              </a:solidFill>
            </a:endParaRPr>
          </a:p>
        </p:txBody>
      </p:sp>
      <p:sp>
        <p:nvSpPr>
          <p:cNvPr id="112" name="Google Shape;112;p3"/>
          <p:cNvSpPr txBox="1"/>
          <p:nvPr/>
        </p:nvSpPr>
        <p:spPr>
          <a:xfrm>
            <a:off x="1524000" y="3395811"/>
            <a:ext cx="2343300" cy="371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050" u="none" cap="none" strike="noStrike">
                <a:solidFill>
                  <a:schemeClr val="accent5"/>
                </a:solidFill>
                <a:latin typeface="Poppins"/>
                <a:ea typeface="Poppins"/>
                <a:cs typeface="Poppins"/>
                <a:sym typeface="Poppins"/>
              </a:rPr>
              <a:t>Biological structures mirrored in artificial neuron design</a:t>
            </a:r>
            <a:endParaRPr>
              <a:solidFill>
                <a:schemeClr val="accent5"/>
              </a:solidFill>
            </a:endParaRPr>
          </a:p>
        </p:txBody>
      </p:sp>
      <p:sp>
        <p:nvSpPr>
          <p:cNvPr id="113" name="Google Shape;113;p3"/>
          <p:cNvSpPr txBox="1"/>
          <p:nvPr/>
        </p:nvSpPr>
        <p:spPr>
          <a:xfrm>
            <a:off x="4991100" y="3129111"/>
            <a:ext cx="2343300" cy="371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050" u="none" cap="none" strike="noStrike">
                <a:solidFill>
                  <a:schemeClr val="accent5"/>
                </a:solidFill>
                <a:latin typeface="Poppins"/>
                <a:ea typeface="Poppins"/>
                <a:cs typeface="Poppins"/>
                <a:sym typeface="Poppins"/>
              </a:rPr>
              <a:t>Mathematical computation that models signal processing</a:t>
            </a:r>
            <a:endParaRPr>
              <a:solidFill>
                <a:schemeClr val="accent5"/>
              </a:solidFill>
            </a:endParaRPr>
          </a:p>
        </p:txBody>
      </p:sp>
      <p:sp>
        <p:nvSpPr>
          <p:cNvPr id="114" name="Google Shape;114;p3"/>
          <p:cNvSpPr txBox="1"/>
          <p:nvPr/>
        </p:nvSpPr>
        <p:spPr>
          <a:xfrm>
            <a:off x="1524000" y="5467498"/>
            <a:ext cx="2343300" cy="371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050" u="none" cap="none" strike="noStrike">
                <a:solidFill>
                  <a:schemeClr val="accent5"/>
                </a:solidFill>
                <a:latin typeface="Poppins"/>
                <a:ea typeface="Poppins"/>
                <a:cs typeface="Poppins"/>
                <a:sym typeface="Poppins"/>
              </a:rPr>
              <a:t>Threshold functions abstract biological firing mechanisms</a:t>
            </a:r>
            <a:endParaRPr>
              <a:solidFill>
                <a:schemeClr val="accent5"/>
              </a:solidFill>
            </a:endParaRPr>
          </a:p>
        </p:txBody>
      </p:sp>
      <p:sp>
        <p:nvSpPr>
          <p:cNvPr id="115" name="Google Shape;115;p3"/>
          <p:cNvSpPr/>
          <p:nvPr/>
        </p:nvSpPr>
        <p:spPr>
          <a:xfrm>
            <a:off x="914400" y="2024211"/>
            <a:ext cx="457200" cy="457200"/>
          </a:xfrm>
          <a:prstGeom prst="roundRect">
            <a:avLst>
              <a:gd fmla="val 50000" name="adj"/>
            </a:avLst>
          </a:prstGeom>
          <a:solidFill>
            <a:srgbClr val="9333EA"/>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3"/>
          <p:cNvSpPr/>
          <p:nvPr/>
        </p:nvSpPr>
        <p:spPr>
          <a:xfrm>
            <a:off x="4381500" y="2024211"/>
            <a:ext cx="457200" cy="457200"/>
          </a:xfrm>
          <a:prstGeom prst="roundRect">
            <a:avLst>
              <a:gd fmla="val 50000" name="adj"/>
            </a:avLst>
          </a:prstGeom>
          <a:solidFill>
            <a:srgbClr val="9333EA"/>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3"/>
          <p:cNvSpPr/>
          <p:nvPr/>
        </p:nvSpPr>
        <p:spPr>
          <a:xfrm>
            <a:off x="914400" y="4362598"/>
            <a:ext cx="457200" cy="457200"/>
          </a:xfrm>
          <a:prstGeom prst="roundRect">
            <a:avLst>
              <a:gd fmla="val 50000" name="adj"/>
            </a:avLst>
          </a:prstGeom>
          <a:solidFill>
            <a:srgbClr val="9333EA"/>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6e295b21-071e-42ed-9737-a0f15cf29369.png" id="118" name="Google Shape;118;p3"/>
          <p:cNvPicPr preferRelativeResize="0"/>
          <p:nvPr/>
        </p:nvPicPr>
        <p:blipFill rotWithShape="1">
          <a:blip r:embed="rId6">
            <a:alphaModFix/>
          </a:blip>
          <a:srcRect b="0" l="0" r="0" t="0"/>
          <a:stretch/>
        </p:blipFill>
        <p:spPr>
          <a:xfrm>
            <a:off x="8077200" y="1066800"/>
            <a:ext cx="762000" cy="190500"/>
          </a:xfrm>
          <a:prstGeom prst="rect">
            <a:avLst/>
          </a:prstGeom>
          <a:noFill/>
          <a:ln>
            <a:noFill/>
          </a:ln>
        </p:spPr>
      </p:pic>
      <p:pic>
        <p:nvPicPr>
          <p:cNvPr descr="6bdced4b-cccb-4b1c-89b6-bec11c46cb7b.png" id="119" name="Google Shape;119;p3"/>
          <p:cNvPicPr preferRelativeResize="0"/>
          <p:nvPr/>
        </p:nvPicPr>
        <p:blipFill rotWithShape="1">
          <a:blip r:embed="rId7">
            <a:alphaModFix/>
          </a:blip>
          <a:srcRect b="0" l="0" r="0" t="0"/>
          <a:stretch/>
        </p:blipFill>
        <p:spPr>
          <a:xfrm>
            <a:off x="10820400" y="762000"/>
            <a:ext cx="304800" cy="304800"/>
          </a:xfrm>
          <a:prstGeom prst="rect">
            <a:avLst/>
          </a:prstGeom>
          <a:noFill/>
          <a:ln>
            <a:noFill/>
          </a:ln>
        </p:spPr>
      </p:pic>
      <p:pic>
        <p:nvPicPr>
          <p:cNvPr descr="6043d118-ca18-4c92-b0c9-83733bb1e1d1.png" id="120" name="Google Shape;120;p3"/>
          <p:cNvPicPr preferRelativeResize="0"/>
          <p:nvPr/>
        </p:nvPicPr>
        <p:blipFill rotWithShape="1">
          <a:blip r:embed="rId8">
            <a:alphaModFix/>
          </a:blip>
          <a:srcRect b="0" l="0" r="0" t="0"/>
          <a:stretch/>
        </p:blipFill>
        <p:spPr>
          <a:xfrm>
            <a:off x="1028700" y="2141339"/>
            <a:ext cx="228600" cy="228600"/>
          </a:xfrm>
          <a:prstGeom prst="rect">
            <a:avLst/>
          </a:prstGeom>
          <a:noFill/>
          <a:ln>
            <a:noFill/>
          </a:ln>
        </p:spPr>
      </p:pic>
      <p:pic>
        <p:nvPicPr>
          <p:cNvPr descr="b013d93d-1c8c-4277-ae27-340cc70135ae.png" id="121" name="Google Shape;121;p3"/>
          <p:cNvPicPr preferRelativeResize="0"/>
          <p:nvPr/>
        </p:nvPicPr>
        <p:blipFill rotWithShape="1">
          <a:blip r:embed="rId9">
            <a:alphaModFix/>
          </a:blip>
          <a:srcRect b="0" l="0" r="0" t="0"/>
          <a:stretch/>
        </p:blipFill>
        <p:spPr>
          <a:xfrm>
            <a:off x="4495800" y="2141339"/>
            <a:ext cx="228600" cy="228600"/>
          </a:xfrm>
          <a:prstGeom prst="rect">
            <a:avLst/>
          </a:prstGeom>
          <a:noFill/>
          <a:ln>
            <a:noFill/>
          </a:ln>
        </p:spPr>
      </p:pic>
      <p:pic>
        <p:nvPicPr>
          <p:cNvPr descr="12045b0d-d163-4ccb-a194-f51ac2a1c181.png" id="122" name="Google Shape;122;p3"/>
          <p:cNvPicPr preferRelativeResize="0"/>
          <p:nvPr/>
        </p:nvPicPr>
        <p:blipFill rotWithShape="1">
          <a:blip r:embed="rId10">
            <a:alphaModFix/>
          </a:blip>
          <a:srcRect b="0" l="0" r="0" t="0"/>
          <a:stretch/>
        </p:blipFill>
        <p:spPr>
          <a:xfrm>
            <a:off x="1028700" y="4479726"/>
            <a:ext cx="228600" cy="228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127" name="Shape 127"/>
        <p:cNvGrpSpPr/>
        <p:nvPr/>
      </p:nvGrpSpPr>
      <p:grpSpPr>
        <a:xfrm>
          <a:off x="0" y="0"/>
          <a:ext cx="0" cy="0"/>
          <a:chOff x="0" y="0"/>
          <a:chExt cx="0" cy="0"/>
        </a:xfrm>
      </p:grpSpPr>
      <p:pic>
        <p:nvPicPr>
          <p:cNvPr descr="9e001953-9109-4338-a10d-b22bb31fd3c4.png" id="128" name="Google Shape;128;p4"/>
          <p:cNvPicPr preferRelativeResize="0"/>
          <p:nvPr/>
        </p:nvPicPr>
        <p:blipFill rotWithShape="1">
          <a:blip r:embed="rId3">
            <a:alphaModFix/>
          </a:blip>
          <a:srcRect b="0" l="0" r="0" t="0"/>
          <a:stretch/>
        </p:blipFill>
        <p:spPr>
          <a:xfrm>
            <a:off x="762000" y="1372046"/>
            <a:ext cx="5029200" cy="5181153"/>
          </a:xfrm>
          <a:prstGeom prst="rect">
            <a:avLst/>
          </a:prstGeom>
          <a:noFill/>
          <a:ln>
            <a:noFill/>
          </a:ln>
        </p:spPr>
      </p:pic>
      <p:sp>
        <p:nvSpPr>
          <p:cNvPr id="129" name="Google Shape;129;p4"/>
          <p:cNvSpPr txBox="1"/>
          <p:nvPr/>
        </p:nvSpPr>
        <p:spPr>
          <a:xfrm>
            <a:off x="762000" y="457200"/>
            <a:ext cx="10687200" cy="4929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202" u="none" cap="none" strike="noStrike">
                <a:solidFill>
                  <a:srgbClr val="38761D"/>
                </a:solidFill>
                <a:latin typeface="Poppins"/>
                <a:ea typeface="Poppins"/>
                <a:cs typeface="Poppins"/>
                <a:sym typeface="Poppins"/>
              </a:rPr>
              <a:t>The Perceptron Model</a:t>
            </a:r>
            <a:endParaRPr>
              <a:solidFill>
                <a:srgbClr val="38761D"/>
              </a:solidFill>
            </a:endParaRPr>
          </a:p>
        </p:txBody>
      </p:sp>
      <p:sp>
        <p:nvSpPr>
          <p:cNvPr id="130" name="Google Shape;130;p4"/>
          <p:cNvSpPr txBox="1"/>
          <p:nvPr/>
        </p:nvSpPr>
        <p:spPr>
          <a:xfrm>
            <a:off x="6400800" y="1706314"/>
            <a:ext cx="5048400" cy="748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350" u="none" cap="none" strike="noStrike">
                <a:solidFill>
                  <a:schemeClr val="accent5"/>
                </a:solidFill>
                <a:latin typeface="Poppins"/>
                <a:ea typeface="Poppins"/>
                <a:cs typeface="Poppins"/>
                <a:sym typeface="Poppins"/>
              </a:rPr>
              <a:t>A fundamental neural network unit acting as a linear binary classifier. It predicts outcomes using weighted inputs and a step function.</a:t>
            </a:r>
            <a:endParaRPr>
              <a:solidFill>
                <a:schemeClr val="accent5"/>
              </a:solidFill>
            </a:endParaRPr>
          </a:p>
        </p:txBody>
      </p:sp>
      <p:sp>
        <p:nvSpPr>
          <p:cNvPr id="131" name="Google Shape;131;p4"/>
          <p:cNvSpPr txBox="1"/>
          <p:nvPr/>
        </p:nvSpPr>
        <p:spPr>
          <a:xfrm>
            <a:off x="7010400" y="3323183"/>
            <a:ext cx="4438800" cy="4248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200" u="none" cap="none" strike="noStrike">
                <a:solidFill>
                  <a:schemeClr val="accent5"/>
                </a:solidFill>
                <a:latin typeface="Poppins"/>
                <a:ea typeface="Poppins"/>
                <a:cs typeface="Poppins"/>
                <a:sym typeface="Poppins"/>
              </a:rPr>
              <a:t>Separates data via a hyperplane using the step function of weighted inputs and bias.</a:t>
            </a:r>
            <a:endParaRPr>
              <a:solidFill>
                <a:schemeClr val="accent5"/>
              </a:solidFill>
            </a:endParaRPr>
          </a:p>
        </p:txBody>
      </p:sp>
      <p:sp>
        <p:nvSpPr>
          <p:cNvPr id="132" name="Google Shape;132;p4"/>
          <p:cNvSpPr txBox="1"/>
          <p:nvPr/>
        </p:nvSpPr>
        <p:spPr>
          <a:xfrm>
            <a:off x="7010400" y="4523333"/>
            <a:ext cx="4438800" cy="4248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200" u="none" cap="none" strike="noStrike">
                <a:solidFill>
                  <a:schemeClr val="accent5"/>
                </a:solidFill>
                <a:latin typeface="Poppins"/>
                <a:ea typeface="Poppins"/>
                <a:cs typeface="Poppins"/>
                <a:sym typeface="Poppins"/>
              </a:rPr>
              <a:t>Adjusts weights proportionally to error magnitude and input values during training.</a:t>
            </a:r>
            <a:endParaRPr>
              <a:solidFill>
                <a:schemeClr val="accent5"/>
              </a:solidFill>
            </a:endParaRPr>
          </a:p>
        </p:txBody>
      </p:sp>
      <p:sp>
        <p:nvSpPr>
          <p:cNvPr id="133" name="Google Shape;133;p4"/>
          <p:cNvSpPr txBox="1"/>
          <p:nvPr/>
        </p:nvSpPr>
        <p:spPr>
          <a:xfrm>
            <a:off x="7010400" y="5723483"/>
            <a:ext cx="4438800" cy="4248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200" u="none" cap="none" strike="noStrike">
                <a:solidFill>
                  <a:schemeClr val="accent5"/>
                </a:solidFill>
                <a:latin typeface="Poppins"/>
                <a:ea typeface="Poppins"/>
                <a:cs typeface="Poppins"/>
                <a:sym typeface="Poppins"/>
              </a:rPr>
              <a:t>Effective for simple tasks distinguishing between two distinct classes of data.</a:t>
            </a:r>
            <a:endParaRPr>
              <a:solidFill>
                <a:schemeClr val="accent5"/>
              </a:solidFill>
            </a:endParaRPr>
          </a:p>
        </p:txBody>
      </p:sp>
      <p:sp>
        <p:nvSpPr>
          <p:cNvPr id="134" name="Google Shape;134;p4"/>
          <p:cNvSpPr txBox="1"/>
          <p:nvPr/>
        </p:nvSpPr>
        <p:spPr>
          <a:xfrm>
            <a:off x="7010400" y="2846933"/>
            <a:ext cx="4438800" cy="231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500" u="none" cap="none" strike="noStrike">
                <a:solidFill>
                  <a:srgbClr val="00FF00"/>
                </a:solidFill>
                <a:latin typeface="Poppins"/>
                <a:ea typeface="Poppins"/>
                <a:cs typeface="Poppins"/>
                <a:sym typeface="Poppins"/>
              </a:rPr>
              <a:t>Linear Classifier Mechanism</a:t>
            </a:r>
            <a:endParaRPr>
              <a:solidFill>
                <a:srgbClr val="00FF00"/>
              </a:solidFill>
            </a:endParaRPr>
          </a:p>
        </p:txBody>
      </p:sp>
      <p:sp>
        <p:nvSpPr>
          <p:cNvPr id="135" name="Google Shape;135;p4"/>
          <p:cNvSpPr txBox="1"/>
          <p:nvPr/>
        </p:nvSpPr>
        <p:spPr>
          <a:xfrm>
            <a:off x="7010400" y="4047083"/>
            <a:ext cx="4438800" cy="231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500" u="none" cap="none" strike="noStrike">
                <a:solidFill>
                  <a:srgbClr val="00FF00"/>
                </a:solidFill>
                <a:latin typeface="Poppins"/>
                <a:ea typeface="Poppins"/>
                <a:cs typeface="Poppins"/>
                <a:sym typeface="Poppins"/>
              </a:rPr>
              <a:t>Weight Learning Rule</a:t>
            </a:r>
            <a:endParaRPr>
              <a:solidFill>
                <a:srgbClr val="00FF00"/>
              </a:solidFill>
            </a:endParaRPr>
          </a:p>
        </p:txBody>
      </p:sp>
      <p:sp>
        <p:nvSpPr>
          <p:cNvPr id="136" name="Google Shape;136;p4"/>
          <p:cNvSpPr txBox="1"/>
          <p:nvPr/>
        </p:nvSpPr>
        <p:spPr>
          <a:xfrm>
            <a:off x="7010400" y="5247233"/>
            <a:ext cx="4438800" cy="231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500" u="none" cap="none" strike="noStrike">
                <a:solidFill>
                  <a:srgbClr val="00FF00"/>
                </a:solidFill>
                <a:latin typeface="Poppins"/>
                <a:ea typeface="Poppins"/>
                <a:cs typeface="Poppins"/>
                <a:sym typeface="Poppins"/>
              </a:rPr>
              <a:t>Binary Classification</a:t>
            </a:r>
            <a:endParaRPr>
              <a:solidFill>
                <a:srgbClr val="00FF00"/>
              </a:solidFill>
            </a:endParaRPr>
          </a:p>
        </p:txBody>
      </p:sp>
      <p:sp>
        <p:nvSpPr>
          <p:cNvPr id="137" name="Google Shape;137;p4"/>
          <p:cNvSpPr/>
          <p:nvPr/>
        </p:nvSpPr>
        <p:spPr>
          <a:xfrm>
            <a:off x="6400800" y="2846933"/>
            <a:ext cx="457200" cy="457200"/>
          </a:xfrm>
          <a:prstGeom prst="roundRect">
            <a:avLst>
              <a:gd fmla="val 16666" name="adj"/>
            </a:avLst>
          </a:prstGeom>
          <a:solidFill>
            <a:srgbClr val="9333EA"/>
          </a:solidFill>
          <a:ln>
            <a:noFill/>
          </a:ln>
          <a:effectLst>
            <a:outerShdw blurRad="57150" rotWithShape="0" dir="5400000" dist="38100">
              <a:srgbClr val="000000">
                <a:alpha val="9803"/>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4"/>
          <p:cNvSpPr/>
          <p:nvPr/>
        </p:nvSpPr>
        <p:spPr>
          <a:xfrm>
            <a:off x="6400800" y="4047083"/>
            <a:ext cx="457200" cy="457200"/>
          </a:xfrm>
          <a:prstGeom prst="roundRect">
            <a:avLst>
              <a:gd fmla="val 16666" name="adj"/>
            </a:avLst>
          </a:prstGeom>
          <a:solidFill>
            <a:srgbClr val="9333EA"/>
          </a:solidFill>
          <a:ln>
            <a:noFill/>
          </a:ln>
          <a:effectLst>
            <a:outerShdw blurRad="57150" rotWithShape="0" dir="5400000" dist="38100">
              <a:srgbClr val="000000">
                <a:alpha val="9803"/>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4"/>
          <p:cNvSpPr/>
          <p:nvPr/>
        </p:nvSpPr>
        <p:spPr>
          <a:xfrm>
            <a:off x="6400800" y="5247233"/>
            <a:ext cx="457200" cy="457200"/>
          </a:xfrm>
          <a:prstGeom prst="roundRect">
            <a:avLst>
              <a:gd fmla="val 16666" name="adj"/>
            </a:avLst>
          </a:prstGeom>
          <a:solidFill>
            <a:srgbClr val="9333EA"/>
          </a:solidFill>
          <a:ln>
            <a:noFill/>
          </a:ln>
          <a:effectLst>
            <a:outerShdw blurRad="57150" rotWithShape="0" dir="5400000" dist="38100">
              <a:srgbClr val="000000">
                <a:alpha val="9803"/>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51955902-e567-4261-ad6a-e7caf501c352.png" id="140" name="Google Shape;140;p4"/>
          <p:cNvPicPr preferRelativeResize="0"/>
          <p:nvPr/>
        </p:nvPicPr>
        <p:blipFill rotWithShape="1">
          <a:blip r:embed="rId4">
            <a:alphaModFix/>
          </a:blip>
          <a:srcRect b="0" l="0" r="0" t="0"/>
          <a:stretch/>
        </p:blipFill>
        <p:spPr>
          <a:xfrm>
            <a:off x="5257800" y="2134046"/>
            <a:ext cx="228600" cy="228600"/>
          </a:xfrm>
          <a:prstGeom prst="rect">
            <a:avLst/>
          </a:prstGeom>
          <a:noFill/>
          <a:ln>
            <a:noFill/>
          </a:ln>
        </p:spPr>
      </p:pic>
      <p:pic>
        <p:nvPicPr>
          <p:cNvPr descr="a15e8630-839e-46ec-a2c2-a83ca931f64b.png" id="141" name="Google Shape;141;p4"/>
          <p:cNvPicPr preferRelativeResize="0"/>
          <p:nvPr/>
        </p:nvPicPr>
        <p:blipFill rotWithShape="1">
          <a:blip r:embed="rId5">
            <a:alphaModFix/>
          </a:blip>
          <a:srcRect b="0" l="0" r="0" t="0"/>
          <a:stretch/>
        </p:blipFill>
        <p:spPr>
          <a:xfrm>
            <a:off x="6515100" y="2964060"/>
            <a:ext cx="228600" cy="228600"/>
          </a:xfrm>
          <a:prstGeom prst="rect">
            <a:avLst/>
          </a:prstGeom>
          <a:noFill/>
          <a:ln>
            <a:noFill/>
          </a:ln>
        </p:spPr>
      </p:pic>
      <p:pic>
        <p:nvPicPr>
          <p:cNvPr descr="62d09ff6-992d-49ef-800d-79833d6addc9.png" id="142" name="Google Shape;142;p4"/>
          <p:cNvPicPr preferRelativeResize="0"/>
          <p:nvPr/>
        </p:nvPicPr>
        <p:blipFill rotWithShape="1">
          <a:blip r:embed="rId6">
            <a:alphaModFix/>
          </a:blip>
          <a:srcRect b="0" l="0" r="0" t="0"/>
          <a:stretch/>
        </p:blipFill>
        <p:spPr>
          <a:xfrm>
            <a:off x="6515100" y="4164210"/>
            <a:ext cx="228600" cy="228600"/>
          </a:xfrm>
          <a:prstGeom prst="rect">
            <a:avLst/>
          </a:prstGeom>
          <a:noFill/>
          <a:ln>
            <a:noFill/>
          </a:ln>
        </p:spPr>
      </p:pic>
      <p:pic>
        <p:nvPicPr>
          <p:cNvPr descr="02a8104f-446e-4c11-b8cd-9829d198c076.png" id="143" name="Google Shape;143;p4"/>
          <p:cNvPicPr preferRelativeResize="0"/>
          <p:nvPr/>
        </p:nvPicPr>
        <p:blipFill rotWithShape="1">
          <a:blip r:embed="rId7">
            <a:alphaModFix/>
          </a:blip>
          <a:srcRect b="0" l="0" r="0" t="0"/>
          <a:stretch/>
        </p:blipFill>
        <p:spPr>
          <a:xfrm>
            <a:off x="6515100" y="5364360"/>
            <a:ext cx="228600" cy="228600"/>
          </a:xfrm>
          <a:prstGeom prst="rect">
            <a:avLst/>
          </a:prstGeom>
          <a:noFill/>
          <a:ln>
            <a:noFill/>
          </a:ln>
        </p:spPr>
      </p:pic>
      <p:sp>
        <p:nvSpPr>
          <p:cNvPr id="144" name="Google Shape;144;p4"/>
          <p:cNvSpPr/>
          <p:nvPr/>
        </p:nvSpPr>
        <p:spPr>
          <a:xfrm>
            <a:off x="7010400" y="3189833"/>
            <a:ext cx="457200" cy="19050"/>
          </a:xfrm>
          <a:prstGeom prst="roundRect">
            <a:avLst>
              <a:gd fmla="val 100000" name="adj"/>
            </a:avLst>
          </a:prstGeom>
          <a:solidFill>
            <a:srgbClr val="9333EA"/>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4"/>
          <p:cNvSpPr/>
          <p:nvPr/>
        </p:nvSpPr>
        <p:spPr>
          <a:xfrm>
            <a:off x="7010400" y="4389983"/>
            <a:ext cx="457200" cy="19050"/>
          </a:xfrm>
          <a:prstGeom prst="roundRect">
            <a:avLst>
              <a:gd fmla="val 100000" name="adj"/>
            </a:avLst>
          </a:prstGeom>
          <a:solidFill>
            <a:srgbClr val="9333EA"/>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4"/>
          <p:cNvSpPr/>
          <p:nvPr/>
        </p:nvSpPr>
        <p:spPr>
          <a:xfrm>
            <a:off x="7010400" y="5590133"/>
            <a:ext cx="457200" cy="19050"/>
          </a:xfrm>
          <a:prstGeom prst="roundRect">
            <a:avLst>
              <a:gd fmla="val 100000" name="adj"/>
            </a:avLst>
          </a:prstGeom>
          <a:solidFill>
            <a:srgbClr val="9333EA"/>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4"/>
          <p:cNvSpPr/>
          <p:nvPr/>
        </p:nvSpPr>
        <p:spPr>
          <a:xfrm>
            <a:off x="1143000" y="2438548"/>
            <a:ext cx="4267200" cy="3048000"/>
          </a:xfrm>
          <a:prstGeom prst="roundRect">
            <a:avLst>
              <a:gd fmla="val 5000" name="adj"/>
            </a:avLst>
          </a:prstGeom>
          <a:solidFill>
            <a:srgbClr val="FFFFFF"/>
          </a:solidFill>
          <a:ln>
            <a:noFill/>
          </a:ln>
          <a:effectLst>
            <a:outerShdw blurRad="142875" rotWithShape="0" dir="5400000" dist="95250">
              <a:srgbClr val="000000">
                <a:alpha val="9803"/>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df3822c1-e1b4-4560-a7fc-442248d571fd.png" id="148" name="Google Shape;148;p4"/>
          <p:cNvPicPr preferRelativeResize="0"/>
          <p:nvPr/>
        </p:nvPicPr>
        <p:blipFill rotWithShape="1">
          <a:blip r:embed="rId8">
            <a:alphaModFix/>
          </a:blip>
          <a:srcRect b="0" l="0" r="0" t="0"/>
          <a:stretch/>
        </p:blipFill>
        <p:spPr>
          <a:xfrm>
            <a:off x="1143000" y="2438548"/>
            <a:ext cx="4267200" cy="304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153" name="Shape 153"/>
        <p:cNvGrpSpPr/>
        <p:nvPr/>
      </p:nvGrpSpPr>
      <p:grpSpPr>
        <a:xfrm>
          <a:off x="0" y="0"/>
          <a:ext cx="0" cy="0"/>
          <a:chOff x="0" y="0"/>
          <a:chExt cx="0" cy="0"/>
        </a:xfrm>
      </p:grpSpPr>
      <p:sp>
        <p:nvSpPr>
          <p:cNvPr id="154" name="Google Shape;154;p5"/>
          <p:cNvSpPr txBox="1"/>
          <p:nvPr/>
        </p:nvSpPr>
        <p:spPr>
          <a:xfrm>
            <a:off x="599033" y="3915667"/>
            <a:ext cx="3207900" cy="8631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6AA84F"/>
                </a:solidFill>
                <a:latin typeface="Poppins"/>
                <a:ea typeface="Poppins"/>
                <a:cs typeface="Poppins"/>
                <a:sym typeface="Poppins"/>
              </a:rPr>
              <a:t>Fails on non-linearly separable problems like </a:t>
            </a:r>
            <a:r>
              <a:rPr b="1" i="0" lang="en-US" sz="1732" u="none" cap="none" strike="noStrike">
                <a:solidFill>
                  <a:srgbClr val="6AA84F"/>
                </a:solidFill>
                <a:latin typeface="Poppins"/>
                <a:ea typeface="Poppins"/>
                <a:cs typeface="Poppins"/>
                <a:sym typeface="Poppins"/>
              </a:rPr>
              <a:t>XOR</a:t>
            </a:r>
            <a:r>
              <a:rPr b="0" i="0" lang="en-US" sz="1732" u="none" cap="none" strike="noStrike">
                <a:solidFill>
                  <a:srgbClr val="6AA84F"/>
                </a:solidFill>
                <a:latin typeface="Poppins"/>
                <a:ea typeface="Poppins"/>
                <a:cs typeface="Poppins"/>
                <a:sym typeface="Poppins"/>
              </a:rPr>
              <a:t>.</a:t>
            </a:r>
            <a:endParaRPr>
              <a:solidFill>
                <a:srgbClr val="6AA84F"/>
              </a:solidFill>
            </a:endParaRPr>
          </a:p>
        </p:txBody>
      </p:sp>
      <p:sp>
        <p:nvSpPr>
          <p:cNvPr id="155" name="Google Shape;155;p5"/>
          <p:cNvSpPr txBox="1"/>
          <p:nvPr/>
        </p:nvSpPr>
        <p:spPr>
          <a:xfrm>
            <a:off x="8403877" y="3915667"/>
            <a:ext cx="3207900" cy="8631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6AA84F"/>
                </a:solidFill>
                <a:latin typeface="Poppins"/>
                <a:ea typeface="Poppins"/>
                <a:cs typeface="Poppins"/>
                <a:sym typeface="Poppins"/>
              </a:rPr>
              <a:t>Stalls on non-linear boundaries; necessitates </a:t>
            </a:r>
            <a:r>
              <a:rPr b="1" i="0" lang="en-US" sz="1732" u="none" cap="none" strike="noStrike">
                <a:solidFill>
                  <a:srgbClr val="6AA84F"/>
                </a:solidFill>
                <a:latin typeface="Poppins"/>
                <a:ea typeface="Poppins"/>
                <a:cs typeface="Poppins"/>
                <a:sym typeface="Poppins"/>
              </a:rPr>
              <a:t>multi-layer</a:t>
            </a:r>
            <a:r>
              <a:rPr b="0" i="0" lang="en-US" sz="1732" u="none" cap="none" strike="noStrike">
                <a:solidFill>
                  <a:srgbClr val="6AA84F"/>
                </a:solidFill>
                <a:latin typeface="Poppins"/>
                <a:ea typeface="Poppins"/>
                <a:cs typeface="Poppins"/>
                <a:sym typeface="Poppins"/>
              </a:rPr>
              <a:t> nets.</a:t>
            </a:r>
            <a:endParaRPr>
              <a:solidFill>
                <a:srgbClr val="6AA84F"/>
              </a:solidFill>
            </a:endParaRPr>
          </a:p>
        </p:txBody>
      </p:sp>
      <p:sp>
        <p:nvSpPr>
          <p:cNvPr id="156" name="Google Shape;156;p5"/>
          <p:cNvSpPr txBox="1"/>
          <p:nvPr/>
        </p:nvSpPr>
        <p:spPr>
          <a:xfrm>
            <a:off x="4501455" y="3915667"/>
            <a:ext cx="3207900" cy="5649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6AA84F"/>
                </a:solidFill>
                <a:latin typeface="Poppins"/>
                <a:ea typeface="Poppins"/>
                <a:cs typeface="Poppins"/>
                <a:sym typeface="Poppins"/>
              </a:rPr>
              <a:t>No hidden layers restrict </a:t>
            </a:r>
            <a:r>
              <a:rPr b="1" i="0" lang="en-US" sz="1732" u="none" cap="none" strike="noStrike">
                <a:solidFill>
                  <a:srgbClr val="6AA84F"/>
                </a:solidFill>
                <a:latin typeface="Poppins"/>
                <a:ea typeface="Poppins"/>
                <a:cs typeface="Poppins"/>
                <a:sym typeface="Poppins"/>
              </a:rPr>
              <a:t>complex pattern</a:t>
            </a:r>
            <a:r>
              <a:rPr b="0" i="0" lang="en-US" sz="1732" u="none" cap="none" strike="noStrike">
                <a:solidFill>
                  <a:srgbClr val="6AA84F"/>
                </a:solidFill>
                <a:latin typeface="Poppins"/>
                <a:ea typeface="Poppins"/>
                <a:cs typeface="Poppins"/>
                <a:sym typeface="Poppins"/>
              </a:rPr>
              <a:t> learning.</a:t>
            </a:r>
            <a:endParaRPr>
              <a:solidFill>
                <a:srgbClr val="6AA84F"/>
              </a:solidFill>
            </a:endParaRPr>
          </a:p>
        </p:txBody>
      </p:sp>
      <p:sp>
        <p:nvSpPr>
          <p:cNvPr id="157" name="Google Shape;157;p5"/>
          <p:cNvSpPr txBox="1"/>
          <p:nvPr/>
        </p:nvSpPr>
        <p:spPr>
          <a:xfrm>
            <a:off x="599033" y="932408"/>
            <a:ext cx="4106100" cy="4173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4684"/>
              </a:lnSpc>
              <a:spcBef>
                <a:spcPts val="0"/>
              </a:spcBef>
              <a:spcAft>
                <a:spcPts val="0"/>
              </a:spcAft>
              <a:buNone/>
            </a:pPr>
            <a:r>
              <a:rPr b="1" i="0" lang="en-US" sz="3202" u="none" cap="none" strike="noStrike">
                <a:solidFill>
                  <a:srgbClr val="6AA84F"/>
                </a:solidFill>
                <a:latin typeface="Poppins"/>
                <a:ea typeface="Poppins"/>
                <a:cs typeface="Poppins"/>
                <a:sym typeface="Poppins"/>
              </a:rPr>
              <a:t>Perceptron Limits</a:t>
            </a:r>
            <a:endParaRPr>
              <a:solidFill>
                <a:srgbClr val="6AA84F"/>
              </a:solidFill>
            </a:endParaRPr>
          </a:p>
        </p:txBody>
      </p:sp>
      <p:sp>
        <p:nvSpPr>
          <p:cNvPr id="158" name="Google Shape;158;p5"/>
          <p:cNvSpPr txBox="1"/>
          <p:nvPr/>
        </p:nvSpPr>
        <p:spPr>
          <a:xfrm>
            <a:off x="599033" y="2905125"/>
            <a:ext cx="3207900" cy="4923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3997" u="none" cap="none" strike="noStrike">
                <a:solidFill>
                  <a:srgbClr val="00FF00"/>
                </a:solidFill>
                <a:latin typeface="Poppins"/>
                <a:ea typeface="Poppins"/>
                <a:cs typeface="Poppins"/>
                <a:sym typeface="Poppins"/>
              </a:rPr>
              <a:t>LINEAR</a:t>
            </a:r>
            <a:endParaRPr>
              <a:solidFill>
                <a:srgbClr val="00FF00"/>
              </a:solidFill>
            </a:endParaRPr>
          </a:p>
        </p:txBody>
      </p:sp>
      <p:sp>
        <p:nvSpPr>
          <p:cNvPr id="159" name="Google Shape;159;p5"/>
          <p:cNvSpPr txBox="1"/>
          <p:nvPr/>
        </p:nvSpPr>
        <p:spPr>
          <a:xfrm>
            <a:off x="4501455" y="2905125"/>
            <a:ext cx="3207900" cy="4923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3997" u="none" cap="none" strike="noStrike">
                <a:solidFill>
                  <a:srgbClr val="00FF00"/>
                </a:solidFill>
                <a:latin typeface="Poppins"/>
                <a:ea typeface="Poppins"/>
                <a:cs typeface="Poppins"/>
                <a:sym typeface="Poppins"/>
              </a:rPr>
              <a:t>STRUCTURE</a:t>
            </a:r>
            <a:endParaRPr>
              <a:solidFill>
                <a:srgbClr val="00FF00"/>
              </a:solidFill>
            </a:endParaRPr>
          </a:p>
        </p:txBody>
      </p:sp>
      <p:sp>
        <p:nvSpPr>
          <p:cNvPr id="160" name="Google Shape;160;p5"/>
          <p:cNvSpPr txBox="1"/>
          <p:nvPr/>
        </p:nvSpPr>
        <p:spPr>
          <a:xfrm>
            <a:off x="8403877" y="2905125"/>
            <a:ext cx="3207900" cy="4923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3997" u="none" cap="none" strike="noStrike">
                <a:solidFill>
                  <a:srgbClr val="00FF00"/>
                </a:solidFill>
                <a:latin typeface="Poppins"/>
                <a:ea typeface="Poppins"/>
                <a:cs typeface="Poppins"/>
                <a:sym typeface="Poppins"/>
              </a:rPr>
              <a:t>GRADIENT</a:t>
            </a:r>
            <a:endParaRPr>
              <a:solidFill>
                <a:srgbClr val="00FF00"/>
              </a:solidFill>
            </a:endParaRPr>
          </a:p>
        </p:txBody>
      </p:sp>
      <p:sp>
        <p:nvSpPr>
          <p:cNvPr id="161" name="Google Shape;161;p5"/>
          <p:cNvSpPr txBox="1"/>
          <p:nvPr/>
        </p:nvSpPr>
        <p:spPr>
          <a:xfrm>
            <a:off x="4747170" y="3508027"/>
            <a:ext cx="1279500" cy="201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7816"/>
              </a:lnSpc>
              <a:spcBef>
                <a:spcPts val="0"/>
              </a:spcBef>
              <a:spcAft>
                <a:spcPts val="0"/>
              </a:spcAft>
              <a:buNone/>
            </a:pPr>
            <a:r>
              <a:rPr b="0" i="0" lang="en-US" sz="1305" u="none" cap="none" strike="noStrike">
                <a:solidFill>
                  <a:srgbClr val="00FF00"/>
                </a:solidFill>
                <a:latin typeface="Poppins"/>
                <a:ea typeface="Poppins"/>
                <a:cs typeface="Poppins"/>
                <a:sym typeface="Poppins"/>
              </a:rPr>
              <a:t>Representation</a:t>
            </a:r>
            <a:endParaRPr>
              <a:solidFill>
                <a:srgbClr val="00FF00"/>
              </a:solidFill>
            </a:endParaRPr>
          </a:p>
        </p:txBody>
      </p:sp>
      <p:sp>
        <p:nvSpPr>
          <p:cNvPr id="162" name="Google Shape;162;p5"/>
          <p:cNvSpPr txBox="1"/>
          <p:nvPr/>
        </p:nvSpPr>
        <p:spPr>
          <a:xfrm>
            <a:off x="8649592" y="3508027"/>
            <a:ext cx="1213500" cy="201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7816"/>
              </a:lnSpc>
              <a:spcBef>
                <a:spcPts val="0"/>
              </a:spcBef>
              <a:spcAft>
                <a:spcPts val="0"/>
              </a:spcAft>
              <a:buNone/>
            </a:pPr>
            <a:r>
              <a:rPr b="0" i="0" lang="en-US" sz="1305" u="none" cap="none" strike="noStrike">
                <a:solidFill>
                  <a:srgbClr val="00FF00"/>
                </a:solidFill>
                <a:latin typeface="Poppins"/>
                <a:ea typeface="Poppins"/>
                <a:cs typeface="Poppins"/>
                <a:sym typeface="Poppins"/>
              </a:rPr>
              <a:t>Learning Stalls</a:t>
            </a:r>
            <a:endParaRPr>
              <a:solidFill>
                <a:srgbClr val="00FF00"/>
              </a:solidFill>
            </a:endParaRPr>
          </a:p>
        </p:txBody>
      </p:sp>
      <p:sp>
        <p:nvSpPr>
          <p:cNvPr id="163" name="Google Shape;163;p5"/>
          <p:cNvSpPr txBox="1"/>
          <p:nvPr/>
        </p:nvSpPr>
        <p:spPr>
          <a:xfrm>
            <a:off x="844748" y="3508027"/>
            <a:ext cx="1086900" cy="201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7816"/>
              </a:lnSpc>
              <a:spcBef>
                <a:spcPts val="0"/>
              </a:spcBef>
              <a:spcAft>
                <a:spcPts val="0"/>
              </a:spcAft>
              <a:buNone/>
            </a:pPr>
            <a:r>
              <a:rPr b="0" i="0" lang="en-US" sz="1305" u="none" cap="none" strike="noStrike">
                <a:solidFill>
                  <a:srgbClr val="00FF00"/>
                </a:solidFill>
                <a:latin typeface="Poppins"/>
                <a:ea typeface="Poppins"/>
                <a:cs typeface="Poppins"/>
                <a:sym typeface="Poppins"/>
              </a:rPr>
              <a:t>XOR Problem</a:t>
            </a:r>
            <a:endParaRPr>
              <a:solidFill>
                <a:srgbClr val="00FF00"/>
              </a:solidFill>
            </a:endParaRPr>
          </a:p>
        </p:txBody>
      </p:sp>
      <p:sp>
        <p:nvSpPr>
          <p:cNvPr id="164" name="Google Shape;164;p5"/>
          <p:cNvSpPr/>
          <p:nvPr/>
        </p:nvSpPr>
        <p:spPr>
          <a:xfrm>
            <a:off x="599033" y="1515367"/>
            <a:ext cx="1110555" cy="54173"/>
          </a:xfrm>
          <a:prstGeom prst="rect">
            <a:avLst/>
          </a:prstGeom>
          <a:solidFill>
            <a:srgbClr val="92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5"/>
          <p:cNvSpPr/>
          <p:nvPr/>
        </p:nvSpPr>
        <p:spPr>
          <a:xfrm>
            <a:off x="599033" y="3565177"/>
            <a:ext cx="150465" cy="150465"/>
          </a:xfrm>
          <a:prstGeom prst="roundRect">
            <a:avLst>
              <a:gd fmla="val 49999" name="adj"/>
            </a:avLst>
          </a:prstGeom>
          <a:solidFill>
            <a:srgbClr val="91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5"/>
          <p:cNvSpPr/>
          <p:nvPr/>
        </p:nvSpPr>
        <p:spPr>
          <a:xfrm>
            <a:off x="4501455" y="3565177"/>
            <a:ext cx="150465" cy="150465"/>
          </a:xfrm>
          <a:prstGeom prst="roundRect">
            <a:avLst>
              <a:gd fmla="val 49999" name="adj"/>
            </a:avLst>
          </a:prstGeom>
          <a:solidFill>
            <a:srgbClr val="91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5"/>
          <p:cNvSpPr/>
          <p:nvPr/>
        </p:nvSpPr>
        <p:spPr>
          <a:xfrm>
            <a:off x="8403877" y="3565177"/>
            <a:ext cx="150465" cy="150465"/>
          </a:xfrm>
          <a:prstGeom prst="roundRect">
            <a:avLst>
              <a:gd fmla="val 49999" name="adj"/>
            </a:avLst>
          </a:prstGeom>
          <a:solidFill>
            <a:srgbClr val="91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172" name="Shape 172"/>
        <p:cNvGrpSpPr/>
        <p:nvPr/>
      </p:nvGrpSpPr>
      <p:grpSpPr>
        <a:xfrm>
          <a:off x="0" y="0"/>
          <a:ext cx="0" cy="0"/>
          <a:chOff x="0" y="0"/>
          <a:chExt cx="0" cy="0"/>
        </a:xfrm>
      </p:grpSpPr>
      <p:pic>
        <p:nvPicPr>
          <p:cNvPr descr="eee87989-2245-4dde-a29d-cb83564c455d.png" id="173" name="Google Shape;173;p6"/>
          <p:cNvPicPr preferRelativeResize="0"/>
          <p:nvPr/>
        </p:nvPicPr>
        <p:blipFill rotWithShape="1">
          <a:blip r:embed="rId3">
            <a:alphaModFix/>
          </a:blip>
          <a:srcRect b="0" l="0" r="0" t="0"/>
          <a:stretch/>
        </p:blipFill>
        <p:spPr>
          <a:xfrm>
            <a:off x="0" y="6096000"/>
            <a:ext cx="12192000" cy="762000"/>
          </a:xfrm>
          <a:prstGeom prst="rect">
            <a:avLst/>
          </a:prstGeom>
          <a:noFill/>
          <a:ln>
            <a:noFill/>
          </a:ln>
        </p:spPr>
      </p:pic>
      <p:sp>
        <p:nvSpPr>
          <p:cNvPr id="174" name="Google Shape;174;p6"/>
          <p:cNvSpPr txBox="1"/>
          <p:nvPr/>
        </p:nvSpPr>
        <p:spPr>
          <a:xfrm>
            <a:off x="762000" y="457200"/>
            <a:ext cx="7334400" cy="9858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2" u="none" cap="none" strike="noStrike">
                <a:solidFill>
                  <a:srgbClr val="6AA84F"/>
                </a:solidFill>
                <a:latin typeface="Poppins"/>
                <a:ea typeface="Poppins"/>
                <a:cs typeface="Poppins"/>
                <a:sym typeface="Poppins"/>
              </a:rPr>
              <a:t>Multi‑Layer Perceptron Architecture</a:t>
            </a:r>
            <a:endParaRPr>
              <a:solidFill>
                <a:srgbClr val="6AA84F"/>
              </a:solidFill>
            </a:endParaRPr>
          </a:p>
        </p:txBody>
      </p:sp>
      <p:pic>
        <p:nvPicPr>
          <p:cNvPr descr="68891483-694a-4541-b03d-da4a11aa438d.png" id="175" name="Google Shape;175;p6"/>
          <p:cNvPicPr preferRelativeResize="0"/>
          <p:nvPr/>
        </p:nvPicPr>
        <p:blipFill rotWithShape="1">
          <a:blip r:embed="rId4">
            <a:alphaModFix/>
          </a:blip>
          <a:srcRect b="0" l="0" r="0" t="0"/>
          <a:stretch/>
        </p:blipFill>
        <p:spPr>
          <a:xfrm>
            <a:off x="8382000" y="457200"/>
            <a:ext cx="3048000" cy="1828800"/>
          </a:xfrm>
          <a:prstGeom prst="rect">
            <a:avLst/>
          </a:prstGeom>
          <a:noFill/>
          <a:ln>
            <a:noFill/>
          </a:ln>
        </p:spPr>
      </p:pic>
      <p:sp>
        <p:nvSpPr>
          <p:cNvPr id="176" name="Google Shape;176;p6"/>
          <p:cNvSpPr txBox="1"/>
          <p:nvPr/>
        </p:nvSpPr>
        <p:spPr>
          <a:xfrm>
            <a:off x="1384548" y="3086100"/>
            <a:ext cx="4578000" cy="6651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200" u="none" cap="none" strike="noStrike">
                <a:solidFill>
                  <a:srgbClr val="00FF00"/>
                </a:solidFill>
                <a:latin typeface="Poppins"/>
                <a:ea typeface="Poppins"/>
                <a:cs typeface="Poppins"/>
                <a:sym typeface="Poppins"/>
              </a:rPr>
              <a:t>Stacks dense layers where each neuron receives all outputs from the previous layer, typically arranged as input → hidden → output.</a:t>
            </a:r>
            <a:endParaRPr>
              <a:solidFill>
                <a:srgbClr val="00FF00"/>
              </a:solidFill>
            </a:endParaRPr>
          </a:p>
        </p:txBody>
      </p:sp>
      <p:sp>
        <p:nvSpPr>
          <p:cNvPr id="177" name="Google Shape;177;p6"/>
          <p:cNvSpPr txBox="1"/>
          <p:nvPr/>
        </p:nvSpPr>
        <p:spPr>
          <a:xfrm>
            <a:off x="1489174" y="4629150"/>
            <a:ext cx="4473600" cy="6651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200" u="none" cap="none" strike="noStrike">
                <a:solidFill>
                  <a:srgbClr val="00FF00"/>
                </a:solidFill>
                <a:latin typeface="Poppins"/>
                <a:ea typeface="Poppins"/>
                <a:cs typeface="Poppins"/>
                <a:sym typeface="Poppins"/>
              </a:rPr>
              <a:t>Guarantees that the network can model any continuous mapping given a sufficient number of neurons in the architecture.</a:t>
            </a:r>
            <a:endParaRPr>
              <a:solidFill>
                <a:srgbClr val="00FF00"/>
              </a:solidFill>
            </a:endParaRPr>
          </a:p>
        </p:txBody>
      </p:sp>
      <p:sp>
        <p:nvSpPr>
          <p:cNvPr id="178" name="Google Shape;178;p6"/>
          <p:cNvSpPr txBox="1"/>
          <p:nvPr/>
        </p:nvSpPr>
        <p:spPr>
          <a:xfrm>
            <a:off x="6960096" y="3086100"/>
            <a:ext cx="4488900" cy="4248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200" u="none" cap="none" strike="noStrike">
                <a:solidFill>
                  <a:srgbClr val="00FF00"/>
                </a:solidFill>
                <a:latin typeface="Poppins"/>
                <a:ea typeface="Poppins"/>
                <a:cs typeface="Poppins"/>
                <a:sym typeface="Poppins"/>
              </a:rPr>
              <a:t>Inputs propagate through hidden layers to the output in a feed‑forward manner, ensuring unidirectional data flow.</a:t>
            </a:r>
            <a:endParaRPr>
              <a:solidFill>
                <a:srgbClr val="00FF00"/>
              </a:solidFill>
            </a:endParaRPr>
          </a:p>
        </p:txBody>
      </p:sp>
      <p:sp>
        <p:nvSpPr>
          <p:cNvPr id="179" name="Google Shape;179;p6"/>
          <p:cNvSpPr txBox="1"/>
          <p:nvPr/>
        </p:nvSpPr>
        <p:spPr>
          <a:xfrm>
            <a:off x="1384548" y="2667000"/>
            <a:ext cx="4578000" cy="277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06667"/>
              </a:lnSpc>
              <a:spcBef>
                <a:spcPts val="0"/>
              </a:spcBef>
              <a:spcAft>
                <a:spcPts val="0"/>
              </a:spcAft>
              <a:buNone/>
            </a:pPr>
            <a:r>
              <a:rPr b="1" i="0" lang="en-US" sz="1800" u="none" cap="none" strike="noStrike">
                <a:solidFill>
                  <a:srgbClr val="6AA84F"/>
                </a:solidFill>
                <a:latin typeface="Poppins"/>
                <a:ea typeface="Poppins"/>
                <a:cs typeface="Poppins"/>
                <a:sym typeface="Poppins"/>
              </a:rPr>
              <a:t>Dense Layer Stacking</a:t>
            </a:r>
            <a:endParaRPr>
              <a:solidFill>
                <a:srgbClr val="6AA84F"/>
              </a:solidFill>
            </a:endParaRPr>
          </a:p>
        </p:txBody>
      </p:sp>
      <p:sp>
        <p:nvSpPr>
          <p:cNvPr id="180" name="Google Shape;180;p6"/>
          <p:cNvSpPr txBox="1"/>
          <p:nvPr/>
        </p:nvSpPr>
        <p:spPr>
          <a:xfrm>
            <a:off x="6960096" y="2667000"/>
            <a:ext cx="4488900" cy="277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06667"/>
              </a:lnSpc>
              <a:spcBef>
                <a:spcPts val="0"/>
              </a:spcBef>
              <a:spcAft>
                <a:spcPts val="0"/>
              </a:spcAft>
              <a:buNone/>
            </a:pPr>
            <a:r>
              <a:rPr b="1" i="0" lang="en-US" sz="1800" u="none" cap="none" strike="noStrike">
                <a:solidFill>
                  <a:srgbClr val="6AA84F"/>
                </a:solidFill>
                <a:latin typeface="Poppins"/>
                <a:ea typeface="Poppins"/>
                <a:cs typeface="Poppins"/>
                <a:sym typeface="Poppins"/>
              </a:rPr>
              <a:t>Feed‑Forward Flow</a:t>
            </a:r>
            <a:endParaRPr>
              <a:solidFill>
                <a:srgbClr val="6AA84F"/>
              </a:solidFill>
            </a:endParaRPr>
          </a:p>
        </p:txBody>
      </p:sp>
      <p:sp>
        <p:nvSpPr>
          <p:cNvPr id="181" name="Google Shape;181;p6"/>
          <p:cNvSpPr txBox="1"/>
          <p:nvPr/>
        </p:nvSpPr>
        <p:spPr>
          <a:xfrm>
            <a:off x="1489174" y="4210050"/>
            <a:ext cx="4473600" cy="277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06667"/>
              </a:lnSpc>
              <a:spcBef>
                <a:spcPts val="0"/>
              </a:spcBef>
              <a:spcAft>
                <a:spcPts val="0"/>
              </a:spcAft>
              <a:buNone/>
            </a:pPr>
            <a:r>
              <a:rPr b="1" i="0" lang="en-US" sz="1800" u="none" cap="none" strike="noStrike">
                <a:solidFill>
                  <a:srgbClr val="6AA84F"/>
                </a:solidFill>
                <a:latin typeface="Poppins"/>
                <a:ea typeface="Poppins"/>
                <a:cs typeface="Poppins"/>
                <a:sym typeface="Poppins"/>
              </a:rPr>
              <a:t>Approximation Theorem</a:t>
            </a:r>
            <a:endParaRPr>
              <a:solidFill>
                <a:srgbClr val="6AA84F"/>
              </a:solidFill>
            </a:endParaRPr>
          </a:p>
        </p:txBody>
      </p:sp>
      <p:sp>
        <p:nvSpPr>
          <p:cNvPr id="182" name="Google Shape;182;p6"/>
          <p:cNvSpPr txBox="1"/>
          <p:nvPr/>
        </p:nvSpPr>
        <p:spPr>
          <a:xfrm>
            <a:off x="762000" y="4133850"/>
            <a:ext cx="593824" cy="457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3600" u="none" cap="none" strike="noStrike">
                <a:solidFill>
                  <a:srgbClr val="111827"/>
                </a:solidFill>
                <a:latin typeface="Poppins"/>
                <a:ea typeface="Poppins"/>
                <a:cs typeface="Poppins"/>
                <a:sym typeface="Poppins"/>
              </a:rPr>
              <a:t>03</a:t>
            </a:r>
            <a:endParaRPr/>
          </a:p>
        </p:txBody>
      </p:sp>
      <p:sp>
        <p:nvSpPr>
          <p:cNvPr id="183" name="Google Shape;183;p6"/>
          <p:cNvSpPr txBox="1"/>
          <p:nvPr/>
        </p:nvSpPr>
        <p:spPr>
          <a:xfrm>
            <a:off x="6248400" y="2590800"/>
            <a:ext cx="578346" cy="457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3600" u="none" cap="none" strike="noStrike">
                <a:solidFill>
                  <a:srgbClr val="111827"/>
                </a:solidFill>
                <a:latin typeface="Poppins"/>
                <a:ea typeface="Poppins"/>
                <a:cs typeface="Poppins"/>
                <a:sym typeface="Poppins"/>
              </a:rPr>
              <a:t>02</a:t>
            </a:r>
            <a:endParaRPr/>
          </a:p>
        </p:txBody>
      </p:sp>
      <p:sp>
        <p:nvSpPr>
          <p:cNvPr id="184" name="Google Shape;184;p6"/>
          <p:cNvSpPr txBox="1"/>
          <p:nvPr/>
        </p:nvSpPr>
        <p:spPr>
          <a:xfrm>
            <a:off x="762000" y="2590800"/>
            <a:ext cx="489198" cy="457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3600" u="none" cap="none" strike="noStrike">
                <a:solidFill>
                  <a:srgbClr val="111827"/>
                </a:solidFill>
                <a:latin typeface="Poppins"/>
                <a:ea typeface="Poppins"/>
                <a:cs typeface="Poppins"/>
                <a:sym typeface="Poppins"/>
              </a:rPr>
              <a:t>01</a:t>
            </a:r>
            <a:endParaRPr/>
          </a:p>
        </p:txBody>
      </p:sp>
      <p:sp>
        <p:nvSpPr>
          <p:cNvPr id="185" name="Google Shape;185;p6"/>
          <p:cNvSpPr/>
          <p:nvPr/>
        </p:nvSpPr>
        <p:spPr>
          <a:xfrm>
            <a:off x="762000" y="1626393"/>
            <a:ext cx="914400" cy="38100"/>
          </a:xfrm>
          <a:prstGeom prst="roundRect">
            <a:avLst>
              <a:gd fmla="val 50000" name="adj"/>
            </a:avLst>
          </a:prstGeom>
          <a:solidFill>
            <a:srgbClr val="9333EA"/>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190" name="Shape 190"/>
        <p:cNvGrpSpPr/>
        <p:nvPr/>
      </p:nvGrpSpPr>
      <p:grpSpPr>
        <a:xfrm>
          <a:off x="0" y="0"/>
          <a:ext cx="0" cy="0"/>
          <a:chOff x="0" y="0"/>
          <a:chExt cx="0" cy="0"/>
        </a:xfrm>
      </p:grpSpPr>
      <p:sp>
        <p:nvSpPr>
          <p:cNvPr id="191" name="Google Shape;191;p7"/>
          <p:cNvSpPr txBox="1"/>
          <p:nvPr/>
        </p:nvSpPr>
        <p:spPr>
          <a:xfrm>
            <a:off x="609600" y="609600"/>
            <a:ext cx="7273200" cy="4173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4684"/>
              </a:lnSpc>
              <a:spcBef>
                <a:spcPts val="0"/>
              </a:spcBef>
              <a:spcAft>
                <a:spcPts val="0"/>
              </a:spcAft>
              <a:buNone/>
            </a:pPr>
            <a:r>
              <a:rPr b="1" i="0" lang="en-US" sz="3202" u="none" cap="none" strike="noStrike">
                <a:solidFill>
                  <a:srgbClr val="6AA84F"/>
                </a:solidFill>
                <a:latin typeface="Poppins"/>
                <a:ea typeface="Poppins"/>
                <a:cs typeface="Poppins"/>
                <a:sym typeface="Poppins"/>
              </a:rPr>
              <a:t>Activation Functions</a:t>
            </a:r>
            <a:endParaRPr>
              <a:solidFill>
                <a:srgbClr val="6AA84F"/>
              </a:solidFill>
            </a:endParaRPr>
          </a:p>
        </p:txBody>
      </p:sp>
      <p:sp>
        <p:nvSpPr>
          <p:cNvPr id="192" name="Google Shape;192;p7"/>
          <p:cNvSpPr txBox="1"/>
          <p:nvPr/>
        </p:nvSpPr>
        <p:spPr>
          <a:xfrm>
            <a:off x="4444900" y="3810446"/>
            <a:ext cx="3321000" cy="5865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32" u="none" cap="none" strike="noStrike">
                <a:solidFill>
                  <a:srgbClr val="6AA84F"/>
                </a:solidFill>
                <a:latin typeface="Poppins"/>
                <a:ea typeface="Poppins"/>
                <a:cs typeface="Poppins"/>
                <a:sym typeface="Poppins"/>
              </a:rPr>
              <a:t>Prone to vanishing gradient problem</a:t>
            </a:r>
            <a:endParaRPr>
              <a:solidFill>
                <a:srgbClr val="6AA84F"/>
              </a:solidFill>
            </a:endParaRPr>
          </a:p>
        </p:txBody>
      </p:sp>
      <p:sp>
        <p:nvSpPr>
          <p:cNvPr id="193" name="Google Shape;193;p7"/>
          <p:cNvSpPr txBox="1"/>
          <p:nvPr/>
        </p:nvSpPr>
        <p:spPr>
          <a:xfrm>
            <a:off x="762000" y="2236737"/>
            <a:ext cx="3321000" cy="5865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32" u="none" cap="none" strike="noStrike">
                <a:solidFill>
                  <a:srgbClr val="6AA84F"/>
                </a:solidFill>
                <a:latin typeface="Poppins"/>
                <a:ea typeface="Poppins"/>
                <a:cs typeface="Poppins"/>
                <a:sym typeface="Poppins"/>
              </a:rPr>
              <a:t>Allows networks to capture </a:t>
            </a:r>
            <a:r>
              <a:rPr b="1" i="0" lang="en-US" sz="1732" u="none" cap="none" strike="noStrike">
                <a:solidFill>
                  <a:srgbClr val="6AA84F"/>
                </a:solidFill>
                <a:latin typeface="Poppins"/>
                <a:ea typeface="Poppins"/>
                <a:cs typeface="Poppins"/>
                <a:sym typeface="Poppins"/>
              </a:rPr>
              <a:t>complex patterns</a:t>
            </a:r>
            <a:endParaRPr>
              <a:solidFill>
                <a:srgbClr val="6AA84F"/>
              </a:solidFill>
            </a:endParaRPr>
          </a:p>
        </p:txBody>
      </p:sp>
      <p:sp>
        <p:nvSpPr>
          <p:cNvPr id="194" name="Google Shape;194;p7"/>
          <p:cNvSpPr txBox="1"/>
          <p:nvPr/>
        </p:nvSpPr>
        <p:spPr>
          <a:xfrm>
            <a:off x="8127950" y="2236737"/>
            <a:ext cx="3321000" cy="5865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32" u="none" cap="none" strike="noStrike">
                <a:solidFill>
                  <a:srgbClr val="6AA84F"/>
                </a:solidFill>
                <a:latin typeface="Poppins"/>
                <a:ea typeface="Poppins"/>
                <a:cs typeface="Poppins"/>
                <a:sym typeface="Poppins"/>
              </a:rPr>
              <a:t>Suffers from </a:t>
            </a:r>
            <a:r>
              <a:rPr b="1" i="0" lang="en-US" sz="1732" u="none" cap="none" strike="noStrike">
                <a:solidFill>
                  <a:srgbClr val="6AA84F"/>
                </a:solidFill>
                <a:latin typeface="Poppins"/>
                <a:ea typeface="Poppins"/>
                <a:cs typeface="Poppins"/>
                <a:sym typeface="Poppins"/>
              </a:rPr>
              <a:t>saturation issues</a:t>
            </a:r>
            <a:endParaRPr>
              <a:solidFill>
                <a:srgbClr val="6AA84F"/>
              </a:solidFill>
            </a:endParaRPr>
          </a:p>
        </p:txBody>
      </p:sp>
      <p:sp>
        <p:nvSpPr>
          <p:cNvPr id="195" name="Google Shape;195;p7"/>
          <p:cNvSpPr txBox="1"/>
          <p:nvPr/>
        </p:nvSpPr>
        <p:spPr>
          <a:xfrm>
            <a:off x="762000" y="3810446"/>
            <a:ext cx="3321000" cy="5865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32" u="none" cap="none" strike="noStrike">
                <a:solidFill>
                  <a:srgbClr val="6AA84F"/>
                </a:solidFill>
                <a:latin typeface="Poppins"/>
                <a:ea typeface="Poppins"/>
                <a:cs typeface="Poppins"/>
                <a:sym typeface="Poppins"/>
              </a:rPr>
              <a:t>Outputs centered around </a:t>
            </a:r>
            <a:r>
              <a:rPr b="1" i="0" lang="en-US" sz="1732" u="none" cap="none" strike="noStrike">
                <a:solidFill>
                  <a:srgbClr val="6AA84F"/>
                </a:solidFill>
                <a:latin typeface="Poppins"/>
                <a:ea typeface="Poppins"/>
                <a:cs typeface="Poppins"/>
                <a:sym typeface="Poppins"/>
              </a:rPr>
              <a:t>zero (-1,1)</a:t>
            </a:r>
            <a:endParaRPr>
              <a:solidFill>
                <a:srgbClr val="6AA84F"/>
              </a:solidFill>
            </a:endParaRPr>
          </a:p>
        </p:txBody>
      </p:sp>
      <p:sp>
        <p:nvSpPr>
          <p:cNvPr id="196" name="Google Shape;196;p7"/>
          <p:cNvSpPr txBox="1"/>
          <p:nvPr/>
        </p:nvSpPr>
        <p:spPr>
          <a:xfrm>
            <a:off x="8127950" y="3810446"/>
            <a:ext cx="3321000" cy="5865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732" u="none" cap="none" strike="noStrike">
                <a:solidFill>
                  <a:srgbClr val="6AA84F"/>
                </a:solidFill>
                <a:latin typeface="Poppins"/>
                <a:ea typeface="Poppins"/>
                <a:cs typeface="Poppins"/>
                <a:sym typeface="Poppins"/>
              </a:rPr>
              <a:t>Sparse activation</a:t>
            </a:r>
            <a:r>
              <a:rPr b="0" i="0" lang="en-US" sz="1732" u="none" cap="none" strike="noStrike">
                <a:solidFill>
                  <a:srgbClr val="6AA84F"/>
                </a:solidFill>
                <a:latin typeface="Poppins"/>
                <a:ea typeface="Poppins"/>
                <a:cs typeface="Poppins"/>
                <a:sym typeface="Poppins"/>
              </a:rPr>
              <a:t> and efficient gradients</a:t>
            </a:r>
            <a:endParaRPr>
              <a:solidFill>
                <a:srgbClr val="6AA84F"/>
              </a:solidFill>
            </a:endParaRPr>
          </a:p>
        </p:txBody>
      </p:sp>
      <p:sp>
        <p:nvSpPr>
          <p:cNvPr id="197" name="Google Shape;197;p7"/>
          <p:cNvSpPr txBox="1"/>
          <p:nvPr/>
        </p:nvSpPr>
        <p:spPr>
          <a:xfrm>
            <a:off x="4444900" y="2236737"/>
            <a:ext cx="3321000" cy="266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32" u="none" cap="none" strike="noStrike">
                <a:solidFill>
                  <a:srgbClr val="6AA84F"/>
                </a:solidFill>
                <a:latin typeface="Poppins"/>
                <a:ea typeface="Poppins"/>
                <a:cs typeface="Poppins"/>
                <a:sym typeface="Poppins"/>
              </a:rPr>
              <a:t>Maps outputs to range </a:t>
            </a:r>
            <a:r>
              <a:rPr b="1" i="0" lang="en-US" sz="1732" u="none" cap="none" strike="noStrike">
                <a:solidFill>
                  <a:srgbClr val="6AA84F"/>
                </a:solidFill>
                <a:latin typeface="Poppins"/>
                <a:ea typeface="Poppins"/>
                <a:cs typeface="Poppins"/>
                <a:sym typeface="Poppins"/>
              </a:rPr>
              <a:t>(0,1)</a:t>
            </a:r>
            <a:endParaRPr>
              <a:solidFill>
                <a:srgbClr val="6AA84F"/>
              </a:solidFill>
            </a:endParaRPr>
          </a:p>
        </p:txBody>
      </p:sp>
      <p:sp>
        <p:nvSpPr>
          <p:cNvPr id="198" name="Google Shape;198;p7"/>
          <p:cNvSpPr txBox="1"/>
          <p:nvPr/>
        </p:nvSpPr>
        <p:spPr>
          <a:xfrm>
            <a:off x="4444900" y="1856333"/>
            <a:ext cx="3321099"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597" u="none" cap="none" strike="noStrike">
                <a:solidFill>
                  <a:srgbClr val="9234EC"/>
                </a:solidFill>
                <a:latin typeface="Poppins"/>
                <a:ea typeface="Poppins"/>
                <a:cs typeface="Poppins"/>
                <a:sym typeface="Poppins"/>
              </a:rPr>
              <a:t>Sigmoid Mapping Range</a:t>
            </a:r>
            <a:endParaRPr/>
          </a:p>
        </p:txBody>
      </p:sp>
      <p:sp>
        <p:nvSpPr>
          <p:cNvPr id="199" name="Google Shape;199;p7"/>
          <p:cNvSpPr txBox="1"/>
          <p:nvPr/>
        </p:nvSpPr>
        <p:spPr>
          <a:xfrm>
            <a:off x="4444900" y="3430041"/>
            <a:ext cx="3321099"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597" u="none" cap="none" strike="noStrike">
                <a:solidFill>
                  <a:srgbClr val="9234EC"/>
                </a:solidFill>
                <a:latin typeface="Poppins"/>
                <a:ea typeface="Poppins"/>
                <a:cs typeface="Poppins"/>
                <a:sym typeface="Poppins"/>
              </a:rPr>
              <a:t>Tanh Gradient Issue</a:t>
            </a:r>
            <a:endParaRPr/>
          </a:p>
        </p:txBody>
      </p:sp>
      <p:sp>
        <p:nvSpPr>
          <p:cNvPr id="200" name="Google Shape;200;p7"/>
          <p:cNvSpPr txBox="1"/>
          <p:nvPr/>
        </p:nvSpPr>
        <p:spPr>
          <a:xfrm>
            <a:off x="762000" y="1856333"/>
            <a:ext cx="3320950"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597" u="none" cap="none" strike="noStrike">
                <a:solidFill>
                  <a:srgbClr val="9234EC"/>
                </a:solidFill>
                <a:latin typeface="Poppins"/>
                <a:ea typeface="Poppins"/>
                <a:cs typeface="Poppins"/>
                <a:sym typeface="Poppins"/>
              </a:rPr>
              <a:t>Introduce Non‑linearity</a:t>
            </a:r>
            <a:endParaRPr/>
          </a:p>
        </p:txBody>
      </p:sp>
      <p:sp>
        <p:nvSpPr>
          <p:cNvPr id="201" name="Google Shape;201;p7"/>
          <p:cNvSpPr txBox="1"/>
          <p:nvPr/>
        </p:nvSpPr>
        <p:spPr>
          <a:xfrm>
            <a:off x="8127950" y="1856333"/>
            <a:ext cx="3320950"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597" u="none" cap="none" strike="noStrike">
                <a:solidFill>
                  <a:srgbClr val="9234EC"/>
                </a:solidFill>
                <a:latin typeface="Poppins"/>
                <a:ea typeface="Poppins"/>
                <a:cs typeface="Poppins"/>
                <a:sym typeface="Poppins"/>
              </a:rPr>
              <a:t>Sigmoid Limitations</a:t>
            </a:r>
            <a:endParaRPr/>
          </a:p>
        </p:txBody>
      </p:sp>
      <p:sp>
        <p:nvSpPr>
          <p:cNvPr id="202" name="Google Shape;202;p7"/>
          <p:cNvSpPr txBox="1"/>
          <p:nvPr/>
        </p:nvSpPr>
        <p:spPr>
          <a:xfrm>
            <a:off x="762000" y="3430041"/>
            <a:ext cx="3320950"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597" u="none" cap="none" strike="noStrike">
                <a:solidFill>
                  <a:srgbClr val="9234EC"/>
                </a:solidFill>
                <a:latin typeface="Poppins"/>
                <a:ea typeface="Poppins"/>
                <a:cs typeface="Poppins"/>
                <a:sym typeface="Poppins"/>
              </a:rPr>
              <a:t>Tanh Output Range</a:t>
            </a:r>
            <a:endParaRPr/>
          </a:p>
        </p:txBody>
      </p:sp>
      <p:sp>
        <p:nvSpPr>
          <p:cNvPr id="203" name="Google Shape;203;p7"/>
          <p:cNvSpPr txBox="1"/>
          <p:nvPr/>
        </p:nvSpPr>
        <p:spPr>
          <a:xfrm>
            <a:off x="8127950" y="3430041"/>
            <a:ext cx="3320950"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597" u="none" cap="none" strike="noStrike">
                <a:solidFill>
                  <a:srgbClr val="9234EC"/>
                </a:solidFill>
                <a:latin typeface="Poppins"/>
                <a:ea typeface="Poppins"/>
                <a:cs typeface="Poppins"/>
                <a:sym typeface="Poppins"/>
              </a:rPr>
              <a:t>ReLU Advantages</a:t>
            </a:r>
            <a:endParaRPr/>
          </a:p>
        </p:txBody>
      </p:sp>
      <p:sp>
        <p:nvSpPr>
          <p:cNvPr id="204" name="Google Shape;204;p7"/>
          <p:cNvSpPr/>
          <p:nvPr/>
        </p:nvSpPr>
        <p:spPr>
          <a:xfrm>
            <a:off x="609600" y="1192559"/>
            <a:ext cx="1110555" cy="54173"/>
          </a:xfrm>
          <a:prstGeom prst="roundRect">
            <a:avLst>
              <a:gd fmla="val 35165" name="adj"/>
            </a:avLst>
          </a:prstGeom>
          <a:solidFill>
            <a:srgbClr val="92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209" name="Shape 209"/>
        <p:cNvGrpSpPr/>
        <p:nvPr/>
      </p:nvGrpSpPr>
      <p:grpSpPr>
        <a:xfrm>
          <a:off x="0" y="0"/>
          <a:ext cx="0" cy="0"/>
          <a:chOff x="0" y="0"/>
          <a:chExt cx="0" cy="0"/>
        </a:xfrm>
      </p:grpSpPr>
      <p:sp>
        <p:nvSpPr>
          <p:cNvPr id="210" name="Google Shape;210;p8"/>
          <p:cNvSpPr txBox="1"/>
          <p:nvPr/>
        </p:nvSpPr>
        <p:spPr>
          <a:xfrm>
            <a:off x="685800" y="571500"/>
            <a:ext cx="10839600" cy="414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4000"/>
              </a:lnSpc>
              <a:spcBef>
                <a:spcPts val="0"/>
              </a:spcBef>
              <a:spcAft>
                <a:spcPts val="0"/>
              </a:spcAft>
              <a:buNone/>
            </a:pPr>
            <a:r>
              <a:rPr b="1" i="0" lang="en-US" sz="3202" u="none" cap="none" strike="noStrike">
                <a:solidFill>
                  <a:srgbClr val="6AA84F"/>
                </a:solidFill>
                <a:latin typeface="Poppins"/>
                <a:ea typeface="Poppins"/>
                <a:cs typeface="Poppins"/>
                <a:sym typeface="Poppins"/>
              </a:rPr>
              <a:t>ReLU and Its Variants</a:t>
            </a:r>
            <a:endParaRPr>
              <a:solidFill>
                <a:srgbClr val="6AA84F"/>
              </a:solidFill>
            </a:endParaRPr>
          </a:p>
        </p:txBody>
      </p:sp>
      <p:sp>
        <p:nvSpPr>
          <p:cNvPr id="211" name="Google Shape;211;p8"/>
          <p:cNvSpPr txBox="1"/>
          <p:nvPr/>
        </p:nvSpPr>
        <p:spPr>
          <a:xfrm>
            <a:off x="685800" y="3683793"/>
            <a:ext cx="3117900" cy="863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732" u="none" cap="none" strike="noStrike">
                <a:solidFill>
                  <a:srgbClr val="6AA84F"/>
                </a:solidFill>
                <a:latin typeface="Poppins"/>
                <a:ea typeface="Poppins"/>
                <a:cs typeface="Poppins"/>
                <a:sym typeface="Poppins"/>
              </a:rPr>
              <a:t>f(x)=max(0,x) offers fast computation and mitigates </a:t>
            </a:r>
            <a:r>
              <a:rPr b="1" i="0" lang="en-US" sz="1732" u="none" cap="none" strike="noStrike">
                <a:solidFill>
                  <a:srgbClr val="6AA84F"/>
                </a:solidFill>
                <a:latin typeface="Poppins"/>
                <a:ea typeface="Poppins"/>
                <a:cs typeface="Poppins"/>
                <a:sym typeface="Poppins"/>
              </a:rPr>
              <a:t>vanishing gradients</a:t>
            </a:r>
            <a:r>
              <a:rPr b="0" i="0" lang="en-US" sz="1732" u="none" cap="none" strike="noStrike">
                <a:solidFill>
                  <a:srgbClr val="6AA84F"/>
                </a:solidFill>
                <a:latin typeface="Poppins"/>
                <a:ea typeface="Poppins"/>
                <a:cs typeface="Poppins"/>
                <a:sym typeface="Poppins"/>
              </a:rPr>
              <a:t>.</a:t>
            </a:r>
            <a:endParaRPr>
              <a:solidFill>
                <a:srgbClr val="6AA84F"/>
              </a:solidFill>
            </a:endParaRPr>
          </a:p>
        </p:txBody>
      </p:sp>
      <p:sp>
        <p:nvSpPr>
          <p:cNvPr id="212" name="Google Shape;212;p8"/>
          <p:cNvSpPr txBox="1"/>
          <p:nvPr/>
        </p:nvSpPr>
        <p:spPr>
          <a:xfrm>
            <a:off x="685800" y="5273724"/>
            <a:ext cx="3117900" cy="863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1732" u="none" cap="none" strike="noStrike">
                <a:solidFill>
                  <a:srgbClr val="6AA84F"/>
                </a:solidFill>
                <a:latin typeface="Poppins"/>
                <a:ea typeface="Poppins"/>
                <a:cs typeface="Poppins"/>
                <a:sym typeface="Poppins"/>
              </a:rPr>
              <a:t>Dead neuron problem</a:t>
            </a:r>
            <a:r>
              <a:rPr b="0" i="0" lang="en-US" sz="1732" u="none" cap="none" strike="noStrike">
                <a:solidFill>
                  <a:srgbClr val="6AA84F"/>
                </a:solidFill>
                <a:latin typeface="Poppins"/>
                <a:ea typeface="Poppins"/>
                <a:cs typeface="Poppins"/>
                <a:sym typeface="Poppins"/>
              </a:rPr>
              <a:t> occurs when inputs stay negative, halting learning.</a:t>
            </a:r>
            <a:endParaRPr>
              <a:solidFill>
                <a:srgbClr val="6AA84F"/>
              </a:solidFill>
            </a:endParaRPr>
          </a:p>
        </p:txBody>
      </p:sp>
      <p:sp>
        <p:nvSpPr>
          <p:cNvPr id="213" name="Google Shape;213;p8"/>
          <p:cNvSpPr txBox="1"/>
          <p:nvPr/>
        </p:nvSpPr>
        <p:spPr>
          <a:xfrm>
            <a:off x="4546550" y="3683793"/>
            <a:ext cx="3117900" cy="863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732" u="none" cap="none" strike="noStrike">
                <a:solidFill>
                  <a:srgbClr val="6AA84F"/>
                </a:solidFill>
                <a:latin typeface="Poppins"/>
                <a:ea typeface="Poppins"/>
                <a:cs typeface="Poppins"/>
                <a:sym typeface="Poppins"/>
              </a:rPr>
              <a:t>Adds small slope for negative region (e.g., 0.01) to prevent zero gradient.</a:t>
            </a:r>
            <a:endParaRPr>
              <a:solidFill>
                <a:srgbClr val="6AA84F"/>
              </a:solidFill>
            </a:endParaRPr>
          </a:p>
        </p:txBody>
      </p:sp>
      <p:sp>
        <p:nvSpPr>
          <p:cNvPr id="214" name="Google Shape;214;p8"/>
          <p:cNvSpPr txBox="1"/>
          <p:nvPr/>
        </p:nvSpPr>
        <p:spPr>
          <a:xfrm>
            <a:off x="4546550" y="5273724"/>
            <a:ext cx="3117900" cy="863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732" u="none" cap="none" strike="noStrike">
                <a:solidFill>
                  <a:srgbClr val="6AA84F"/>
                </a:solidFill>
                <a:latin typeface="Poppins"/>
                <a:ea typeface="Poppins"/>
                <a:cs typeface="Poppins"/>
                <a:sym typeface="Poppins"/>
              </a:rPr>
              <a:t>Allows small gradient when unit inactive, keeping the neuron alive.</a:t>
            </a:r>
            <a:endParaRPr>
              <a:solidFill>
                <a:srgbClr val="6AA84F"/>
              </a:solidFill>
            </a:endParaRPr>
          </a:p>
        </p:txBody>
      </p:sp>
      <p:sp>
        <p:nvSpPr>
          <p:cNvPr id="215" name="Google Shape;215;p8"/>
          <p:cNvSpPr txBox="1"/>
          <p:nvPr/>
        </p:nvSpPr>
        <p:spPr>
          <a:xfrm>
            <a:off x="8407300" y="3683793"/>
            <a:ext cx="3117900" cy="863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1732" u="none" cap="none" strike="noStrike">
                <a:solidFill>
                  <a:srgbClr val="6AA84F"/>
                </a:solidFill>
                <a:latin typeface="Poppins"/>
                <a:ea typeface="Poppins"/>
                <a:cs typeface="Poppins"/>
                <a:sym typeface="Poppins"/>
              </a:rPr>
              <a:t>Learns negative slope</a:t>
            </a:r>
            <a:r>
              <a:rPr b="0" i="0" lang="en-US" sz="1732" u="none" cap="none" strike="noStrike">
                <a:solidFill>
                  <a:srgbClr val="6AA84F"/>
                </a:solidFill>
                <a:latin typeface="Poppins"/>
                <a:ea typeface="Poppins"/>
                <a:cs typeface="Poppins"/>
                <a:sym typeface="Poppins"/>
              </a:rPr>
              <a:t> during training for better adaptation.</a:t>
            </a:r>
            <a:endParaRPr>
              <a:solidFill>
                <a:srgbClr val="6AA84F"/>
              </a:solidFill>
            </a:endParaRPr>
          </a:p>
        </p:txBody>
      </p:sp>
      <p:sp>
        <p:nvSpPr>
          <p:cNvPr id="216" name="Google Shape;216;p8"/>
          <p:cNvSpPr txBox="1"/>
          <p:nvPr/>
        </p:nvSpPr>
        <p:spPr>
          <a:xfrm>
            <a:off x="8407300" y="5273724"/>
            <a:ext cx="3117900" cy="863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i="0" lang="en-US" sz="1732" u="none" cap="none" strike="noStrike">
                <a:solidFill>
                  <a:srgbClr val="6AA84F"/>
                </a:solidFill>
                <a:latin typeface="Poppins"/>
                <a:ea typeface="Poppins"/>
                <a:cs typeface="Poppins"/>
                <a:sym typeface="Poppins"/>
              </a:rPr>
              <a:t>Provides flexibility by adapting the activation function to the data.</a:t>
            </a:r>
            <a:endParaRPr>
              <a:solidFill>
                <a:srgbClr val="6AA84F"/>
              </a:solidFill>
            </a:endParaRPr>
          </a:p>
        </p:txBody>
      </p:sp>
      <p:sp>
        <p:nvSpPr>
          <p:cNvPr id="217" name="Google Shape;217;p8"/>
          <p:cNvSpPr txBox="1"/>
          <p:nvPr/>
        </p:nvSpPr>
        <p:spPr>
          <a:xfrm>
            <a:off x="685800" y="1681311"/>
            <a:ext cx="3117800" cy="812452"/>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6397" u="none" cap="none" strike="noStrike">
                <a:solidFill>
                  <a:srgbClr val="9134EB"/>
                </a:solidFill>
                <a:latin typeface="Poppins"/>
                <a:ea typeface="Poppins"/>
                <a:cs typeface="Poppins"/>
                <a:sym typeface="Poppins"/>
              </a:rPr>
              <a:t>01</a:t>
            </a:r>
            <a:endParaRPr/>
          </a:p>
        </p:txBody>
      </p:sp>
      <p:sp>
        <p:nvSpPr>
          <p:cNvPr id="218" name="Google Shape;218;p8"/>
          <p:cNvSpPr txBox="1"/>
          <p:nvPr/>
        </p:nvSpPr>
        <p:spPr>
          <a:xfrm>
            <a:off x="4546550" y="1681311"/>
            <a:ext cx="3117800" cy="812452"/>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6397" u="none" cap="none" strike="noStrike">
                <a:solidFill>
                  <a:srgbClr val="9134EB"/>
                </a:solidFill>
                <a:latin typeface="Poppins"/>
                <a:ea typeface="Poppins"/>
                <a:cs typeface="Poppins"/>
                <a:sym typeface="Poppins"/>
              </a:rPr>
              <a:t>02</a:t>
            </a:r>
            <a:endParaRPr/>
          </a:p>
        </p:txBody>
      </p:sp>
      <p:sp>
        <p:nvSpPr>
          <p:cNvPr id="219" name="Google Shape;219;p8"/>
          <p:cNvSpPr txBox="1"/>
          <p:nvPr/>
        </p:nvSpPr>
        <p:spPr>
          <a:xfrm>
            <a:off x="8407300" y="1681311"/>
            <a:ext cx="3117800" cy="812452"/>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6397" u="none" cap="none" strike="noStrike">
                <a:solidFill>
                  <a:srgbClr val="9134EB"/>
                </a:solidFill>
                <a:latin typeface="Poppins"/>
                <a:ea typeface="Poppins"/>
                <a:cs typeface="Poppins"/>
                <a:sym typeface="Poppins"/>
              </a:rPr>
              <a:t>03</a:t>
            </a:r>
            <a:endParaRPr/>
          </a:p>
        </p:txBody>
      </p:sp>
      <p:sp>
        <p:nvSpPr>
          <p:cNvPr id="220" name="Google Shape;220;p8"/>
          <p:cNvSpPr txBox="1"/>
          <p:nvPr/>
        </p:nvSpPr>
        <p:spPr>
          <a:xfrm>
            <a:off x="685800" y="2608064"/>
            <a:ext cx="3117800" cy="338137"/>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29" u="none" cap="none" strike="noStrike">
                <a:solidFill>
                  <a:srgbClr val="324712"/>
                </a:solidFill>
                <a:latin typeface="Poppins"/>
                <a:ea typeface="Poppins"/>
                <a:cs typeface="Poppins"/>
                <a:sym typeface="Poppins"/>
              </a:rPr>
              <a:t>Standard ReLU</a:t>
            </a:r>
            <a:endParaRPr/>
          </a:p>
        </p:txBody>
      </p:sp>
      <p:sp>
        <p:nvSpPr>
          <p:cNvPr id="221" name="Google Shape;221;p8"/>
          <p:cNvSpPr txBox="1"/>
          <p:nvPr/>
        </p:nvSpPr>
        <p:spPr>
          <a:xfrm>
            <a:off x="4546550" y="2608064"/>
            <a:ext cx="3117800" cy="338137"/>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29" u="none" cap="none" strike="noStrike">
                <a:solidFill>
                  <a:srgbClr val="324712"/>
                </a:solidFill>
                <a:latin typeface="Poppins"/>
                <a:ea typeface="Poppins"/>
                <a:cs typeface="Poppins"/>
                <a:sym typeface="Poppins"/>
              </a:rPr>
              <a:t>Leaky ReLU</a:t>
            </a:r>
            <a:endParaRPr/>
          </a:p>
        </p:txBody>
      </p:sp>
      <p:sp>
        <p:nvSpPr>
          <p:cNvPr id="222" name="Google Shape;222;p8"/>
          <p:cNvSpPr txBox="1"/>
          <p:nvPr/>
        </p:nvSpPr>
        <p:spPr>
          <a:xfrm>
            <a:off x="8407300" y="2608064"/>
            <a:ext cx="3117800" cy="338137"/>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29" u="none" cap="none" strike="noStrike">
                <a:solidFill>
                  <a:srgbClr val="324712"/>
                </a:solidFill>
                <a:latin typeface="Poppins"/>
                <a:ea typeface="Poppins"/>
                <a:cs typeface="Poppins"/>
                <a:sym typeface="Poppins"/>
              </a:rPr>
              <a:t>Parametric ReLU</a:t>
            </a:r>
            <a:endParaRPr/>
          </a:p>
        </p:txBody>
      </p:sp>
      <p:sp>
        <p:nvSpPr>
          <p:cNvPr id="223" name="Google Shape;223;p8"/>
          <p:cNvSpPr txBox="1"/>
          <p:nvPr/>
        </p:nvSpPr>
        <p:spPr>
          <a:xfrm>
            <a:off x="685800" y="3322439"/>
            <a:ext cx="3117800"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97" u="none" cap="none" strike="noStrike">
                <a:solidFill>
                  <a:srgbClr val="737373"/>
                </a:solidFill>
                <a:latin typeface="Poppins"/>
                <a:ea typeface="Poppins"/>
                <a:cs typeface="Poppins"/>
                <a:sym typeface="Poppins"/>
              </a:rPr>
              <a:t>FORMULA &amp; BENEFITS</a:t>
            </a:r>
            <a:endParaRPr/>
          </a:p>
        </p:txBody>
      </p:sp>
      <p:sp>
        <p:nvSpPr>
          <p:cNvPr id="224" name="Google Shape;224;p8"/>
          <p:cNvSpPr txBox="1"/>
          <p:nvPr/>
        </p:nvSpPr>
        <p:spPr>
          <a:xfrm>
            <a:off x="685800" y="4912369"/>
            <a:ext cx="3117800"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97" u="none" cap="none" strike="noStrike">
                <a:solidFill>
                  <a:srgbClr val="737373"/>
                </a:solidFill>
                <a:latin typeface="Poppins"/>
                <a:ea typeface="Poppins"/>
                <a:cs typeface="Poppins"/>
                <a:sym typeface="Poppins"/>
              </a:rPr>
              <a:t>LIMITATION</a:t>
            </a:r>
            <a:endParaRPr/>
          </a:p>
        </p:txBody>
      </p:sp>
      <p:sp>
        <p:nvSpPr>
          <p:cNvPr id="225" name="Google Shape;225;p8"/>
          <p:cNvSpPr txBox="1"/>
          <p:nvPr/>
        </p:nvSpPr>
        <p:spPr>
          <a:xfrm>
            <a:off x="4546550" y="3322439"/>
            <a:ext cx="3117800"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97" u="none" cap="none" strike="noStrike">
                <a:solidFill>
                  <a:srgbClr val="737373"/>
                </a:solidFill>
                <a:latin typeface="Poppins"/>
                <a:ea typeface="Poppins"/>
                <a:cs typeface="Poppins"/>
                <a:sym typeface="Poppins"/>
              </a:rPr>
              <a:t>MODIFICATION</a:t>
            </a:r>
            <a:endParaRPr/>
          </a:p>
        </p:txBody>
      </p:sp>
      <p:sp>
        <p:nvSpPr>
          <p:cNvPr id="226" name="Google Shape;226;p8"/>
          <p:cNvSpPr txBox="1"/>
          <p:nvPr/>
        </p:nvSpPr>
        <p:spPr>
          <a:xfrm>
            <a:off x="4546550" y="4912369"/>
            <a:ext cx="3117800"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97" u="none" cap="none" strike="noStrike">
                <a:solidFill>
                  <a:srgbClr val="737373"/>
                </a:solidFill>
                <a:latin typeface="Poppins"/>
                <a:ea typeface="Poppins"/>
                <a:cs typeface="Poppins"/>
                <a:sym typeface="Poppins"/>
              </a:rPr>
              <a:t>FUNCTION</a:t>
            </a:r>
            <a:endParaRPr/>
          </a:p>
        </p:txBody>
      </p:sp>
      <p:sp>
        <p:nvSpPr>
          <p:cNvPr id="227" name="Google Shape;227;p8"/>
          <p:cNvSpPr txBox="1"/>
          <p:nvPr/>
        </p:nvSpPr>
        <p:spPr>
          <a:xfrm>
            <a:off x="8407300" y="3322439"/>
            <a:ext cx="3117800"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97" u="none" cap="none" strike="noStrike">
                <a:solidFill>
                  <a:srgbClr val="737373"/>
                </a:solidFill>
                <a:latin typeface="Poppins"/>
                <a:ea typeface="Poppins"/>
                <a:cs typeface="Poppins"/>
                <a:sym typeface="Poppins"/>
              </a:rPr>
              <a:t>KEY FEATURE</a:t>
            </a:r>
            <a:endParaRPr/>
          </a:p>
        </p:txBody>
      </p:sp>
      <p:sp>
        <p:nvSpPr>
          <p:cNvPr id="228" name="Google Shape;228;p8"/>
          <p:cNvSpPr txBox="1"/>
          <p:nvPr/>
        </p:nvSpPr>
        <p:spPr>
          <a:xfrm>
            <a:off x="8407300" y="4912369"/>
            <a:ext cx="3117800"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97" u="none" cap="none" strike="noStrike">
                <a:solidFill>
                  <a:srgbClr val="737373"/>
                </a:solidFill>
                <a:latin typeface="Poppins"/>
                <a:ea typeface="Poppins"/>
                <a:cs typeface="Poppins"/>
                <a:sym typeface="Poppins"/>
              </a:rPr>
              <a:t>BENEFIT</a:t>
            </a:r>
            <a:endParaRPr/>
          </a:p>
        </p:txBody>
      </p:sp>
      <p:sp>
        <p:nvSpPr>
          <p:cNvPr id="229" name="Google Shape;229;p8"/>
          <p:cNvSpPr/>
          <p:nvPr/>
        </p:nvSpPr>
        <p:spPr>
          <a:xfrm>
            <a:off x="685800" y="1150887"/>
            <a:ext cx="1110555" cy="54173"/>
          </a:xfrm>
          <a:prstGeom prst="roundRect">
            <a:avLst>
              <a:gd fmla="val 35165" name="adj"/>
            </a:avLst>
          </a:prstGeom>
          <a:solidFill>
            <a:srgbClr val="92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234" name="Shape 234"/>
        <p:cNvGrpSpPr/>
        <p:nvPr/>
      </p:nvGrpSpPr>
      <p:grpSpPr>
        <a:xfrm>
          <a:off x="0" y="0"/>
          <a:ext cx="0" cy="0"/>
          <a:chOff x="0" y="0"/>
          <a:chExt cx="0" cy="0"/>
        </a:xfrm>
      </p:grpSpPr>
      <p:pic>
        <p:nvPicPr>
          <p:cNvPr descr="f886b88f-3d93-4e8f-b573-a3cf3a172a18.png" id="235" name="Google Shape;235;p9"/>
          <p:cNvPicPr preferRelativeResize="0"/>
          <p:nvPr/>
        </p:nvPicPr>
        <p:blipFill rotWithShape="1">
          <a:blip r:embed="rId3">
            <a:alphaModFix/>
          </a:blip>
          <a:srcRect b="0" l="0" r="0" t="0"/>
          <a:stretch/>
        </p:blipFill>
        <p:spPr>
          <a:xfrm>
            <a:off x="571500" y="3269753"/>
            <a:ext cx="11049000" cy="2564903"/>
          </a:xfrm>
          <a:prstGeom prst="rect">
            <a:avLst/>
          </a:prstGeom>
          <a:noFill/>
          <a:ln>
            <a:noFill/>
          </a:ln>
        </p:spPr>
      </p:pic>
      <p:pic>
        <p:nvPicPr>
          <p:cNvPr descr="d134d5ca-c3a0-4d51-a36f-d0cda0cb169a.png" id="236" name="Google Shape;236;p9"/>
          <p:cNvPicPr preferRelativeResize="0"/>
          <p:nvPr/>
        </p:nvPicPr>
        <p:blipFill rotWithShape="1">
          <a:blip r:embed="rId4">
            <a:alphaModFix/>
          </a:blip>
          <a:srcRect b="0" l="0" r="0" t="0"/>
          <a:stretch/>
        </p:blipFill>
        <p:spPr>
          <a:xfrm>
            <a:off x="4254400" y="3269753"/>
            <a:ext cx="3683049" cy="2555378"/>
          </a:xfrm>
          <a:prstGeom prst="rect">
            <a:avLst/>
          </a:prstGeom>
          <a:noFill/>
          <a:ln>
            <a:noFill/>
          </a:ln>
        </p:spPr>
      </p:pic>
      <p:pic>
        <p:nvPicPr>
          <p:cNvPr descr="d134d5ca-c3a0-4d51-a36f-d0cda0cb169a.png" id="237" name="Google Shape;237;p9"/>
          <p:cNvPicPr preferRelativeResize="0"/>
          <p:nvPr/>
        </p:nvPicPr>
        <p:blipFill rotWithShape="1">
          <a:blip r:embed="rId4">
            <a:alphaModFix/>
          </a:blip>
          <a:srcRect b="0" l="0" r="0" t="0"/>
          <a:stretch/>
        </p:blipFill>
        <p:spPr>
          <a:xfrm>
            <a:off x="571500" y="3269753"/>
            <a:ext cx="3682900" cy="2555378"/>
          </a:xfrm>
          <a:prstGeom prst="rect">
            <a:avLst/>
          </a:prstGeom>
          <a:noFill/>
          <a:ln>
            <a:noFill/>
          </a:ln>
        </p:spPr>
      </p:pic>
      <p:sp>
        <p:nvSpPr>
          <p:cNvPr id="238" name="Google Shape;238;p9"/>
          <p:cNvSpPr/>
          <p:nvPr/>
        </p:nvSpPr>
        <p:spPr>
          <a:xfrm>
            <a:off x="7937450" y="3269753"/>
            <a:ext cx="3682900" cy="2555378"/>
          </a:xfrm>
          <a:prstGeom prst="roundRect">
            <a:avLst>
              <a:gd fmla="val 745" name="adj"/>
            </a:avLst>
          </a:prstGeom>
          <a:solidFill>
            <a:srgbClr val="FCFCFC"/>
          </a:solidFill>
          <a:ln>
            <a:noFill/>
          </a:ln>
          <a:effectLst>
            <a:outerShdw>
              <a:srgbClr val="000000">
                <a:alpha val="0"/>
              </a:srgbClr>
            </a:outerShdw>
          </a:effectLst>
        </p:spPr>
        <p:txBody>
          <a:bodyPr anchorCtr="0" anchor="ctr" bIns="285750" lIns="142875" spcFirstLastPara="1" rIns="142875" wrap="square" tIns="1905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6635b230-afd8-403e-b1cd-4f9ed9f345ef.png" id="239" name="Google Shape;239;p9"/>
          <p:cNvPicPr preferRelativeResize="0"/>
          <p:nvPr/>
        </p:nvPicPr>
        <p:blipFill rotWithShape="1">
          <a:blip r:embed="rId5">
            <a:alphaModFix/>
          </a:blip>
          <a:srcRect b="0" l="0" r="0" t="0"/>
          <a:stretch/>
        </p:blipFill>
        <p:spPr>
          <a:xfrm>
            <a:off x="571500" y="2584549"/>
            <a:ext cx="11049000" cy="685204"/>
          </a:xfrm>
          <a:prstGeom prst="rect">
            <a:avLst/>
          </a:prstGeom>
          <a:noFill/>
          <a:ln>
            <a:noFill/>
          </a:ln>
        </p:spPr>
      </p:pic>
      <p:sp>
        <p:nvSpPr>
          <p:cNvPr id="240" name="Google Shape;240;p9"/>
          <p:cNvSpPr txBox="1"/>
          <p:nvPr/>
        </p:nvSpPr>
        <p:spPr>
          <a:xfrm>
            <a:off x="571500" y="571500"/>
            <a:ext cx="5543700" cy="828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4000"/>
              </a:lnSpc>
              <a:spcBef>
                <a:spcPts val="0"/>
              </a:spcBef>
              <a:spcAft>
                <a:spcPts val="0"/>
              </a:spcAft>
              <a:buNone/>
            </a:pPr>
            <a:r>
              <a:rPr b="1" i="0" lang="en-US" sz="3202" u="none" cap="none" strike="noStrike">
                <a:solidFill>
                  <a:srgbClr val="6AA84F"/>
                </a:solidFill>
                <a:latin typeface="Poppins"/>
                <a:ea typeface="Poppins"/>
                <a:cs typeface="Poppins"/>
                <a:sym typeface="Poppins"/>
              </a:rPr>
              <a:t>Loss Functions for Supervised Learning</a:t>
            </a:r>
            <a:endParaRPr>
              <a:solidFill>
                <a:srgbClr val="6AA84F"/>
              </a:solidFill>
            </a:endParaRPr>
          </a:p>
        </p:txBody>
      </p:sp>
      <p:pic>
        <p:nvPicPr>
          <p:cNvPr descr="e6f62cc5-620d-44bf-ad21-8821eb19f652.png" id="241" name="Google Shape;241;p9"/>
          <p:cNvPicPr preferRelativeResize="0"/>
          <p:nvPr/>
        </p:nvPicPr>
        <p:blipFill rotWithShape="1">
          <a:blip r:embed="rId6">
            <a:alphaModFix/>
          </a:blip>
          <a:srcRect b="0" l="0" r="0" t="0"/>
          <a:stretch/>
        </p:blipFill>
        <p:spPr>
          <a:xfrm>
            <a:off x="4254400" y="2584549"/>
            <a:ext cx="3683049" cy="685204"/>
          </a:xfrm>
          <a:prstGeom prst="rect">
            <a:avLst/>
          </a:prstGeom>
          <a:noFill/>
          <a:ln>
            <a:noFill/>
          </a:ln>
        </p:spPr>
      </p:pic>
      <p:pic>
        <p:nvPicPr>
          <p:cNvPr descr="e6f62cc5-620d-44bf-ad21-8821eb19f652.png" id="242" name="Google Shape;242;p9"/>
          <p:cNvPicPr preferRelativeResize="0"/>
          <p:nvPr/>
        </p:nvPicPr>
        <p:blipFill rotWithShape="1">
          <a:blip r:embed="rId6">
            <a:alphaModFix/>
          </a:blip>
          <a:srcRect b="0" l="0" r="0" t="0"/>
          <a:stretch/>
        </p:blipFill>
        <p:spPr>
          <a:xfrm>
            <a:off x="571500" y="2584549"/>
            <a:ext cx="3682900" cy="685204"/>
          </a:xfrm>
          <a:prstGeom prst="rect">
            <a:avLst/>
          </a:prstGeom>
          <a:noFill/>
          <a:ln>
            <a:noFill/>
          </a:ln>
        </p:spPr>
      </p:pic>
      <p:sp>
        <p:nvSpPr>
          <p:cNvPr id="243" name="Google Shape;243;p9"/>
          <p:cNvSpPr txBox="1"/>
          <p:nvPr/>
        </p:nvSpPr>
        <p:spPr>
          <a:xfrm>
            <a:off x="6762750" y="571500"/>
            <a:ext cx="4876800" cy="421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US" sz="1200" u="none" cap="none" strike="noStrike">
                <a:solidFill>
                  <a:srgbClr val="6AA84F"/>
                </a:solidFill>
                <a:latin typeface="Poppins"/>
                <a:ea typeface="Poppins"/>
                <a:cs typeface="Poppins"/>
                <a:sym typeface="Poppins"/>
              </a:rPr>
              <a:t>Functions quantify </a:t>
            </a:r>
            <a:r>
              <a:rPr b="1" i="0" lang="en-US" sz="1200" u="none" cap="none" strike="noStrike">
                <a:solidFill>
                  <a:srgbClr val="6AA84F"/>
                </a:solidFill>
                <a:latin typeface="Poppins"/>
                <a:ea typeface="Poppins"/>
                <a:cs typeface="Poppins"/>
                <a:sym typeface="Poppins"/>
              </a:rPr>
              <a:t>prediction discrepancies</a:t>
            </a:r>
            <a:r>
              <a:rPr b="0" i="0" lang="en-US" sz="1200" u="none" cap="none" strike="noStrike">
                <a:solidFill>
                  <a:srgbClr val="6AA84F"/>
                </a:solidFill>
                <a:latin typeface="Poppins"/>
                <a:ea typeface="Poppins"/>
                <a:cs typeface="Poppins"/>
                <a:sym typeface="Poppins"/>
              </a:rPr>
              <a:t> against true targets.</a:t>
            </a:r>
            <a:endParaRPr>
              <a:solidFill>
                <a:srgbClr val="6AA84F"/>
              </a:solidFill>
            </a:endParaRPr>
          </a:p>
        </p:txBody>
      </p:sp>
      <p:sp>
        <p:nvSpPr>
          <p:cNvPr id="244" name="Google Shape;244;p9"/>
          <p:cNvSpPr txBox="1"/>
          <p:nvPr/>
        </p:nvSpPr>
        <p:spPr>
          <a:xfrm>
            <a:off x="8080325" y="3460253"/>
            <a:ext cx="3416100" cy="21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402" u="none" cap="none" strike="noStrike">
                <a:solidFill>
                  <a:srgbClr val="00FF00"/>
                </a:solidFill>
                <a:latin typeface="Poppins"/>
                <a:ea typeface="Poppins"/>
                <a:cs typeface="Poppins"/>
                <a:sym typeface="Poppins"/>
              </a:rPr>
              <a:t>Gradients</a:t>
            </a:r>
            <a:endParaRPr>
              <a:solidFill>
                <a:srgbClr val="00FF00"/>
              </a:solidFill>
            </a:endParaRPr>
          </a:p>
        </p:txBody>
      </p:sp>
      <p:sp>
        <p:nvSpPr>
          <p:cNvPr id="245" name="Google Shape;245;p9"/>
          <p:cNvSpPr txBox="1"/>
          <p:nvPr/>
        </p:nvSpPr>
        <p:spPr>
          <a:xfrm>
            <a:off x="8080325" y="3727400"/>
            <a:ext cx="3416100" cy="21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402" u="none" cap="none" strike="noStrike">
                <a:solidFill>
                  <a:srgbClr val="00FF00"/>
                </a:solidFill>
                <a:latin typeface="Poppins"/>
                <a:ea typeface="Poppins"/>
                <a:cs typeface="Poppins"/>
                <a:sym typeface="Poppins"/>
              </a:rPr>
              <a:t>Magnitude</a:t>
            </a:r>
            <a:endParaRPr>
              <a:solidFill>
                <a:srgbClr val="00FF00"/>
              </a:solidFill>
            </a:endParaRPr>
          </a:p>
        </p:txBody>
      </p:sp>
      <p:sp>
        <p:nvSpPr>
          <p:cNvPr id="246" name="Google Shape;246;p9"/>
          <p:cNvSpPr txBox="1"/>
          <p:nvPr/>
        </p:nvSpPr>
        <p:spPr>
          <a:xfrm>
            <a:off x="8080325" y="4232671"/>
            <a:ext cx="3416100" cy="21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402" u="none" cap="none" strike="noStrike">
                <a:solidFill>
                  <a:srgbClr val="00FF00"/>
                </a:solidFill>
                <a:latin typeface="Poppins"/>
                <a:ea typeface="Poppins"/>
                <a:cs typeface="Poppins"/>
                <a:sym typeface="Poppins"/>
              </a:rPr>
              <a:t>Stability</a:t>
            </a:r>
            <a:endParaRPr>
              <a:solidFill>
                <a:srgbClr val="00FF00"/>
              </a:solidFill>
            </a:endParaRPr>
          </a:p>
        </p:txBody>
      </p:sp>
      <p:sp>
        <p:nvSpPr>
          <p:cNvPr id="247" name="Google Shape;247;p9"/>
          <p:cNvSpPr txBox="1"/>
          <p:nvPr/>
        </p:nvSpPr>
        <p:spPr>
          <a:xfrm>
            <a:off x="8080325" y="4499818"/>
            <a:ext cx="3416100" cy="21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402" u="none" cap="none" strike="noStrike">
                <a:solidFill>
                  <a:srgbClr val="00FF00"/>
                </a:solidFill>
                <a:latin typeface="Poppins"/>
                <a:ea typeface="Poppins"/>
                <a:cs typeface="Poppins"/>
                <a:sym typeface="Poppins"/>
              </a:rPr>
              <a:t>Training flow</a:t>
            </a:r>
            <a:endParaRPr>
              <a:solidFill>
                <a:srgbClr val="00FF00"/>
              </a:solidFill>
            </a:endParaRPr>
          </a:p>
        </p:txBody>
      </p:sp>
      <p:sp>
        <p:nvSpPr>
          <p:cNvPr id="248" name="Google Shape;248;p9"/>
          <p:cNvSpPr txBox="1"/>
          <p:nvPr/>
        </p:nvSpPr>
        <p:spPr>
          <a:xfrm>
            <a:off x="8080325" y="5005089"/>
            <a:ext cx="3416100" cy="21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402" u="none" cap="none" strike="noStrike">
                <a:solidFill>
                  <a:srgbClr val="00FF00"/>
                </a:solidFill>
                <a:latin typeface="Poppins"/>
                <a:ea typeface="Poppins"/>
                <a:cs typeface="Poppins"/>
                <a:sym typeface="Poppins"/>
              </a:rPr>
              <a:t>Convg.</a:t>
            </a:r>
            <a:endParaRPr>
              <a:solidFill>
                <a:srgbClr val="00FF00"/>
              </a:solidFill>
            </a:endParaRPr>
          </a:p>
        </p:txBody>
      </p:sp>
      <p:sp>
        <p:nvSpPr>
          <p:cNvPr id="249" name="Google Shape;249;p9"/>
          <p:cNvSpPr txBox="1"/>
          <p:nvPr/>
        </p:nvSpPr>
        <p:spPr>
          <a:xfrm>
            <a:off x="8080325" y="5272236"/>
            <a:ext cx="3416100" cy="21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402" u="none" cap="none" strike="noStrike">
                <a:solidFill>
                  <a:srgbClr val="00FF00"/>
                </a:solidFill>
                <a:latin typeface="Poppins"/>
                <a:ea typeface="Poppins"/>
                <a:cs typeface="Poppins"/>
                <a:sym typeface="Poppins"/>
              </a:rPr>
              <a:t>Behavior</a:t>
            </a:r>
            <a:endParaRPr>
              <a:solidFill>
                <a:srgbClr val="00FF00"/>
              </a:solidFill>
            </a:endParaRPr>
          </a:p>
        </p:txBody>
      </p:sp>
      <p:sp>
        <p:nvSpPr>
          <p:cNvPr id="250" name="Google Shape;250;p9"/>
          <p:cNvSpPr txBox="1"/>
          <p:nvPr/>
        </p:nvSpPr>
        <p:spPr>
          <a:xfrm>
            <a:off x="4397275" y="3460253"/>
            <a:ext cx="3406800" cy="21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402" u="none" cap="none" strike="noStrike">
                <a:solidFill>
                  <a:srgbClr val="00FF00"/>
                </a:solidFill>
                <a:latin typeface="Poppins"/>
                <a:ea typeface="Poppins"/>
                <a:cs typeface="Poppins"/>
                <a:sym typeface="Poppins"/>
              </a:rPr>
              <a:t>MSE</a:t>
            </a:r>
            <a:endParaRPr>
              <a:solidFill>
                <a:srgbClr val="00FF00"/>
              </a:solidFill>
            </a:endParaRPr>
          </a:p>
        </p:txBody>
      </p:sp>
      <p:sp>
        <p:nvSpPr>
          <p:cNvPr id="251" name="Google Shape;251;p9"/>
          <p:cNvSpPr txBox="1"/>
          <p:nvPr/>
        </p:nvSpPr>
        <p:spPr>
          <a:xfrm>
            <a:off x="4397275" y="3727400"/>
            <a:ext cx="3406800" cy="21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402" u="none" cap="none" strike="noStrike">
                <a:solidFill>
                  <a:srgbClr val="00FF00"/>
                </a:solidFill>
                <a:latin typeface="Poppins"/>
                <a:ea typeface="Poppins"/>
                <a:cs typeface="Poppins"/>
                <a:sym typeface="Poppins"/>
              </a:rPr>
              <a:t>Squared penalty</a:t>
            </a:r>
            <a:endParaRPr>
              <a:solidFill>
                <a:srgbClr val="00FF00"/>
              </a:solidFill>
            </a:endParaRPr>
          </a:p>
        </p:txBody>
      </p:sp>
      <p:sp>
        <p:nvSpPr>
          <p:cNvPr id="252" name="Google Shape;252;p9"/>
          <p:cNvSpPr txBox="1"/>
          <p:nvPr/>
        </p:nvSpPr>
        <p:spPr>
          <a:xfrm>
            <a:off x="714375" y="3460253"/>
            <a:ext cx="3406800" cy="21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402" u="none" cap="none" strike="noStrike">
                <a:solidFill>
                  <a:srgbClr val="00FF00"/>
                </a:solidFill>
                <a:latin typeface="Poppins"/>
                <a:ea typeface="Poppins"/>
                <a:cs typeface="Poppins"/>
                <a:sym typeface="Poppins"/>
              </a:rPr>
              <a:t>Categorical</a:t>
            </a:r>
            <a:endParaRPr>
              <a:solidFill>
                <a:srgbClr val="00FF00"/>
              </a:solidFill>
            </a:endParaRPr>
          </a:p>
        </p:txBody>
      </p:sp>
      <p:sp>
        <p:nvSpPr>
          <p:cNvPr id="253" name="Google Shape;253;p9"/>
          <p:cNvSpPr txBox="1"/>
          <p:nvPr/>
        </p:nvSpPr>
        <p:spPr>
          <a:xfrm>
            <a:off x="714375" y="3727400"/>
            <a:ext cx="3406800" cy="21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402" u="none" cap="none" strike="noStrike">
                <a:solidFill>
                  <a:srgbClr val="00FF00"/>
                </a:solidFill>
                <a:latin typeface="Poppins"/>
                <a:ea typeface="Poppins"/>
                <a:cs typeface="Poppins"/>
                <a:sym typeface="Poppins"/>
              </a:rPr>
              <a:t>Multi-class</a:t>
            </a:r>
            <a:endParaRPr>
              <a:solidFill>
                <a:srgbClr val="00FF00"/>
              </a:solidFill>
            </a:endParaRPr>
          </a:p>
        </p:txBody>
      </p:sp>
      <p:sp>
        <p:nvSpPr>
          <p:cNvPr id="254" name="Google Shape;254;p9"/>
          <p:cNvSpPr txBox="1"/>
          <p:nvPr/>
        </p:nvSpPr>
        <p:spPr>
          <a:xfrm>
            <a:off x="714375" y="4232671"/>
            <a:ext cx="3406800" cy="21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402" u="none" cap="none" strike="noStrike">
                <a:solidFill>
                  <a:srgbClr val="00FF00"/>
                </a:solidFill>
                <a:latin typeface="Poppins"/>
                <a:ea typeface="Poppins"/>
                <a:cs typeface="Poppins"/>
                <a:sym typeface="Poppins"/>
              </a:rPr>
              <a:t>Binary</a:t>
            </a:r>
            <a:endParaRPr>
              <a:solidFill>
                <a:srgbClr val="00FF00"/>
              </a:solidFill>
            </a:endParaRPr>
          </a:p>
        </p:txBody>
      </p:sp>
      <p:sp>
        <p:nvSpPr>
          <p:cNvPr id="255" name="Google Shape;255;p9"/>
          <p:cNvSpPr txBox="1"/>
          <p:nvPr/>
        </p:nvSpPr>
        <p:spPr>
          <a:xfrm>
            <a:off x="714375" y="4499818"/>
            <a:ext cx="3406800" cy="21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402" u="none" cap="none" strike="noStrike">
                <a:solidFill>
                  <a:srgbClr val="00FF00"/>
                </a:solidFill>
                <a:latin typeface="Poppins"/>
                <a:ea typeface="Poppins"/>
                <a:cs typeface="Poppins"/>
                <a:sym typeface="Poppins"/>
              </a:rPr>
              <a:t>Two-class</a:t>
            </a:r>
            <a:endParaRPr>
              <a:solidFill>
                <a:srgbClr val="00FF00"/>
              </a:solidFill>
            </a:endParaRPr>
          </a:p>
        </p:txBody>
      </p:sp>
      <p:sp>
        <p:nvSpPr>
          <p:cNvPr id="256" name="Google Shape;256;p9"/>
          <p:cNvSpPr txBox="1"/>
          <p:nvPr/>
        </p:nvSpPr>
        <p:spPr>
          <a:xfrm>
            <a:off x="1688157" y="2775049"/>
            <a:ext cx="1458962"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597" u="none" cap="none" strike="noStrike">
                <a:solidFill>
                  <a:srgbClr val="FFFFFF"/>
                </a:solidFill>
                <a:latin typeface="Poppins"/>
                <a:ea typeface="Poppins"/>
                <a:cs typeface="Poppins"/>
                <a:sym typeface="Poppins"/>
              </a:rPr>
              <a:t>Classification</a:t>
            </a:r>
            <a:endParaRPr/>
          </a:p>
        </p:txBody>
      </p:sp>
      <p:sp>
        <p:nvSpPr>
          <p:cNvPr id="257" name="Google Shape;257;p9"/>
          <p:cNvSpPr txBox="1"/>
          <p:nvPr/>
        </p:nvSpPr>
        <p:spPr>
          <a:xfrm>
            <a:off x="9098607" y="2775049"/>
            <a:ext cx="1379636"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597" u="none" cap="none" strike="noStrike">
                <a:solidFill>
                  <a:srgbClr val="FFFFFF"/>
                </a:solidFill>
                <a:latin typeface="Poppins"/>
                <a:ea typeface="Poppins"/>
                <a:cs typeface="Poppins"/>
                <a:sym typeface="Poppins"/>
              </a:rPr>
              <a:t>Optimization</a:t>
            </a:r>
            <a:endParaRPr/>
          </a:p>
        </p:txBody>
      </p:sp>
      <p:sp>
        <p:nvSpPr>
          <p:cNvPr id="258" name="Google Shape;258;p9"/>
          <p:cNvSpPr txBox="1"/>
          <p:nvPr/>
        </p:nvSpPr>
        <p:spPr>
          <a:xfrm>
            <a:off x="5511700" y="2775049"/>
            <a:ext cx="1177974" cy="30420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1597" u="none" cap="none" strike="noStrike">
                <a:solidFill>
                  <a:srgbClr val="FFFFFF"/>
                </a:solidFill>
                <a:latin typeface="Poppins"/>
                <a:ea typeface="Poppins"/>
                <a:cs typeface="Poppins"/>
                <a:sym typeface="Poppins"/>
              </a:rPr>
              <a:t>Regression</a:t>
            </a:r>
            <a:endParaRPr/>
          </a:p>
        </p:txBody>
      </p:sp>
      <p:sp>
        <p:nvSpPr>
          <p:cNvPr id="259" name="Google Shape;259;p9"/>
          <p:cNvSpPr/>
          <p:nvPr/>
        </p:nvSpPr>
        <p:spPr>
          <a:xfrm>
            <a:off x="571500" y="1577875"/>
            <a:ext cx="1110555" cy="54173"/>
          </a:xfrm>
          <a:prstGeom prst="roundRect">
            <a:avLst>
              <a:gd fmla="val 35165" name="adj"/>
            </a:avLst>
          </a:prstGeom>
          <a:solidFill>
            <a:srgbClr val="92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9"/>
          <p:cNvSpPr/>
          <p:nvPr/>
        </p:nvSpPr>
        <p:spPr>
          <a:xfrm>
            <a:off x="8993534" y="3259484"/>
            <a:ext cx="150465" cy="150465"/>
          </a:xfrm>
          <a:prstGeom prst="roundRect">
            <a:avLst>
              <a:gd fmla="val 49999" name="adj"/>
            </a:avLst>
          </a:prstGeom>
          <a:solidFill>
            <a:srgbClr val="9134EB">
              <a:alpha val="9803"/>
            </a:srgbClr>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265" name="Shape 265"/>
        <p:cNvGrpSpPr/>
        <p:nvPr/>
      </p:nvGrpSpPr>
      <p:grpSpPr>
        <a:xfrm>
          <a:off x="0" y="0"/>
          <a:ext cx="0" cy="0"/>
          <a:chOff x="0" y="0"/>
          <a:chExt cx="0" cy="0"/>
        </a:xfrm>
      </p:grpSpPr>
      <p:sp>
        <p:nvSpPr>
          <p:cNvPr id="266" name="Google Shape;266;p10"/>
          <p:cNvSpPr txBox="1"/>
          <p:nvPr/>
        </p:nvSpPr>
        <p:spPr>
          <a:xfrm>
            <a:off x="857250" y="2633225"/>
            <a:ext cx="3829200" cy="1242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4000"/>
              </a:lnSpc>
              <a:spcBef>
                <a:spcPts val="0"/>
              </a:spcBef>
              <a:spcAft>
                <a:spcPts val="0"/>
              </a:spcAft>
              <a:buNone/>
            </a:pPr>
            <a:r>
              <a:rPr b="1" i="0" lang="en-US" sz="3202" u="none" cap="none" strike="noStrike">
                <a:solidFill>
                  <a:srgbClr val="00FF00"/>
                </a:solidFill>
                <a:latin typeface="Poppins"/>
                <a:ea typeface="Poppins"/>
                <a:cs typeface="Poppins"/>
                <a:sym typeface="Poppins"/>
              </a:rPr>
              <a:t>Parameter</a:t>
            </a:r>
            <a:br>
              <a:rPr b="1" i="0" lang="en-US" sz="3202" u="none" cap="none" strike="noStrike">
                <a:solidFill>
                  <a:srgbClr val="00FF00"/>
                </a:solidFill>
                <a:latin typeface="Poppins"/>
                <a:ea typeface="Poppins"/>
                <a:cs typeface="Poppins"/>
                <a:sym typeface="Poppins"/>
              </a:rPr>
            </a:br>
            <a:r>
              <a:rPr b="1" i="0" lang="en-US" sz="3202" u="none" cap="none" strike="noStrike">
                <a:solidFill>
                  <a:srgbClr val="00FF00"/>
                </a:solidFill>
                <a:latin typeface="Poppins"/>
                <a:ea typeface="Poppins"/>
                <a:cs typeface="Poppins"/>
                <a:sym typeface="Poppins"/>
              </a:rPr>
              <a:t>Update Optimizers</a:t>
            </a:r>
            <a:endParaRPr>
              <a:solidFill>
                <a:srgbClr val="00FF00"/>
              </a:solidFill>
            </a:endParaRPr>
          </a:p>
        </p:txBody>
      </p:sp>
      <p:sp>
        <p:nvSpPr>
          <p:cNvPr id="267" name="Google Shape;267;p10"/>
          <p:cNvSpPr txBox="1"/>
          <p:nvPr/>
        </p:nvSpPr>
        <p:spPr>
          <a:xfrm>
            <a:off x="9056340" y="2431405"/>
            <a:ext cx="2297400" cy="8085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45" u="none" cap="none" strike="noStrike">
                <a:solidFill>
                  <a:srgbClr val="00FF00"/>
                </a:solidFill>
                <a:latin typeface="Poppins"/>
                <a:ea typeface="Poppins"/>
                <a:cs typeface="Poppins"/>
                <a:sym typeface="Poppins"/>
              </a:rPr>
              <a:t>Momentum: accelerates convergence</a:t>
            </a:r>
            <a:endParaRPr>
              <a:solidFill>
                <a:srgbClr val="00FF00"/>
              </a:solidFill>
            </a:endParaRPr>
          </a:p>
        </p:txBody>
      </p:sp>
      <p:sp>
        <p:nvSpPr>
          <p:cNvPr id="268" name="Google Shape;268;p10"/>
          <p:cNvSpPr txBox="1"/>
          <p:nvPr/>
        </p:nvSpPr>
        <p:spPr>
          <a:xfrm>
            <a:off x="5760690" y="2578596"/>
            <a:ext cx="2297400" cy="523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45" u="none" cap="none" strike="noStrike">
                <a:solidFill>
                  <a:srgbClr val="00FF00"/>
                </a:solidFill>
                <a:latin typeface="Poppins"/>
                <a:ea typeface="Poppins"/>
                <a:cs typeface="Poppins"/>
                <a:sym typeface="Poppins"/>
              </a:rPr>
              <a:t>Moves opposite loss gradient</a:t>
            </a:r>
            <a:endParaRPr>
              <a:solidFill>
                <a:srgbClr val="00FF00"/>
              </a:solidFill>
            </a:endParaRPr>
          </a:p>
        </p:txBody>
      </p:sp>
      <p:sp>
        <p:nvSpPr>
          <p:cNvPr id="269" name="Google Shape;269;p10"/>
          <p:cNvSpPr txBox="1"/>
          <p:nvPr/>
        </p:nvSpPr>
        <p:spPr>
          <a:xfrm>
            <a:off x="5760690" y="3690937"/>
            <a:ext cx="2297400" cy="523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45" u="none" cap="none" strike="noStrike">
                <a:solidFill>
                  <a:srgbClr val="00FF00"/>
                </a:solidFill>
                <a:latin typeface="Poppins"/>
                <a:ea typeface="Poppins"/>
                <a:cs typeface="Poppins"/>
                <a:sym typeface="Poppins"/>
              </a:rPr>
              <a:t>SGD: Faster, noisy updates</a:t>
            </a:r>
            <a:endParaRPr>
              <a:solidFill>
                <a:srgbClr val="00FF00"/>
              </a:solidFill>
            </a:endParaRPr>
          </a:p>
        </p:txBody>
      </p:sp>
      <p:sp>
        <p:nvSpPr>
          <p:cNvPr id="270" name="Google Shape;270;p10"/>
          <p:cNvSpPr txBox="1"/>
          <p:nvPr/>
        </p:nvSpPr>
        <p:spPr>
          <a:xfrm>
            <a:off x="9056340" y="3837979"/>
            <a:ext cx="2297400" cy="523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45" u="none" cap="none" strike="noStrike">
                <a:solidFill>
                  <a:srgbClr val="00FF00"/>
                </a:solidFill>
                <a:latin typeface="Poppins"/>
                <a:ea typeface="Poppins"/>
                <a:cs typeface="Poppins"/>
                <a:sym typeface="Poppins"/>
              </a:rPr>
              <a:t>Adam combines momentum &amp; rates</a:t>
            </a:r>
            <a:endParaRPr>
              <a:solidFill>
                <a:srgbClr val="00FF00"/>
              </a:solidFill>
            </a:endParaRPr>
          </a:p>
        </p:txBody>
      </p:sp>
      <p:sp>
        <p:nvSpPr>
          <p:cNvPr id="271" name="Google Shape;271;p10"/>
          <p:cNvSpPr/>
          <p:nvPr/>
        </p:nvSpPr>
        <p:spPr>
          <a:xfrm>
            <a:off x="5048250" y="2633216"/>
            <a:ext cx="483840" cy="479077"/>
          </a:xfrm>
          <a:prstGeom prst="roundRect">
            <a:avLst>
              <a:gd fmla="val 49999" name="adj"/>
            </a:avLst>
          </a:prstGeom>
          <a:solidFill>
            <a:srgbClr val="703AC9"/>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10"/>
          <p:cNvSpPr/>
          <p:nvPr/>
        </p:nvSpPr>
        <p:spPr>
          <a:xfrm>
            <a:off x="5048250" y="3745557"/>
            <a:ext cx="483840" cy="479077"/>
          </a:xfrm>
          <a:prstGeom prst="roundRect">
            <a:avLst>
              <a:gd fmla="val 49999" name="adj"/>
            </a:avLst>
          </a:prstGeom>
          <a:solidFill>
            <a:srgbClr val="703AC9"/>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10"/>
          <p:cNvSpPr/>
          <p:nvPr/>
        </p:nvSpPr>
        <p:spPr>
          <a:xfrm>
            <a:off x="8343900" y="2633216"/>
            <a:ext cx="483840" cy="479077"/>
          </a:xfrm>
          <a:prstGeom prst="roundRect">
            <a:avLst>
              <a:gd fmla="val 49999" name="adj"/>
            </a:avLst>
          </a:prstGeom>
          <a:solidFill>
            <a:srgbClr val="703AC9"/>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10"/>
          <p:cNvSpPr/>
          <p:nvPr/>
        </p:nvSpPr>
        <p:spPr>
          <a:xfrm>
            <a:off x="8343900" y="3892599"/>
            <a:ext cx="483840" cy="479077"/>
          </a:xfrm>
          <a:prstGeom prst="roundRect">
            <a:avLst>
              <a:gd fmla="val 49999" name="adj"/>
            </a:avLst>
          </a:prstGeom>
          <a:solidFill>
            <a:srgbClr val="703AC9"/>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10"/>
          <p:cNvSpPr/>
          <p:nvPr/>
        </p:nvSpPr>
        <p:spPr>
          <a:xfrm>
            <a:off x="857250" y="3886051"/>
            <a:ext cx="1110555" cy="54173"/>
          </a:xfrm>
          <a:prstGeom prst="roundRect">
            <a:avLst>
              <a:gd fmla="val 35165" name="adj"/>
            </a:avLst>
          </a:prstGeom>
          <a:solidFill>
            <a:srgbClr val="92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10"/>
          <p:cNvSpPr txBox="1"/>
          <p:nvPr/>
        </p:nvSpPr>
        <p:spPr>
          <a:xfrm>
            <a:off x="8523982" y="4033986"/>
            <a:ext cx="142577" cy="196155"/>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1545" u="none" cap="none" strike="noStrike">
                <a:solidFill>
                  <a:srgbClr val="FFFFFF"/>
                </a:solidFill>
                <a:latin typeface="Poppins"/>
                <a:ea typeface="Poppins"/>
                <a:cs typeface="Poppins"/>
                <a:sym typeface="Poppins"/>
              </a:rPr>
              <a:t>4</a:t>
            </a:r>
            <a:endParaRPr/>
          </a:p>
        </p:txBody>
      </p:sp>
      <p:sp>
        <p:nvSpPr>
          <p:cNvPr id="277" name="Google Shape;277;p10"/>
          <p:cNvSpPr txBox="1"/>
          <p:nvPr/>
        </p:nvSpPr>
        <p:spPr>
          <a:xfrm>
            <a:off x="8528000" y="2774602"/>
            <a:ext cx="134689" cy="196155"/>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1545" u="none" cap="none" strike="noStrike">
                <a:solidFill>
                  <a:srgbClr val="FFFFFF"/>
                </a:solidFill>
                <a:latin typeface="Poppins"/>
                <a:ea typeface="Poppins"/>
                <a:cs typeface="Poppins"/>
                <a:sym typeface="Poppins"/>
              </a:rPr>
              <a:t>3</a:t>
            </a:r>
            <a:endParaRPr/>
          </a:p>
        </p:txBody>
      </p:sp>
      <p:sp>
        <p:nvSpPr>
          <p:cNvPr id="278" name="Google Shape;278;p10"/>
          <p:cNvSpPr txBox="1"/>
          <p:nvPr/>
        </p:nvSpPr>
        <p:spPr>
          <a:xfrm>
            <a:off x="5233689" y="3886944"/>
            <a:ext cx="131861" cy="196155"/>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1545" u="none" cap="none" strike="noStrike">
                <a:solidFill>
                  <a:srgbClr val="FFFFFF"/>
                </a:solidFill>
                <a:latin typeface="Poppins"/>
                <a:ea typeface="Poppins"/>
                <a:cs typeface="Poppins"/>
                <a:sym typeface="Poppins"/>
              </a:rPr>
              <a:t>2</a:t>
            </a:r>
            <a:endParaRPr/>
          </a:p>
        </p:txBody>
      </p:sp>
      <p:sp>
        <p:nvSpPr>
          <p:cNvPr id="279" name="Google Shape;279;p10"/>
          <p:cNvSpPr txBox="1"/>
          <p:nvPr/>
        </p:nvSpPr>
        <p:spPr>
          <a:xfrm>
            <a:off x="5258692" y="2774602"/>
            <a:ext cx="81855" cy="196155"/>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n-US" sz="1545" u="none" cap="none" strike="noStrike">
                <a:solidFill>
                  <a:srgbClr val="FFFFFF"/>
                </a:solidFill>
                <a:latin typeface="Poppins"/>
                <a:ea typeface="Poppins"/>
                <a:cs typeface="Poppins"/>
                <a:sym typeface="Poppins"/>
              </a:rPr>
              <a:t>1</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284" name="Shape 284"/>
        <p:cNvGrpSpPr/>
        <p:nvPr/>
      </p:nvGrpSpPr>
      <p:grpSpPr>
        <a:xfrm>
          <a:off x="0" y="0"/>
          <a:ext cx="0" cy="0"/>
          <a:chOff x="0" y="0"/>
          <a:chExt cx="0" cy="0"/>
        </a:xfrm>
      </p:grpSpPr>
      <p:sp>
        <p:nvSpPr>
          <p:cNvPr id="285" name="Google Shape;285;p11"/>
          <p:cNvSpPr/>
          <p:nvPr/>
        </p:nvSpPr>
        <p:spPr>
          <a:xfrm>
            <a:off x="618083" y="2244030"/>
            <a:ext cx="2057400" cy="1325760"/>
          </a:xfrm>
          <a:prstGeom prst="roundRect">
            <a:avLst>
              <a:gd fmla="val 9555" name="adj"/>
            </a:avLst>
          </a:prstGeom>
          <a:solidFill>
            <a:srgbClr val="F0F0F2"/>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p11"/>
          <p:cNvSpPr/>
          <p:nvPr/>
        </p:nvSpPr>
        <p:spPr>
          <a:xfrm>
            <a:off x="2105025" y="4313783"/>
            <a:ext cx="2057400" cy="1325760"/>
          </a:xfrm>
          <a:prstGeom prst="roundRect">
            <a:avLst>
              <a:gd fmla="val 9555" name="adj"/>
            </a:avLst>
          </a:prstGeom>
          <a:solidFill>
            <a:srgbClr val="F0F0F2"/>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11"/>
          <p:cNvSpPr/>
          <p:nvPr/>
        </p:nvSpPr>
        <p:spPr>
          <a:xfrm>
            <a:off x="3876675" y="2244030"/>
            <a:ext cx="2057400" cy="1325760"/>
          </a:xfrm>
          <a:prstGeom prst="roundRect">
            <a:avLst>
              <a:gd fmla="val 9555" name="adj"/>
            </a:avLst>
          </a:prstGeom>
          <a:solidFill>
            <a:srgbClr val="F0F0F2"/>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p11"/>
          <p:cNvSpPr/>
          <p:nvPr/>
        </p:nvSpPr>
        <p:spPr>
          <a:xfrm>
            <a:off x="5657850" y="4313783"/>
            <a:ext cx="2057400" cy="1325760"/>
          </a:xfrm>
          <a:prstGeom prst="roundRect">
            <a:avLst>
              <a:gd fmla="val 9555" name="adj"/>
            </a:avLst>
          </a:prstGeom>
          <a:solidFill>
            <a:srgbClr val="F0F0F2"/>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11"/>
          <p:cNvSpPr/>
          <p:nvPr/>
        </p:nvSpPr>
        <p:spPr>
          <a:xfrm>
            <a:off x="7572375" y="2244030"/>
            <a:ext cx="2057400" cy="1325760"/>
          </a:xfrm>
          <a:prstGeom prst="roundRect">
            <a:avLst>
              <a:gd fmla="val 9555" name="adj"/>
            </a:avLst>
          </a:prstGeom>
          <a:solidFill>
            <a:srgbClr val="F0F0F2"/>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11"/>
          <p:cNvSpPr/>
          <p:nvPr/>
        </p:nvSpPr>
        <p:spPr>
          <a:xfrm>
            <a:off x="9486900" y="4344292"/>
            <a:ext cx="2057400" cy="1325760"/>
          </a:xfrm>
          <a:prstGeom prst="roundRect">
            <a:avLst>
              <a:gd fmla="val 9555" name="adj"/>
            </a:avLst>
          </a:prstGeom>
          <a:solidFill>
            <a:srgbClr val="F0F0F2"/>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11"/>
          <p:cNvSpPr txBox="1"/>
          <p:nvPr/>
        </p:nvSpPr>
        <p:spPr>
          <a:xfrm>
            <a:off x="3556545" y="653355"/>
            <a:ext cx="5162700" cy="4173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84684"/>
              </a:lnSpc>
              <a:spcBef>
                <a:spcPts val="0"/>
              </a:spcBef>
              <a:spcAft>
                <a:spcPts val="0"/>
              </a:spcAft>
              <a:buNone/>
            </a:pPr>
            <a:r>
              <a:rPr b="1" i="0" lang="en-US" sz="3202" u="none" cap="none" strike="noStrike">
                <a:solidFill>
                  <a:srgbClr val="45818E"/>
                </a:solidFill>
                <a:latin typeface="Poppins"/>
                <a:ea typeface="Poppins"/>
                <a:cs typeface="Poppins"/>
                <a:sym typeface="Poppins"/>
              </a:rPr>
              <a:t>Training Workflow</a:t>
            </a:r>
            <a:endParaRPr>
              <a:solidFill>
                <a:srgbClr val="45818E"/>
              </a:solidFill>
            </a:endParaRPr>
          </a:p>
        </p:txBody>
      </p:sp>
      <p:sp>
        <p:nvSpPr>
          <p:cNvPr id="292" name="Google Shape;292;p11"/>
          <p:cNvSpPr txBox="1"/>
          <p:nvPr/>
        </p:nvSpPr>
        <p:spPr>
          <a:xfrm>
            <a:off x="791467" y="2786955"/>
            <a:ext cx="1791600" cy="4575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7143"/>
              </a:lnSpc>
              <a:spcBef>
                <a:spcPts val="0"/>
              </a:spcBef>
              <a:spcAft>
                <a:spcPts val="0"/>
              </a:spcAft>
              <a:buNone/>
            </a:pPr>
            <a:r>
              <a:rPr b="1" i="0" lang="en-US" sz="839" u="none" cap="none" strike="noStrike">
                <a:solidFill>
                  <a:srgbClr val="00FF00"/>
                </a:solidFill>
                <a:latin typeface="Poppins"/>
                <a:ea typeface="Poppins"/>
                <a:cs typeface="Poppins"/>
                <a:sym typeface="Poppins"/>
              </a:rPr>
              <a:t>Initialize</a:t>
            </a:r>
            <a:r>
              <a:rPr b="0" i="0" lang="en-US" sz="839" u="none" cap="none" strike="noStrike">
                <a:solidFill>
                  <a:srgbClr val="00FF00"/>
                </a:solidFill>
                <a:latin typeface="Poppins"/>
                <a:ea typeface="Poppins"/>
                <a:cs typeface="Poppins"/>
                <a:sym typeface="Poppins"/>
              </a:rPr>
              <a:t> model parameters, optionally using He or Xavier schemes.</a:t>
            </a:r>
            <a:endParaRPr>
              <a:solidFill>
                <a:srgbClr val="00FF00"/>
              </a:solidFill>
            </a:endParaRPr>
          </a:p>
        </p:txBody>
      </p:sp>
      <p:sp>
        <p:nvSpPr>
          <p:cNvPr id="293" name="Google Shape;293;p11"/>
          <p:cNvSpPr txBox="1"/>
          <p:nvPr/>
        </p:nvSpPr>
        <p:spPr>
          <a:xfrm>
            <a:off x="2313533" y="4820542"/>
            <a:ext cx="1791600" cy="2934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7143"/>
              </a:lnSpc>
              <a:spcBef>
                <a:spcPts val="0"/>
              </a:spcBef>
              <a:spcAft>
                <a:spcPts val="0"/>
              </a:spcAft>
              <a:buNone/>
            </a:pPr>
            <a:r>
              <a:rPr b="0" i="0" lang="en-US" sz="839" u="none" cap="none" strike="noStrike">
                <a:solidFill>
                  <a:srgbClr val="00FF00"/>
                </a:solidFill>
                <a:latin typeface="Poppins"/>
                <a:ea typeface="Poppins"/>
                <a:cs typeface="Poppins"/>
                <a:sym typeface="Poppins"/>
              </a:rPr>
              <a:t>Perform </a:t>
            </a:r>
            <a:r>
              <a:rPr b="1" i="0" lang="en-US" sz="839" u="none" cap="none" strike="noStrike">
                <a:solidFill>
                  <a:srgbClr val="00FF00"/>
                </a:solidFill>
                <a:latin typeface="Poppins"/>
                <a:ea typeface="Poppins"/>
                <a:cs typeface="Poppins"/>
                <a:sym typeface="Poppins"/>
              </a:rPr>
              <a:t>forward pass</a:t>
            </a:r>
            <a:r>
              <a:rPr b="0" i="0" lang="en-US" sz="839" u="none" cap="none" strike="noStrike">
                <a:solidFill>
                  <a:srgbClr val="00FF00"/>
                </a:solidFill>
                <a:latin typeface="Poppins"/>
                <a:ea typeface="Poppins"/>
                <a:cs typeface="Poppins"/>
                <a:sym typeface="Poppins"/>
              </a:rPr>
              <a:t> to compute predictions for a batch.</a:t>
            </a:r>
            <a:endParaRPr>
              <a:solidFill>
                <a:srgbClr val="00FF00"/>
              </a:solidFill>
            </a:endParaRPr>
          </a:p>
        </p:txBody>
      </p:sp>
      <p:sp>
        <p:nvSpPr>
          <p:cNvPr id="294" name="Google Shape;294;p11"/>
          <p:cNvSpPr txBox="1"/>
          <p:nvPr/>
        </p:nvSpPr>
        <p:spPr>
          <a:xfrm>
            <a:off x="4019550" y="2758380"/>
            <a:ext cx="1791600" cy="2934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7143"/>
              </a:lnSpc>
              <a:spcBef>
                <a:spcPts val="0"/>
              </a:spcBef>
              <a:spcAft>
                <a:spcPts val="0"/>
              </a:spcAft>
              <a:buNone/>
            </a:pPr>
            <a:r>
              <a:rPr b="1" i="0" lang="en-US" sz="839" u="none" cap="none" strike="noStrike">
                <a:solidFill>
                  <a:srgbClr val="00FF00"/>
                </a:solidFill>
                <a:latin typeface="Poppins"/>
                <a:ea typeface="Poppins"/>
                <a:cs typeface="Poppins"/>
                <a:sym typeface="Poppins"/>
              </a:rPr>
              <a:t>Compute loss</a:t>
            </a:r>
            <a:r>
              <a:rPr b="0" i="0" lang="en-US" sz="839" u="none" cap="none" strike="noStrike">
                <a:solidFill>
                  <a:srgbClr val="00FF00"/>
                </a:solidFill>
                <a:latin typeface="Poppins"/>
                <a:ea typeface="Poppins"/>
                <a:cs typeface="Poppins"/>
                <a:sym typeface="Poppins"/>
              </a:rPr>
              <a:t> using selected loss function.</a:t>
            </a:r>
            <a:endParaRPr>
              <a:solidFill>
                <a:srgbClr val="00FF00"/>
              </a:solidFill>
            </a:endParaRPr>
          </a:p>
        </p:txBody>
      </p:sp>
      <p:sp>
        <p:nvSpPr>
          <p:cNvPr id="295" name="Google Shape;295;p11"/>
          <p:cNvSpPr txBox="1"/>
          <p:nvPr/>
        </p:nvSpPr>
        <p:spPr>
          <a:xfrm>
            <a:off x="5851177" y="4820542"/>
            <a:ext cx="1791600" cy="2934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7143"/>
              </a:lnSpc>
              <a:spcBef>
                <a:spcPts val="0"/>
              </a:spcBef>
              <a:spcAft>
                <a:spcPts val="0"/>
              </a:spcAft>
              <a:buNone/>
            </a:pPr>
            <a:r>
              <a:rPr b="0" i="0" lang="en-US" sz="839" u="none" cap="none" strike="noStrike">
                <a:solidFill>
                  <a:srgbClr val="00FF00"/>
                </a:solidFill>
                <a:latin typeface="Poppins"/>
                <a:ea typeface="Poppins"/>
                <a:cs typeface="Poppins"/>
                <a:sym typeface="Poppins"/>
              </a:rPr>
              <a:t>Execute </a:t>
            </a:r>
            <a:r>
              <a:rPr b="1" i="0" lang="en-US" sz="839" u="none" cap="none" strike="noStrike">
                <a:solidFill>
                  <a:srgbClr val="00FF00"/>
                </a:solidFill>
                <a:latin typeface="Poppins"/>
                <a:ea typeface="Poppins"/>
                <a:cs typeface="Poppins"/>
                <a:sym typeface="Poppins"/>
              </a:rPr>
              <a:t>backward pass</a:t>
            </a:r>
            <a:r>
              <a:rPr b="0" i="0" lang="en-US" sz="839" u="none" cap="none" strike="noStrike">
                <a:solidFill>
                  <a:srgbClr val="00FF00"/>
                </a:solidFill>
                <a:latin typeface="Poppins"/>
                <a:ea typeface="Poppins"/>
                <a:cs typeface="Poppins"/>
                <a:sym typeface="Poppins"/>
              </a:rPr>
              <a:t> to propagate gradients.</a:t>
            </a:r>
            <a:endParaRPr>
              <a:solidFill>
                <a:srgbClr val="00FF00"/>
              </a:solidFill>
            </a:endParaRPr>
          </a:p>
        </p:txBody>
      </p:sp>
      <p:sp>
        <p:nvSpPr>
          <p:cNvPr id="296" name="Google Shape;296;p11"/>
          <p:cNvSpPr txBox="1"/>
          <p:nvPr/>
        </p:nvSpPr>
        <p:spPr>
          <a:xfrm>
            <a:off x="7693223" y="2786955"/>
            <a:ext cx="1791600" cy="2934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7143"/>
              </a:lnSpc>
              <a:spcBef>
                <a:spcPts val="0"/>
              </a:spcBef>
              <a:spcAft>
                <a:spcPts val="0"/>
              </a:spcAft>
              <a:buNone/>
            </a:pPr>
            <a:r>
              <a:rPr b="1" i="0" lang="en-US" sz="839" u="none" cap="none" strike="noStrike">
                <a:solidFill>
                  <a:srgbClr val="00FF00"/>
                </a:solidFill>
                <a:latin typeface="Poppins"/>
                <a:ea typeface="Poppins"/>
                <a:cs typeface="Poppins"/>
                <a:sym typeface="Poppins"/>
              </a:rPr>
              <a:t>Optimizer updates</a:t>
            </a:r>
            <a:r>
              <a:rPr b="0" i="0" lang="en-US" sz="839" u="none" cap="none" strike="noStrike">
                <a:solidFill>
                  <a:srgbClr val="00FF00"/>
                </a:solidFill>
                <a:latin typeface="Poppins"/>
                <a:ea typeface="Poppins"/>
                <a:cs typeface="Poppins"/>
                <a:sym typeface="Poppins"/>
              </a:rPr>
              <a:t> weights based on computed gradients.</a:t>
            </a:r>
            <a:endParaRPr>
              <a:solidFill>
                <a:srgbClr val="00FF00"/>
              </a:solidFill>
            </a:endParaRPr>
          </a:p>
        </p:txBody>
      </p:sp>
      <p:sp>
        <p:nvSpPr>
          <p:cNvPr id="297" name="Google Shape;297;p11"/>
          <p:cNvSpPr txBox="1"/>
          <p:nvPr/>
        </p:nvSpPr>
        <p:spPr>
          <a:xfrm>
            <a:off x="9689752" y="4814887"/>
            <a:ext cx="1791600" cy="2934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7143"/>
              </a:lnSpc>
              <a:spcBef>
                <a:spcPts val="0"/>
              </a:spcBef>
              <a:spcAft>
                <a:spcPts val="0"/>
              </a:spcAft>
              <a:buNone/>
            </a:pPr>
            <a:r>
              <a:rPr b="1" i="0" lang="en-US" sz="839" u="none" cap="none" strike="noStrike">
                <a:solidFill>
                  <a:srgbClr val="00FF00"/>
                </a:solidFill>
                <a:latin typeface="Poppins"/>
                <a:ea typeface="Poppins"/>
                <a:cs typeface="Poppins"/>
                <a:sym typeface="Poppins"/>
              </a:rPr>
              <a:t>Repeat</a:t>
            </a:r>
            <a:r>
              <a:rPr b="0" i="0" lang="en-US" sz="839" u="none" cap="none" strike="noStrike">
                <a:solidFill>
                  <a:srgbClr val="00FF00"/>
                </a:solidFill>
                <a:latin typeface="Poppins"/>
                <a:ea typeface="Poppins"/>
                <a:cs typeface="Poppins"/>
                <a:sym typeface="Poppins"/>
              </a:rPr>
              <a:t> over epochs with validation checks.</a:t>
            </a:r>
            <a:endParaRPr>
              <a:solidFill>
                <a:srgbClr val="00FF00"/>
              </a:solidFill>
            </a:endParaRPr>
          </a:p>
        </p:txBody>
      </p:sp>
      <p:pic>
        <p:nvPicPr>
          <p:cNvPr descr="5e979345-f1ba-494b-b6c7-8df5a98aa52e.png" id="298" name="Google Shape;298;p11"/>
          <p:cNvPicPr preferRelativeResize="0"/>
          <p:nvPr/>
        </p:nvPicPr>
        <p:blipFill rotWithShape="1">
          <a:blip r:embed="rId3">
            <a:alphaModFix/>
          </a:blip>
          <a:srcRect b="0" l="0" r="0" t="0"/>
          <a:stretch/>
        </p:blipFill>
        <p:spPr>
          <a:xfrm>
            <a:off x="590550" y="3934717"/>
            <a:ext cx="11010900" cy="19050"/>
          </a:xfrm>
          <a:prstGeom prst="rect">
            <a:avLst/>
          </a:prstGeom>
          <a:noFill/>
          <a:ln>
            <a:noFill/>
          </a:ln>
        </p:spPr>
      </p:pic>
      <p:sp>
        <p:nvSpPr>
          <p:cNvPr id="299" name="Google Shape;299;p11"/>
          <p:cNvSpPr/>
          <p:nvPr/>
        </p:nvSpPr>
        <p:spPr>
          <a:xfrm>
            <a:off x="1466850" y="3708945"/>
            <a:ext cx="451395" cy="451395"/>
          </a:xfrm>
          <a:prstGeom prst="roundRect">
            <a:avLst>
              <a:gd fmla="val 49999" name="adj"/>
            </a:avLst>
          </a:prstGeom>
          <a:solidFill>
            <a:srgbClr val="9234EC"/>
          </a:solidFill>
          <a:ln cap="flat" cmpd="sng" w="19050">
            <a:solidFill>
              <a:srgbClr val="707070"/>
            </a:solidFill>
            <a:prstDash val="solid"/>
            <a:round/>
            <a:headEnd len="sm" w="sm" type="none"/>
            <a:tailEnd len="sm" w="sm" type="none"/>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11"/>
          <p:cNvSpPr/>
          <p:nvPr/>
        </p:nvSpPr>
        <p:spPr>
          <a:xfrm>
            <a:off x="4646265" y="3717577"/>
            <a:ext cx="451395" cy="451395"/>
          </a:xfrm>
          <a:prstGeom prst="roundRect">
            <a:avLst>
              <a:gd fmla="val 49999" name="adj"/>
            </a:avLst>
          </a:prstGeom>
          <a:solidFill>
            <a:srgbClr val="9234EC"/>
          </a:solidFill>
          <a:ln cap="flat" cmpd="sng" w="19050">
            <a:solidFill>
              <a:srgbClr val="707070"/>
            </a:solidFill>
            <a:prstDash val="solid"/>
            <a:round/>
            <a:headEnd len="sm" w="sm" type="none"/>
            <a:tailEnd len="sm" w="sm" type="none"/>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11"/>
          <p:cNvSpPr/>
          <p:nvPr/>
        </p:nvSpPr>
        <p:spPr>
          <a:xfrm>
            <a:off x="8397180" y="3708945"/>
            <a:ext cx="451395" cy="451395"/>
          </a:xfrm>
          <a:prstGeom prst="roundRect">
            <a:avLst>
              <a:gd fmla="val 49999" name="adj"/>
            </a:avLst>
          </a:prstGeom>
          <a:solidFill>
            <a:srgbClr val="9234EC"/>
          </a:solidFill>
          <a:ln cap="flat" cmpd="sng" w="19050">
            <a:solidFill>
              <a:srgbClr val="707070"/>
            </a:solidFill>
            <a:prstDash val="solid"/>
            <a:round/>
            <a:headEnd len="sm" w="sm" type="none"/>
            <a:tailEnd len="sm" w="sm" type="none"/>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p11"/>
          <p:cNvSpPr/>
          <p:nvPr/>
        </p:nvSpPr>
        <p:spPr>
          <a:xfrm>
            <a:off x="5573017" y="1236315"/>
            <a:ext cx="1110555" cy="54173"/>
          </a:xfrm>
          <a:prstGeom prst="roundRect">
            <a:avLst>
              <a:gd fmla="val 35165" name="adj"/>
            </a:avLst>
          </a:prstGeom>
          <a:solidFill>
            <a:srgbClr val="92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11"/>
          <p:cNvSpPr/>
          <p:nvPr/>
        </p:nvSpPr>
        <p:spPr>
          <a:xfrm>
            <a:off x="3029842" y="3839467"/>
            <a:ext cx="207615" cy="207615"/>
          </a:xfrm>
          <a:prstGeom prst="roundRect">
            <a:avLst>
              <a:gd fmla="val 49999" name="adj"/>
            </a:avLst>
          </a:prstGeom>
          <a:solidFill>
            <a:srgbClr val="FF751F"/>
          </a:solidFill>
          <a:ln cap="flat" cmpd="sng" w="9525">
            <a:solidFill>
              <a:srgbClr val="000000"/>
            </a:solidFill>
            <a:prstDash val="solid"/>
            <a:round/>
            <a:headEnd len="sm" w="sm" type="none"/>
            <a:tailEnd len="sm" w="sm" type="none"/>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11"/>
          <p:cNvSpPr/>
          <p:nvPr/>
        </p:nvSpPr>
        <p:spPr>
          <a:xfrm>
            <a:off x="6573142" y="3839467"/>
            <a:ext cx="207615" cy="207615"/>
          </a:xfrm>
          <a:prstGeom prst="roundRect">
            <a:avLst>
              <a:gd fmla="val 49999" name="adj"/>
            </a:avLst>
          </a:prstGeom>
          <a:solidFill>
            <a:srgbClr val="FFBD59"/>
          </a:solidFill>
          <a:ln cap="flat" cmpd="sng" w="9525">
            <a:solidFill>
              <a:srgbClr val="000000"/>
            </a:solidFill>
            <a:prstDash val="solid"/>
            <a:round/>
            <a:headEnd len="sm" w="sm" type="none"/>
            <a:tailEnd len="sm" w="sm" type="none"/>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11"/>
          <p:cNvSpPr/>
          <p:nvPr/>
        </p:nvSpPr>
        <p:spPr>
          <a:xfrm>
            <a:off x="10411717" y="3830835"/>
            <a:ext cx="207615" cy="207615"/>
          </a:xfrm>
          <a:prstGeom prst="roundRect">
            <a:avLst>
              <a:gd fmla="val 49999" name="adj"/>
            </a:avLst>
          </a:prstGeom>
          <a:solidFill>
            <a:srgbClr val="FF914D"/>
          </a:solidFill>
          <a:ln cap="flat" cmpd="sng" w="9525">
            <a:solidFill>
              <a:srgbClr val="000000"/>
            </a:solidFill>
            <a:prstDash val="solid"/>
            <a:round/>
            <a:headEnd len="sm" w="sm" type="none"/>
            <a:tailEnd len="sm" w="sm" type="none"/>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11"/>
          <p:cNvSpPr txBox="1"/>
          <p:nvPr/>
        </p:nvSpPr>
        <p:spPr>
          <a:xfrm>
            <a:off x="10456961" y="4587180"/>
            <a:ext cx="137100" cy="225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462" u="none" cap="none" strike="noStrike">
                <a:solidFill>
                  <a:srgbClr val="00FF00"/>
                </a:solidFill>
                <a:latin typeface="Poppins"/>
                <a:ea typeface="Poppins"/>
                <a:cs typeface="Poppins"/>
                <a:sym typeface="Poppins"/>
              </a:rPr>
              <a:t>6</a:t>
            </a:r>
            <a:endParaRPr>
              <a:solidFill>
                <a:srgbClr val="00FF00"/>
              </a:solidFill>
            </a:endParaRPr>
          </a:p>
        </p:txBody>
      </p:sp>
      <p:sp>
        <p:nvSpPr>
          <p:cNvPr id="307" name="Google Shape;307;p11"/>
          <p:cNvSpPr txBox="1"/>
          <p:nvPr/>
        </p:nvSpPr>
        <p:spPr>
          <a:xfrm>
            <a:off x="6618982" y="4592835"/>
            <a:ext cx="135900" cy="225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462" u="none" cap="none" strike="noStrike">
                <a:solidFill>
                  <a:srgbClr val="00FF00"/>
                </a:solidFill>
                <a:latin typeface="Poppins"/>
                <a:ea typeface="Poppins"/>
                <a:cs typeface="Poppins"/>
                <a:sym typeface="Poppins"/>
              </a:rPr>
              <a:t>4</a:t>
            </a:r>
            <a:endParaRPr>
              <a:solidFill>
                <a:srgbClr val="00FF00"/>
              </a:solidFill>
            </a:endParaRPr>
          </a:p>
        </p:txBody>
      </p:sp>
      <p:sp>
        <p:nvSpPr>
          <p:cNvPr id="308" name="Google Shape;308;p11"/>
          <p:cNvSpPr txBox="1"/>
          <p:nvPr/>
        </p:nvSpPr>
        <p:spPr>
          <a:xfrm>
            <a:off x="8521154" y="2559248"/>
            <a:ext cx="135600" cy="225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462" u="none" cap="none" strike="noStrike">
                <a:solidFill>
                  <a:srgbClr val="00FF00"/>
                </a:solidFill>
                <a:latin typeface="Poppins"/>
                <a:ea typeface="Poppins"/>
                <a:cs typeface="Poppins"/>
                <a:sym typeface="Poppins"/>
              </a:rPr>
              <a:t>5</a:t>
            </a:r>
            <a:endParaRPr>
              <a:solidFill>
                <a:srgbClr val="00FF00"/>
              </a:solidFill>
            </a:endParaRPr>
          </a:p>
        </p:txBody>
      </p:sp>
      <p:sp>
        <p:nvSpPr>
          <p:cNvPr id="309" name="Google Shape;309;p11"/>
          <p:cNvSpPr txBox="1"/>
          <p:nvPr/>
        </p:nvSpPr>
        <p:spPr>
          <a:xfrm>
            <a:off x="495300" y="327570"/>
            <a:ext cx="126801" cy="266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477" u="none" cap="none" strike="noStrike">
                <a:solidFill>
                  <a:srgbClr val="000000"/>
                </a:solidFill>
                <a:latin typeface="Poppins"/>
                <a:ea typeface="Poppins"/>
                <a:cs typeface="Poppins"/>
                <a:sym typeface="Poppins"/>
              </a:rPr>
              <a:t>1</a:t>
            </a:r>
            <a:endParaRPr/>
          </a:p>
        </p:txBody>
      </p:sp>
      <p:sp>
        <p:nvSpPr>
          <p:cNvPr id="310" name="Google Shape;310;p11"/>
          <p:cNvSpPr txBox="1"/>
          <p:nvPr/>
        </p:nvSpPr>
        <p:spPr>
          <a:xfrm>
            <a:off x="4850010" y="2530673"/>
            <a:ext cx="128700" cy="225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462" u="none" cap="none" strike="noStrike">
                <a:solidFill>
                  <a:srgbClr val="00FF00"/>
                </a:solidFill>
                <a:latin typeface="Poppins"/>
                <a:ea typeface="Poppins"/>
                <a:cs typeface="Poppins"/>
                <a:sym typeface="Poppins"/>
              </a:rPr>
              <a:t>3</a:t>
            </a:r>
            <a:endParaRPr>
              <a:solidFill>
                <a:srgbClr val="00FF00"/>
              </a:solidFill>
            </a:endParaRPr>
          </a:p>
        </p:txBody>
      </p:sp>
      <p:sp>
        <p:nvSpPr>
          <p:cNvPr id="311" name="Google Shape;311;p11"/>
          <p:cNvSpPr txBox="1"/>
          <p:nvPr/>
        </p:nvSpPr>
        <p:spPr>
          <a:xfrm>
            <a:off x="3079700" y="4592835"/>
            <a:ext cx="126000" cy="225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462" u="none" cap="none" strike="noStrike">
                <a:solidFill>
                  <a:srgbClr val="00FF00"/>
                </a:solidFill>
                <a:latin typeface="Poppins"/>
                <a:ea typeface="Poppins"/>
                <a:cs typeface="Poppins"/>
                <a:sym typeface="Poppins"/>
              </a:rPr>
              <a:t>2</a:t>
            </a:r>
            <a:endParaRPr>
              <a:solidFill>
                <a:srgbClr val="00FF00"/>
              </a:solidFill>
            </a:endParaRPr>
          </a:p>
        </p:txBody>
      </p:sp>
      <p:sp>
        <p:nvSpPr>
          <p:cNvPr id="312" name="Google Shape;312;p11"/>
          <p:cNvSpPr/>
          <p:nvPr/>
        </p:nvSpPr>
        <p:spPr>
          <a:xfrm>
            <a:off x="2313533" y="3880395"/>
            <a:ext cx="126652" cy="126652"/>
          </a:xfrm>
          <a:prstGeom prst="roundRect">
            <a:avLst>
              <a:gd fmla="val 50000" name="adj"/>
            </a:avLst>
          </a:prstGeom>
          <a:solidFill>
            <a:srgbClr val="FFF7ED"/>
          </a:solidFill>
          <a:ln cap="flat" cmpd="sng" w="9525">
            <a:solidFill>
              <a:srgbClr val="000000"/>
            </a:solidFill>
            <a:prstDash val="solid"/>
            <a:round/>
            <a:headEnd len="sm" w="sm" type="none"/>
            <a:tailEnd len="sm" w="sm" type="none"/>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11"/>
          <p:cNvSpPr/>
          <p:nvPr/>
        </p:nvSpPr>
        <p:spPr>
          <a:xfrm>
            <a:off x="3954660" y="3880395"/>
            <a:ext cx="126652" cy="126652"/>
          </a:xfrm>
          <a:prstGeom prst="roundRect">
            <a:avLst>
              <a:gd fmla="val 50000" name="adj"/>
            </a:avLst>
          </a:prstGeom>
          <a:solidFill>
            <a:srgbClr val="FFF7ED"/>
          </a:solidFill>
          <a:ln cap="flat" cmpd="sng" w="9525">
            <a:solidFill>
              <a:srgbClr val="000000"/>
            </a:solidFill>
            <a:prstDash val="solid"/>
            <a:round/>
            <a:headEnd len="sm" w="sm" type="none"/>
            <a:tailEnd len="sm" w="sm" type="none"/>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11"/>
          <p:cNvSpPr/>
          <p:nvPr/>
        </p:nvSpPr>
        <p:spPr>
          <a:xfrm>
            <a:off x="5728245" y="3880395"/>
            <a:ext cx="126652" cy="126652"/>
          </a:xfrm>
          <a:prstGeom prst="roundRect">
            <a:avLst>
              <a:gd fmla="val 50000" name="adj"/>
            </a:avLst>
          </a:prstGeom>
          <a:solidFill>
            <a:srgbClr val="FFF7ED"/>
          </a:solidFill>
          <a:ln cap="flat" cmpd="sng" w="9525">
            <a:solidFill>
              <a:srgbClr val="000000"/>
            </a:solidFill>
            <a:prstDash val="solid"/>
            <a:round/>
            <a:headEnd len="sm" w="sm" type="none"/>
            <a:tailEnd len="sm" w="sm" type="none"/>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11"/>
          <p:cNvSpPr/>
          <p:nvPr/>
        </p:nvSpPr>
        <p:spPr>
          <a:xfrm>
            <a:off x="7630417" y="3880395"/>
            <a:ext cx="126652" cy="126652"/>
          </a:xfrm>
          <a:prstGeom prst="roundRect">
            <a:avLst>
              <a:gd fmla="val 50000" name="adj"/>
            </a:avLst>
          </a:prstGeom>
          <a:solidFill>
            <a:srgbClr val="FFF7ED"/>
          </a:solidFill>
          <a:ln cap="flat" cmpd="sng" w="9525">
            <a:solidFill>
              <a:srgbClr val="000000"/>
            </a:solidFill>
            <a:prstDash val="solid"/>
            <a:round/>
            <a:headEnd len="sm" w="sm" type="none"/>
            <a:tailEnd len="sm" w="sm" type="none"/>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11"/>
          <p:cNvSpPr/>
          <p:nvPr/>
        </p:nvSpPr>
        <p:spPr>
          <a:xfrm>
            <a:off x="9566820" y="3880395"/>
            <a:ext cx="126652" cy="126652"/>
          </a:xfrm>
          <a:prstGeom prst="roundRect">
            <a:avLst>
              <a:gd fmla="val 50000" name="adj"/>
            </a:avLst>
          </a:prstGeom>
          <a:solidFill>
            <a:srgbClr val="FFF7ED"/>
          </a:solidFill>
          <a:ln cap="flat" cmpd="sng" w="9525">
            <a:solidFill>
              <a:srgbClr val="000000"/>
            </a:solidFill>
            <a:prstDash val="solid"/>
            <a:round/>
            <a:headEnd len="sm" w="sm" type="none"/>
            <a:tailEnd len="sm" w="sm" type="none"/>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11"/>
          <p:cNvSpPr txBox="1"/>
          <p:nvPr/>
        </p:nvSpPr>
        <p:spPr>
          <a:xfrm>
            <a:off x="1715541" y="2559248"/>
            <a:ext cx="78600" cy="2250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462" u="none" cap="none" strike="noStrike">
                <a:solidFill>
                  <a:srgbClr val="00FF00"/>
                </a:solidFill>
                <a:latin typeface="Poppins"/>
                <a:ea typeface="Poppins"/>
                <a:cs typeface="Poppins"/>
                <a:sym typeface="Poppins"/>
              </a:rPr>
              <a:t>1</a:t>
            </a:r>
            <a:endParaRPr>
              <a:solidFill>
                <a:srgbClr val="00FF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322" name="Shape 322"/>
        <p:cNvGrpSpPr/>
        <p:nvPr/>
      </p:nvGrpSpPr>
      <p:grpSpPr>
        <a:xfrm>
          <a:off x="0" y="0"/>
          <a:ext cx="0" cy="0"/>
          <a:chOff x="0" y="0"/>
          <a:chExt cx="0" cy="0"/>
        </a:xfrm>
      </p:grpSpPr>
      <p:sp>
        <p:nvSpPr>
          <p:cNvPr id="323" name="Google Shape;323;p12"/>
          <p:cNvSpPr/>
          <p:nvPr/>
        </p:nvSpPr>
        <p:spPr>
          <a:xfrm>
            <a:off x="762000" y="2324992"/>
            <a:ext cx="7315200" cy="4381500"/>
          </a:xfrm>
          <a:prstGeom prst="roundRect">
            <a:avLst>
              <a:gd fmla="val 1739" name="adj"/>
            </a:avLst>
          </a:prstGeom>
          <a:solidFill>
            <a:srgbClr val="FFFFFF"/>
          </a:solidFill>
          <a:ln cap="flat" cmpd="sng" w="9525">
            <a:solidFill>
              <a:srgbClr val="F3F4F6"/>
            </a:solidFill>
            <a:prstDash val="solid"/>
            <a:round/>
            <a:headEnd len="sm" w="sm" type="none"/>
            <a:tailEnd len="sm" w="sm" type="none"/>
          </a:ln>
          <a:effectLst>
            <a:outerShdw blurRad="19050" rotWithShape="0" dir="5400000" dist="9525">
              <a:srgbClr val="000000">
                <a:alpha val="4705"/>
              </a:srgbClr>
            </a:outerShdw>
          </a:effectLst>
        </p:spPr>
        <p:txBody>
          <a:bodyPr anchorCtr="0" anchor="ctr" bIns="76200" lIns="76200" spcFirstLastPara="1" rIns="76200" wrap="square" tIns="762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f7596058-c1ba-4233-b9aa-a9709a996fa2.png" id="324" name="Google Shape;324;p12"/>
          <p:cNvPicPr preferRelativeResize="0"/>
          <p:nvPr/>
        </p:nvPicPr>
        <p:blipFill rotWithShape="1">
          <a:blip r:embed="rId3">
            <a:alphaModFix/>
          </a:blip>
          <a:srcRect b="0" l="0" r="0" t="0"/>
          <a:stretch/>
        </p:blipFill>
        <p:spPr>
          <a:xfrm>
            <a:off x="847725" y="2410717"/>
            <a:ext cx="7143750" cy="4210050"/>
          </a:xfrm>
          <a:prstGeom prst="rect">
            <a:avLst/>
          </a:prstGeom>
          <a:noFill/>
          <a:ln>
            <a:noFill/>
          </a:ln>
        </p:spPr>
      </p:pic>
      <p:sp>
        <p:nvSpPr>
          <p:cNvPr id="325" name="Google Shape;325;p12"/>
          <p:cNvSpPr txBox="1"/>
          <p:nvPr/>
        </p:nvSpPr>
        <p:spPr>
          <a:xfrm>
            <a:off x="762000" y="304800"/>
            <a:ext cx="7334400" cy="1084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202" u="none" cap="none" strike="noStrike">
                <a:solidFill>
                  <a:srgbClr val="00FF00"/>
                </a:solidFill>
                <a:latin typeface="Poppins"/>
                <a:ea typeface="Poppins"/>
                <a:cs typeface="Poppins"/>
                <a:sym typeface="Poppins"/>
              </a:rPr>
              <a:t>Setting Up TensorFlow Environment</a:t>
            </a:r>
            <a:endParaRPr>
              <a:solidFill>
                <a:srgbClr val="00FF00"/>
              </a:solidFill>
            </a:endParaRPr>
          </a:p>
        </p:txBody>
      </p:sp>
      <p:sp>
        <p:nvSpPr>
          <p:cNvPr id="326" name="Google Shape;326;p12"/>
          <p:cNvSpPr/>
          <p:nvPr/>
        </p:nvSpPr>
        <p:spPr>
          <a:xfrm>
            <a:off x="8382000" y="433387"/>
            <a:ext cx="3048000" cy="1971675"/>
          </a:xfrm>
          <a:prstGeom prst="roundRect">
            <a:avLst>
              <a:gd fmla="val 7729" name="adj"/>
            </a:avLst>
          </a:prstGeom>
          <a:solidFill>
            <a:srgbClr val="9333EA"/>
          </a:solidFill>
          <a:ln>
            <a:noFill/>
          </a:ln>
          <a:effectLst>
            <a:outerShdw>
              <a:srgbClr val="000000">
                <a:alpha val="0"/>
              </a:srgbClr>
            </a:outerShdw>
          </a:effectLst>
        </p:spPr>
        <p:txBody>
          <a:bodyPr anchorCtr="0" anchor="ctr" bIns="228600" lIns="228600" spcFirstLastPara="1" rIns="228600" wrap="square" tIns="2286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12"/>
          <p:cNvSpPr/>
          <p:nvPr/>
        </p:nvSpPr>
        <p:spPr>
          <a:xfrm>
            <a:off x="8382000" y="4452937"/>
            <a:ext cx="3048000" cy="1971675"/>
          </a:xfrm>
          <a:prstGeom prst="roundRect">
            <a:avLst>
              <a:gd fmla="val 7729" name="adj"/>
            </a:avLst>
          </a:prstGeom>
          <a:solidFill>
            <a:srgbClr val="9333EA"/>
          </a:solidFill>
          <a:ln>
            <a:noFill/>
          </a:ln>
          <a:effectLst>
            <a:outerShdw>
              <a:srgbClr val="000000">
                <a:alpha val="0"/>
              </a:srgbClr>
            </a:outerShdw>
          </a:effectLst>
        </p:spPr>
        <p:txBody>
          <a:bodyPr anchorCtr="0" anchor="ctr" bIns="228600" lIns="228600" spcFirstLastPara="1" rIns="228600" wrap="square" tIns="2286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12"/>
          <p:cNvSpPr/>
          <p:nvPr/>
        </p:nvSpPr>
        <p:spPr>
          <a:xfrm>
            <a:off x="8382000" y="2557462"/>
            <a:ext cx="3048000" cy="1743075"/>
          </a:xfrm>
          <a:prstGeom prst="roundRect">
            <a:avLst>
              <a:gd fmla="val 8743" name="adj"/>
            </a:avLst>
          </a:prstGeom>
          <a:solidFill>
            <a:srgbClr val="9333EA"/>
          </a:solidFill>
          <a:ln>
            <a:noFill/>
          </a:ln>
          <a:effectLst>
            <a:outerShdw>
              <a:srgbClr val="000000">
                <a:alpha val="0"/>
              </a:srgbClr>
            </a:outerShdw>
          </a:effectLst>
        </p:spPr>
        <p:txBody>
          <a:bodyPr anchorCtr="0" anchor="ctr" bIns="228600" lIns="228600" spcFirstLastPara="1" rIns="228600" wrap="square" tIns="2286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12"/>
          <p:cNvSpPr txBox="1"/>
          <p:nvPr/>
        </p:nvSpPr>
        <p:spPr>
          <a:xfrm>
            <a:off x="762000" y="1677292"/>
            <a:ext cx="7334400" cy="4248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200" cap="none" strike="noStrike">
                <a:solidFill>
                  <a:srgbClr val="00FF00"/>
                </a:solidFill>
                <a:latin typeface="Poppins"/>
                <a:ea typeface="Poppins"/>
                <a:cs typeface="Poppins"/>
                <a:sym typeface="Poppins"/>
              </a:rPr>
              <a:t>Essential steps to configure and verify TensorFlow installation for </a:t>
            </a:r>
            <a:r>
              <a:rPr b="1" i="0" lang="en-US" sz="1200" cap="none" strike="noStrike">
                <a:solidFill>
                  <a:srgbClr val="00FF00"/>
                </a:solidFill>
                <a:latin typeface="Poppins"/>
                <a:ea typeface="Poppins"/>
                <a:cs typeface="Poppins"/>
                <a:sym typeface="Poppins"/>
              </a:rPr>
              <a:t>machine learning development</a:t>
            </a:r>
            <a:r>
              <a:rPr b="0" i="0" lang="en-US" sz="1200" cap="none" strike="noStrike">
                <a:solidFill>
                  <a:srgbClr val="00FF00"/>
                </a:solidFill>
                <a:latin typeface="Poppins"/>
                <a:ea typeface="Poppins"/>
                <a:cs typeface="Poppins"/>
                <a:sym typeface="Poppins"/>
              </a:rPr>
              <a:t> with GPU support.</a:t>
            </a:r>
            <a:endParaRPr>
              <a:solidFill>
                <a:srgbClr val="00FF00"/>
              </a:solidFill>
            </a:endParaRPr>
          </a:p>
        </p:txBody>
      </p:sp>
      <p:sp>
        <p:nvSpPr>
          <p:cNvPr id="330" name="Google Shape;330;p12"/>
          <p:cNvSpPr txBox="1"/>
          <p:nvPr/>
        </p:nvSpPr>
        <p:spPr>
          <a:xfrm>
            <a:off x="8610600" y="1309687"/>
            <a:ext cx="2609850" cy="866775"/>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050" u="none" cap="none" strike="noStrike">
                <a:solidFill>
                  <a:srgbClr val="FFFFFF"/>
                </a:solidFill>
                <a:latin typeface="Poppins"/>
                <a:ea typeface="Poppins"/>
                <a:cs typeface="Poppins"/>
                <a:sym typeface="Poppins"/>
              </a:rPr>
              <a:t>Use </a:t>
            </a:r>
            <a:r>
              <a:rPr b="1" i="0" lang="en-US" sz="1050" u="none" cap="none" strike="noStrike">
                <a:solidFill>
                  <a:srgbClr val="FFFFFF"/>
                </a:solidFill>
                <a:latin typeface="Poppins"/>
                <a:ea typeface="Poppins"/>
                <a:cs typeface="Poppins"/>
                <a:sym typeface="Poppins"/>
              </a:rPr>
              <a:t>pip install tensorflow</a:t>
            </a:r>
            <a:r>
              <a:rPr b="0" i="0" lang="en-US" sz="1050" u="none" cap="none" strike="noStrike">
                <a:solidFill>
                  <a:srgbClr val="FFFFFF"/>
                </a:solidFill>
                <a:latin typeface="Poppins"/>
                <a:ea typeface="Poppins"/>
                <a:cs typeface="Poppins"/>
                <a:sym typeface="Poppins"/>
              </a:rPr>
              <a:t> to install the library, then import it in Python with </a:t>
            </a:r>
            <a:r>
              <a:rPr b="1" i="0" lang="en-US" sz="1050" u="none" cap="none" strike="noStrike">
                <a:solidFill>
                  <a:srgbClr val="FFFFFF"/>
                </a:solidFill>
                <a:latin typeface="Poppins"/>
                <a:ea typeface="Poppins"/>
                <a:cs typeface="Poppins"/>
                <a:sym typeface="Poppins"/>
              </a:rPr>
              <a:t>import tensorflow as tf</a:t>
            </a:r>
            <a:r>
              <a:rPr b="0" i="0" lang="en-US" sz="1050" u="none" cap="none" strike="noStrike">
                <a:solidFill>
                  <a:srgbClr val="FFFFFF"/>
                </a:solidFill>
                <a:latin typeface="Poppins"/>
                <a:ea typeface="Poppins"/>
                <a:cs typeface="Poppins"/>
                <a:sym typeface="Poppins"/>
              </a:rPr>
              <a:t> to begin development.</a:t>
            </a:r>
            <a:endParaRPr/>
          </a:p>
        </p:txBody>
      </p:sp>
      <p:sp>
        <p:nvSpPr>
          <p:cNvPr id="331" name="Google Shape;331;p12"/>
          <p:cNvSpPr txBox="1"/>
          <p:nvPr/>
        </p:nvSpPr>
        <p:spPr>
          <a:xfrm>
            <a:off x="8610600" y="3205162"/>
            <a:ext cx="2609850" cy="866775"/>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050" u="none" cap="none" strike="noStrike">
                <a:solidFill>
                  <a:srgbClr val="FFFFFF"/>
                </a:solidFill>
                <a:latin typeface="Poppins"/>
                <a:ea typeface="Poppins"/>
                <a:cs typeface="Poppins"/>
                <a:sym typeface="Poppins"/>
              </a:rPr>
              <a:t>Run </a:t>
            </a:r>
            <a:r>
              <a:rPr b="1" i="0" lang="en-US" sz="1050" u="none" cap="none" strike="noStrike">
                <a:solidFill>
                  <a:srgbClr val="FFFFFF"/>
                </a:solidFill>
                <a:latin typeface="Poppins"/>
                <a:ea typeface="Poppins"/>
                <a:cs typeface="Poppins"/>
                <a:sym typeface="Poppins"/>
              </a:rPr>
              <a:t>tf.config.list_physical_devices('GPU')</a:t>
            </a:r>
            <a:r>
              <a:rPr b="0" i="0" lang="en-US" sz="1050" u="none" cap="none" strike="noStrike">
                <a:solidFill>
                  <a:srgbClr val="FFFFFF"/>
                </a:solidFill>
                <a:latin typeface="Poppins"/>
                <a:ea typeface="Poppins"/>
                <a:cs typeface="Poppins"/>
                <a:sym typeface="Poppins"/>
              </a:rPr>
              <a:t> to confirm hardware acceleration is enabled for optimal performance.</a:t>
            </a:r>
            <a:endParaRPr/>
          </a:p>
        </p:txBody>
      </p:sp>
      <p:sp>
        <p:nvSpPr>
          <p:cNvPr id="332" name="Google Shape;332;p12"/>
          <p:cNvSpPr txBox="1"/>
          <p:nvPr/>
        </p:nvSpPr>
        <p:spPr>
          <a:xfrm>
            <a:off x="8610600" y="5329237"/>
            <a:ext cx="2609850" cy="866775"/>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050" u="none" cap="none" strike="noStrike">
                <a:solidFill>
                  <a:srgbClr val="FFFFFF"/>
                </a:solidFill>
                <a:latin typeface="Poppins"/>
                <a:ea typeface="Poppins"/>
                <a:cs typeface="Poppins"/>
                <a:sym typeface="Poppins"/>
              </a:rPr>
              <a:t>Launch Jupyter Notebook for interactive experimentation and create a constant tensor to validate your setup is working correctly.</a:t>
            </a:r>
            <a:endParaRPr/>
          </a:p>
        </p:txBody>
      </p:sp>
      <p:sp>
        <p:nvSpPr>
          <p:cNvPr id="333" name="Google Shape;333;p12"/>
          <p:cNvSpPr txBox="1"/>
          <p:nvPr/>
        </p:nvSpPr>
        <p:spPr>
          <a:xfrm>
            <a:off x="8963917" y="4681537"/>
            <a:ext cx="2256532" cy="5334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4444"/>
              </a:lnSpc>
              <a:spcBef>
                <a:spcPts val="0"/>
              </a:spcBef>
              <a:spcAft>
                <a:spcPts val="0"/>
              </a:spcAft>
              <a:buNone/>
            </a:pPr>
            <a:r>
              <a:rPr b="0" i="0" lang="en-US" sz="1350" u="none" cap="none" strike="noStrike">
                <a:solidFill>
                  <a:srgbClr val="FFFFFF"/>
                </a:solidFill>
                <a:latin typeface="Poppins"/>
                <a:ea typeface="Poppins"/>
                <a:cs typeface="Poppins"/>
                <a:sym typeface="Poppins"/>
              </a:rPr>
              <a:t>Test with Jupyter &amp; Sanity Check</a:t>
            </a:r>
            <a:endParaRPr/>
          </a:p>
        </p:txBody>
      </p:sp>
      <p:sp>
        <p:nvSpPr>
          <p:cNvPr id="334" name="Google Shape;334;p12"/>
          <p:cNvSpPr txBox="1"/>
          <p:nvPr/>
        </p:nvSpPr>
        <p:spPr>
          <a:xfrm>
            <a:off x="9008119" y="661987"/>
            <a:ext cx="2212330" cy="5334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4444"/>
              </a:lnSpc>
              <a:spcBef>
                <a:spcPts val="0"/>
              </a:spcBef>
              <a:spcAft>
                <a:spcPts val="0"/>
              </a:spcAft>
              <a:buNone/>
            </a:pPr>
            <a:r>
              <a:rPr b="0" i="0" lang="en-US" sz="1350" u="none" cap="none" strike="noStrike">
                <a:solidFill>
                  <a:srgbClr val="FFFFFF"/>
                </a:solidFill>
                <a:latin typeface="Poppins"/>
                <a:ea typeface="Poppins"/>
                <a:cs typeface="Poppins"/>
                <a:sym typeface="Poppins"/>
              </a:rPr>
              <a:t>Install &amp; Import TensorFlow</a:t>
            </a:r>
            <a:endParaRPr/>
          </a:p>
        </p:txBody>
      </p:sp>
      <p:sp>
        <p:nvSpPr>
          <p:cNvPr id="335" name="Google Shape;335;p12"/>
          <p:cNvSpPr txBox="1"/>
          <p:nvPr/>
        </p:nvSpPr>
        <p:spPr>
          <a:xfrm>
            <a:off x="9029700" y="2805112"/>
            <a:ext cx="1946374" cy="266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4444"/>
              </a:lnSpc>
              <a:spcBef>
                <a:spcPts val="0"/>
              </a:spcBef>
              <a:spcAft>
                <a:spcPts val="0"/>
              </a:spcAft>
              <a:buNone/>
            </a:pPr>
            <a:r>
              <a:rPr b="0" i="0" lang="en-US" sz="1350" u="none" cap="none" strike="noStrike">
                <a:solidFill>
                  <a:srgbClr val="FFFFFF"/>
                </a:solidFill>
                <a:latin typeface="Poppins"/>
                <a:ea typeface="Poppins"/>
                <a:cs typeface="Poppins"/>
                <a:sym typeface="Poppins"/>
              </a:rPr>
              <a:t>Verify GPU Availability</a:t>
            </a:r>
            <a:endParaRPr/>
          </a:p>
        </p:txBody>
      </p:sp>
      <p:sp>
        <p:nvSpPr>
          <p:cNvPr id="336" name="Google Shape;336;p12"/>
          <p:cNvSpPr/>
          <p:nvPr/>
        </p:nvSpPr>
        <p:spPr>
          <a:xfrm>
            <a:off x="8610600" y="2786062"/>
            <a:ext cx="304800" cy="304800"/>
          </a:xfrm>
          <a:prstGeom prst="roundRect">
            <a:avLst>
              <a:gd fmla="val 25000" name="adj"/>
            </a:avLst>
          </a:prstGeom>
          <a:solidFill>
            <a:srgbClr val="9333EA"/>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12"/>
          <p:cNvSpPr/>
          <p:nvPr/>
        </p:nvSpPr>
        <p:spPr>
          <a:xfrm>
            <a:off x="8610600" y="776287"/>
            <a:ext cx="283219" cy="304800"/>
          </a:xfrm>
          <a:prstGeom prst="roundRect">
            <a:avLst>
              <a:gd fmla="val 26904" name="adj"/>
            </a:avLst>
          </a:prstGeom>
          <a:solidFill>
            <a:srgbClr val="9333EA"/>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12"/>
          <p:cNvSpPr/>
          <p:nvPr/>
        </p:nvSpPr>
        <p:spPr>
          <a:xfrm>
            <a:off x="8610600" y="4795837"/>
            <a:ext cx="239017" cy="304800"/>
          </a:xfrm>
          <a:prstGeom prst="roundRect">
            <a:avLst>
              <a:gd fmla="val 31880" name="adj"/>
            </a:avLst>
          </a:prstGeom>
          <a:solidFill>
            <a:srgbClr val="9333EA"/>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00dc06ed-c738-40cb-82e5-98cea534a9f1.png" id="339" name="Google Shape;339;p12"/>
          <p:cNvPicPr preferRelativeResize="0"/>
          <p:nvPr/>
        </p:nvPicPr>
        <p:blipFill rotWithShape="1">
          <a:blip r:embed="rId4">
            <a:alphaModFix/>
          </a:blip>
          <a:srcRect b="0" l="0" r="0" t="0"/>
          <a:stretch/>
        </p:blipFill>
        <p:spPr>
          <a:xfrm>
            <a:off x="8656885" y="839241"/>
            <a:ext cx="190500" cy="190500"/>
          </a:xfrm>
          <a:prstGeom prst="rect">
            <a:avLst/>
          </a:prstGeom>
          <a:noFill/>
          <a:ln>
            <a:noFill/>
          </a:ln>
        </p:spPr>
      </p:pic>
      <p:pic>
        <p:nvPicPr>
          <p:cNvPr descr="d2f1bbba-e903-4996-ad49-2f4b8ae1749e.png" id="340" name="Google Shape;340;p12"/>
          <p:cNvPicPr preferRelativeResize="0"/>
          <p:nvPr/>
        </p:nvPicPr>
        <p:blipFill rotWithShape="1">
          <a:blip r:embed="rId5">
            <a:alphaModFix/>
          </a:blip>
          <a:srcRect b="0" l="0" r="0" t="0"/>
          <a:stretch/>
        </p:blipFill>
        <p:spPr>
          <a:xfrm>
            <a:off x="8667750" y="2849016"/>
            <a:ext cx="190500" cy="190500"/>
          </a:xfrm>
          <a:prstGeom prst="rect">
            <a:avLst/>
          </a:prstGeom>
          <a:noFill/>
          <a:ln>
            <a:noFill/>
          </a:ln>
        </p:spPr>
      </p:pic>
      <p:pic>
        <p:nvPicPr>
          <p:cNvPr descr="72d88967-8a71-4dae-b705-6c88389d2b15.png" id="341" name="Google Shape;341;p12"/>
          <p:cNvPicPr preferRelativeResize="0"/>
          <p:nvPr/>
        </p:nvPicPr>
        <p:blipFill rotWithShape="1">
          <a:blip r:embed="rId6">
            <a:alphaModFix/>
          </a:blip>
          <a:srcRect b="0" l="0" r="0" t="0"/>
          <a:stretch/>
        </p:blipFill>
        <p:spPr>
          <a:xfrm>
            <a:off x="8634858" y="4858791"/>
            <a:ext cx="190500" cy="190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346" name="Shape 346"/>
        <p:cNvGrpSpPr/>
        <p:nvPr/>
      </p:nvGrpSpPr>
      <p:grpSpPr>
        <a:xfrm>
          <a:off x="0" y="0"/>
          <a:ext cx="0" cy="0"/>
          <a:chOff x="0" y="0"/>
          <a:chExt cx="0" cy="0"/>
        </a:xfrm>
      </p:grpSpPr>
      <p:sp>
        <p:nvSpPr>
          <p:cNvPr id="347" name="Google Shape;347;p13"/>
          <p:cNvSpPr/>
          <p:nvPr/>
        </p:nvSpPr>
        <p:spPr>
          <a:xfrm>
            <a:off x="6771382" y="2122735"/>
            <a:ext cx="4849117" cy="3657302"/>
          </a:xfrm>
          <a:prstGeom prst="roundRect">
            <a:avLst>
              <a:gd fmla="val 3125" name="adj"/>
            </a:avLst>
          </a:prstGeom>
          <a:solidFill>
            <a:srgbClr val="FFFFFF">
              <a:alpha val="74901"/>
            </a:srgbClr>
          </a:solidFill>
          <a:ln>
            <a:noFill/>
          </a:ln>
          <a:effectLst>
            <a:outerShdw>
              <a:srgbClr val="000000">
                <a:alpha val="0"/>
              </a:srgbClr>
            </a:outerShdw>
          </a:effectLst>
        </p:spPr>
        <p:txBody>
          <a:bodyPr anchorCtr="0" anchor="ctr" bIns="381000" lIns="381000" spcFirstLastPara="1" rIns="381000" wrap="square" tIns="3810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8" name="Google Shape;348;p13"/>
          <p:cNvSpPr txBox="1"/>
          <p:nvPr/>
        </p:nvSpPr>
        <p:spPr>
          <a:xfrm>
            <a:off x="571500" y="571500"/>
            <a:ext cx="11068200" cy="4929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04918"/>
              </a:lnSpc>
              <a:spcBef>
                <a:spcPts val="0"/>
              </a:spcBef>
              <a:spcAft>
                <a:spcPts val="0"/>
              </a:spcAft>
              <a:buNone/>
            </a:pPr>
            <a:r>
              <a:rPr b="1" i="0" lang="en-US" sz="3202" u="none" cap="none" strike="noStrike">
                <a:solidFill>
                  <a:srgbClr val="00FF00"/>
                </a:solidFill>
                <a:latin typeface="Poppins"/>
                <a:ea typeface="Poppins"/>
                <a:cs typeface="Poppins"/>
                <a:sym typeface="Poppins"/>
              </a:rPr>
              <a:t>Neural Network Implementation</a:t>
            </a:r>
            <a:endParaRPr>
              <a:solidFill>
                <a:srgbClr val="00FF00"/>
              </a:solidFill>
            </a:endParaRPr>
          </a:p>
        </p:txBody>
      </p:sp>
      <p:sp>
        <p:nvSpPr>
          <p:cNvPr id="349" name="Google Shape;349;p13"/>
          <p:cNvSpPr txBox="1"/>
          <p:nvPr/>
        </p:nvSpPr>
        <p:spPr>
          <a:xfrm>
            <a:off x="571500" y="1996678"/>
            <a:ext cx="5838000" cy="8631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00FF00"/>
                </a:solidFill>
                <a:latin typeface="Poppins"/>
                <a:ea typeface="Poppins"/>
                <a:cs typeface="Poppins"/>
                <a:sym typeface="Poppins"/>
              </a:rPr>
              <a:t>Building a classification model using TensorFlow with proper layer configuration and training parameters.</a:t>
            </a:r>
            <a:endParaRPr>
              <a:solidFill>
                <a:srgbClr val="00FF00"/>
              </a:solidFill>
            </a:endParaRPr>
          </a:p>
        </p:txBody>
      </p:sp>
      <p:sp>
        <p:nvSpPr>
          <p:cNvPr id="350" name="Google Shape;350;p13"/>
          <p:cNvSpPr txBox="1"/>
          <p:nvPr/>
        </p:nvSpPr>
        <p:spPr>
          <a:xfrm>
            <a:off x="7836544" y="3480643"/>
            <a:ext cx="3422005" cy="1499294"/>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9815"/>
              </a:lnSpc>
              <a:spcBef>
                <a:spcPts val="0"/>
              </a:spcBef>
              <a:spcAft>
                <a:spcPts val="0"/>
              </a:spcAft>
              <a:buNone/>
            </a:pPr>
            <a:r>
              <a:rPr b="0" i="0" lang="en-US" sz="5257" u="none" cap="none" strike="noStrike">
                <a:solidFill>
                  <a:srgbClr val="4D5463"/>
                </a:solidFill>
                <a:latin typeface="Poppins"/>
                <a:ea typeface="Poppins"/>
                <a:cs typeface="Poppins"/>
                <a:sym typeface="Poppins"/>
              </a:rPr>
              <a:t>20 epochs</a:t>
            </a:r>
            <a:endParaRPr/>
          </a:p>
        </p:txBody>
      </p:sp>
      <p:sp>
        <p:nvSpPr>
          <p:cNvPr id="351" name="Google Shape;351;p13"/>
          <p:cNvSpPr txBox="1"/>
          <p:nvPr/>
        </p:nvSpPr>
        <p:spPr>
          <a:xfrm>
            <a:off x="571500" y="1616273"/>
            <a:ext cx="5838000" cy="24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97" u="none" cap="none" strike="noStrike">
                <a:solidFill>
                  <a:srgbClr val="00FF00"/>
                </a:solidFill>
                <a:latin typeface="Poppins"/>
                <a:ea typeface="Poppins"/>
                <a:cs typeface="Poppins"/>
                <a:sym typeface="Poppins"/>
              </a:rPr>
              <a:t>CHALLENGE</a:t>
            </a:r>
            <a:endParaRPr>
              <a:solidFill>
                <a:srgbClr val="00FF00"/>
              </a:solidFill>
            </a:endParaRPr>
          </a:p>
        </p:txBody>
      </p:sp>
      <p:sp>
        <p:nvSpPr>
          <p:cNvPr id="352" name="Google Shape;352;p13"/>
          <p:cNvSpPr txBox="1"/>
          <p:nvPr/>
        </p:nvSpPr>
        <p:spPr>
          <a:xfrm>
            <a:off x="571500" y="3110061"/>
            <a:ext cx="5838000" cy="245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97" u="none" cap="none" strike="noStrike">
                <a:solidFill>
                  <a:srgbClr val="00FF00"/>
                </a:solidFill>
                <a:latin typeface="Poppins"/>
                <a:ea typeface="Poppins"/>
                <a:cs typeface="Poppins"/>
                <a:sym typeface="Poppins"/>
              </a:rPr>
              <a:t>STEPS</a:t>
            </a:r>
            <a:endParaRPr>
              <a:solidFill>
                <a:srgbClr val="00FF00"/>
              </a:solidFill>
            </a:endParaRPr>
          </a:p>
        </p:txBody>
      </p:sp>
      <p:sp>
        <p:nvSpPr>
          <p:cNvPr id="353" name="Google Shape;353;p13"/>
          <p:cNvSpPr txBox="1"/>
          <p:nvPr/>
        </p:nvSpPr>
        <p:spPr>
          <a:xfrm>
            <a:off x="832246" y="4873376"/>
            <a:ext cx="4209000" cy="5649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00FF00"/>
                </a:solidFill>
                <a:latin typeface="Poppins"/>
                <a:ea typeface="Poppins"/>
                <a:cs typeface="Poppins"/>
                <a:sym typeface="Poppins"/>
              </a:rPr>
              <a:t>Trained with 20 epochs and validation</a:t>
            </a:r>
            <a:endParaRPr>
              <a:solidFill>
                <a:srgbClr val="00FF00"/>
              </a:solidFill>
            </a:endParaRPr>
          </a:p>
        </p:txBody>
      </p:sp>
      <p:sp>
        <p:nvSpPr>
          <p:cNvPr id="354" name="Google Shape;354;p13"/>
          <p:cNvSpPr txBox="1"/>
          <p:nvPr/>
        </p:nvSpPr>
        <p:spPr>
          <a:xfrm>
            <a:off x="764374" y="3490475"/>
            <a:ext cx="4941000" cy="266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00FF00"/>
                </a:solidFill>
                <a:latin typeface="Poppins"/>
                <a:ea typeface="Poppins"/>
                <a:cs typeface="Poppins"/>
                <a:sym typeface="Poppins"/>
              </a:rPr>
              <a:t>Defined Sequential model using Keras</a:t>
            </a:r>
            <a:endParaRPr>
              <a:solidFill>
                <a:srgbClr val="00FF00"/>
              </a:solidFill>
            </a:endParaRPr>
          </a:p>
        </p:txBody>
      </p:sp>
      <p:sp>
        <p:nvSpPr>
          <p:cNvPr id="355" name="Google Shape;355;p13"/>
          <p:cNvSpPr txBox="1"/>
          <p:nvPr/>
        </p:nvSpPr>
        <p:spPr>
          <a:xfrm>
            <a:off x="820500" y="3836200"/>
            <a:ext cx="4587900" cy="266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00FF00"/>
                </a:solidFill>
                <a:latin typeface="Poppins"/>
                <a:ea typeface="Poppins"/>
                <a:cs typeface="Poppins"/>
                <a:sym typeface="Poppins"/>
              </a:rPr>
              <a:t>Added Dense layer with 64 ReLU units</a:t>
            </a:r>
            <a:endParaRPr>
              <a:solidFill>
                <a:srgbClr val="00FF00"/>
              </a:solidFill>
            </a:endParaRPr>
          </a:p>
        </p:txBody>
      </p:sp>
      <p:sp>
        <p:nvSpPr>
          <p:cNvPr id="356" name="Google Shape;356;p13"/>
          <p:cNvSpPr txBox="1"/>
          <p:nvPr/>
        </p:nvSpPr>
        <p:spPr>
          <a:xfrm>
            <a:off x="832402" y="4527650"/>
            <a:ext cx="5025600" cy="266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00FF00"/>
                </a:solidFill>
                <a:latin typeface="Poppins"/>
                <a:ea typeface="Poppins"/>
                <a:cs typeface="Poppins"/>
                <a:sym typeface="Poppins"/>
              </a:rPr>
              <a:t>Compiled with cross-entropy loss</a:t>
            </a:r>
            <a:endParaRPr>
              <a:solidFill>
                <a:srgbClr val="00FF00"/>
              </a:solidFill>
            </a:endParaRPr>
          </a:p>
        </p:txBody>
      </p:sp>
      <p:sp>
        <p:nvSpPr>
          <p:cNvPr id="357" name="Google Shape;357;p13"/>
          <p:cNvSpPr txBox="1"/>
          <p:nvPr/>
        </p:nvSpPr>
        <p:spPr>
          <a:xfrm>
            <a:off x="823628" y="4181925"/>
            <a:ext cx="4434300" cy="266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00FF00"/>
                </a:solidFill>
                <a:latin typeface="Poppins"/>
                <a:ea typeface="Poppins"/>
                <a:cs typeface="Poppins"/>
                <a:sym typeface="Poppins"/>
              </a:rPr>
              <a:t>Configured softmax output layer</a:t>
            </a:r>
            <a:endParaRPr>
              <a:solidFill>
                <a:srgbClr val="00FF00"/>
              </a:solidFill>
            </a:endParaRPr>
          </a:p>
        </p:txBody>
      </p:sp>
      <p:sp>
        <p:nvSpPr>
          <p:cNvPr id="358" name="Google Shape;358;p13"/>
          <p:cNvSpPr txBox="1"/>
          <p:nvPr/>
        </p:nvSpPr>
        <p:spPr>
          <a:xfrm>
            <a:off x="7152373" y="2503725"/>
            <a:ext cx="3519000" cy="3312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2056"/>
              </a:lnSpc>
              <a:spcBef>
                <a:spcPts val="0"/>
              </a:spcBef>
              <a:spcAft>
                <a:spcPts val="0"/>
              </a:spcAft>
              <a:buNone/>
            </a:pPr>
            <a:r>
              <a:rPr b="1" i="0" lang="en-US" sz="2152" u="none" cap="none" strike="noStrike">
                <a:solidFill>
                  <a:srgbClr val="00FF00"/>
                </a:solidFill>
                <a:latin typeface="Poppins"/>
                <a:ea typeface="Poppins"/>
                <a:cs typeface="Poppins"/>
                <a:sym typeface="Poppins"/>
              </a:rPr>
              <a:t>TensorFlow Tutorial</a:t>
            </a:r>
            <a:endParaRPr>
              <a:solidFill>
                <a:srgbClr val="00FF00"/>
              </a:solidFill>
            </a:endParaRPr>
          </a:p>
        </p:txBody>
      </p:sp>
      <p:sp>
        <p:nvSpPr>
          <p:cNvPr id="359" name="Google Shape;359;p13"/>
          <p:cNvSpPr txBox="1"/>
          <p:nvPr/>
        </p:nvSpPr>
        <p:spPr>
          <a:xfrm>
            <a:off x="7836544" y="4979937"/>
            <a:ext cx="1733550" cy="4191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01149"/>
              </a:lnSpc>
              <a:spcBef>
                <a:spcPts val="0"/>
              </a:spcBef>
              <a:spcAft>
                <a:spcPts val="0"/>
              </a:spcAft>
              <a:buNone/>
            </a:pPr>
            <a:r>
              <a:rPr b="0" i="0" lang="en-US" sz="1305" u="none" cap="none" strike="noStrike">
                <a:solidFill>
                  <a:srgbClr val="4D5463"/>
                </a:solidFill>
                <a:latin typeface="Poppins"/>
                <a:ea typeface="Poppins"/>
                <a:cs typeface="Poppins"/>
                <a:sym typeface="Poppins"/>
              </a:rPr>
              <a:t>Training cycles with validation split</a:t>
            </a:r>
            <a:endParaRPr/>
          </a:p>
        </p:txBody>
      </p:sp>
      <p:sp>
        <p:nvSpPr>
          <p:cNvPr id="360" name="Google Shape;360;p13"/>
          <p:cNvSpPr txBox="1"/>
          <p:nvPr/>
        </p:nvSpPr>
        <p:spPr>
          <a:xfrm>
            <a:off x="7152382" y="2886670"/>
            <a:ext cx="2769600" cy="1719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17" u="none" cap="none" strike="noStrike">
                <a:solidFill>
                  <a:srgbClr val="00FF00"/>
                </a:solidFill>
                <a:latin typeface="Poppins"/>
                <a:ea typeface="Poppins"/>
                <a:cs typeface="Poppins"/>
                <a:sym typeface="Poppins"/>
              </a:rPr>
              <a:t>Machine Learning Implementation</a:t>
            </a:r>
            <a:endParaRPr>
              <a:solidFill>
                <a:srgbClr val="00FF00"/>
              </a:solidFill>
            </a:endParaRPr>
          </a:p>
        </p:txBody>
      </p:sp>
      <p:sp>
        <p:nvSpPr>
          <p:cNvPr id="361" name="Google Shape;361;p13"/>
          <p:cNvSpPr/>
          <p:nvPr/>
        </p:nvSpPr>
        <p:spPr>
          <a:xfrm>
            <a:off x="7152382" y="3633043"/>
            <a:ext cx="531762" cy="539948"/>
          </a:xfrm>
          <a:prstGeom prst="roundRect">
            <a:avLst>
              <a:gd fmla="val 50000" name="adj"/>
            </a:avLst>
          </a:prstGeom>
          <a:solidFill>
            <a:srgbClr val="91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3729dbd2-25a5-4e71-af92-e298c65b0b7b.png" id="362" name="Google Shape;362;p13"/>
          <p:cNvPicPr preferRelativeResize="0"/>
          <p:nvPr/>
        </p:nvPicPr>
        <p:blipFill rotWithShape="1">
          <a:blip r:embed="rId3">
            <a:alphaModFix/>
          </a:blip>
          <a:srcRect b="0" l="0" r="0" t="0"/>
          <a:stretch/>
        </p:blipFill>
        <p:spPr>
          <a:xfrm>
            <a:off x="7265789" y="3750617"/>
            <a:ext cx="304800" cy="304800"/>
          </a:xfrm>
          <a:prstGeom prst="rect">
            <a:avLst/>
          </a:prstGeom>
          <a:noFill/>
          <a:ln>
            <a:noFill/>
          </a:ln>
        </p:spPr>
      </p:pic>
      <p:sp>
        <p:nvSpPr>
          <p:cNvPr id="363" name="Google Shape;363;p13"/>
          <p:cNvSpPr/>
          <p:nvPr/>
        </p:nvSpPr>
        <p:spPr>
          <a:xfrm>
            <a:off x="571500" y="1257300"/>
            <a:ext cx="1110555" cy="54173"/>
          </a:xfrm>
          <a:prstGeom prst="roundRect">
            <a:avLst>
              <a:gd fmla="val 35165" name="adj"/>
            </a:avLst>
          </a:prstGeom>
          <a:solidFill>
            <a:srgbClr val="92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rgbClr val="00FF00"/>
              </a:solidFill>
              <a:latin typeface="Calibri"/>
              <a:ea typeface="Calibri"/>
              <a:cs typeface="Calibri"/>
              <a:sym typeface="Calibri"/>
            </a:endParaRPr>
          </a:p>
        </p:txBody>
      </p:sp>
      <p:sp>
        <p:nvSpPr>
          <p:cNvPr id="364" name="Google Shape;364;p13"/>
          <p:cNvSpPr txBox="1"/>
          <p:nvPr/>
        </p:nvSpPr>
        <p:spPr>
          <a:xfrm>
            <a:off x="571500" y="4527649"/>
            <a:ext cx="203700" cy="266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00FF00"/>
                </a:solidFill>
                <a:latin typeface="Poppins"/>
                <a:ea typeface="Poppins"/>
                <a:cs typeface="Poppins"/>
                <a:sym typeface="Poppins"/>
              </a:rPr>
              <a:t>4.</a:t>
            </a:r>
            <a:endParaRPr>
              <a:solidFill>
                <a:srgbClr val="00FF00"/>
              </a:solidFill>
            </a:endParaRPr>
          </a:p>
        </p:txBody>
      </p:sp>
      <p:sp>
        <p:nvSpPr>
          <p:cNvPr id="365" name="Google Shape;365;p13"/>
          <p:cNvSpPr txBox="1"/>
          <p:nvPr/>
        </p:nvSpPr>
        <p:spPr>
          <a:xfrm>
            <a:off x="571500" y="4873376"/>
            <a:ext cx="203700" cy="266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00FF00"/>
                </a:solidFill>
                <a:latin typeface="Poppins"/>
                <a:ea typeface="Poppins"/>
                <a:cs typeface="Poppins"/>
                <a:sym typeface="Poppins"/>
              </a:rPr>
              <a:t>5.</a:t>
            </a:r>
            <a:endParaRPr>
              <a:solidFill>
                <a:srgbClr val="00FF00"/>
              </a:solidFill>
            </a:endParaRPr>
          </a:p>
        </p:txBody>
      </p:sp>
      <p:sp>
        <p:nvSpPr>
          <p:cNvPr id="366" name="Google Shape;366;p13"/>
          <p:cNvSpPr txBox="1"/>
          <p:nvPr/>
        </p:nvSpPr>
        <p:spPr>
          <a:xfrm>
            <a:off x="571500" y="4181921"/>
            <a:ext cx="195000" cy="266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00FF00"/>
                </a:solidFill>
                <a:latin typeface="Poppins"/>
                <a:ea typeface="Poppins"/>
                <a:cs typeface="Poppins"/>
                <a:sym typeface="Poppins"/>
              </a:rPr>
              <a:t>3.</a:t>
            </a:r>
            <a:endParaRPr>
              <a:solidFill>
                <a:srgbClr val="00FF00"/>
              </a:solidFill>
            </a:endParaRPr>
          </a:p>
        </p:txBody>
      </p:sp>
      <p:sp>
        <p:nvSpPr>
          <p:cNvPr id="367" name="Google Shape;367;p13"/>
          <p:cNvSpPr txBox="1"/>
          <p:nvPr/>
        </p:nvSpPr>
        <p:spPr>
          <a:xfrm>
            <a:off x="571500" y="3836193"/>
            <a:ext cx="191700" cy="266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00FF00"/>
                </a:solidFill>
                <a:latin typeface="Poppins"/>
                <a:ea typeface="Poppins"/>
                <a:cs typeface="Poppins"/>
                <a:sym typeface="Poppins"/>
              </a:rPr>
              <a:t>2.</a:t>
            </a:r>
            <a:endParaRPr>
              <a:solidFill>
                <a:srgbClr val="00FF00"/>
              </a:solidFill>
            </a:endParaRPr>
          </a:p>
        </p:txBody>
      </p:sp>
      <p:sp>
        <p:nvSpPr>
          <p:cNvPr id="368" name="Google Shape;368;p13"/>
          <p:cNvSpPr txBox="1"/>
          <p:nvPr/>
        </p:nvSpPr>
        <p:spPr>
          <a:xfrm>
            <a:off x="571500" y="3490466"/>
            <a:ext cx="135600" cy="2667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0" lang="en-US" sz="1732" u="none" cap="none" strike="noStrike">
                <a:solidFill>
                  <a:srgbClr val="00FF00"/>
                </a:solidFill>
                <a:latin typeface="Poppins"/>
                <a:ea typeface="Poppins"/>
                <a:cs typeface="Poppins"/>
                <a:sym typeface="Poppins"/>
              </a:rPr>
              <a:t>1.</a:t>
            </a:r>
            <a:endParaRPr>
              <a:solidFill>
                <a:srgbClr val="00FF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373" name="Shape 373"/>
        <p:cNvGrpSpPr/>
        <p:nvPr/>
      </p:nvGrpSpPr>
      <p:grpSpPr>
        <a:xfrm>
          <a:off x="0" y="0"/>
          <a:ext cx="0" cy="0"/>
          <a:chOff x="0" y="0"/>
          <a:chExt cx="0" cy="0"/>
        </a:xfrm>
      </p:grpSpPr>
      <p:sp>
        <p:nvSpPr>
          <p:cNvPr id="374" name="Google Shape;374;p14"/>
          <p:cNvSpPr/>
          <p:nvPr/>
        </p:nvSpPr>
        <p:spPr>
          <a:xfrm>
            <a:off x="6191250" y="0"/>
            <a:ext cx="6000750" cy="6858000"/>
          </a:xfrm>
          <a:prstGeom prst="roundRect">
            <a:avLst>
              <a:gd fmla="val 317" name="adj"/>
            </a:avLst>
          </a:prstGeom>
          <a:solidFill>
            <a:srgbClr val="EEF3F7"/>
          </a:solidFill>
          <a:ln>
            <a:noFill/>
          </a:ln>
          <a:effectLst>
            <a:outerShdw>
              <a:srgbClr val="000000">
                <a:alpha val="0"/>
              </a:srgbClr>
            </a:outerShdw>
          </a:effectLst>
        </p:spPr>
        <p:txBody>
          <a:bodyPr anchorCtr="0" anchor="ctr" bIns="304800" lIns="304800" spcFirstLastPara="1" rIns="304800" wrap="square" tIns="3048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14"/>
          <p:cNvSpPr txBox="1"/>
          <p:nvPr/>
        </p:nvSpPr>
        <p:spPr>
          <a:xfrm>
            <a:off x="304800" y="3936206"/>
            <a:ext cx="5410200" cy="9051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200" u="none" cap="none" strike="noStrike">
                <a:solidFill>
                  <a:srgbClr val="00FF00"/>
                </a:solidFill>
                <a:latin typeface="Poppins"/>
                <a:ea typeface="Poppins"/>
                <a:cs typeface="Poppins"/>
                <a:sym typeface="Poppins"/>
              </a:rPr>
              <a:t>Use </a:t>
            </a:r>
            <a:r>
              <a:rPr b="0" i="0" lang="en-US" sz="1200" u="none" cap="none" strike="noStrike">
                <a:solidFill>
                  <a:srgbClr val="00FF00"/>
                </a:solidFill>
                <a:latin typeface="Courier New"/>
                <a:ea typeface="Courier New"/>
                <a:cs typeface="Courier New"/>
                <a:sym typeface="Courier New"/>
              </a:rPr>
              <a:t>model.evaluate</a:t>
            </a:r>
            <a:r>
              <a:rPr b="0" i="0" lang="en-US" sz="1200" u="none" cap="none" strike="noStrike">
                <a:solidFill>
                  <a:srgbClr val="00FF00"/>
                </a:solidFill>
                <a:latin typeface="Poppins"/>
                <a:ea typeface="Poppins"/>
                <a:cs typeface="Poppins"/>
                <a:sym typeface="Poppins"/>
              </a:rPr>
              <a:t> on the test set for loss and accuracy. Plot training against validation curves to detect overfitting. Generate confusion matrices via </a:t>
            </a:r>
            <a:r>
              <a:rPr b="0" i="0" lang="en-US" sz="1200" u="none" cap="none" strike="noStrike">
                <a:solidFill>
                  <a:srgbClr val="00FF00"/>
                </a:solidFill>
                <a:latin typeface="Courier New"/>
                <a:ea typeface="Courier New"/>
                <a:cs typeface="Courier New"/>
                <a:sym typeface="Courier New"/>
              </a:rPr>
              <a:t>sklearn.metrics</a:t>
            </a:r>
            <a:r>
              <a:rPr b="0" i="0" lang="en-US" sz="1200" u="none" cap="none" strike="noStrike">
                <a:solidFill>
                  <a:srgbClr val="00FF00"/>
                </a:solidFill>
                <a:latin typeface="Poppins"/>
                <a:ea typeface="Poppins"/>
                <a:cs typeface="Poppins"/>
                <a:sym typeface="Poppins"/>
              </a:rPr>
              <a:t> and analyze misclassifications to drive model refinements before reporting final metrics.</a:t>
            </a:r>
            <a:endParaRPr>
              <a:solidFill>
                <a:srgbClr val="00FF00"/>
              </a:solidFill>
            </a:endParaRPr>
          </a:p>
        </p:txBody>
      </p:sp>
      <p:sp>
        <p:nvSpPr>
          <p:cNvPr id="376" name="Google Shape;376;p14"/>
          <p:cNvSpPr/>
          <p:nvPr/>
        </p:nvSpPr>
        <p:spPr>
          <a:xfrm>
            <a:off x="7848600" y="371475"/>
            <a:ext cx="2857500" cy="1924050"/>
          </a:xfrm>
          <a:prstGeom prst="roundRect">
            <a:avLst>
              <a:gd fmla="val 5940" name="adj"/>
            </a:avLst>
          </a:prstGeom>
          <a:solidFill>
            <a:srgbClr val="FFFFFF"/>
          </a:solidFill>
          <a:ln cap="flat" cmpd="sng" w="9525">
            <a:solidFill>
              <a:srgbClr val="F3F4F6"/>
            </a:solidFill>
            <a:prstDash val="solid"/>
            <a:round/>
            <a:headEnd len="sm" w="sm" type="none"/>
            <a:tailEnd len="sm" w="sm" type="none"/>
          </a:ln>
          <a:effectLst>
            <a:outerShdw blurRad="19050" rotWithShape="0" dir="5400000" dist="9525">
              <a:srgbClr val="000000">
                <a:alpha val="4705"/>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14"/>
          <p:cNvSpPr/>
          <p:nvPr/>
        </p:nvSpPr>
        <p:spPr>
          <a:xfrm>
            <a:off x="7848600" y="2466975"/>
            <a:ext cx="2857500" cy="1924050"/>
          </a:xfrm>
          <a:prstGeom prst="roundRect">
            <a:avLst>
              <a:gd fmla="val 5940" name="adj"/>
            </a:avLst>
          </a:prstGeom>
          <a:solidFill>
            <a:srgbClr val="FFFFFF"/>
          </a:solidFill>
          <a:ln cap="flat" cmpd="sng" w="9525">
            <a:solidFill>
              <a:srgbClr val="F3F4F6"/>
            </a:solidFill>
            <a:prstDash val="solid"/>
            <a:round/>
            <a:headEnd len="sm" w="sm" type="none"/>
            <a:tailEnd len="sm" w="sm" type="none"/>
          </a:ln>
          <a:effectLst>
            <a:outerShdw blurRad="19050" rotWithShape="0" dir="5400000" dist="9525">
              <a:srgbClr val="000000">
                <a:alpha val="4705"/>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14"/>
          <p:cNvSpPr/>
          <p:nvPr/>
        </p:nvSpPr>
        <p:spPr>
          <a:xfrm>
            <a:off x="7848600" y="4562475"/>
            <a:ext cx="2857500" cy="1924050"/>
          </a:xfrm>
          <a:prstGeom prst="roundRect">
            <a:avLst>
              <a:gd fmla="val 5940" name="adj"/>
            </a:avLst>
          </a:prstGeom>
          <a:solidFill>
            <a:srgbClr val="FFFFFF"/>
          </a:solidFill>
          <a:ln cap="flat" cmpd="sng" w="9525">
            <a:solidFill>
              <a:srgbClr val="F3F4F6"/>
            </a:solidFill>
            <a:prstDash val="solid"/>
            <a:round/>
            <a:headEnd len="sm" w="sm" type="none"/>
            <a:tailEnd len="sm" w="sm" type="none"/>
          </a:ln>
          <a:effectLst>
            <a:outerShdw blurRad="19050" rotWithShape="0" dir="5400000" dist="9525">
              <a:srgbClr val="000000">
                <a:alpha val="4705"/>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14"/>
          <p:cNvSpPr txBox="1"/>
          <p:nvPr/>
        </p:nvSpPr>
        <p:spPr>
          <a:xfrm>
            <a:off x="304800" y="1664493"/>
            <a:ext cx="5410200" cy="8673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88000"/>
              </a:lnSpc>
              <a:spcBef>
                <a:spcPts val="0"/>
              </a:spcBef>
              <a:spcAft>
                <a:spcPts val="0"/>
              </a:spcAft>
              <a:buNone/>
            </a:pPr>
            <a:r>
              <a:rPr b="1" i="0" lang="en-US" sz="3202" u="none" cap="none" strike="noStrike">
                <a:solidFill>
                  <a:srgbClr val="00FF00"/>
                </a:solidFill>
                <a:latin typeface="Poppins"/>
                <a:ea typeface="Poppins"/>
                <a:cs typeface="Poppins"/>
                <a:sym typeface="Poppins"/>
              </a:rPr>
              <a:t>Evaluating Model Performance</a:t>
            </a:r>
            <a:endParaRPr>
              <a:solidFill>
                <a:srgbClr val="00FF00"/>
              </a:solidFill>
            </a:endParaRPr>
          </a:p>
        </p:txBody>
      </p:sp>
      <p:sp>
        <p:nvSpPr>
          <p:cNvPr id="380" name="Google Shape;380;p14"/>
          <p:cNvSpPr txBox="1"/>
          <p:nvPr/>
        </p:nvSpPr>
        <p:spPr>
          <a:xfrm>
            <a:off x="304800" y="3149798"/>
            <a:ext cx="5410200" cy="5163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597" u="none" cap="none" strike="noStrike">
                <a:solidFill>
                  <a:srgbClr val="00FF00"/>
                </a:solidFill>
                <a:latin typeface="Poppins"/>
                <a:ea typeface="Poppins"/>
                <a:cs typeface="Poppins"/>
                <a:sym typeface="Poppins"/>
              </a:rPr>
              <a:t>Assess model generalization using loss and accuracy.</a:t>
            </a:r>
            <a:endParaRPr>
              <a:solidFill>
                <a:srgbClr val="00FF00"/>
              </a:solidFill>
            </a:endParaRPr>
          </a:p>
        </p:txBody>
      </p:sp>
      <p:sp>
        <p:nvSpPr>
          <p:cNvPr id="381" name="Google Shape;381;p14"/>
          <p:cNvSpPr/>
          <p:nvPr/>
        </p:nvSpPr>
        <p:spPr>
          <a:xfrm>
            <a:off x="7858125" y="381000"/>
            <a:ext cx="2838450" cy="619125"/>
          </a:xfrm>
          <a:prstGeom prst="roundRect">
            <a:avLst>
              <a:gd fmla="val 18461" name="adj"/>
            </a:avLst>
          </a:prstGeom>
          <a:solidFill>
            <a:srgbClr val="9234EC"/>
          </a:solidFill>
          <a:ln>
            <a:noFill/>
          </a:ln>
          <a:effectLst>
            <a:outerShdw>
              <a:srgbClr val="000000">
                <a:alpha val="0"/>
              </a:srgbClr>
            </a:outerShdw>
          </a:effectLst>
        </p:spPr>
        <p:txBody>
          <a:bodyPr anchorCtr="0" anchor="ctr" bIns="0" lIns="190500" spcFirstLastPara="1" rIns="19050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p14"/>
          <p:cNvSpPr/>
          <p:nvPr/>
        </p:nvSpPr>
        <p:spPr>
          <a:xfrm>
            <a:off x="7858125" y="2476500"/>
            <a:ext cx="2838450" cy="619125"/>
          </a:xfrm>
          <a:prstGeom prst="roundRect">
            <a:avLst>
              <a:gd fmla="val 18461" name="adj"/>
            </a:avLst>
          </a:prstGeom>
          <a:solidFill>
            <a:srgbClr val="9234EC"/>
          </a:solidFill>
          <a:ln>
            <a:noFill/>
          </a:ln>
          <a:effectLst>
            <a:outerShdw>
              <a:srgbClr val="000000">
                <a:alpha val="0"/>
              </a:srgbClr>
            </a:outerShdw>
          </a:effectLst>
        </p:spPr>
        <p:txBody>
          <a:bodyPr anchorCtr="0" anchor="ctr" bIns="0" lIns="190500" spcFirstLastPara="1" rIns="19050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14"/>
          <p:cNvSpPr/>
          <p:nvPr/>
        </p:nvSpPr>
        <p:spPr>
          <a:xfrm>
            <a:off x="7858125" y="4572000"/>
            <a:ext cx="2838450" cy="619125"/>
          </a:xfrm>
          <a:prstGeom prst="roundRect">
            <a:avLst>
              <a:gd fmla="val 18461" name="adj"/>
            </a:avLst>
          </a:prstGeom>
          <a:solidFill>
            <a:srgbClr val="9234EC"/>
          </a:solidFill>
          <a:ln>
            <a:noFill/>
          </a:ln>
          <a:effectLst>
            <a:outerShdw>
              <a:srgbClr val="000000">
                <a:alpha val="0"/>
              </a:srgbClr>
            </a:outerShdw>
          </a:effectLst>
        </p:spPr>
        <p:txBody>
          <a:bodyPr anchorCtr="0" anchor="ctr" bIns="0" lIns="190500" spcFirstLastPara="1" rIns="190500" wrap="square" tIns="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bf200109-4239-4816-9c55-6aaa63ac708a.png" id="384" name="Google Shape;384;p14"/>
          <p:cNvPicPr preferRelativeResize="0"/>
          <p:nvPr/>
        </p:nvPicPr>
        <p:blipFill rotWithShape="1">
          <a:blip r:embed="rId3">
            <a:alphaModFix/>
          </a:blip>
          <a:srcRect b="0" l="0" r="0" t="0"/>
          <a:stretch/>
        </p:blipFill>
        <p:spPr>
          <a:xfrm>
            <a:off x="9039225" y="1285875"/>
            <a:ext cx="1428750" cy="714375"/>
          </a:xfrm>
          <a:prstGeom prst="rect">
            <a:avLst/>
          </a:prstGeom>
          <a:noFill/>
          <a:ln>
            <a:noFill/>
          </a:ln>
        </p:spPr>
      </p:pic>
      <p:pic>
        <p:nvPicPr>
          <p:cNvPr descr="77774e06-cf8f-41da-86bb-54d209e8c874.png" id="385" name="Google Shape;385;p14"/>
          <p:cNvPicPr preferRelativeResize="0"/>
          <p:nvPr/>
        </p:nvPicPr>
        <p:blipFill rotWithShape="1">
          <a:blip r:embed="rId4">
            <a:alphaModFix/>
          </a:blip>
          <a:srcRect b="0" l="0" r="0" t="0"/>
          <a:stretch/>
        </p:blipFill>
        <p:spPr>
          <a:xfrm>
            <a:off x="9039225" y="3381375"/>
            <a:ext cx="1428750" cy="714375"/>
          </a:xfrm>
          <a:prstGeom prst="rect">
            <a:avLst/>
          </a:prstGeom>
          <a:noFill/>
          <a:ln>
            <a:noFill/>
          </a:ln>
        </p:spPr>
      </p:pic>
      <p:pic>
        <p:nvPicPr>
          <p:cNvPr descr="c81a4d6f-337b-4ba6-a0c5-a903de569b34.png" id="386" name="Google Shape;386;p14"/>
          <p:cNvPicPr preferRelativeResize="0"/>
          <p:nvPr/>
        </p:nvPicPr>
        <p:blipFill rotWithShape="1">
          <a:blip r:embed="rId5">
            <a:alphaModFix/>
          </a:blip>
          <a:srcRect b="0" l="0" r="0" t="0"/>
          <a:stretch/>
        </p:blipFill>
        <p:spPr>
          <a:xfrm>
            <a:off x="9039225" y="5476875"/>
            <a:ext cx="1428750" cy="714375"/>
          </a:xfrm>
          <a:prstGeom prst="rect">
            <a:avLst/>
          </a:prstGeom>
          <a:noFill/>
          <a:ln>
            <a:noFill/>
          </a:ln>
        </p:spPr>
      </p:pic>
      <p:sp>
        <p:nvSpPr>
          <p:cNvPr id="387" name="Google Shape;387;p14"/>
          <p:cNvSpPr txBox="1"/>
          <p:nvPr/>
        </p:nvSpPr>
        <p:spPr>
          <a:xfrm>
            <a:off x="9578280" y="462557"/>
            <a:ext cx="946844" cy="45586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392" u="none" cap="none" strike="noStrike">
                <a:solidFill>
                  <a:srgbClr val="FFFFFF"/>
                </a:solidFill>
                <a:latin typeface="Poppins"/>
                <a:ea typeface="Poppins"/>
                <a:cs typeface="Poppins"/>
                <a:sym typeface="Poppins"/>
              </a:rPr>
              <a:t>96.5%</a:t>
            </a:r>
            <a:endParaRPr/>
          </a:p>
        </p:txBody>
      </p:sp>
      <p:sp>
        <p:nvSpPr>
          <p:cNvPr id="388" name="Google Shape;388;p14"/>
          <p:cNvSpPr txBox="1"/>
          <p:nvPr/>
        </p:nvSpPr>
        <p:spPr>
          <a:xfrm>
            <a:off x="9587507" y="4653557"/>
            <a:ext cx="937617" cy="45586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392" u="none" cap="none" strike="noStrike">
                <a:solidFill>
                  <a:srgbClr val="FFFFFF"/>
                </a:solidFill>
                <a:latin typeface="Poppins"/>
                <a:ea typeface="Poppins"/>
                <a:cs typeface="Poppins"/>
                <a:sym typeface="Poppins"/>
              </a:rPr>
              <a:t>93.0%</a:t>
            </a:r>
            <a:endParaRPr/>
          </a:p>
        </p:txBody>
      </p:sp>
      <p:sp>
        <p:nvSpPr>
          <p:cNvPr id="389" name="Google Shape;389;p14"/>
          <p:cNvSpPr txBox="1"/>
          <p:nvPr/>
        </p:nvSpPr>
        <p:spPr>
          <a:xfrm>
            <a:off x="8086725" y="1477863"/>
            <a:ext cx="971700" cy="2874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867" u="none" cap="none" strike="noStrike">
                <a:solidFill>
                  <a:srgbClr val="00FF00"/>
                </a:solidFill>
                <a:latin typeface="Poppins"/>
                <a:ea typeface="Poppins"/>
                <a:cs typeface="Poppins"/>
                <a:sym typeface="Poppins"/>
              </a:rPr>
              <a:t>95.0%</a:t>
            </a:r>
            <a:endParaRPr>
              <a:solidFill>
                <a:srgbClr val="00FF00"/>
              </a:solidFill>
            </a:endParaRPr>
          </a:p>
        </p:txBody>
      </p:sp>
      <p:sp>
        <p:nvSpPr>
          <p:cNvPr id="390" name="Google Shape;390;p14"/>
          <p:cNvSpPr txBox="1"/>
          <p:nvPr/>
        </p:nvSpPr>
        <p:spPr>
          <a:xfrm>
            <a:off x="8086725" y="3573363"/>
            <a:ext cx="971700" cy="2874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867" u="none" cap="none" strike="noStrike">
                <a:solidFill>
                  <a:srgbClr val="00FF00"/>
                </a:solidFill>
                <a:latin typeface="Poppins"/>
                <a:ea typeface="Poppins"/>
                <a:cs typeface="Poppins"/>
                <a:sym typeface="Poppins"/>
              </a:rPr>
              <a:t>0.20</a:t>
            </a:r>
            <a:endParaRPr>
              <a:solidFill>
                <a:srgbClr val="00FF00"/>
              </a:solidFill>
            </a:endParaRPr>
          </a:p>
        </p:txBody>
      </p:sp>
      <p:sp>
        <p:nvSpPr>
          <p:cNvPr id="391" name="Google Shape;391;p14"/>
          <p:cNvSpPr txBox="1"/>
          <p:nvPr/>
        </p:nvSpPr>
        <p:spPr>
          <a:xfrm>
            <a:off x="8086725" y="5668863"/>
            <a:ext cx="971700" cy="2874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867" u="none" cap="none" strike="noStrike">
                <a:solidFill>
                  <a:srgbClr val="00FF00"/>
                </a:solidFill>
                <a:latin typeface="Poppins"/>
                <a:ea typeface="Poppins"/>
                <a:cs typeface="Poppins"/>
                <a:sym typeface="Poppins"/>
              </a:rPr>
              <a:t>90.0%</a:t>
            </a:r>
            <a:endParaRPr>
              <a:solidFill>
                <a:srgbClr val="00FF00"/>
              </a:solidFill>
            </a:endParaRPr>
          </a:p>
        </p:txBody>
      </p:sp>
      <p:sp>
        <p:nvSpPr>
          <p:cNvPr id="392" name="Google Shape;392;p14"/>
          <p:cNvSpPr txBox="1"/>
          <p:nvPr/>
        </p:nvSpPr>
        <p:spPr>
          <a:xfrm>
            <a:off x="9934575" y="2558057"/>
            <a:ext cx="590550" cy="45586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392" u="none" cap="none" strike="noStrike">
                <a:solidFill>
                  <a:srgbClr val="FFFFFF"/>
                </a:solidFill>
                <a:latin typeface="Poppins"/>
                <a:ea typeface="Poppins"/>
                <a:cs typeface="Poppins"/>
                <a:sym typeface="Poppins"/>
              </a:rPr>
              <a:t>0.12</a:t>
            </a:r>
            <a:endParaRPr/>
          </a:p>
        </p:txBody>
      </p:sp>
      <p:sp>
        <p:nvSpPr>
          <p:cNvPr id="393" name="Google Shape;393;p14"/>
          <p:cNvSpPr txBox="1"/>
          <p:nvPr/>
        </p:nvSpPr>
        <p:spPr>
          <a:xfrm>
            <a:off x="8048625" y="584596"/>
            <a:ext cx="1247775" cy="211782"/>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35" u="none" cap="none" strike="noStrike">
                <a:solidFill>
                  <a:srgbClr val="FFFFFF"/>
                </a:solidFill>
                <a:latin typeface="Poppins"/>
                <a:ea typeface="Poppins"/>
                <a:cs typeface="Poppins"/>
                <a:sym typeface="Poppins"/>
              </a:rPr>
              <a:t>Accuracy</a:t>
            </a:r>
            <a:endParaRPr/>
          </a:p>
        </p:txBody>
      </p:sp>
      <p:sp>
        <p:nvSpPr>
          <p:cNvPr id="394" name="Google Shape;394;p14"/>
          <p:cNvSpPr txBox="1"/>
          <p:nvPr/>
        </p:nvSpPr>
        <p:spPr>
          <a:xfrm>
            <a:off x="8048625" y="2680096"/>
            <a:ext cx="1247775" cy="211782"/>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35" u="none" cap="none" strike="noStrike">
                <a:solidFill>
                  <a:srgbClr val="FFFFFF"/>
                </a:solidFill>
                <a:latin typeface="Poppins"/>
                <a:ea typeface="Poppins"/>
                <a:cs typeface="Poppins"/>
                <a:sym typeface="Poppins"/>
              </a:rPr>
              <a:t>Val. Loss</a:t>
            </a:r>
            <a:endParaRPr/>
          </a:p>
        </p:txBody>
      </p:sp>
      <p:sp>
        <p:nvSpPr>
          <p:cNvPr id="395" name="Google Shape;395;p14"/>
          <p:cNvSpPr txBox="1"/>
          <p:nvPr/>
        </p:nvSpPr>
        <p:spPr>
          <a:xfrm>
            <a:off x="8048625" y="4775596"/>
            <a:ext cx="1247775" cy="211782"/>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35" u="none" cap="none" strike="noStrike">
                <a:solidFill>
                  <a:srgbClr val="FFFFFF"/>
                </a:solidFill>
                <a:latin typeface="Poppins"/>
                <a:ea typeface="Poppins"/>
                <a:cs typeface="Poppins"/>
                <a:sym typeface="Poppins"/>
              </a:rPr>
              <a:t>Precision</a:t>
            </a:r>
            <a:endParaRPr/>
          </a:p>
        </p:txBody>
      </p:sp>
      <p:sp>
        <p:nvSpPr>
          <p:cNvPr id="396" name="Google Shape;396;p14"/>
          <p:cNvSpPr txBox="1"/>
          <p:nvPr/>
        </p:nvSpPr>
        <p:spPr>
          <a:xfrm>
            <a:off x="8086725" y="1223664"/>
            <a:ext cx="971550" cy="254198"/>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35" u="none" cap="none" strike="noStrike">
                <a:solidFill>
                  <a:srgbClr val="514E7D"/>
                </a:solidFill>
                <a:latin typeface="Poppins"/>
                <a:ea typeface="Poppins"/>
                <a:cs typeface="Poppins"/>
                <a:sym typeface="Poppins"/>
              </a:rPr>
              <a:t>Goal</a:t>
            </a:r>
            <a:endParaRPr/>
          </a:p>
        </p:txBody>
      </p:sp>
      <p:sp>
        <p:nvSpPr>
          <p:cNvPr id="397" name="Google Shape;397;p14"/>
          <p:cNvSpPr txBox="1"/>
          <p:nvPr/>
        </p:nvSpPr>
        <p:spPr>
          <a:xfrm>
            <a:off x="8086725" y="3319164"/>
            <a:ext cx="971550" cy="254198"/>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35" u="none" cap="none" strike="noStrike">
                <a:solidFill>
                  <a:srgbClr val="514E7D"/>
                </a:solidFill>
                <a:latin typeface="Poppins"/>
                <a:ea typeface="Poppins"/>
                <a:cs typeface="Poppins"/>
                <a:sym typeface="Poppins"/>
              </a:rPr>
              <a:t>Max</a:t>
            </a:r>
            <a:endParaRPr/>
          </a:p>
        </p:txBody>
      </p:sp>
      <p:sp>
        <p:nvSpPr>
          <p:cNvPr id="398" name="Google Shape;398;p14"/>
          <p:cNvSpPr txBox="1"/>
          <p:nvPr/>
        </p:nvSpPr>
        <p:spPr>
          <a:xfrm>
            <a:off x="8086725" y="5414664"/>
            <a:ext cx="971550" cy="254198"/>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335" u="none" cap="none" strike="noStrike">
                <a:solidFill>
                  <a:srgbClr val="514E7D"/>
                </a:solidFill>
                <a:latin typeface="Poppins"/>
                <a:ea typeface="Poppins"/>
                <a:cs typeface="Poppins"/>
                <a:sym typeface="Poppins"/>
              </a:rPr>
              <a:t>Target</a:t>
            </a:r>
            <a:endParaRPr/>
          </a:p>
        </p:txBody>
      </p:sp>
      <p:sp>
        <p:nvSpPr>
          <p:cNvPr id="399" name="Google Shape;399;p14"/>
          <p:cNvSpPr txBox="1"/>
          <p:nvPr/>
        </p:nvSpPr>
        <p:spPr>
          <a:xfrm>
            <a:off x="8086725" y="1833711"/>
            <a:ext cx="971700" cy="1848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200" u="none" cap="none" strike="noStrike">
                <a:solidFill>
                  <a:srgbClr val="00FF00"/>
                </a:solidFill>
                <a:latin typeface="Poppins"/>
                <a:ea typeface="Poppins"/>
                <a:cs typeface="Poppins"/>
                <a:sym typeface="Poppins"/>
              </a:rPr>
              <a:t>on test set</a:t>
            </a:r>
            <a:endParaRPr>
              <a:solidFill>
                <a:srgbClr val="00FF00"/>
              </a:solidFill>
            </a:endParaRPr>
          </a:p>
        </p:txBody>
      </p:sp>
      <p:sp>
        <p:nvSpPr>
          <p:cNvPr id="400" name="Google Shape;400;p14"/>
          <p:cNvSpPr txBox="1"/>
          <p:nvPr/>
        </p:nvSpPr>
        <p:spPr>
          <a:xfrm>
            <a:off x="8086725" y="3929211"/>
            <a:ext cx="971700" cy="1848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200" u="none" cap="none" strike="noStrike">
                <a:solidFill>
                  <a:srgbClr val="00FF00"/>
                </a:solidFill>
                <a:latin typeface="Poppins"/>
                <a:ea typeface="Poppins"/>
                <a:cs typeface="Poppins"/>
                <a:sym typeface="Poppins"/>
              </a:rPr>
              <a:t>score</a:t>
            </a:r>
            <a:endParaRPr>
              <a:solidFill>
                <a:srgbClr val="00FF00"/>
              </a:solidFill>
            </a:endParaRPr>
          </a:p>
        </p:txBody>
      </p:sp>
      <p:sp>
        <p:nvSpPr>
          <p:cNvPr id="401" name="Google Shape;401;p14"/>
          <p:cNvSpPr txBox="1"/>
          <p:nvPr/>
        </p:nvSpPr>
        <p:spPr>
          <a:xfrm>
            <a:off x="8086725" y="6024711"/>
            <a:ext cx="971700" cy="1848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200" u="none" cap="none" strike="noStrike">
                <a:solidFill>
                  <a:srgbClr val="00FF00"/>
                </a:solidFill>
                <a:latin typeface="Poppins"/>
                <a:ea typeface="Poppins"/>
                <a:cs typeface="Poppins"/>
                <a:sym typeface="Poppins"/>
              </a:rPr>
              <a:t>rate</a:t>
            </a:r>
            <a:endParaRPr>
              <a:solidFill>
                <a:srgbClr val="00FF00"/>
              </a:solidFill>
            </a:endParaRPr>
          </a:p>
        </p:txBody>
      </p:sp>
      <p:sp>
        <p:nvSpPr>
          <p:cNvPr id="402" name="Google Shape;402;p14"/>
          <p:cNvSpPr/>
          <p:nvPr/>
        </p:nvSpPr>
        <p:spPr>
          <a:xfrm>
            <a:off x="304800" y="2711648"/>
            <a:ext cx="1104900" cy="57150"/>
          </a:xfrm>
          <a:prstGeom prst="roundRect">
            <a:avLst>
              <a:gd fmla="val 33333" name="adj"/>
            </a:avLst>
          </a:prstGeom>
          <a:solidFill>
            <a:srgbClr val="92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rgbClr val="00FF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343D"/>
        </a:solidFill>
      </p:bgPr>
    </p:bg>
    <p:spTree>
      <p:nvGrpSpPr>
        <p:cNvPr id="407" name="Shape 407"/>
        <p:cNvGrpSpPr/>
        <p:nvPr/>
      </p:nvGrpSpPr>
      <p:grpSpPr>
        <a:xfrm>
          <a:off x="0" y="0"/>
          <a:ext cx="0" cy="0"/>
          <a:chOff x="0" y="0"/>
          <a:chExt cx="0" cy="0"/>
        </a:xfrm>
      </p:grpSpPr>
      <p:pic>
        <p:nvPicPr>
          <p:cNvPr descr="72aba5e6-c3a3-4a79-b90d-29f02724a7aa.png" id="408" name="Google Shape;408;p15"/>
          <p:cNvPicPr preferRelativeResize="0"/>
          <p:nvPr/>
        </p:nvPicPr>
        <p:blipFill rotWithShape="1">
          <a:blip r:embed="rId3">
            <a:alphaModFix/>
          </a:blip>
          <a:srcRect b="0" l="0" r="0" t="0"/>
          <a:stretch/>
        </p:blipFill>
        <p:spPr>
          <a:xfrm>
            <a:off x="620910" y="3931890"/>
            <a:ext cx="10885139" cy="2633662"/>
          </a:xfrm>
          <a:prstGeom prst="rect">
            <a:avLst/>
          </a:prstGeom>
          <a:noFill/>
          <a:ln>
            <a:noFill/>
          </a:ln>
        </p:spPr>
      </p:pic>
      <p:sp>
        <p:nvSpPr>
          <p:cNvPr id="409" name="Google Shape;409;p15"/>
          <p:cNvSpPr txBox="1"/>
          <p:nvPr/>
        </p:nvSpPr>
        <p:spPr>
          <a:xfrm>
            <a:off x="393260" y="1403167"/>
            <a:ext cx="4938600" cy="8631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l">
              <a:lnSpc>
                <a:spcPct val="111861"/>
              </a:lnSpc>
              <a:spcBef>
                <a:spcPts val="0"/>
              </a:spcBef>
              <a:spcAft>
                <a:spcPts val="0"/>
              </a:spcAft>
              <a:buNone/>
            </a:pPr>
            <a:r>
              <a:rPr b="0" i="1" lang="en-US" sz="1732" u="none" cap="none" strike="noStrike">
                <a:solidFill>
                  <a:srgbClr val="00FF00"/>
                </a:solidFill>
                <a:latin typeface="Poppins"/>
                <a:ea typeface="Poppins"/>
                <a:cs typeface="Poppins"/>
                <a:sym typeface="Poppins"/>
              </a:rPr>
              <a:t>Recapped networks and TensorFlow.</a:t>
            </a:r>
            <a:r>
              <a:rPr b="0" i="0" lang="en-US" sz="1732" u="none" cap="none" strike="noStrike">
                <a:solidFill>
                  <a:srgbClr val="00FF00"/>
                </a:solidFill>
                <a:latin typeface="Poppins"/>
                <a:ea typeface="Poppins"/>
                <a:cs typeface="Poppins"/>
                <a:sym typeface="Poppins"/>
              </a:rPr>
              <a:t> Next: explore deep CNNs, RNNs, regularization, and hands-on data experiments.</a:t>
            </a:r>
            <a:endParaRPr>
              <a:solidFill>
                <a:srgbClr val="00FF00"/>
              </a:solidFill>
            </a:endParaRPr>
          </a:p>
        </p:txBody>
      </p:sp>
      <p:sp>
        <p:nvSpPr>
          <p:cNvPr id="410" name="Google Shape;410;p15"/>
          <p:cNvSpPr txBox="1"/>
          <p:nvPr/>
        </p:nvSpPr>
        <p:spPr>
          <a:xfrm>
            <a:off x="5103025" y="681025"/>
            <a:ext cx="2131200" cy="417300"/>
          </a:xfrm>
          <a:prstGeom prst="rect">
            <a:avLst/>
          </a:prstGeom>
          <a:noFill/>
          <a:ln>
            <a:noFill/>
          </a:ln>
          <a:effectLst>
            <a:outerShdw>
              <a:srgbClr val="000000">
                <a:alpha val="0"/>
              </a:srgbClr>
            </a:outerShdw>
          </a:effectLst>
        </p:spPr>
        <p:txBody>
          <a:bodyPr anchorCtr="0" anchor="t" bIns="0" lIns="0" spcFirstLastPara="1" rIns="0" wrap="square" tIns="0">
            <a:spAutoFit/>
          </a:bodyPr>
          <a:lstStyle/>
          <a:p>
            <a:pPr indent="0" lvl="0" marL="0" marR="0" rtl="0" algn="ctr">
              <a:lnSpc>
                <a:spcPct val="84684"/>
              </a:lnSpc>
              <a:spcBef>
                <a:spcPts val="0"/>
              </a:spcBef>
              <a:spcAft>
                <a:spcPts val="0"/>
              </a:spcAft>
              <a:buNone/>
            </a:pPr>
            <a:r>
              <a:rPr b="1" i="0" lang="en-US" sz="3202" u="none" cap="none" strike="noStrike">
                <a:solidFill>
                  <a:srgbClr val="00FF00"/>
                </a:solidFill>
                <a:latin typeface="Poppins"/>
                <a:ea typeface="Poppins"/>
                <a:cs typeface="Poppins"/>
                <a:sym typeface="Poppins"/>
              </a:rPr>
              <a:t>Summary</a:t>
            </a:r>
            <a:endParaRPr>
              <a:solidFill>
                <a:srgbClr val="00FF00"/>
              </a:solidFill>
            </a:endParaRPr>
          </a:p>
        </p:txBody>
      </p:sp>
      <p:sp>
        <p:nvSpPr>
          <p:cNvPr id="411" name="Google Shape;411;p15"/>
          <p:cNvSpPr/>
          <p:nvPr/>
        </p:nvSpPr>
        <p:spPr>
          <a:xfrm>
            <a:off x="5540722" y="1263997"/>
            <a:ext cx="1110555" cy="54173"/>
          </a:xfrm>
          <a:prstGeom prst="roundRect">
            <a:avLst>
              <a:gd fmla="val 35165" name="adj"/>
            </a:avLst>
          </a:prstGeom>
          <a:solidFill>
            <a:srgbClr val="9234EB"/>
          </a:solidFill>
          <a:ln>
            <a:noFill/>
          </a:ln>
          <a:effectLst>
            <a:outerShdw>
              <a:srgbClr val="000000">
                <a:alpha val="0"/>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b="0" i="0" sz="1800" u="none" cap="none" strike="noStrike">
              <a:solidFill>
                <a:srgbClr val="00FF00"/>
              </a:solidFill>
              <a:latin typeface="Calibri"/>
              <a:ea typeface="Calibri"/>
              <a:cs typeface="Calibri"/>
              <a:sym typeface="Calibri"/>
            </a:endParaRPr>
          </a:p>
        </p:txBody>
      </p:sp>
      <p:pic>
        <p:nvPicPr>
          <p:cNvPr descr="19d30284-681e-4ca2-9018-bb5bb6a441d0.png" id="412" name="Google Shape;412;p15"/>
          <p:cNvPicPr preferRelativeResize="0"/>
          <p:nvPr/>
        </p:nvPicPr>
        <p:blipFill rotWithShape="1">
          <a:blip r:embed="rId4">
            <a:alphaModFix/>
          </a:blip>
          <a:srcRect b="0" l="0" r="0" t="0"/>
          <a:stretch/>
        </p:blipFill>
        <p:spPr>
          <a:xfrm>
            <a:off x="571500" y="3931890"/>
            <a:ext cx="5314950" cy="9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
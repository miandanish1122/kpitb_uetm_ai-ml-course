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embeddedFontLst>
    <p:embeddedFont>
      <p:font typeface="Liter"/>
      <p:regular r:id="rId23"/>
    </p:embeddedFon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qVq64WdXHknp/2KOytOqGEMND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481AC5-0C52-4444-938B-FC1978BA1FF0}">
  <a:tblStyle styleId="{0C481AC5-0C52-4444-938B-FC1978BA1F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QuattrocentoSans-regular.fntdata"/><Relationship Id="rId23" Type="http://schemas.openxmlformats.org/officeDocument/2006/relationships/font" Target="fonts/Li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customschemas.google.com/relationships/presentationmetadata" Target="meta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252a481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c252a481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c252a4815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hyperlink" Target="https://drive.google.com/file/d/1Uw4glp1NxKK5DJJdnZzlo84nRJMDkk9S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6983e6e23342932f47c2fcf04355247c94126cf3.jpg" id="17" name="Google Shape;17;p1"/>
          <p:cNvPicPr preferRelativeResize="0"/>
          <p:nvPr/>
        </p:nvPicPr>
        <p:blipFill rotWithShape="1">
          <a:blip r:embed="rId3">
            <a:alphaModFix amt="40000"/>
          </a:blip>
          <a:srcRect b="0" l="18" r="1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4901"/>
                </a:srgbClr>
              </a:gs>
              <a:gs pos="50000">
                <a:srgbClr val="1A202C">
                  <a:alpha val="84705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400050" y="1535906"/>
            <a:ext cx="2114550" cy="419100"/>
          </a:xfrm>
          <a:custGeom>
            <a:rect b="b" l="l" r="r" t="t"/>
            <a:pathLst>
              <a:path extrusionOk="0" h="419100" w="2114550">
                <a:moveTo>
                  <a:pt x="0" y="0"/>
                </a:moveTo>
                <a:lnTo>
                  <a:pt x="2114550" y="0"/>
                </a:lnTo>
                <a:lnTo>
                  <a:pt x="21145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>
              <a:alpha val="14901"/>
            </a:srgbClr>
          </a:solidFill>
          <a:ln>
            <a:noFill/>
          </a:ln>
        </p:spPr>
      </p:sp>
      <p:sp>
        <p:nvSpPr>
          <p:cNvPr id="20" name="Google Shape;20;p1"/>
          <p:cNvSpPr/>
          <p:nvPr/>
        </p:nvSpPr>
        <p:spPr>
          <a:xfrm>
            <a:off x="400050" y="1535906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21" name="Google Shape;21;p1"/>
          <p:cNvSpPr/>
          <p:nvPr/>
        </p:nvSpPr>
        <p:spPr>
          <a:xfrm>
            <a:off x="609600" y="1650206"/>
            <a:ext cx="17984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BEGINNER'S GUIDE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2145506"/>
            <a:ext cx="76485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Unsupervised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Machine Learning</a:t>
            </a:r>
            <a:endParaRPr b="0" i="0" sz="160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381000" y="4164806"/>
            <a:ext cx="1524000" cy="38100"/>
          </a:xfrm>
          <a:custGeom>
            <a:rect b="b" l="l" r="r" t="t"/>
            <a:pathLst>
              <a:path extrusionOk="0" h="38100" w="15240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24" name="Google Shape;24;p1"/>
          <p:cNvSpPr/>
          <p:nvPr/>
        </p:nvSpPr>
        <p:spPr>
          <a:xfrm>
            <a:off x="381000" y="4393406"/>
            <a:ext cx="73342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K-Means &amp; Hierarchical Clustering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Customer Segmentation</a:t>
            </a:r>
            <a:endParaRPr b="0" i="0" sz="1600" u="none" cap="none" strike="noStrike"/>
          </a:p>
        </p:txBody>
      </p:sp>
      <p:sp>
        <p:nvSpPr>
          <p:cNvPr id="25" name="Google Shape;25;p1"/>
          <p:cNvSpPr/>
          <p:nvPr/>
        </p:nvSpPr>
        <p:spPr>
          <a:xfrm>
            <a:off x="838200" y="5410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71550" y="5543550"/>
            <a:ext cx="190500" cy="190500"/>
          </a:xfrm>
          <a:custGeom>
            <a:rect b="b" l="l" r="r" t="t"/>
            <a:pathLst>
              <a:path extrusionOk="0" h="190500" w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409700" y="5505450"/>
            <a:ext cx="1666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 Algorithms</a:t>
            </a:r>
            <a:endParaRPr b="0" i="0" sz="1600" u="none" cap="none" strike="noStrike"/>
          </a:p>
        </p:txBody>
      </p:sp>
      <p:sp>
        <p:nvSpPr>
          <p:cNvPr id="28" name="Google Shape;28;p1"/>
          <p:cNvSpPr/>
          <p:nvPr/>
        </p:nvSpPr>
        <p:spPr>
          <a:xfrm>
            <a:off x="3295650" y="5410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405188" y="5543550"/>
            <a:ext cx="238125" cy="190500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867150" y="550545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Segmentation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Learning Journey</a:t>
            </a:r>
            <a:endParaRPr b="0" i="0" sz="1600" u="none" cap="none" strike="noStrike"/>
          </a:p>
        </p:txBody>
      </p:sp>
      <p:sp>
        <p:nvSpPr>
          <p:cNvPr id="37" name="Google Shape;37;p2"/>
          <p:cNvSpPr/>
          <p:nvPr/>
        </p:nvSpPr>
        <p:spPr>
          <a:xfrm>
            <a:off x="381000" y="1066800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38" name="Google Shape;38;p2"/>
          <p:cNvSpPr/>
          <p:nvPr/>
        </p:nvSpPr>
        <p:spPr>
          <a:xfrm>
            <a:off x="400050" y="1485900"/>
            <a:ext cx="5581650" cy="2266950"/>
          </a:xfrm>
          <a:custGeom>
            <a:rect b="b" l="l" r="r" t="t"/>
            <a:pathLst>
              <a:path extrusionOk="0" h="2266950" w="558165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2190758"/>
                </a:lnTo>
                <a:cubicBezTo>
                  <a:pt x="5581650" y="2232838"/>
                  <a:pt x="5547538" y="2266950"/>
                  <a:pt x="5505458" y="2266950"/>
                </a:cubicBezTo>
                <a:lnTo>
                  <a:pt x="38100" y="2266950"/>
                </a:lnTo>
                <a:cubicBezTo>
                  <a:pt x="17072" y="2266950"/>
                  <a:pt x="0" y="2249878"/>
                  <a:pt x="0" y="2228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00050" y="1485900"/>
            <a:ext cx="38100" cy="2266950"/>
          </a:xfrm>
          <a:custGeom>
            <a:rect b="b" l="l" r="r" t="t"/>
            <a:pathLst>
              <a:path extrusionOk="0" h="2266950" w="38100">
                <a:moveTo>
                  <a:pt x="38100" y="0"/>
                </a:moveTo>
                <a:lnTo>
                  <a:pt x="38100" y="0"/>
                </a:lnTo>
                <a:lnTo>
                  <a:pt x="38100" y="2266950"/>
                </a:lnTo>
                <a:lnTo>
                  <a:pt x="38100" y="2266950"/>
                </a:lnTo>
                <a:cubicBezTo>
                  <a:pt x="17072" y="2266950"/>
                  <a:pt x="0" y="2249878"/>
                  <a:pt x="0" y="2228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7700" y="171450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14388" y="1847850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42" name="Google Shape;42;p2"/>
          <p:cNvSpPr/>
          <p:nvPr/>
        </p:nvSpPr>
        <p:spPr>
          <a:xfrm>
            <a:off x="1447800" y="1714500"/>
            <a:ext cx="44481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Introduction to Unsupervised Learning</a:t>
            </a:r>
            <a:endParaRPr b="0" i="0" sz="1600" u="none" cap="none" strike="noStrike"/>
          </a:p>
        </p:txBody>
      </p:sp>
      <p:sp>
        <p:nvSpPr>
          <p:cNvPr id="43" name="Google Shape;43;p2"/>
          <p:cNvSpPr/>
          <p:nvPr/>
        </p:nvSpPr>
        <p:spPr>
          <a:xfrm>
            <a:off x="1447800" y="2514600"/>
            <a:ext cx="4391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fundamentals of unsupervised learning and clustering algorithms</a:t>
            </a:r>
            <a:endParaRPr b="0" i="0" sz="1600" u="none" cap="none" strike="noStrike"/>
          </a:p>
        </p:txBody>
      </p:sp>
      <p:sp>
        <p:nvSpPr>
          <p:cNvPr id="44" name="Google Shape;44;p2"/>
          <p:cNvSpPr/>
          <p:nvPr/>
        </p:nvSpPr>
        <p:spPr>
          <a:xfrm>
            <a:off x="6229350" y="1485900"/>
            <a:ext cx="5581650" cy="2266950"/>
          </a:xfrm>
          <a:custGeom>
            <a:rect b="b" l="l" r="r" t="t"/>
            <a:pathLst>
              <a:path extrusionOk="0" h="2266950" w="558165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2190758"/>
                </a:lnTo>
                <a:cubicBezTo>
                  <a:pt x="5581650" y="2232838"/>
                  <a:pt x="5547538" y="2266950"/>
                  <a:pt x="5505458" y="2266950"/>
                </a:cubicBezTo>
                <a:lnTo>
                  <a:pt x="38100" y="2266950"/>
                </a:lnTo>
                <a:cubicBezTo>
                  <a:pt x="17072" y="2266950"/>
                  <a:pt x="0" y="2249878"/>
                  <a:pt x="0" y="2228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229350" y="1485900"/>
            <a:ext cx="38100" cy="2266950"/>
          </a:xfrm>
          <a:custGeom>
            <a:rect b="b" l="l" r="r" t="t"/>
            <a:pathLst>
              <a:path extrusionOk="0" h="2266950" w="38100">
                <a:moveTo>
                  <a:pt x="38100" y="0"/>
                </a:moveTo>
                <a:lnTo>
                  <a:pt x="38100" y="0"/>
                </a:lnTo>
                <a:lnTo>
                  <a:pt x="38100" y="2266950"/>
                </a:lnTo>
                <a:lnTo>
                  <a:pt x="38100" y="2266950"/>
                </a:lnTo>
                <a:cubicBezTo>
                  <a:pt x="17072" y="2266950"/>
                  <a:pt x="0" y="2249878"/>
                  <a:pt x="0" y="2228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477000" y="171450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619875" y="1847850"/>
            <a:ext cx="466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48" name="Google Shape;48;p2"/>
          <p:cNvSpPr/>
          <p:nvPr/>
        </p:nvSpPr>
        <p:spPr>
          <a:xfrm>
            <a:off x="7277100" y="1714500"/>
            <a:ext cx="4448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K-Means Clustering</a:t>
            </a:r>
            <a:endParaRPr b="0" i="0" sz="1600" u="none" cap="none" strike="noStrike"/>
          </a:p>
        </p:txBody>
      </p:sp>
      <p:sp>
        <p:nvSpPr>
          <p:cNvPr id="49" name="Google Shape;49;p2"/>
          <p:cNvSpPr/>
          <p:nvPr/>
        </p:nvSpPr>
        <p:spPr>
          <a:xfrm>
            <a:off x="7277100" y="2171700"/>
            <a:ext cx="4391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dive into the most popular clustering algorithm and optimal K selection</a:t>
            </a:r>
            <a:endParaRPr b="0" i="0" sz="1600" u="none" cap="none" strike="noStrike"/>
          </a:p>
        </p:txBody>
      </p:sp>
      <p:sp>
        <p:nvSpPr>
          <p:cNvPr id="50" name="Google Shape;50;p2"/>
          <p:cNvSpPr/>
          <p:nvPr/>
        </p:nvSpPr>
        <p:spPr>
          <a:xfrm>
            <a:off x="400050" y="3981450"/>
            <a:ext cx="5581650" cy="1924050"/>
          </a:xfrm>
          <a:custGeom>
            <a:rect b="b" l="l" r="r" t="t"/>
            <a:pathLst>
              <a:path extrusionOk="0" h="1924050" w="558165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1847858"/>
                </a:lnTo>
                <a:cubicBezTo>
                  <a:pt x="5581650" y="1889938"/>
                  <a:pt x="5547538" y="1924050"/>
                  <a:pt x="5505458" y="1924050"/>
                </a:cubicBez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00050" y="3981450"/>
            <a:ext cx="38100" cy="1924050"/>
          </a:xfrm>
          <a:custGeom>
            <a:rect b="b" l="l" r="r" t="t"/>
            <a:pathLst>
              <a:path extrusionOk="0" h="1924050" w="38100">
                <a:moveTo>
                  <a:pt x="3810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7700" y="421005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85813" y="4343400"/>
            <a:ext cx="476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1447800" y="4210050"/>
            <a:ext cx="4448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Hierarchical Clustering</a:t>
            </a:r>
            <a:endParaRPr b="0" i="0" sz="1600" u="none" cap="none" strike="noStrike"/>
          </a:p>
        </p:txBody>
      </p:sp>
      <p:sp>
        <p:nvSpPr>
          <p:cNvPr id="55" name="Google Shape;55;p2"/>
          <p:cNvSpPr/>
          <p:nvPr/>
        </p:nvSpPr>
        <p:spPr>
          <a:xfrm>
            <a:off x="1447800" y="4667250"/>
            <a:ext cx="4391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Building clusters through hierarchy and understanding dendrograms</a:t>
            </a:r>
            <a:endParaRPr b="0" i="0" sz="16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6229350" y="3981450"/>
            <a:ext cx="5581650" cy="1924050"/>
          </a:xfrm>
          <a:custGeom>
            <a:rect b="b" l="l" r="r" t="t"/>
            <a:pathLst>
              <a:path extrusionOk="0" h="1924050" w="558165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1847858"/>
                </a:lnTo>
                <a:cubicBezTo>
                  <a:pt x="5581650" y="1889938"/>
                  <a:pt x="5547538" y="1924050"/>
                  <a:pt x="5505458" y="1924050"/>
                </a:cubicBez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229350" y="3981450"/>
            <a:ext cx="38100" cy="1924050"/>
          </a:xfrm>
          <a:custGeom>
            <a:rect b="b" l="l" r="r" t="t"/>
            <a:pathLst>
              <a:path extrusionOk="0" h="1924050" w="38100">
                <a:moveTo>
                  <a:pt x="3810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477000" y="421005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619875" y="4343400"/>
            <a:ext cx="466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7277100" y="4210050"/>
            <a:ext cx="4448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Customer Segmentation</a:t>
            </a:r>
            <a:endParaRPr b="0" i="0" sz="16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277100" y="4667250"/>
            <a:ext cx="4391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Applying clustering to real business problems with mall traffic data</a:t>
            </a:r>
            <a:endParaRPr b="0" i="0" sz="16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404813" y="62484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33425" y="621030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Beginner Level</a:t>
            </a:r>
            <a:endParaRPr b="0" i="0" sz="16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4941094" y="6248400"/>
            <a:ext cx="166688" cy="190500"/>
          </a:xfrm>
          <a:custGeom>
            <a:rect b="b" l="l" r="r" t="t"/>
            <a:pathLst>
              <a:path extrusionOk="0" h="190500" w="166688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257800" y="6210300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Theory + Practical</a:t>
            </a:r>
            <a:endParaRPr b="0" i="0" sz="16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9701213" y="6248400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0029825" y="621030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Applications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kimi-web-img.moonshot.cn/img/media.easy-peasy.ai/c5d661e0185d36d8f1c4ab394710218706646666.webp" id="73" name="Google Shape;73;p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7647"/>
                </a:srgbClr>
              </a:gs>
              <a:gs pos="50000">
                <a:srgbClr val="1A202C">
                  <a:alpha val="89803"/>
                </a:srgbClr>
              </a:gs>
              <a:gs pos="100000">
                <a:srgbClr val="1A202C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5" name="Google Shape;75;p3"/>
          <p:cNvSpPr/>
          <p:nvPr/>
        </p:nvSpPr>
        <p:spPr>
          <a:xfrm>
            <a:off x="385763" y="1778794"/>
            <a:ext cx="1609725" cy="428625"/>
          </a:xfrm>
          <a:custGeom>
            <a:rect b="b" l="l" r="r" t="t"/>
            <a:pathLst>
              <a:path extrusionOk="0" h="428625" w="1609725">
                <a:moveTo>
                  <a:pt x="214313" y="0"/>
                </a:moveTo>
                <a:lnTo>
                  <a:pt x="1395413" y="0"/>
                </a:lnTo>
                <a:cubicBezTo>
                  <a:pt x="1513695" y="0"/>
                  <a:pt x="1609725" y="96030"/>
                  <a:pt x="1609725" y="214313"/>
                </a:cubicBezTo>
                <a:lnTo>
                  <a:pt x="1609725" y="214313"/>
                </a:lnTo>
                <a:cubicBezTo>
                  <a:pt x="1609725" y="332595"/>
                  <a:pt x="1513695" y="428625"/>
                  <a:pt x="1395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cap="flat" cmpd="sng" w="127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81025" y="1888331"/>
            <a:ext cx="13144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01</a:t>
            </a:r>
            <a:endParaRPr b="0" i="0" sz="16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381000" y="2516981"/>
            <a:ext cx="1188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Foundations</a:t>
            </a:r>
            <a:endParaRPr b="0" i="0" sz="16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381000" y="3736181"/>
            <a:ext cx="1828800" cy="38100"/>
          </a:xfrm>
          <a:custGeom>
            <a:rect b="b" l="l" r="r" t="t"/>
            <a:pathLst>
              <a:path extrusionOk="0" h="38100" w="18288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79" name="Google Shape;79;p3"/>
          <p:cNvSpPr/>
          <p:nvPr/>
        </p:nvSpPr>
        <p:spPr>
          <a:xfrm>
            <a:off x="381000" y="415528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basics of unsupervised machine learning and clustering algorithms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381000" y="419100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81012" y="476250"/>
            <a:ext cx="276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876300" y="381000"/>
            <a:ext cx="6724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What is Unsupervised Learning?</a:t>
            </a:r>
            <a:endParaRPr b="0" i="0" sz="160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381000" y="952500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89" name="Google Shape;89;p4"/>
          <p:cNvSpPr/>
          <p:nvPr/>
        </p:nvSpPr>
        <p:spPr>
          <a:xfrm>
            <a:off x="400050" y="1219200"/>
            <a:ext cx="6610350" cy="2028825"/>
          </a:xfrm>
          <a:custGeom>
            <a:rect b="b" l="l" r="r" t="t"/>
            <a:pathLst>
              <a:path extrusionOk="0" h="2028825" w="6610350">
                <a:moveTo>
                  <a:pt x="38100" y="0"/>
                </a:moveTo>
                <a:lnTo>
                  <a:pt x="6534147" y="0"/>
                </a:lnTo>
                <a:cubicBezTo>
                  <a:pt x="6576233" y="0"/>
                  <a:pt x="6610350" y="34117"/>
                  <a:pt x="6610350" y="76203"/>
                </a:cubicBezTo>
                <a:lnTo>
                  <a:pt x="6610350" y="1952622"/>
                </a:lnTo>
                <a:cubicBezTo>
                  <a:pt x="6610350" y="1994708"/>
                  <a:pt x="6576233" y="2028825"/>
                  <a:pt x="6534147" y="2028825"/>
                </a:cubicBezTo>
                <a:lnTo>
                  <a:pt x="38100" y="2028825"/>
                </a:lnTo>
                <a:cubicBezTo>
                  <a:pt x="17072" y="2028825"/>
                  <a:pt x="0" y="2011753"/>
                  <a:pt x="0" y="1990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00050" y="1219200"/>
            <a:ext cx="38100" cy="2028825"/>
          </a:xfrm>
          <a:custGeom>
            <a:rect b="b" l="l" r="r" t="t"/>
            <a:pathLst>
              <a:path extrusionOk="0" h="2028825" w="38100">
                <a:moveTo>
                  <a:pt x="38100" y="0"/>
                </a:moveTo>
                <a:lnTo>
                  <a:pt x="38100" y="0"/>
                </a:lnTo>
                <a:lnTo>
                  <a:pt x="38100" y="2028825"/>
                </a:lnTo>
                <a:lnTo>
                  <a:pt x="38100" y="2028825"/>
                </a:lnTo>
                <a:cubicBezTo>
                  <a:pt x="17072" y="2028825"/>
                  <a:pt x="0" y="2011753"/>
                  <a:pt x="0" y="1990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09600" y="1409700"/>
            <a:ext cx="632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Core Concept</a:t>
            </a:r>
            <a:endParaRPr b="0" i="0" sz="160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609600" y="1828800"/>
            <a:ext cx="6296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Unsupervised learning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discovers hidden patterns in data </a:t>
            </a:r>
            <a:r>
              <a:rPr b="0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without labeled examples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algorithm explores raw data to find structure on its own.</a:t>
            </a:r>
            <a:endParaRPr b="0" i="0" sz="16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609600" y="2500313"/>
            <a:ext cx="6296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Think of it as exploring a new city without a map — you observe, group similar things, and discover patterns.</a:t>
            </a:r>
            <a:endParaRPr b="0" i="0" sz="160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385763" y="3443288"/>
            <a:ext cx="3228975" cy="1304925"/>
          </a:xfrm>
          <a:custGeom>
            <a:rect b="b" l="l" r="r" t="t"/>
            <a:pathLst>
              <a:path extrusionOk="0" h="1304925" w="3228975">
                <a:moveTo>
                  <a:pt x="76195" y="0"/>
                </a:moveTo>
                <a:lnTo>
                  <a:pt x="3152780" y="0"/>
                </a:lnTo>
                <a:cubicBezTo>
                  <a:pt x="3194833" y="0"/>
                  <a:pt x="3228975" y="34142"/>
                  <a:pt x="3228975" y="76195"/>
                </a:cubicBezTo>
                <a:lnTo>
                  <a:pt x="3228975" y="1228730"/>
                </a:lnTo>
                <a:cubicBezTo>
                  <a:pt x="3228975" y="1270783"/>
                  <a:pt x="3194833" y="1304925"/>
                  <a:pt x="315278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5568">
              <a:alpha val="14901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42925" y="36004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0AEC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57225" y="3714750"/>
            <a:ext cx="152400" cy="152400"/>
          </a:xfrm>
          <a:custGeom>
            <a:rect b="b" l="l" r="r" t="t"/>
            <a:pathLst>
              <a:path extrusionOk="0" h="152400" w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038225" y="3657600"/>
            <a:ext cx="1057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Supervised</a:t>
            </a:r>
            <a:endParaRPr b="0" i="0" sz="16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542925" y="4095750"/>
            <a:ext cx="2990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comes with </a:t>
            </a:r>
            <a:r>
              <a:rPr b="1" i="0" lang="en-US" sz="120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labels</a:t>
            </a: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(e.g., photos marked "cat" or "dog")</a:t>
            </a:r>
            <a:endParaRPr b="0" i="0" sz="16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3776662" y="3443288"/>
            <a:ext cx="3228975" cy="1304925"/>
          </a:xfrm>
          <a:custGeom>
            <a:rect b="b" l="l" r="r" t="t"/>
            <a:pathLst>
              <a:path extrusionOk="0" h="1304925" w="3228975">
                <a:moveTo>
                  <a:pt x="76195" y="0"/>
                </a:moveTo>
                <a:lnTo>
                  <a:pt x="3152780" y="0"/>
                </a:lnTo>
                <a:cubicBezTo>
                  <a:pt x="3194833" y="0"/>
                  <a:pt x="3228975" y="34142"/>
                  <a:pt x="3228975" y="76195"/>
                </a:cubicBezTo>
                <a:lnTo>
                  <a:pt x="3228975" y="1228730"/>
                </a:lnTo>
                <a:cubicBezTo>
                  <a:pt x="3228975" y="1270783"/>
                  <a:pt x="3194833" y="1304925"/>
                  <a:pt x="315278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6AD55">
              <a:alpha val="14901"/>
            </a:srgbClr>
          </a:solidFill>
          <a:ln cap="flat" cmpd="sng" w="127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933825" y="36004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076700" y="3714750"/>
            <a:ext cx="95250" cy="152400"/>
          </a:xfrm>
          <a:custGeom>
            <a:rect b="b" l="l" r="r" t="t"/>
            <a:pathLst>
              <a:path extrusionOk="0" h="152400" w="95250">
                <a:moveTo>
                  <a:pt x="19050" y="47625"/>
                </a:moveTo>
                <a:cubicBezTo>
                  <a:pt x="19050" y="31849"/>
                  <a:pt x="31849" y="19050"/>
                  <a:pt x="47625" y="19050"/>
                </a:cubicBezTo>
                <a:cubicBezTo>
                  <a:pt x="63401" y="19050"/>
                  <a:pt x="76200" y="31849"/>
                  <a:pt x="76200" y="47625"/>
                </a:cubicBezTo>
                <a:cubicBezTo>
                  <a:pt x="76200" y="60335"/>
                  <a:pt x="67895" y="71110"/>
                  <a:pt x="56406" y="74831"/>
                </a:cubicBezTo>
                <a:cubicBezTo>
                  <a:pt x="47952" y="77569"/>
                  <a:pt x="38100" y="85338"/>
                  <a:pt x="38100" y="97631"/>
                </a:cubicBezTo>
                <a:lnTo>
                  <a:pt x="38100" y="104775"/>
                </a:lnTo>
                <a:cubicBezTo>
                  <a:pt x="38100" y="110044"/>
                  <a:pt x="42356" y="114300"/>
                  <a:pt x="47625" y="114300"/>
                </a:cubicBezTo>
                <a:cubicBezTo>
                  <a:pt x="52894" y="114300"/>
                  <a:pt x="57150" y="110044"/>
                  <a:pt x="57150" y="104775"/>
                </a:cubicBezTo>
                <a:lnTo>
                  <a:pt x="57150" y="97631"/>
                </a:lnTo>
                <a:cubicBezTo>
                  <a:pt x="57150" y="97125"/>
                  <a:pt x="57329" y="96411"/>
                  <a:pt x="58192" y="95458"/>
                </a:cubicBezTo>
                <a:cubicBezTo>
                  <a:pt x="59085" y="94476"/>
                  <a:pt x="60543" y="93524"/>
                  <a:pt x="62270" y="92958"/>
                </a:cubicBezTo>
                <a:cubicBezTo>
                  <a:pt x="81409" y="86797"/>
                  <a:pt x="95250" y="68848"/>
                  <a:pt x="95250" y="47625"/>
                </a:cubicBezTo>
                <a:cubicBezTo>
                  <a:pt x="95250" y="21312"/>
                  <a:pt x="73938" y="0"/>
                  <a:pt x="47625" y="0"/>
                </a:cubicBezTo>
                <a:cubicBezTo>
                  <a:pt x="21312" y="0"/>
                  <a:pt x="0" y="21312"/>
                  <a:pt x="0" y="47625"/>
                </a:cubicBezTo>
                <a:cubicBezTo>
                  <a:pt x="0" y="52894"/>
                  <a:pt x="4256" y="57150"/>
                  <a:pt x="9525" y="57150"/>
                </a:cubicBezTo>
                <a:cubicBezTo>
                  <a:pt x="14794" y="57150"/>
                  <a:pt x="19050" y="52894"/>
                  <a:pt x="19050" y="47625"/>
                </a:cubicBezTo>
                <a:close/>
                <a:moveTo>
                  <a:pt x="47625" y="152400"/>
                </a:moveTo>
                <a:cubicBezTo>
                  <a:pt x="54203" y="152400"/>
                  <a:pt x="59531" y="147072"/>
                  <a:pt x="59531" y="140494"/>
                </a:cubicBezTo>
                <a:cubicBezTo>
                  <a:pt x="59531" y="133916"/>
                  <a:pt x="54203" y="128588"/>
                  <a:pt x="47625" y="128588"/>
                </a:cubicBezTo>
                <a:cubicBezTo>
                  <a:pt x="41047" y="128588"/>
                  <a:pt x="35719" y="133916"/>
                  <a:pt x="35719" y="140494"/>
                </a:cubicBezTo>
                <a:cubicBezTo>
                  <a:pt x="35719" y="147072"/>
                  <a:pt x="41047" y="152400"/>
                  <a:pt x="47625" y="15240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429125" y="3657600"/>
            <a:ext cx="1276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Unsupervised</a:t>
            </a:r>
            <a:endParaRPr b="0" i="0" sz="16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3933825" y="4095750"/>
            <a:ext cx="2990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has </a:t>
            </a:r>
            <a:r>
              <a:rPr b="1" i="0" lang="en-US" sz="12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labels</a:t>
            </a: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algorithm finds structure</a:t>
            </a:r>
            <a:endParaRPr b="0" i="0" sz="16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381000" y="4943475"/>
            <a:ext cx="6629400" cy="914400"/>
          </a:xfrm>
          <a:custGeom>
            <a:rect b="b" l="l" r="r" t="t"/>
            <a:pathLst>
              <a:path extrusionOk="0" h="914400" w="6629400">
                <a:moveTo>
                  <a:pt x="76197" y="0"/>
                </a:moveTo>
                <a:lnTo>
                  <a:pt x="6553203" y="0"/>
                </a:lnTo>
                <a:cubicBezTo>
                  <a:pt x="6595285" y="0"/>
                  <a:pt x="6629400" y="34115"/>
                  <a:pt x="6629400" y="76197"/>
                </a:cubicBezTo>
                <a:lnTo>
                  <a:pt x="6629400" y="838203"/>
                </a:lnTo>
                <a:cubicBezTo>
                  <a:pt x="6629400" y="880285"/>
                  <a:pt x="6595285" y="914400"/>
                  <a:pt x="65532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33400" y="5095875"/>
            <a:ext cx="6419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Key Applications</a:t>
            </a:r>
            <a:endParaRPr b="0" i="0" sz="16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533400" y="5514975"/>
            <a:ext cx="190500" cy="152400"/>
          </a:xfrm>
          <a:custGeom>
            <a:rect b="b" l="l" r="r" t="t"/>
            <a:pathLst>
              <a:path extrusionOk="0" h="152400" w="1905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800100" y="5476875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Segmentation</a:t>
            </a:r>
            <a:endParaRPr b="0" i="0" sz="16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2708225" y="5514975"/>
            <a:ext cx="133350" cy="1524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2946350" y="5476875"/>
            <a:ext cx="139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Compression</a:t>
            </a:r>
            <a:endParaRPr b="0" i="0" sz="160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4844951" y="551497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092601" y="5476875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Anomaly Detection</a:t>
            </a:r>
            <a:endParaRPr b="0" i="0" sz="16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7243763" y="1538288"/>
            <a:ext cx="4562475" cy="4619625"/>
          </a:xfrm>
          <a:custGeom>
            <a:rect b="b" l="l" r="r" t="t"/>
            <a:pathLst>
              <a:path extrusionOk="0" h="4619625" w="4562475">
                <a:moveTo>
                  <a:pt x="76193" y="0"/>
                </a:moveTo>
                <a:lnTo>
                  <a:pt x="4486282" y="0"/>
                </a:lnTo>
                <a:cubicBezTo>
                  <a:pt x="4528362" y="0"/>
                  <a:pt x="4562475" y="34113"/>
                  <a:pt x="4562475" y="76193"/>
                </a:cubicBezTo>
                <a:lnTo>
                  <a:pt x="4562475" y="4543432"/>
                </a:lnTo>
                <a:cubicBezTo>
                  <a:pt x="4562475" y="4585512"/>
                  <a:pt x="4528362" y="4619625"/>
                  <a:pt x="4486282" y="4619625"/>
                </a:cubicBezTo>
                <a:lnTo>
                  <a:pt x="76193" y="4619625"/>
                </a:lnTo>
                <a:cubicBezTo>
                  <a:pt x="34113" y="4619625"/>
                  <a:pt x="0" y="4585512"/>
                  <a:pt x="0" y="454343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7391400" y="17335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Visual Comparison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3-d5rjb5trnuitl6bku7lg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9025" y="2152650"/>
            <a:ext cx="4171950" cy="3810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381000" y="419100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81012" y="476250"/>
            <a:ext cx="276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876300" y="381000"/>
            <a:ext cx="6867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Clustering: Grouping Similar Data</a:t>
            </a:r>
            <a:endParaRPr b="0" i="0" sz="160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381000" y="952500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124" name="Google Shape;124;p5"/>
          <p:cNvSpPr/>
          <p:nvPr/>
        </p:nvSpPr>
        <p:spPr>
          <a:xfrm>
            <a:off x="400050" y="1219200"/>
            <a:ext cx="6419850" cy="1362075"/>
          </a:xfrm>
          <a:custGeom>
            <a:rect b="b" l="l" r="r" t="t"/>
            <a:pathLst>
              <a:path extrusionOk="0" h="1362075" w="6419850">
                <a:moveTo>
                  <a:pt x="38100" y="0"/>
                </a:moveTo>
                <a:lnTo>
                  <a:pt x="6343656" y="0"/>
                </a:lnTo>
                <a:cubicBezTo>
                  <a:pt x="6385737" y="0"/>
                  <a:pt x="6419850" y="34113"/>
                  <a:pt x="6419850" y="76194"/>
                </a:cubicBezTo>
                <a:lnTo>
                  <a:pt x="6419850" y="1285881"/>
                </a:lnTo>
                <a:cubicBezTo>
                  <a:pt x="6419850" y="1327962"/>
                  <a:pt x="6385737" y="1362075"/>
                  <a:pt x="6343656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00050" y="1219200"/>
            <a:ext cx="38100" cy="1362075"/>
          </a:xfrm>
          <a:custGeom>
            <a:rect b="b" l="l" r="r" t="t"/>
            <a:pathLst>
              <a:path extrusionOk="0" h="1362075" w="38100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09600" y="1409700"/>
            <a:ext cx="613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What is Clustering?</a:t>
            </a:r>
            <a:endParaRPr b="0" i="0" sz="160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609600" y="1828800"/>
            <a:ext cx="61055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groups similar data points together. The goal is to maximize </a:t>
            </a:r>
            <a:r>
              <a:rPr b="0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similarity within clusters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0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differences between clusters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381000" y="2767013"/>
            <a:ext cx="6438900" cy="1981200"/>
          </a:xfrm>
          <a:custGeom>
            <a:rect b="b" l="l" r="r" t="t"/>
            <a:pathLst>
              <a:path extrusionOk="0" h="1981200" w="6438900">
                <a:moveTo>
                  <a:pt x="76197" y="0"/>
                </a:moveTo>
                <a:lnTo>
                  <a:pt x="6362703" y="0"/>
                </a:lnTo>
                <a:cubicBezTo>
                  <a:pt x="6404785" y="0"/>
                  <a:pt x="6438900" y="34115"/>
                  <a:pt x="6438900" y="76197"/>
                </a:cubicBezTo>
                <a:lnTo>
                  <a:pt x="6438900" y="1905003"/>
                </a:lnTo>
                <a:cubicBezTo>
                  <a:pt x="6438900" y="1947085"/>
                  <a:pt x="6404785" y="1981200"/>
                  <a:pt x="6362703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71500" y="2957513"/>
            <a:ext cx="617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How It Works</a:t>
            </a:r>
            <a:endParaRPr b="0" i="0" sz="160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571500" y="3414713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00088" y="3452813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990600" y="3414713"/>
            <a:ext cx="518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 Distance: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Calculate distance between points (e.g., Euclidean)</a:t>
            </a:r>
            <a:endParaRPr b="0" i="0" sz="16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571500" y="3833812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85800" y="3871913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990600" y="3833812"/>
            <a:ext cx="4219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Similar Points: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Points close together form a cluster</a:t>
            </a:r>
            <a:endParaRPr b="0" i="0" sz="160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571500" y="4252913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81038" y="4291013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990600" y="4252913"/>
            <a:ext cx="4391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Optimize Groups: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Ensure tight clusters and clear separation</a:t>
            </a:r>
            <a:endParaRPr b="0" i="0" sz="160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385763" y="4943475"/>
            <a:ext cx="3133725" cy="1419225"/>
          </a:xfrm>
          <a:custGeom>
            <a:rect b="b" l="l" r="r" t="t"/>
            <a:pathLst>
              <a:path extrusionOk="0" h="1419225" w="3133725">
                <a:moveTo>
                  <a:pt x="76198" y="0"/>
                </a:moveTo>
                <a:lnTo>
                  <a:pt x="3057527" y="0"/>
                </a:lnTo>
                <a:cubicBezTo>
                  <a:pt x="3099610" y="0"/>
                  <a:pt x="3133725" y="34115"/>
                  <a:pt x="3133725" y="76198"/>
                </a:cubicBezTo>
                <a:lnTo>
                  <a:pt x="3133725" y="1343027"/>
                </a:lnTo>
                <a:cubicBezTo>
                  <a:pt x="3133725" y="1385110"/>
                  <a:pt x="3099610" y="1419225"/>
                  <a:pt x="305752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6AD55">
              <a:alpha val="14901"/>
            </a:srgbClr>
          </a:solidFill>
          <a:ln cap="flat" cmpd="sng" w="12700">
            <a:solidFill>
              <a:srgbClr val="F6AD5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42925" y="5100638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Distance Metrics</a:t>
            </a:r>
            <a:endParaRPr b="0" i="0" sz="160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542925" y="5443538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Euclidean:</a:t>
            </a: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Straight-line distance</a:t>
            </a:r>
            <a:endParaRPr b="0" i="0" sz="1600" u="none" cap="none" strike="noStrike"/>
          </a:p>
        </p:txBody>
      </p:sp>
      <p:sp>
        <p:nvSpPr>
          <p:cNvPr id="142" name="Google Shape;142;p5"/>
          <p:cNvSpPr/>
          <p:nvPr/>
        </p:nvSpPr>
        <p:spPr>
          <a:xfrm>
            <a:off x="542925" y="5710238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Manhattan:</a:t>
            </a: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Grid-based distance</a:t>
            </a:r>
            <a:endParaRPr b="0" i="0" sz="160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542925" y="5976938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Cosine:</a:t>
            </a: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Angle-based for text</a:t>
            </a:r>
            <a:endParaRPr b="0" i="0" sz="16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3681413" y="4943475"/>
            <a:ext cx="3133725" cy="1419225"/>
          </a:xfrm>
          <a:custGeom>
            <a:rect b="b" l="l" r="r" t="t"/>
            <a:pathLst>
              <a:path extrusionOk="0" h="1419225" w="3133725">
                <a:moveTo>
                  <a:pt x="76198" y="0"/>
                </a:moveTo>
                <a:lnTo>
                  <a:pt x="3057527" y="0"/>
                </a:lnTo>
                <a:cubicBezTo>
                  <a:pt x="3099610" y="0"/>
                  <a:pt x="3133725" y="34115"/>
                  <a:pt x="3133725" y="76198"/>
                </a:cubicBezTo>
                <a:lnTo>
                  <a:pt x="3133725" y="1343027"/>
                </a:lnTo>
                <a:cubicBezTo>
                  <a:pt x="3133725" y="1385110"/>
                  <a:pt x="3099610" y="1419225"/>
                  <a:pt x="305752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A0AEC0">
              <a:alpha val="14901"/>
            </a:srgbClr>
          </a:solidFill>
          <a:ln cap="flat" cmpd="sng" w="12700">
            <a:solidFill>
              <a:srgbClr val="A0AEC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838575" y="5100638"/>
            <a:ext cx="2905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Why Use Clustering?</a:t>
            </a:r>
            <a:endParaRPr b="0" i="0" sz="1600" u="none" cap="none" strike="noStrike"/>
          </a:p>
        </p:txBody>
      </p:sp>
      <p:sp>
        <p:nvSpPr>
          <p:cNvPr id="146" name="Google Shape;146;p5"/>
          <p:cNvSpPr/>
          <p:nvPr/>
        </p:nvSpPr>
        <p:spPr>
          <a:xfrm>
            <a:off x="3838575" y="5443538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Discover hidden patterns</a:t>
            </a:r>
            <a:endParaRPr b="0" i="0" sz="1600" u="none" cap="none" strike="noStrike"/>
          </a:p>
        </p:txBody>
      </p:sp>
      <p:sp>
        <p:nvSpPr>
          <p:cNvPr id="147" name="Google Shape;147;p5"/>
          <p:cNvSpPr/>
          <p:nvPr/>
        </p:nvSpPr>
        <p:spPr>
          <a:xfrm>
            <a:off x="3838575" y="5710238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Exploratory data analysis</a:t>
            </a:r>
            <a:endParaRPr b="0" i="0" sz="16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3838575" y="5976938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Preprocessing step</a:t>
            </a:r>
            <a:endParaRPr b="0" i="0" sz="160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7053263" y="1223963"/>
            <a:ext cx="4752975" cy="5248275"/>
          </a:xfrm>
          <a:custGeom>
            <a:rect b="b" l="l" r="r" t="t"/>
            <a:pathLst>
              <a:path extrusionOk="0" h="5248275" w="4752975">
                <a:moveTo>
                  <a:pt x="76190" y="0"/>
                </a:moveTo>
                <a:lnTo>
                  <a:pt x="4676785" y="0"/>
                </a:lnTo>
                <a:cubicBezTo>
                  <a:pt x="4718863" y="0"/>
                  <a:pt x="4752975" y="34112"/>
                  <a:pt x="4752975" y="76190"/>
                </a:cubicBezTo>
                <a:lnTo>
                  <a:pt x="4752975" y="5172085"/>
                </a:lnTo>
                <a:cubicBezTo>
                  <a:pt x="4752975" y="5214163"/>
                  <a:pt x="4718863" y="5248275"/>
                  <a:pt x="4676785" y="5248275"/>
                </a:cubicBezTo>
                <a:lnTo>
                  <a:pt x="76190" y="5248275"/>
                </a:lnTo>
                <a:cubicBezTo>
                  <a:pt x="34112" y="5248275"/>
                  <a:pt x="0" y="5214163"/>
                  <a:pt x="0" y="517208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200900" y="1419225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Clustering Visualization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4-d5rjb63kvk6l0c3j9hhg.png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8525" y="1800225"/>
            <a:ext cx="4362450" cy="4381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ai.kukuwg.com/554a4eaca6c2a032215fae097c6159afd32949ed.jpg" id="157" name="Google Shape;157;p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7647"/>
                </a:srgbClr>
              </a:gs>
              <a:gs pos="50000">
                <a:srgbClr val="1A202C">
                  <a:alpha val="89803"/>
                </a:srgbClr>
              </a:gs>
              <a:gs pos="100000">
                <a:srgbClr val="1A202C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59" name="Google Shape;159;p6"/>
          <p:cNvSpPr/>
          <p:nvPr/>
        </p:nvSpPr>
        <p:spPr>
          <a:xfrm>
            <a:off x="385763" y="1321594"/>
            <a:ext cx="1647825" cy="428625"/>
          </a:xfrm>
          <a:custGeom>
            <a:rect b="b" l="l" r="r" t="t"/>
            <a:pathLst>
              <a:path extrusionOk="0" h="428625" w="1647825">
                <a:moveTo>
                  <a:pt x="214313" y="0"/>
                </a:moveTo>
                <a:lnTo>
                  <a:pt x="1433513" y="0"/>
                </a:lnTo>
                <a:cubicBezTo>
                  <a:pt x="1551795" y="0"/>
                  <a:pt x="1647825" y="96030"/>
                  <a:pt x="1647825" y="214313"/>
                </a:cubicBezTo>
                <a:lnTo>
                  <a:pt x="1647825" y="214313"/>
                </a:lnTo>
                <a:cubicBezTo>
                  <a:pt x="1647825" y="332595"/>
                  <a:pt x="1551795" y="428625"/>
                  <a:pt x="14335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A0AEC0">
              <a:alpha val="20000"/>
            </a:srgbClr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81025" y="1431131"/>
            <a:ext cx="1352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02</a:t>
            </a:r>
            <a:endParaRPr b="0" i="0" sz="160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381000" y="2059781"/>
            <a:ext cx="1188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K-Means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Clustering</a:t>
            </a:r>
            <a:endParaRPr b="0" i="0" sz="160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381000" y="4193381"/>
            <a:ext cx="1828800" cy="38100"/>
          </a:xfrm>
          <a:custGeom>
            <a:rect b="b" l="l" r="r" t="t"/>
            <a:pathLst>
              <a:path extrusionOk="0" h="38100" w="18288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</p:sp>
      <p:sp>
        <p:nvSpPr>
          <p:cNvPr id="163" name="Google Shape;163;p6"/>
          <p:cNvSpPr/>
          <p:nvPr/>
        </p:nvSpPr>
        <p:spPr>
          <a:xfrm>
            <a:off x="381000" y="461248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dive into the most popular clustering algorithm and optimal K selection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371142" y="408256"/>
            <a:ext cx="371142" cy="371142"/>
          </a:xfrm>
          <a:custGeom>
            <a:rect b="b" l="l" r="r" t="t"/>
            <a:pathLst>
              <a:path extrusionOk="0" h="371142" w="371142">
                <a:moveTo>
                  <a:pt x="74228" y="0"/>
                </a:moveTo>
                <a:lnTo>
                  <a:pt x="296913" y="0"/>
                </a:lnTo>
                <a:cubicBezTo>
                  <a:pt x="337881" y="0"/>
                  <a:pt x="371142" y="33261"/>
                  <a:pt x="371142" y="74228"/>
                </a:cubicBezTo>
                <a:lnTo>
                  <a:pt x="371142" y="296913"/>
                </a:lnTo>
                <a:cubicBezTo>
                  <a:pt x="371142" y="337881"/>
                  <a:pt x="337881" y="371142"/>
                  <a:pt x="296913" y="371142"/>
                </a:cubicBezTo>
                <a:lnTo>
                  <a:pt x="74228" y="371142"/>
                </a:lnTo>
                <a:cubicBezTo>
                  <a:pt x="33261" y="371142"/>
                  <a:pt x="0" y="337881"/>
                  <a:pt x="0" y="296913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50009" y="463927"/>
            <a:ext cx="306192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1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853626" y="371142"/>
            <a:ext cx="6866119" cy="445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7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K-Means Algorithm: How It Works</a:t>
            </a:r>
            <a:endParaRPr b="0" i="0" sz="160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371142" y="927854"/>
            <a:ext cx="1187653" cy="37114"/>
          </a:xfrm>
          <a:custGeom>
            <a:rect b="b" l="l" r="r" t="t"/>
            <a:pathLst>
              <a:path extrusionOk="0" h="37114" w="1187653">
                <a:moveTo>
                  <a:pt x="0" y="0"/>
                </a:moveTo>
                <a:lnTo>
                  <a:pt x="1187653" y="0"/>
                </a:lnTo>
                <a:lnTo>
                  <a:pt x="1187653" y="37114"/>
                </a:lnTo>
                <a:lnTo>
                  <a:pt x="0" y="37114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</p:sp>
      <p:sp>
        <p:nvSpPr>
          <p:cNvPr id="173" name="Google Shape;173;p7"/>
          <p:cNvSpPr/>
          <p:nvPr/>
        </p:nvSpPr>
        <p:spPr>
          <a:xfrm>
            <a:off x="389699" y="1187653"/>
            <a:ext cx="6383635" cy="1048475"/>
          </a:xfrm>
          <a:custGeom>
            <a:rect b="b" l="l" r="r" t="t"/>
            <a:pathLst>
              <a:path extrusionOk="0" h="1048475" w="6383635">
                <a:moveTo>
                  <a:pt x="37114" y="0"/>
                </a:moveTo>
                <a:lnTo>
                  <a:pt x="6309403" y="0"/>
                </a:lnTo>
                <a:cubicBezTo>
                  <a:pt x="6350400" y="0"/>
                  <a:pt x="6383635" y="33235"/>
                  <a:pt x="6383635" y="74232"/>
                </a:cubicBezTo>
                <a:lnTo>
                  <a:pt x="6383635" y="974243"/>
                </a:lnTo>
                <a:cubicBezTo>
                  <a:pt x="6383635" y="1015240"/>
                  <a:pt x="6350400" y="1048475"/>
                  <a:pt x="6309403" y="1048475"/>
                </a:cubicBezTo>
                <a:lnTo>
                  <a:pt x="37114" y="1048475"/>
                </a:lnTo>
                <a:cubicBezTo>
                  <a:pt x="16617" y="1048475"/>
                  <a:pt x="0" y="1031858"/>
                  <a:pt x="0" y="101136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89699" y="1187653"/>
            <a:ext cx="37114" cy="1048475"/>
          </a:xfrm>
          <a:custGeom>
            <a:rect b="b" l="l" r="r" t="t"/>
            <a:pathLst>
              <a:path extrusionOk="0" h="1048475" w="37114">
                <a:moveTo>
                  <a:pt x="37114" y="0"/>
                </a:moveTo>
                <a:lnTo>
                  <a:pt x="37114" y="0"/>
                </a:lnTo>
                <a:lnTo>
                  <a:pt x="37114" y="1048475"/>
                </a:lnTo>
                <a:lnTo>
                  <a:pt x="37114" y="1048475"/>
                </a:lnTo>
                <a:cubicBezTo>
                  <a:pt x="16617" y="1048475"/>
                  <a:pt x="0" y="1031858"/>
                  <a:pt x="0" y="101136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93826" y="1373224"/>
            <a:ext cx="6105279" cy="296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3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The Algorithm</a:t>
            </a:r>
            <a:endParaRPr b="0" i="0" sz="16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593826" y="1781479"/>
            <a:ext cx="6077443" cy="269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K-Means</a:t>
            </a:r>
            <a:r>
              <a:rPr b="0" i="0" lang="en-US" sz="131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partitions data into </a:t>
            </a:r>
            <a:r>
              <a:rPr b="0" i="0" lang="en-US" sz="1315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 distinct clusters</a:t>
            </a:r>
            <a:r>
              <a:rPr b="0" i="0" lang="en-US" sz="131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"K" is the number of groups to find.</a:t>
            </a:r>
            <a:endParaRPr b="0" i="0" sz="16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371142" y="2424018"/>
            <a:ext cx="6402192" cy="742283"/>
          </a:xfrm>
          <a:custGeom>
            <a:rect b="b" l="l" r="r" t="t"/>
            <a:pathLst>
              <a:path extrusionOk="0" h="742283" w="6402192">
                <a:moveTo>
                  <a:pt x="74228" y="0"/>
                </a:moveTo>
                <a:lnTo>
                  <a:pt x="6327963" y="0"/>
                </a:lnTo>
                <a:cubicBezTo>
                  <a:pt x="6368959" y="0"/>
                  <a:pt x="6402192" y="33233"/>
                  <a:pt x="6402192" y="74228"/>
                </a:cubicBezTo>
                <a:lnTo>
                  <a:pt x="6402192" y="668055"/>
                </a:lnTo>
                <a:cubicBezTo>
                  <a:pt x="6402192" y="709050"/>
                  <a:pt x="6368959" y="742283"/>
                  <a:pt x="6327963" y="742283"/>
                </a:cubicBezTo>
                <a:lnTo>
                  <a:pt x="74228" y="742283"/>
                </a:lnTo>
                <a:cubicBezTo>
                  <a:pt x="33261" y="742283"/>
                  <a:pt x="0" y="709023"/>
                  <a:pt x="0" y="66805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82484" y="2535361"/>
            <a:ext cx="371142" cy="371142"/>
          </a:xfrm>
          <a:custGeom>
            <a:rect b="b" l="l" r="r" t="t"/>
            <a:pathLst>
              <a:path extrusionOk="0" h="371142" w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44858" y="2609589"/>
            <a:ext cx="12062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964968" y="2535361"/>
            <a:ext cx="2236128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Choose K</a:t>
            </a:r>
            <a:endParaRPr b="0" i="0" sz="16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964968" y="2832274"/>
            <a:ext cx="2226849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Decide how many clusters to find</a:t>
            </a:r>
            <a:endParaRPr b="0" i="0" sz="160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371142" y="3277644"/>
            <a:ext cx="6402192" cy="742283"/>
          </a:xfrm>
          <a:custGeom>
            <a:rect b="b" l="l" r="r" t="t"/>
            <a:pathLst>
              <a:path extrusionOk="0" h="742283" w="6402192">
                <a:moveTo>
                  <a:pt x="74228" y="0"/>
                </a:moveTo>
                <a:lnTo>
                  <a:pt x="6327963" y="0"/>
                </a:lnTo>
                <a:cubicBezTo>
                  <a:pt x="6368959" y="0"/>
                  <a:pt x="6402192" y="33233"/>
                  <a:pt x="6402192" y="74228"/>
                </a:cubicBezTo>
                <a:lnTo>
                  <a:pt x="6402192" y="668055"/>
                </a:lnTo>
                <a:cubicBezTo>
                  <a:pt x="6402192" y="709050"/>
                  <a:pt x="6368959" y="742283"/>
                  <a:pt x="6327963" y="742283"/>
                </a:cubicBezTo>
                <a:lnTo>
                  <a:pt x="74228" y="742283"/>
                </a:lnTo>
                <a:cubicBezTo>
                  <a:pt x="33261" y="742283"/>
                  <a:pt x="0" y="709023"/>
                  <a:pt x="0" y="66805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82484" y="3388986"/>
            <a:ext cx="371142" cy="371142"/>
          </a:xfrm>
          <a:custGeom>
            <a:rect b="b" l="l" r="r" t="t"/>
            <a:pathLst>
              <a:path extrusionOk="0" h="371142" w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30941" y="3463215"/>
            <a:ext cx="148457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964968" y="3388986"/>
            <a:ext cx="2236128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Initialize Centroids</a:t>
            </a:r>
            <a:endParaRPr b="0" i="0" sz="1600" u="none" cap="none" strike="noStrike"/>
          </a:p>
        </p:txBody>
      </p:sp>
      <p:sp>
        <p:nvSpPr>
          <p:cNvPr id="186" name="Google Shape;186;p7"/>
          <p:cNvSpPr/>
          <p:nvPr/>
        </p:nvSpPr>
        <p:spPr>
          <a:xfrm>
            <a:off x="964968" y="3685900"/>
            <a:ext cx="2226849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Randomly place K cluster centers</a:t>
            </a:r>
            <a:endParaRPr b="0" i="0" sz="1600" u="none" cap="none" strike="noStrike"/>
          </a:p>
        </p:txBody>
      </p:sp>
      <p:sp>
        <p:nvSpPr>
          <p:cNvPr id="187" name="Google Shape;187;p7"/>
          <p:cNvSpPr/>
          <p:nvPr/>
        </p:nvSpPr>
        <p:spPr>
          <a:xfrm>
            <a:off x="371142" y="4131269"/>
            <a:ext cx="6402192" cy="742283"/>
          </a:xfrm>
          <a:custGeom>
            <a:rect b="b" l="l" r="r" t="t"/>
            <a:pathLst>
              <a:path extrusionOk="0" h="742283" w="6402192">
                <a:moveTo>
                  <a:pt x="74228" y="0"/>
                </a:moveTo>
                <a:lnTo>
                  <a:pt x="6327963" y="0"/>
                </a:lnTo>
                <a:cubicBezTo>
                  <a:pt x="6368959" y="0"/>
                  <a:pt x="6402192" y="33233"/>
                  <a:pt x="6402192" y="74228"/>
                </a:cubicBezTo>
                <a:lnTo>
                  <a:pt x="6402192" y="668055"/>
                </a:lnTo>
                <a:cubicBezTo>
                  <a:pt x="6402192" y="709050"/>
                  <a:pt x="6368959" y="742283"/>
                  <a:pt x="6327963" y="742283"/>
                </a:cubicBezTo>
                <a:lnTo>
                  <a:pt x="74228" y="742283"/>
                </a:lnTo>
                <a:cubicBezTo>
                  <a:pt x="33261" y="742283"/>
                  <a:pt x="0" y="709023"/>
                  <a:pt x="0" y="66805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82484" y="4242612"/>
            <a:ext cx="371142" cy="371142"/>
          </a:xfrm>
          <a:custGeom>
            <a:rect b="b" l="l" r="r" t="t"/>
            <a:pathLst>
              <a:path extrusionOk="0" h="371142" w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26301" y="4316840"/>
            <a:ext cx="157735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964968" y="4242612"/>
            <a:ext cx="2709333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Assign Points</a:t>
            </a:r>
            <a:endParaRPr b="0" i="0" sz="160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964968" y="4539525"/>
            <a:ext cx="2700055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Assign each point to the nearest centroid</a:t>
            </a:r>
            <a:endParaRPr b="0" i="0" sz="1600" u="none" cap="none" strike="noStrike"/>
          </a:p>
        </p:txBody>
      </p:sp>
      <p:sp>
        <p:nvSpPr>
          <p:cNvPr id="192" name="Google Shape;192;p7"/>
          <p:cNvSpPr/>
          <p:nvPr/>
        </p:nvSpPr>
        <p:spPr>
          <a:xfrm>
            <a:off x="371142" y="4984895"/>
            <a:ext cx="6402192" cy="742283"/>
          </a:xfrm>
          <a:custGeom>
            <a:rect b="b" l="l" r="r" t="t"/>
            <a:pathLst>
              <a:path extrusionOk="0" h="742283" w="6402192">
                <a:moveTo>
                  <a:pt x="74228" y="0"/>
                </a:moveTo>
                <a:lnTo>
                  <a:pt x="6327963" y="0"/>
                </a:lnTo>
                <a:cubicBezTo>
                  <a:pt x="6368959" y="0"/>
                  <a:pt x="6402192" y="33233"/>
                  <a:pt x="6402192" y="74228"/>
                </a:cubicBezTo>
                <a:lnTo>
                  <a:pt x="6402192" y="668055"/>
                </a:lnTo>
                <a:cubicBezTo>
                  <a:pt x="6402192" y="709050"/>
                  <a:pt x="6368959" y="742283"/>
                  <a:pt x="6327963" y="742283"/>
                </a:cubicBezTo>
                <a:lnTo>
                  <a:pt x="74228" y="742283"/>
                </a:lnTo>
                <a:cubicBezTo>
                  <a:pt x="33261" y="742283"/>
                  <a:pt x="0" y="709023"/>
                  <a:pt x="0" y="66805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82484" y="5096237"/>
            <a:ext cx="371142" cy="371142"/>
          </a:xfrm>
          <a:custGeom>
            <a:rect b="b" l="l" r="r" t="t"/>
            <a:pathLst>
              <a:path extrusionOk="0" h="371142" w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30941" y="5170466"/>
            <a:ext cx="148457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195" name="Google Shape;195;p7"/>
          <p:cNvSpPr/>
          <p:nvPr/>
        </p:nvSpPr>
        <p:spPr>
          <a:xfrm>
            <a:off x="964968" y="5096237"/>
            <a:ext cx="3080475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Update Centroids</a:t>
            </a:r>
            <a:endParaRPr b="0" i="0" sz="1600" u="none" cap="none" strike="noStrike"/>
          </a:p>
        </p:txBody>
      </p:sp>
      <p:sp>
        <p:nvSpPr>
          <p:cNvPr id="196" name="Google Shape;196;p7"/>
          <p:cNvSpPr/>
          <p:nvPr/>
        </p:nvSpPr>
        <p:spPr>
          <a:xfrm>
            <a:off x="964968" y="5393151"/>
            <a:ext cx="3071196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Move centroids to the mean of assigned points</a:t>
            </a:r>
            <a:endParaRPr b="0" i="0" sz="1600" u="none" cap="none" strike="noStrike"/>
          </a:p>
        </p:txBody>
      </p:sp>
      <p:sp>
        <p:nvSpPr>
          <p:cNvPr id="197" name="Google Shape;197;p7"/>
          <p:cNvSpPr/>
          <p:nvPr/>
        </p:nvSpPr>
        <p:spPr>
          <a:xfrm>
            <a:off x="371142" y="5838521"/>
            <a:ext cx="6402192" cy="742283"/>
          </a:xfrm>
          <a:custGeom>
            <a:rect b="b" l="l" r="r" t="t"/>
            <a:pathLst>
              <a:path extrusionOk="0" h="742283" w="6402192">
                <a:moveTo>
                  <a:pt x="74228" y="0"/>
                </a:moveTo>
                <a:lnTo>
                  <a:pt x="6327963" y="0"/>
                </a:lnTo>
                <a:cubicBezTo>
                  <a:pt x="6368959" y="0"/>
                  <a:pt x="6402192" y="33233"/>
                  <a:pt x="6402192" y="74228"/>
                </a:cubicBezTo>
                <a:lnTo>
                  <a:pt x="6402192" y="668055"/>
                </a:lnTo>
                <a:cubicBezTo>
                  <a:pt x="6402192" y="709050"/>
                  <a:pt x="6368959" y="742283"/>
                  <a:pt x="6327963" y="742283"/>
                </a:cubicBezTo>
                <a:lnTo>
                  <a:pt x="74228" y="742283"/>
                </a:lnTo>
                <a:cubicBezTo>
                  <a:pt x="33261" y="742283"/>
                  <a:pt x="0" y="709023"/>
                  <a:pt x="0" y="66805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82484" y="5949863"/>
            <a:ext cx="371142" cy="371142"/>
          </a:xfrm>
          <a:custGeom>
            <a:rect b="b" l="l" r="r" t="t"/>
            <a:pathLst>
              <a:path extrusionOk="0" h="371142" w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26301" y="6024091"/>
            <a:ext cx="157735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200" name="Google Shape;200;p7"/>
          <p:cNvSpPr/>
          <p:nvPr/>
        </p:nvSpPr>
        <p:spPr>
          <a:xfrm>
            <a:off x="964968" y="5949863"/>
            <a:ext cx="2468091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Repeat</a:t>
            </a:r>
            <a:endParaRPr b="0" i="0" sz="1600" u="none" cap="none" strike="noStrike"/>
          </a:p>
        </p:txBody>
      </p:sp>
      <p:sp>
        <p:nvSpPr>
          <p:cNvPr id="201" name="Google Shape;201;p7"/>
          <p:cNvSpPr/>
          <p:nvPr/>
        </p:nvSpPr>
        <p:spPr>
          <a:xfrm>
            <a:off x="964968" y="6246776"/>
            <a:ext cx="2458813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Continue until centroids stop moving</a:t>
            </a:r>
            <a:endParaRPr b="0" i="0" sz="1600" u="none" cap="none" strike="noStrike"/>
          </a:p>
        </p:txBody>
      </p:sp>
      <p:sp>
        <p:nvSpPr>
          <p:cNvPr id="202" name="Google Shape;202;p7"/>
          <p:cNvSpPr/>
          <p:nvPr/>
        </p:nvSpPr>
        <p:spPr>
          <a:xfrm>
            <a:off x="6998483" y="1192292"/>
            <a:ext cx="4815562" cy="4091836"/>
          </a:xfrm>
          <a:custGeom>
            <a:rect b="b" l="l" r="r" t="t"/>
            <a:pathLst>
              <a:path extrusionOk="0" h="4091836" w="4815562">
                <a:moveTo>
                  <a:pt x="74226" y="0"/>
                </a:moveTo>
                <a:lnTo>
                  <a:pt x="4741336" y="0"/>
                </a:lnTo>
                <a:cubicBezTo>
                  <a:pt x="4782330" y="0"/>
                  <a:pt x="4815562" y="33232"/>
                  <a:pt x="4815562" y="74226"/>
                </a:cubicBezTo>
                <a:lnTo>
                  <a:pt x="4815562" y="4017610"/>
                </a:lnTo>
                <a:cubicBezTo>
                  <a:pt x="4815562" y="4058604"/>
                  <a:pt x="4782330" y="4091836"/>
                  <a:pt x="4741336" y="4091836"/>
                </a:cubicBezTo>
                <a:lnTo>
                  <a:pt x="74226" y="4091836"/>
                </a:lnTo>
                <a:cubicBezTo>
                  <a:pt x="33232" y="4091836"/>
                  <a:pt x="0" y="4058604"/>
                  <a:pt x="0" y="4017610"/>
                </a:cubicBezTo>
                <a:lnTo>
                  <a:pt x="0" y="74226"/>
                </a:lnTo>
                <a:cubicBezTo>
                  <a:pt x="0" y="33260"/>
                  <a:pt x="33260" y="0"/>
                  <a:pt x="7422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142300" y="1382502"/>
            <a:ext cx="4527927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1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K-Means Iterative Process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5-d5rjb6cqdqehnqgbtocg.png"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8693" y="1753644"/>
            <a:ext cx="4435142" cy="3340274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6998483" y="5441863"/>
            <a:ext cx="1521680" cy="788676"/>
          </a:xfrm>
          <a:custGeom>
            <a:rect b="b" l="l" r="r" t="t"/>
            <a:pathLst>
              <a:path extrusionOk="0" h="788676" w="1521680">
                <a:moveTo>
                  <a:pt x="74230" y="0"/>
                </a:moveTo>
                <a:lnTo>
                  <a:pt x="1447450" y="0"/>
                </a:lnTo>
                <a:cubicBezTo>
                  <a:pt x="1488419" y="0"/>
                  <a:pt x="1521680" y="33261"/>
                  <a:pt x="1521680" y="74230"/>
                </a:cubicBezTo>
                <a:lnTo>
                  <a:pt x="1521680" y="714446"/>
                </a:lnTo>
                <a:cubicBezTo>
                  <a:pt x="1521680" y="755442"/>
                  <a:pt x="1488446" y="788676"/>
                  <a:pt x="1447450" y="788676"/>
                </a:cubicBezTo>
                <a:lnTo>
                  <a:pt x="74230" y="788676"/>
                </a:lnTo>
                <a:cubicBezTo>
                  <a:pt x="33261" y="788676"/>
                  <a:pt x="0" y="755414"/>
                  <a:pt x="0" y="714446"/>
                </a:cubicBezTo>
                <a:lnTo>
                  <a:pt x="0" y="74230"/>
                </a:lnTo>
                <a:cubicBezTo>
                  <a:pt x="0" y="33234"/>
                  <a:pt x="33234" y="0"/>
                  <a:pt x="74230" y="0"/>
                </a:cubicBezTo>
                <a:close/>
              </a:path>
            </a:pathLst>
          </a:custGeom>
          <a:solidFill>
            <a:srgbClr val="F6AD55">
              <a:alpha val="14901"/>
            </a:srgbClr>
          </a:solidFill>
          <a:ln cap="flat" cmpd="sng" w="12700">
            <a:solidFill>
              <a:srgbClr val="F6AD55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7044876" y="5557845"/>
            <a:ext cx="1428895" cy="334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2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O(n)</a:t>
            </a:r>
            <a:endParaRPr b="0" i="0" sz="1600" u="none" cap="none" strike="noStrike"/>
          </a:p>
        </p:txBody>
      </p:sp>
      <p:sp>
        <p:nvSpPr>
          <p:cNvPr id="207" name="Google Shape;207;p7"/>
          <p:cNvSpPr/>
          <p:nvPr/>
        </p:nvSpPr>
        <p:spPr>
          <a:xfrm>
            <a:off x="7081990" y="5928986"/>
            <a:ext cx="1354667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Complexity</a:t>
            </a:r>
            <a:endParaRPr b="0" i="0" sz="160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8643829" y="5441863"/>
            <a:ext cx="1521680" cy="788676"/>
          </a:xfrm>
          <a:custGeom>
            <a:rect b="b" l="l" r="r" t="t"/>
            <a:pathLst>
              <a:path extrusionOk="0" h="788676" w="1521680">
                <a:moveTo>
                  <a:pt x="74230" y="0"/>
                </a:moveTo>
                <a:lnTo>
                  <a:pt x="1447450" y="0"/>
                </a:lnTo>
                <a:cubicBezTo>
                  <a:pt x="1488419" y="0"/>
                  <a:pt x="1521680" y="33261"/>
                  <a:pt x="1521680" y="74230"/>
                </a:cubicBezTo>
                <a:lnTo>
                  <a:pt x="1521680" y="714446"/>
                </a:lnTo>
                <a:cubicBezTo>
                  <a:pt x="1521680" y="755442"/>
                  <a:pt x="1488446" y="788676"/>
                  <a:pt x="1447450" y="788676"/>
                </a:cubicBezTo>
                <a:lnTo>
                  <a:pt x="74230" y="788676"/>
                </a:lnTo>
                <a:cubicBezTo>
                  <a:pt x="33261" y="788676"/>
                  <a:pt x="0" y="755414"/>
                  <a:pt x="0" y="714446"/>
                </a:cubicBezTo>
                <a:lnTo>
                  <a:pt x="0" y="74230"/>
                </a:lnTo>
                <a:cubicBezTo>
                  <a:pt x="0" y="33234"/>
                  <a:pt x="33234" y="0"/>
                  <a:pt x="74230" y="0"/>
                </a:cubicBezTo>
                <a:close/>
              </a:path>
            </a:pathLst>
          </a:custGeom>
          <a:solidFill>
            <a:srgbClr val="A0AEC0">
              <a:alpha val="14901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690221" y="5557845"/>
            <a:ext cx="1428895" cy="334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Scales</a:t>
            </a:r>
            <a:endParaRPr b="0" i="0" sz="1600" u="none" cap="none" strike="noStrike"/>
          </a:p>
        </p:txBody>
      </p:sp>
      <p:sp>
        <p:nvSpPr>
          <p:cNvPr id="210" name="Google Shape;210;p7"/>
          <p:cNvSpPr/>
          <p:nvPr/>
        </p:nvSpPr>
        <p:spPr>
          <a:xfrm>
            <a:off x="8727336" y="5928986"/>
            <a:ext cx="1354667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Well</a:t>
            </a:r>
            <a:endParaRPr b="0" i="0" sz="1600" u="none" cap="none" strike="noStrike"/>
          </a:p>
        </p:txBody>
      </p:sp>
      <p:sp>
        <p:nvSpPr>
          <p:cNvPr id="211" name="Google Shape;211;p7"/>
          <p:cNvSpPr/>
          <p:nvPr/>
        </p:nvSpPr>
        <p:spPr>
          <a:xfrm>
            <a:off x="10289175" y="5441863"/>
            <a:ext cx="1521680" cy="788676"/>
          </a:xfrm>
          <a:custGeom>
            <a:rect b="b" l="l" r="r" t="t"/>
            <a:pathLst>
              <a:path extrusionOk="0" h="788676" w="1521680">
                <a:moveTo>
                  <a:pt x="74230" y="0"/>
                </a:moveTo>
                <a:lnTo>
                  <a:pt x="1447450" y="0"/>
                </a:lnTo>
                <a:cubicBezTo>
                  <a:pt x="1488419" y="0"/>
                  <a:pt x="1521680" y="33261"/>
                  <a:pt x="1521680" y="74230"/>
                </a:cubicBezTo>
                <a:lnTo>
                  <a:pt x="1521680" y="714446"/>
                </a:lnTo>
                <a:cubicBezTo>
                  <a:pt x="1521680" y="755442"/>
                  <a:pt x="1488446" y="788676"/>
                  <a:pt x="1447450" y="788676"/>
                </a:cubicBezTo>
                <a:lnTo>
                  <a:pt x="74230" y="788676"/>
                </a:lnTo>
                <a:cubicBezTo>
                  <a:pt x="33261" y="788676"/>
                  <a:pt x="0" y="755414"/>
                  <a:pt x="0" y="714446"/>
                </a:cubicBezTo>
                <a:lnTo>
                  <a:pt x="0" y="74230"/>
                </a:lnTo>
                <a:cubicBezTo>
                  <a:pt x="0" y="33234"/>
                  <a:pt x="33234" y="0"/>
                  <a:pt x="7423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10335567" y="5557845"/>
            <a:ext cx="1428895" cy="334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2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Simple</a:t>
            </a:r>
            <a:endParaRPr b="0" i="0" sz="1600" u="none" cap="none" strike="noStrike"/>
          </a:p>
        </p:txBody>
      </p:sp>
      <p:sp>
        <p:nvSpPr>
          <p:cNvPr id="213" name="Google Shape;213;p7"/>
          <p:cNvSpPr/>
          <p:nvPr/>
        </p:nvSpPr>
        <p:spPr>
          <a:xfrm>
            <a:off x="10372682" y="5928986"/>
            <a:ext cx="1354667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Implement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360977" y="397075"/>
            <a:ext cx="360977" cy="360977"/>
          </a:xfrm>
          <a:custGeom>
            <a:rect b="b" l="l" r="r" t="t"/>
            <a:pathLst>
              <a:path extrusionOk="0" h="360977" w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37685" y="451221"/>
            <a:ext cx="297806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221" name="Google Shape;221;p8"/>
          <p:cNvSpPr/>
          <p:nvPr/>
        </p:nvSpPr>
        <p:spPr>
          <a:xfrm>
            <a:off x="830247" y="360977"/>
            <a:ext cx="3988796" cy="4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11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Choosing Optimal K</a:t>
            </a:r>
            <a:endParaRPr b="0" i="0" sz="1600" u="none" cap="none" strike="noStrike"/>
          </a:p>
        </p:txBody>
      </p:sp>
      <p:sp>
        <p:nvSpPr>
          <p:cNvPr id="222" name="Google Shape;222;p8"/>
          <p:cNvSpPr/>
          <p:nvPr/>
        </p:nvSpPr>
        <p:spPr>
          <a:xfrm>
            <a:off x="360977" y="902443"/>
            <a:ext cx="1155127" cy="36098"/>
          </a:xfrm>
          <a:custGeom>
            <a:rect b="b" l="l" r="r" t="t"/>
            <a:pathLst>
              <a:path extrusionOk="0" h="36098" w="1155127">
                <a:moveTo>
                  <a:pt x="0" y="0"/>
                </a:moveTo>
                <a:lnTo>
                  <a:pt x="1155127" y="0"/>
                </a:lnTo>
                <a:lnTo>
                  <a:pt x="1155127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</p:sp>
      <p:sp>
        <p:nvSpPr>
          <p:cNvPr id="223" name="Google Shape;223;p8"/>
          <p:cNvSpPr/>
          <p:nvPr/>
        </p:nvSpPr>
        <p:spPr>
          <a:xfrm>
            <a:off x="379026" y="1119029"/>
            <a:ext cx="6759295" cy="1218298"/>
          </a:xfrm>
          <a:custGeom>
            <a:rect b="b" l="l" r="r" t="t"/>
            <a:pathLst>
              <a:path extrusionOk="0" h="1218298" w="6759295">
                <a:moveTo>
                  <a:pt x="36098" y="0"/>
                </a:moveTo>
                <a:lnTo>
                  <a:pt x="6687099" y="0"/>
                </a:lnTo>
                <a:cubicBezTo>
                  <a:pt x="6726972" y="0"/>
                  <a:pt x="6759295" y="32323"/>
                  <a:pt x="6759295" y="72196"/>
                </a:cubicBezTo>
                <a:lnTo>
                  <a:pt x="6759295" y="1146101"/>
                </a:lnTo>
                <a:cubicBezTo>
                  <a:pt x="6759295" y="1185974"/>
                  <a:pt x="6726972" y="1218298"/>
                  <a:pt x="6687099" y="1218298"/>
                </a:cubicBezTo>
                <a:lnTo>
                  <a:pt x="36098" y="1218298"/>
                </a:lnTo>
                <a:cubicBezTo>
                  <a:pt x="16161" y="1218298"/>
                  <a:pt x="0" y="1202136"/>
                  <a:pt x="0" y="1182200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79026" y="1119029"/>
            <a:ext cx="36098" cy="1218298"/>
          </a:xfrm>
          <a:custGeom>
            <a:rect b="b" l="l" r="r" t="t"/>
            <a:pathLst>
              <a:path extrusionOk="0" h="1218298" w="36098">
                <a:moveTo>
                  <a:pt x="36098" y="0"/>
                </a:moveTo>
                <a:lnTo>
                  <a:pt x="36098" y="0"/>
                </a:lnTo>
                <a:lnTo>
                  <a:pt x="36098" y="1218298"/>
                </a:lnTo>
                <a:lnTo>
                  <a:pt x="36098" y="1218298"/>
                </a:lnTo>
                <a:cubicBezTo>
                  <a:pt x="16161" y="1218298"/>
                  <a:pt x="0" y="1202136"/>
                  <a:pt x="0" y="1182200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41466" y="1263420"/>
            <a:ext cx="6560758" cy="28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4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The Challenge</a:t>
            </a:r>
            <a:endParaRPr b="0" i="0" sz="1600" u="none" cap="none" strike="noStrike"/>
          </a:p>
        </p:txBody>
      </p:sp>
      <p:sp>
        <p:nvSpPr>
          <p:cNvPr id="226" name="Google Shape;226;p8"/>
          <p:cNvSpPr/>
          <p:nvPr/>
        </p:nvSpPr>
        <p:spPr>
          <a:xfrm>
            <a:off x="541466" y="1660494"/>
            <a:ext cx="6533685" cy="53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K-Means requires you to specify </a:t>
            </a:r>
            <a:r>
              <a:rPr b="1" i="0" lang="en-US" sz="1279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</a:t>
            </a:r>
            <a:r>
              <a:rPr b="0" i="0" lang="en-US" sz="127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(number of clusters) in advance. But how do you choose the right K? Too few clusters = oversimplified. Too many = overfitting.</a:t>
            </a:r>
            <a:endParaRPr b="0" i="0" sz="1600" u="none" cap="none" strike="noStrike"/>
          </a:p>
        </p:txBody>
      </p:sp>
      <p:sp>
        <p:nvSpPr>
          <p:cNvPr id="227" name="Google Shape;227;p8"/>
          <p:cNvSpPr/>
          <p:nvPr/>
        </p:nvSpPr>
        <p:spPr>
          <a:xfrm>
            <a:off x="360977" y="2477205"/>
            <a:ext cx="3320989" cy="2147813"/>
          </a:xfrm>
          <a:custGeom>
            <a:rect b="b" l="l" r="r" t="t"/>
            <a:pathLst>
              <a:path extrusionOk="0" h="2147813" w="3320989">
                <a:moveTo>
                  <a:pt x="72188" y="0"/>
                </a:moveTo>
                <a:lnTo>
                  <a:pt x="3248801" y="0"/>
                </a:lnTo>
                <a:cubicBezTo>
                  <a:pt x="3288669" y="0"/>
                  <a:pt x="3320989" y="32320"/>
                  <a:pt x="3320989" y="72188"/>
                </a:cubicBezTo>
                <a:lnTo>
                  <a:pt x="3320989" y="2075625"/>
                </a:lnTo>
                <a:cubicBezTo>
                  <a:pt x="3320989" y="2115494"/>
                  <a:pt x="3288669" y="2147813"/>
                  <a:pt x="3248801" y="2147813"/>
                </a:cubicBezTo>
                <a:lnTo>
                  <a:pt x="72188" y="2147813"/>
                </a:lnTo>
                <a:cubicBezTo>
                  <a:pt x="32320" y="2147813"/>
                  <a:pt x="0" y="2115494"/>
                  <a:pt x="0" y="2075625"/>
                </a:cubicBezTo>
                <a:lnTo>
                  <a:pt x="0" y="72188"/>
                </a:lnTo>
                <a:cubicBezTo>
                  <a:pt x="0" y="32346"/>
                  <a:pt x="32346" y="0"/>
                  <a:pt x="7218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05368" y="2621596"/>
            <a:ext cx="360977" cy="360977"/>
          </a:xfrm>
          <a:custGeom>
            <a:rect b="b" l="l" r="r" t="t"/>
            <a:pathLst>
              <a:path extrusionOk="0" h="360977" w="360977">
                <a:moveTo>
                  <a:pt x="180489" y="0"/>
                </a:moveTo>
                <a:lnTo>
                  <a:pt x="180489" y="0"/>
                </a:lnTo>
                <a:cubicBezTo>
                  <a:pt x="280170" y="0"/>
                  <a:pt x="360977" y="80807"/>
                  <a:pt x="360977" y="180489"/>
                </a:cubicBezTo>
                <a:lnTo>
                  <a:pt x="360977" y="180489"/>
                </a:lnTo>
                <a:cubicBezTo>
                  <a:pt x="360977" y="280170"/>
                  <a:pt x="280170" y="360977"/>
                  <a:pt x="180489" y="360977"/>
                </a:cubicBezTo>
                <a:lnTo>
                  <a:pt x="180489" y="360977"/>
                </a:lnTo>
                <a:cubicBezTo>
                  <a:pt x="80807" y="360977"/>
                  <a:pt x="0" y="280170"/>
                  <a:pt x="0" y="180489"/>
                </a:cubicBezTo>
                <a:lnTo>
                  <a:pt x="0" y="180489"/>
                </a:lnTo>
                <a:cubicBezTo>
                  <a:pt x="0" y="80807"/>
                  <a:pt x="80807" y="0"/>
                  <a:pt x="180489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13661" y="2729889"/>
            <a:ext cx="144391" cy="144391"/>
          </a:xfrm>
          <a:custGeom>
            <a:rect b="b" l="l" r="r" t="t"/>
            <a:pathLst>
              <a:path extrusionOk="0" h="144391" w="144391">
                <a:moveTo>
                  <a:pt x="18049" y="18049"/>
                </a:moveTo>
                <a:cubicBezTo>
                  <a:pt x="18049" y="13057"/>
                  <a:pt x="14016" y="9024"/>
                  <a:pt x="9024" y="9024"/>
                </a:cubicBezTo>
                <a:cubicBezTo>
                  <a:pt x="4033" y="9024"/>
                  <a:pt x="0" y="13057"/>
                  <a:pt x="0" y="18049"/>
                </a:cubicBezTo>
                <a:lnTo>
                  <a:pt x="0" y="112805"/>
                </a:lnTo>
                <a:cubicBezTo>
                  <a:pt x="0" y="125270"/>
                  <a:pt x="10096" y="135366"/>
                  <a:pt x="22561" y="135366"/>
                </a:cubicBezTo>
                <a:lnTo>
                  <a:pt x="135366" y="135366"/>
                </a:lnTo>
                <a:cubicBezTo>
                  <a:pt x="140358" y="135366"/>
                  <a:pt x="144391" y="131334"/>
                  <a:pt x="144391" y="126342"/>
                </a:cubicBezTo>
                <a:cubicBezTo>
                  <a:pt x="144391" y="121350"/>
                  <a:pt x="140358" y="117318"/>
                  <a:pt x="135366" y="117318"/>
                </a:cubicBezTo>
                <a:lnTo>
                  <a:pt x="22561" y="117318"/>
                </a:lnTo>
                <a:cubicBezTo>
                  <a:pt x="20079" y="117318"/>
                  <a:pt x="18049" y="115287"/>
                  <a:pt x="18049" y="112805"/>
                </a:cubicBezTo>
                <a:lnTo>
                  <a:pt x="18049" y="18049"/>
                </a:lnTo>
                <a:close/>
                <a:moveTo>
                  <a:pt x="132715" y="42471"/>
                </a:moveTo>
                <a:cubicBezTo>
                  <a:pt x="136241" y="38946"/>
                  <a:pt x="136241" y="33221"/>
                  <a:pt x="132715" y="29696"/>
                </a:cubicBezTo>
                <a:cubicBezTo>
                  <a:pt x="129190" y="26171"/>
                  <a:pt x="123465" y="26171"/>
                  <a:pt x="119940" y="29696"/>
                </a:cubicBezTo>
                <a:lnTo>
                  <a:pt x="90244" y="59420"/>
                </a:lnTo>
                <a:lnTo>
                  <a:pt x="74057" y="43261"/>
                </a:lnTo>
                <a:cubicBezTo>
                  <a:pt x="70532" y="39736"/>
                  <a:pt x="64807" y="39736"/>
                  <a:pt x="61281" y="43261"/>
                </a:cubicBezTo>
                <a:lnTo>
                  <a:pt x="34208" y="70334"/>
                </a:lnTo>
                <a:cubicBezTo>
                  <a:pt x="30683" y="73859"/>
                  <a:pt x="30683" y="79584"/>
                  <a:pt x="34208" y="83109"/>
                </a:cubicBezTo>
                <a:cubicBezTo>
                  <a:pt x="37733" y="86634"/>
                  <a:pt x="43458" y="86634"/>
                  <a:pt x="46983" y="83109"/>
                </a:cubicBezTo>
                <a:lnTo>
                  <a:pt x="67683" y="62410"/>
                </a:lnTo>
                <a:lnTo>
                  <a:pt x="83871" y="78597"/>
                </a:lnTo>
                <a:cubicBezTo>
                  <a:pt x="87396" y="82122"/>
                  <a:pt x="93121" y="82122"/>
                  <a:pt x="96646" y="78597"/>
                </a:cubicBezTo>
                <a:lnTo>
                  <a:pt x="132744" y="42499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974638" y="2675742"/>
            <a:ext cx="1254395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Elbow Method</a:t>
            </a:r>
            <a:endParaRPr b="0" i="0" sz="1600" u="none" cap="none" strike="noStrike"/>
          </a:p>
        </p:txBody>
      </p:sp>
      <p:sp>
        <p:nvSpPr>
          <p:cNvPr id="231" name="Google Shape;231;p8"/>
          <p:cNvSpPr/>
          <p:nvPr/>
        </p:nvSpPr>
        <p:spPr>
          <a:xfrm>
            <a:off x="505368" y="3090866"/>
            <a:ext cx="3104403" cy="703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Plot </a:t>
            </a:r>
            <a:r>
              <a:rPr b="1" i="0" lang="en-US" sz="1137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inertia</a:t>
            </a:r>
            <a:r>
              <a:rPr b="0" i="0" lang="en-US" sz="113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(within-cluster sum of squares) vs. K. Look for the "elbow" where the rate of improvement slows.</a:t>
            </a:r>
            <a:endParaRPr b="0" i="0" sz="1600" u="none" cap="none" strike="noStrike"/>
          </a:p>
        </p:txBody>
      </p:sp>
      <p:sp>
        <p:nvSpPr>
          <p:cNvPr id="232" name="Google Shape;232;p8"/>
          <p:cNvSpPr/>
          <p:nvPr/>
        </p:nvSpPr>
        <p:spPr>
          <a:xfrm>
            <a:off x="514392" y="3903064"/>
            <a:ext cx="3023183" cy="577563"/>
          </a:xfrm>
          <a:custGeom>
            <a:rect b="b" l="l" r="r" t="t"/>
            <a:pathLst>
              <a:path extrusionOk="0" h="577563" w="3023183">
                <a:moveTo>
                  <a:pt x="18049" y="0"/>
                </a:moveTo>
                <a:lnTo>
                  <a:pt x="2987085" y="0"/>
                </a:lnTo>
                <a:cubicBezTo>
                  <a:pt x="3007021" y="0"/>
                  <a:pt x="3023183" y="16161"/>
                  <a:pt x="3023183" y="36098"/>
                </a:cubicBezTo>
                <a:lnTo>
                  <a:pt x="3023183" y="541466"/>
                </a:lnTo>
                <a:cubicBezTo>
                  <a:pt x="3023183" y="561402"/>
                  <a:pt x="3007021" y="577563"/>
                  <a:pt x="2987085" y="577563"/>
                </a:cubicBezTo>
                <a:lnTo>
                  <a:pt x="18049" y="577563"/>
                </a:lnTo>
                <a:cubicBezTo>
                  <a:pt x="8081" y="577563"/>
                  <a:pt x="0" y="569483"/>
                  <a:pt x="0" y="559514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14392" y="3903064"/>
            <a:ext cx="18049" cy="577563"/>
          </a:xfrm>
          <a:custGeom>
            <a:rect b="b" l="l" r="r" t="t"/>
            <a:pathLst>
              <a:path extrusionOk="0" h="577563" w="18049">
                <a:moveTo>
                  <a:pt x="18049" y="0"/>
                </a:moveTo>
                <a:lnTo>
                  <a:pt x="18049" y="0"/>
                </a:lnTo>
                <a:lnTo>
                  <a:pt x="18049" y="577563"/>
                </a:lnTo>
                <a:lnTo>
                  <a:pt x="18049" y="577563"/>
                </a:lnTo>
                <a:cubicBezTo>
                  <a:pt x="8081" y="577563"/>
                  <a:pt x="0" y="569483"/>
                  <a:pt x="0" y="559514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31710" y="4011358"/>
            <a:ext cx="2860743" cy="360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use:</a:t>
            </a:r>
            <a:r>
              <a:rPr b="0" i="0" lang="en-US" sz="99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Try K=2 to 10, plot inertia, find the elbow point</a:t>
            </a:r>
            <a:endParaRPr b="0" i="0" sz="1600" u="none" cap="none" strike="noStrike"/>
          </a:p>
        </p:txBody>
      </p:sp>
      <p:sp>
        <p:nvSpPr>
          <p:cNvPr id="235" name="Google Shape;235;p8"/>
          <p:cNvSpPr/>
          <p:nvPr/>
        </p:nvSpPr>
        <p:spPr>
          <a:xfrm>
            <a:off x="3822268" y="2477205"/>
            <a:ext cx="3320989" cy="2147813"/>
          </a:xfrm>
          <a:custGeom>
            <a:rect b="b" l="l" r="r" t="t"/>
            <a:pathLst>
              <a:path extrusionOk="0" h="2147813" w="3320989">
                <a:moveTo>
                  <a:pt x="72188" y="0"/>
                </a:moveTo>
                <a:lnTo>
                  <a:pt x="3248801" y="0"/>
                </a:lnTo>
                <a:cubicBezTo>
                  <a:pt x="3288669" y="0"/>
                  <a:pt x="3320989" y="32320"/>
                  <a:pt x="3320989" y="72188"/>
                </a:cubicBezTo>
                <a:lnTo>
                  <a:pt x="3320989" y="2075625"/>
                </a:lnTo>
                <a:cubicBezTo>
                  <a:pt x="3320989" y="2115494"/>
                  <a:pt x="3288669" y="2147813"/>
                  <a:pt x="3248801" y="2147813"/>
                </a:cubicBezTo>
                <a:lnTo>
                  <a:pt x="72188" y="2147813"/>
                </a:lnTo>
                <a:cubicBezTo>
                  <a:pt x="32320" y="2147813"/>
                  <a:pt x="0" y="2115494"/>
                  <a:pt x="0" y="2075625"/>
                </a:cubicBezTo>
                <a:lnTo>
                  <a:pt x="0" y="72188"/>
                </a:lnTo>
                <a:cubicBezTo>
                  <a:pt x="0" y="32346"/>
                  <a:pt x="32346" y="0"/>
                  <a:pt x="7218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966658" y="2621596"/>
            <a:ext cx="360977" cy="360977"/>
          </a:xfrm>
          <a:custGeom>
            <a:rect b="b" l="l" r="r" t="t"/>
            <a:pathLst>
              <a:path extrusionOk="0" h="360977" w="360977">
                <a:moveTo>
                  <a:pt x="180489" y="0"/>
                </a:moveTo>
                <a:lnTo>
                  <a:pt x="180489" y="0"/>
                </a:lnTo>
                <a:cubicBezTo>
                  <a:pt x="280170" y="0"/>
                  <a:pt x="360977" y="80807"/>
                  <a:pt x="360977" y="180489"/>
                </a:cubicBezTo>
                <a:lnTo>
                  <a:pt x="360977" y="180489"/>
                </a:lnTo>
                <a:cubicBezTo>
                  <a:pt x="360977" y="280170"/>
                  <a:pt x="280170" y="360977"/>
                  <a:pt x="180489" y="360977"/>
                </a:cubicBezTo>
                <a:lnTo>
                  <a:pt x="180489" y="360977"/>
                </a:lnTo>
                <a:cubicBezTo>
                  <a:pt x="80807" y="360977"/>
                  <a:pt x="0" y="280170"/>
                  <a:pt x="0" y="180489"/>
                </a:cubicBezTo>
                <a:lnTo>
                  <a:pt x="0" y="180489"/>
                </a:lnTo>
                <a:cubicBezTo>
                  <a:pt x="0" y="80807"/>
                  <a:pt x="80807" y="0"/>
                  <a:pt x="180489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056903" y="2729889"/>
            <a:ext cx="180489" cy="144391"/>
          </a:xfrm>
          <a:custGeom>
            <a:rect b="b" l="l" r="r" t="t"/>
            <a:pathLst>
              <a:path extrusionOk="0" h="144391" w="180489">
                <a:moveTo>
                  <a:pt x="38354" y="36098"/>
                </a:moveTo>
                <a:cubicBezTo>
                  <a:pt x="38354" y="17420"/>
                  <a:pt x="53518" y="2256"/>
                  <a:pt x="72195" y="2256"/>
                </a:cubicBezTo>
                <a:cubicBezTo>
                  <a:pt x="90873" y="2256"/>
                  <a:pt x="106037" y="17420"/>
                  <a:pt x="106037" y="36098"/>
                </a:cubicBezTo>
                <a:cubicBezTo>
                  <a:pt x="106037" y="54775"/>
                  <a:pt x="90873" y="69939"/>
                  <a:pt x="72195" y="69939"/>
                </a:cubicBezTo>
                <a:cubicBezTo>
                  <a:pt x="53518" y="69939"/>
                  <a:pt x="38354" y="54775"/>
                  <a:pt x="38354" y="36098"/>
                </a:cubicBezTo>
                <a:close/>
                <a:moveTo>
                  <a:pt x="13537" y="136015"/>
                </a:moveTo>
                <a:cubicBezTo>
                  <a:pt x="13537" y="108237"/>
                  <a:pt x="36041" y="85732"/>
                  <a:pt x="63820" y="85732"/>
                </a:cubicBezTo>
                <a:lnTo>
                  <a:pt x="80571" y="85732"/>
                </a:lnTo>
                <a:cubicBezTo>
                  <a:pt x="108350" y="85732"/>
                  <a:pt x="130854" y="108237"/>
                  <a:pt x="130854" y="136015"/>
                </a:cubicBezTo>
                <a:cubicBezTo>
                  <a:pt x="130854" y="140640"/>
                  <a:pt x="127103" y="144391"/>
                  <a:pt x="122478" y="144391"/>
                </a:cubicBezTo>
                <a:lnTo>
                  <a:pt x="21912" y="144391"/>
                </a:lnTo>
                <a:cubicBezTo>
                  <a:pt x="17287" y="144391"/>
                  <a:pt x="13537" y="140640"/>
                  <a:pt x="13537" y="136015"/>
                </a:cubicBezTo>
                <a:close/>
                <a:moveTo>
                  <a:pt x="172705" y="37423"/>
                </a:moveTo>
                <a:lnTo>
                  <a:pt x="150144" y="73521"/>
                </a:lnTo>
                <a:cubicBezTo>
                  <a:pt x="148959" y="75410"/>
                  <a:pt x="146929" y="76595"/>
                  <a:pt x="144701" y="76708"/>
                </a:cubicBezTo>
                <a:cubicBezTo>
                  <a:pt x="142473" y="76820"/>
                  <a:pt x="140330" y="75805"/>
                  <a:pt x="139004" y="74000"/>
                </a:cubicBezTo>
                <a:lnTo>
                  <a:pt x="125468" y="55951"/>
                </a:lnTo>
                <a:cubicBezTo>
                  <a:pt x="123212" y="52962"/>
                  <a:pt x="123832" y="48732"/>
                  <a:pt x="126821" y="46476"/>
                </a:cubicBezTo>
                <a:cubicBezTo>
                  <a:pt x="129811" y="44220"/>
                  <a:pt x="134041" y="44840"/>
                  <a:pt x="136297" y="47829"/>
                </a:cubicBezTo>
                <a:lnTo>
                  <a:pt x="143911" y="57982"/>
                </a:lnTo>
                <a:lnTo>
                  <a:pt x="161227" y="30260"/>
                </a:lnTo>
                <a:cubicBezTo>
                  <a:pt x="163201" y="27101"/>
                  <a:pt x="167375" y="26114"/>
                  <a:pt x="170562" y="28117"/>
                </a:cubicBezTo>
                <a:cubicBezTo>
                  <a:pt x="173748" y="30119"/>
                  <a:pt x="174707" y="34265"/>
                  <a:pt x="172705" y="37451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435929" y="2675742"/>
            <a:ext cx="1416835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Silhouette Score</a:t>
            </a:r>
            <a:endParaRPr b="0" i="0" sz="1600" u="none" cap="none" strike="noStrike"/>
          </a:p>
        </p:txBody>
      </p:sp>
      <p:sp>
        <p:nvSpPr>
          <p:cNvPr id="239" name="Google Shape;239;p8"/>
          <p:cNvSpPr/>
          <p:nvPr/>
        </p:nvSpPr>
        <p:spPr>
          <a:xfrm>
            <a:off x="3966658" y="3090866"/>
            <a:ext cx="3104403" cy="469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Measures how well each point fits in its cluster. Range: </a:t>
            </a:r>
            <a:r>
              <a:rPr b="1" i="0" lang="en-US" sz="113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 to +1</a:t>
            </a:r>
            <a:endParaRPr b="0" i="0" sz="1600" u="none" cap="none" strike="noStrike"/>
          </a:p>
        </p:txBody>
      </p:sp>
      <p:sp>
        <p:nvSpPr>
          <p:cNvPr id="240" name="Google Shape;240;p8"/>
          <p:cNvSpPr/>
          <p:nvPr/>
        </p:nvSpPr>
        <p:spPr>
          <a:xfrm>
            <a:off x="3966658" y="3704527"/>
            <a:ext cx="108293" cy="108293"/>
          </a:xfrm>
          <a:custGeom>
            <a:rect b="b" l="l" r="r" t="t"/>
            <a:pathLst>
              <a:path extrusionOk="0" h="108293" w="108293">
                <a:moveTo>
                  <a:pt x="54147" y="0"/>
                </a:moveTo>
                <a:lnTo>
                  <a:pt x="54147" y="0"/>
                </a:lnTo>
                <a:cubicBezTo>
                  <a:pt x="84051" y="0"/>
                  <a:pt x="108293" y="24242"/>
                  <a:pt x="108293" y="54147"/>
                </a:cubicBezTo>
                <a:lnTo>
                  <a:pt x="108293" y="54147"/>
                </a:lnTo>
                <a:cubicBezTo>
                  <a:pt x="108293" y="84051"/>
                  <a:pt x="84051" y="108293"/>
                  <a:pt x="54147" y="108293"/>
                </a:cubicBezTo>
                <a:lnTo>
                  <a:pt x="54147" y="108293"/>
                </a:lnTo>
                <a:cubicBezTo>
                  <a:pt x="24242" y="108293"/>
                  <a:pt x="0" y="84051"/>
                  <a:pt x="0" y="54147"/>
                </a:cubicBezTo>
                <a:lnTo>
                  <a:pt x="0" y="54147"/>
                </a:lnTo>
                <a:cubicBezTo>
                  <a:pt x="0" y="24242"/>
                  <a:pt x="24242" y="0"/>
                  <a:pt x="54147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147147" y="3668429"/>
            <a:ext cx="712930" cy="180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+1:</a:t>
            </a:r>
            <a:r>
              <a:rPr b="0" i="0" lang="en-US" sz="99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Perfect fit</a:t>
            </a:r>
            <a:endParaRPr b="0" i="0" sz="1600" u="none" cap="none" strike="noStrike"/>
          </a:p>
        </p:txBody>
      </p:sp>
      <p:sp>
        <p:nvSpPr>
          <p:cNvPr id="242" name="Google Shape;242;p8"/>
          <p:cNvSpPr/>
          <p:nvPr/>
        </p:nvSpPr>
        <p:spPr>
          <a:xfrm>
            <a:off x="3966658" y="3921113"/>
            <a:ext cx="108293" cy="108293"/>
          </a:xfrm>
          <a:custGeom>
            <a:rect b="b" l="l" r="r" t="t"/>
            <a:pathLst>
              <a:path extrusionOk="0" h="108293" w="108293">
                <a:moveTo>
                  <a:pt x="54147" y="0"/>
                </a:moveTo>
                <a:lnTo>
                  <a:pt x="54147" y="0"/>
                </a:lnTo>
                <a:cubicBezTo>
                  <a:pt x="84051" y="0"/>
                  <a:pt x="108293" y="24242"/>
                  <a:pt x="108293" y="54147"/>
                </a:cubicBezTo>
                <a:lnTo>
                  <a:pt x="108293" y="54147"/>
                </a:lnTo>
                <a:cubicBezTo>
                  <a:pt x="108293" y="84051"/>
                  <a:pt x="84051" y="108293"/>
                  <a:pt x="54147" y="108293"/>
                </a:cubicBezTo>
                <a:lnTo>
                  <a:pt x="54147" y="108293"/>
                </a:lnTo>
                <a:cubicBezTo>
                  <a:pt x="24242" y="108293"/>
                  <a:pt x="0" y="84051"/>
                  <a:pt x="0" y="54147"/>
                </a:cubicBezTo>
                <a:lnTo>
                  <a:pt x="0" y="54147"/>
                </a:lnTo>
                <a:cubicBezTo>
                  <a:pt x="0" y="24242"/>
                  <a:pt x="24242" y="0"/>
                  <a:pt x="54147" y="0"/>
                </a:cubicBezTo>
                <a:close/>
              </a:path>
            </a:pathLst>
          </a:custGeom>
          <a:solidFill>
            <a:srgbClr val="F0B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147147" y="3885016"/>
            <a:ext cx="1001711" cy="180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0:</a:t>
            </a:r>
            <a:r>
              <a:rPr b="0" i="0" lang="en-US" sz="99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Boundary case</a:t>
            </a:r>
            <a:endParaRPr b="0" i="0" sz="1600" u="none" cap="none" strike="noStrike"/>
          </a:p>
        </p:txBody>
      </p:sp>
      <p:sp>
        <p:nvSpPr>
          <p:cNvPr id="244" name="Google Shape;244;p8"/>
          <p:cNvSpPr/>
          <p:nvPr/>
        </p:nvSpPr>
        <p:spPr>
          <a:xfrm>
            <a:off x="3966658" y="4137699"/>
            <a:ext cx="108293" cy="108293"/>
          </a:xfrm>
          <a:custGeom>
            <a:rect b="b" l="l" r="r" t="t"/>
            <a:pathLst>
              <a:path extrusionOk="0" h="108293" w="108293">
                <a:moveTo>
                  <a:pt x="54147" y="0"/>
                </a:moveTo>
                <a:lnTo>
                  <a:pt x="54147" y="0"/>
                </a:lnTo>
                <a:cubicBezTo>
                  <a:pt x="84051" y="0"/>
                  <a:pt x="108293" y="24242"/>
                  <a:pt x="108293" y="54147"/>
                </a:cubicBezTo>
                <a:lnTo>
                  <a:pt x="108293" y="54147"/>
                </a:lnTo>
                <a:cubicBezTo>
                  <a:pt x="108293" y="84051"/>
                  <a:pt x="84051" y="108293"/>
                  <a:pt x="54147" y="108293"/>
                </a:cubicBezTo>
                <a:lnTo>
                  <a:pt x="54147" y="108293"/>
                </a:lnTo>
                <a:cubicBezTo>
                  <a:pt x="24242" y="108293"/>
                  <a:pt x="0" y="84051"/>
                  <a:pt x="0" y="54147"/>
                </a:cubicBezTo>
                <a:lnTo>
                  <a:pt x="0" y="54147"/>
                </a:lnTo>
                <a:cubicBezTo>
                  <a:pt x="0" y="24242"/>
                  <a:pt x="24242" y="0"/>
                  <a:pt x="54147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147147" y="4101602"/>
            <a:ext cx="992687" cy="180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-1:</a:t>
            </a:r>
            <a:r>
              <a:rPr b="0" i="0" lang="en-US" sz="99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Wrong cluster</a:t>
            </a:r>
            <a:endParaRPr b="0" i="0" sz="1600" u="none" cap="none" strike="noStrike"/>
          </a:p>
        </p:txBody>
      </p:sp>
      <p:sp>
        <p:nvSpPr>
          <p:cNvPr id="246" name="Google Shape;246;p8"/>
          <p:cNvSpPr/>
          <p:nvPr/>
        </p:nvSpPr>
        <p:spPr>
          <a:xfrm>
            <a:off x="360977" y="4769409"/>
            <a:ext cx="6777344" cy="1299517"/>
          </a:xfrm>
          <a:custGeom>
            <a:rect b="b" l="l" r="r" t="t"/>
            <a:pathLst>
              <a:path extrusionOk="0" h="1299517" w="6777344">
                <a:moveTo>
                  <a:pt x="72201" y="0"/>
                </a:moveTo>
                <a:lnTo>
                  <a:pt x="6705143" y="0"/>
                </a:lnTo>
                <a:cubicBezTo>
                  <a:pt x="6745019" y="0"/>
                  <a:pt x="6777344" y="32326"/>
                  <a:pt x="6777344" y="72201"/>
                </a:cubicBezTo>
                <a:lnTo>
                  <a:pt x="6777344" y="1227316"/>
                </a:lnTo>
                <a:cubicBezTo>
                  <a:pt x="6777344" y="1267192"/>
                  <a:pt x="6745019" y="1299517"/>
                  <a:pt x="6705143" y="1299517"/>
                </a:cubicBezTo>
                <a:lnTo>
                  <a:pt x="72201" y="1299517"/>
                </a:lnTo>
                <a:cubicBezTo>
                  <a:pt x="32326" y="1299517"/>
                  <a:pt x="0" y="1267192"/>
                  <a:pt x="0" y="1227316"/>
                </a:cubicBezTo>
                <a:lnTo>
                  <a:pt x="0" y="72201"/>
                </a:lnTo>
                <a:cubicBezTo>
                  <a:pt x="0" y="32352"/>
                  <a:pt x="32352" y="0"/>
                  <a:pt x="722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05368" y="4913800"/>
            <a:ext cx="6578807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Other Validation Methods</a:t>
            </a:r>
            <a:endParaRPr b="0" i="0" sz="1600" u="none" cap="none" strike="noStrike"/>
          </a:p>
        </p:txBody>
      </p:sp>
      <p:sp>
        <p:nvSpPr>
          <p:cNvPr id="248" name="Google Shape;248;p8"/>
          <p:cNvSpPr/>
          <p:nvPr/>
        </p:nvSpPr>
        <p:spPr>
          <a:xfrm>
            <a:off x="514392" y="5274777"/>
            <a:ext cx="3185623" cy="649759"/>
          </a:xfrm>
          <a:custGeom>
            <a:rect b="b" l="l" r="r" t="t"/>
            <a:pathLst>
              <a:path extrusionOk="0" h="649759" w="3185623">
                <a:moveTo>
                  <a:pt x="18049" y="0"/>
                </a:moveTo>
                <a:lnTo>
                  <a:pt x="3149522" y="0"/>
                </a:lnTo>
                <a:cubicBezTo>
                  <a:pt x="3169460" y="0"/>
                  <a:pt x="3185623" y="16163"/>
                  <a:pt x="3185623" y="36101"/>
                </a:cubicBezTo>
                <a:lnTo>
                  <a:pt x="3185623" y="613658"/>
                </a:lnTo>
                <a:cubicBezTo>
                  <a:pt x="3185623" y="633583"/>
                  <a:pt x="3169446" y="649759"/>
                  <a:pt x="3149522" y="649759"/>
                </a:cubicBezTo>
                <a:lnTo>
                  <a:pt x="18049" y="649759"/>
                </a:lnTo>
                <a:cubicBezTo>
                  <a:pt x="8081" y="649759"/>
                  <a:pt x="0" y="641678"/>
                  <a:pt x="0" y="631710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14392" y="5274777"/>
            <a:ext cx="18049" cy="649759"/>
          </a:xfrm>
          <a:custGeom>
            <a:rect b="b" l="l" r="r" t="t"/>
            <a:pathLst>
              <a:path extrusionOk="0" h="649759" w="18049">
                <a:moveTo>
                  <a:pt x="18049" y="0"/>
                </a:moveTo>
                <a:lnTo>
                  <a:pt x="18049" y="0"/>
                </a:lnTo>
                <a:lnTo>
                  <a:pt x="18049" y="649759"/>
                </a:lnTo>
                <a:lnTo>
                  <a:pt x="18049" y="649759"/>
                </a:lnTo>
                <a:cubicBezTo>
                  <a:pt x="8081" y="649759"/>
                  <a:pt x="0" y="641678"/>
                  <a:pt x="0" y="631710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631710" y="5383070"/>
            <a:ext cx="3032207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7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Davies-Bouldin Index</a:t>
            </a:r>
            <a:endParaRPr b="0" i="0" sz="1600" u="none" cap="none" strike="noStrike"/>
          </a:p>
        </p:txBody>
      </p:sp>
      <p:sp>
        <p:nvSpPr>
          <p:cNvPr id="251" name="Google Shape;251;p8"/>
          <p:cNvSpPr/>
          <p:nvPr/>
        </p:nvSpPr>
        <p:spPr>
          <a:xfrm>
            <a:off x="631710" y="5635754"/>
            <a:ext cx="3023183" cy="180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Lower values = better separation</a:t>
            </a:r>
            <a:endParaRPr b="0" i="0" sz="1600" u="none" cap="none" strike="noStrike"/>
          </a:p>
        </p:txBody>
      </p:sp>
      <p:sp>
        <p:nvSpPr>
          <p:cNvPr id="252" name="Google Shape;252;p8"/>
          <p:cNvSpPr/>
          <p:nvPr/>
        </p:nvSpPr>
        <p:spPr>
          <a:xfrm>
            <a:off x="3813243" y="5274777"/>
            <a:ext cx="3185623" cy="649759"/>
          </a:xfrm>
          <a:custGeom>
            <a:rect b="b" l="l" r="r" t="t"/>
            <a:pathLst>
              <a:path extrusionOk="0" h="649759" w="3185623">
                <a:moveTo>
                  <a:pt x="18049" y="0"/>
                </a:moveTo>
                <a:lnTo>
                  <a:pt x="3149522" y="0"/>
                </a:lnTo>
                <a:cubicBezTo>
                  <a:pt x="3169460" y="0"/>
                  <a:pt x="3185623" y="16163"/>
                  <a:pt x="3185623" y="36101"/>
                </a:cubicBezTo>
                <a:lnTo>
                  <a:pt x="3185623" y="613658"/>
                </a:lnTo>
                <a:cubicBezTo>
                  <a:pt x="3185623" y="633583"/>
                  <a:pt x="3169446" y="649759"/>
                  <a:pt x="3149522" y="649759"/>
                </a:cubicBezTo>
                <a:lnTo>
                  <a:pt x="18049" y="649759"/>
                </a:lnTo>
                <a:cubicBezTo>
                  <a:pt x="8081" y="649759"/>
                  <a:pt x="0" y="641678"/>
                  <a:pt x="0" y="631710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813243" y="5274777"/>
            <a:ext cx="18049" cy="649759"/>
          </a:xfrm>
          <a:custGeom>
            <a:rect b="b" l="l" r="r" t="t"/>
            <a:pathLst>
              <a:path extrusionOk="0" h="649759" w="18049">
                <a:moveTo>
                  <a:pt x="18049" y="0"/>
                </a:moveTo>
                <a:lnTo>
                  <a:pt x="18049" y="0"/>
                </a:lnTo>
                <a:lnTo>
                  <a:pt x="18049" y="649759"/>
                </a:lnTo>
                <a:lnTo>
                  <a:pt x="18049" y="649759"/>
                </a:lnTo>
                <a:cubicBezTo>
                  <a:pt x="8081" y="649759"/>
                  <a:pt x="0" y="641678"/>
                  <a:pt x="0" y="631710"/>
                </a:cubicBezTo>
                <a:lnTo>
                  <a:pt x="0" y="18049"/>
                </a:lnTo>
                <a:cubicBezTo>
                  <a:pt x="0" y="8081"/>
                  <a:pt x="8081" y="0"/>
                  <a:pt x="18049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930561" y="5383070"/>
            <a:ext cx="3032207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7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 Statistic</a:t>
            </a:r>
            <a:endParaRPr b="0" i="0" sz="1600" u="none" cap="none" strike="noStrike"/>
          </a:p>
        </p:txBody>
      </p:sp>
      <p:sp>
        <p:nvSpPr>
          <p:cNvPr id="255" name="Google Shape;255;p8"/>
          <p:cNvSpPr/>
          <p:nvPr/>
        </p:nvSpPr>
        <p:spPr>
          <a:xfrm>
            <a:off x="3930561" y="5635754"/>
            <a:ext cx="3023183" cy="180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Compares real vs. random data</a:t>
            </a:r>
            <a:endParaRPr b="0" i="0" sz="1600" u="none" cap="none" strike="noStrike"/>
          </a:p>
        </p:txBody>
      </p:sp>
      <p:sp>
        <p:nvSpPr>
          <p:cNvPr id="256" name="Google Shape;256;p8"/>
          <p:cNvSpPr/>
          <p:nvPr/>
        </p:nvSpPr>
        <p:spPr>
          <a:xfrm>
            <a:off x="7324309" y="1123541"/>
            <a:ext cx="4503189" cy="2788548"/>
          </a:xfrm>
          <a:custGeom>
            <a:rect b="b" l="l" r="r" t="t"/>
            <a:pathLst>
              <a:path extrusionOk="0" h="2788548" w="4503189">
                <a:moveTo>
                  <a:pt x="72196" y="0"/>
                </a:moveTo>
                <a:lnTo>
                  <a:pt x="4430993" y="0"/>
                </a:lnTo>
                <a:cubicBezTo>
                  <a:pt x="4470866" y="0"/>
                  <a:pt x="4503189" y="32323"/>
                  <a:pt x="4503189" y="72196"/>
                </a:cubicBezTo>
                <a:lnTo>
                  <a:pt x="4503189" y="2716352"/>
                </a:lnTo>
                <a:cubicBezTo>
                  <a:pt x="4503189" y="2756225"/>
                  <a:pt x="4470866" y="2788548"/>
                  <a:pt x="4430993" y="2788548"/>
                </a:cubicBezTo>
                <a:lnTo>
                  <a:pt x="72196" y="2788548"/>
                </a:lnTo>
                <a:cubicBezTo>
                  <a:pt x="32350" y="2788548"/>
                  <a:pt x="0" y="2756198"/>
                  <a:pt x="0" y="2716352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432602" y="1272444"/>
            <a:ext cx="4286603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Elbow Method Example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6-d5rjb6j67ti8162crc7g.png" id="258" name="Google Shape;2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3212" y="1597323"/>
            <a:ext cx="4205383" cy="2165862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7324309" y="4065504"/>
            <a:ext cx="4503189" cy="2788548"/>
          </a:xfrm>
          <a:custGeom>
            <a:rect b="b" l="l" r="r" t="t"/>
            <a:pathLst>
              <a:path extrusionOk="0" h="2788548" w="4503189">
                <a:moveTo>
                  <a:pt x="72196" y="0"/>
                </a:moveTo>
                <a:lnTo>
                  <a:pt x="4430993" y="0"/>
                </a:lnTo>
                <a:cubicBezTo>
                  <a:pt x="4470866" y="0"/>
                  <a:pt x="4503189" y="32323"/>
                  <a:pt x="4503189" y="72196"/>
                </a:cubicBezTo>
                <a:lnTo>
                  <a:pt x="4503189" y="2716352"/>
                </a:lnTo>
                <a:cubicBezTo>
                  <a:pt x="4503189" y="2756225"/>
                  <a:pt x="4470866" y="2788548"/>
                  <a:pt x="4430993" y="2788548"/>
                </a:cubicBezTo>
                <a:lnTo>
                  <a:pt x="72196" y="2788548"/>
                </a:lnTo>
                <a:cubicBezTo>
                  <a:pt x="32350" y="2788548"/>
                  <a:pt x="0" y="2756198"/>
                  <a:pt x="0" y="2716352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7432602" y="4214407"/>
            <a:ext cx="4286603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Silhouette Analysis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7-d5rjb6tkbg75dlj24f90.png" id="261" name="Google Shape;2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3212" y="4539286"/>
            <a:ext cx="4205383" cy="2165862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3cbad9d22d5e47e56c0c8a38ed29758a1307bc05.jpg" id="267" name="Google Shape;267;p9"/>
          <p:cNvPicPr preferRelativeResize="0"/>
          <p:nvPr/>
        </p:nvPicPr>
        <p:blipFill rotWithShape="1">
          <a:blip r:embed="rId3">
            <a:alphaModFix amt="25000"/>
          </a:blip>
          <a:srcRect b="11073" l="0" r="0" t="11072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7647"/>
                </a:srgbClr>
              </a:gs>
              <a:gs pos="50000">
                <a:srgbClr val="1A202C">
                  <a:alpha val="89803"/>
                </a:srgbClr>
              </a:gs>
              <a:gs pos="100000">
                <a:srgbClr val="1A202C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269" name="Google Shape;269;p9"/>
          <p:cNvSpPr/>
          <p:nvPr/>
        </p:nvSpPr>
        <p:spPr>
          <a:xfrm>
            <a:off x="385763" y="1321594"/>
            <a:ext cx="1657350" cy="428625"/>
          </a:xfrm>
          <a:custGeom>
            <a:rect b="b" l="l" r="r" t="t"/>
            <a:pathLst>
              <a:path extrusionOk="0" h="428625" w="1657350">
                <a:moveTo>
                  <a:pt x="214313" y="0"/>
                </a:moveTo>
                <a:lnTo>
                  <a:pt x="1443038" y="0"/>
                </a:lnTo>
                <a:cubicBezTo>
                  <a:pt x="1561320" y="0"/>
                  <a:pt x="1657350" y="96030"/>
                  <a:pt x="1657350" y="214313"/>
                </a:cubicBezTo>
                <a:lnTo>
                  <a:pt x="1657350" y="214313"/>
                </a:lnTo>
                <a:cubicBezTo>
                  <a:pt x="1657350" y="332595"/>
                  <a:pt x="1561320" y="428625"/>
                  <a:pt x="14430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A0AEC0">
              <a:alpha val="20000"/>
            </a:srgbClr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81025" y="1431131"/>
            <a:ext cx="13620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03</a:t>
            </a:r>
            <a:endParaRPr b="0" i="0" sz="1600" u="none" cap="none" strike="noStrike"/>
          </a:p>
        </p:txBody>
      </p:sp>
      <p:sp>
        <p:nvSpPr>
          <p:cNvPr id="271" name="Google Shape;271;p9"/>
          <p:cNvSpPr/>
          <p:nvPr/>
        </p:nvSpPr>
        <p:spPr>
          <a:xfrm>
            <a:off x="381000" y="2059781"/>
            <a:ext cx="1188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Hierarchical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Clustering</a:t>
            </a:r>
            <a:endParaRPr b="0" i="0" sz="1600" u="none" cap="none" strike="noStrike"/>
          </a:p>
        </p:txBody>
      </p:sp>
      <p:sp>
        <p:nvSpPr>
          <p:cNvPr id="272" name="Google Shape;272;p9"/>
          <p:cNvSpPr/>
          <p:nvPr/>
        </p:nvSpPr>
        <p:spPr>
          <a:xfrm>
            <a:off x="381000" y="4193381"/>
            <a:ext cx="1828800" cy="38100"/>
          </a:xfrm>
          <a:custGeom>
            <a:rect b="b" l="l" r="r" t="t"/>
            <a:pathLst>
              <a:path extrusionOk="0" h="38100" w="18288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</p:sp>
      <p:sp>
        <p:nvSpPr>
          <p:cNvPr id="273" name="Google Shape;273;p9"/>
          <p:cNvSpPr/>
          <p:nvPr/>
        </p:nvSpPr>
        <p:spPr>
          <a:xfrm>
            <a:off x="381000" y="461248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Building clusters through hierarchy and understanding dendrograms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354934" y="390428"/>
            <a:ext cx="354934" cy="354934"/>
          </a:xfrm>
          <a:custGeom>
            <a:rect b="b" l="l" r="r" t="t"/>
            <a:pathLst>
              <a:path extrusionOk="0" h="354934" w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25921" y="443668"/>
            <a:ext cx="301694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7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281" name="Google Shape;281;p10"/>
          <p:cNvSpPr/>
          <p:nvPr/>
        </p:nvSpPr>
        <p:spPr>
          <a:xfrm>
            <a:off x="816349" y="354934"/>
            <a:ext cx="5031197" cy="425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4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Agglomerative vs Divisive</a:t>
            </a:r>
            <a:endParaRPr b="0" i="0" sz="1600" u="none" cap="none" strike="noStrike"/>
          </a:p>
        </p:txBody>
      </p:sp>
      <p:sp>
        <p:nvSpPr>
          <p:cNvPr id="282" name="Google Shape;282;p10"/>
          <p:cNvSpPr/>
          <p:nvPr/>
        </p:nvSpPr>
        <p:spPr>
          <a:xfrm>
            <a:off x="354934" y="887336"/>
            <a:ext cx="1135790" cy="35493"/>
          </a:xfrm>
          <a:custGeom>
            <a:rect b="b" l="l" r="r" t="t"/>
            <a:pathLst>
              <a:path extrusionOk="0" h="35493" w="1135790">
                <a:moveTo>
                  <a:pt x="0" y="0"/>
                </a:moveTo>
                <a:lnTo>
                  <a:pt x="1135790" y="0"/>
                </a:lnTo>
                <a:lnTo>
                  <a:pt x="1135790" y="35493"/>
                </a:lnTo>
                <a:lnTo>
                  <a:pt x="0" y="35493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</p:sp>
      <p:sp>
        <p:nvSpPr>
          <p:cNvPr id="283" name="Google Shape;283;p10"/>
          <p:cNvSpPr/>
          <p:nvPr/>
        </p:nvSpPr>
        <p:spPr>
          <a:xfrm>
            <a:off x="372681" y="1135790"/>
            <a:ext cx="5616838" cy="5874166"/>
          </a:xfrm>
          <a:custGeom>
            <a:rect b="b" l="l" r="r" t="t"/>
            <a:pathLst>
              <a:path extrusionOk="0" h="5874166" w="5616838">
                <a:moveTo>
                  <a:pt x="35493" y="0"/>
                </a:moveTo>
                <a:lnTo>
                  <a:pt x="5545842" y="0"/>
                </a:lnTo>
                <a:cubicBezTo>
                  <a:pt x="5585052" y="0"/>
                  <a:pt x="5616838" y="31786"/>
                  <a:pt x="5616838" y="70997"/>
                </a:cubicBezTo>
                <a:lnTo>
                  <a:pt x="5616838" y="5803169"/>
                </a:lnTo>
                <a:cubicBezTo>
                  <a:pt x="5616838" y="5842380"/>
                  <a:pt x="5585052" y="5874166"/>
                  <a:pt x="5545842" y="5874166"/>
                </a:cubicBezTo>
                <a:lnTo>
                  <a:pt x="35493" y="5874166"/>
                </a:lnTo>
                <a:cubicBezTo>
                  <a:pt x="15891" y="5874166"/>
                  <a:pt x="0" y="5858275"/>
                  <a:pt x="0" y="5838672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372681" y="1135790"/>
            <a:ext cx="35493" cy="5874166"/>
          </a:xfrm>
          <a:custGeom>
            <a:rect b="b" l="l" r="r" t="t"/>
            <a:pathLst>
              <a:path extrusionOk="0" h="5874166" w="35493">
                <a:moveTo>
                  <a:pt x="35493" y="0"/>
                </a:moveTo>
                <a:lnTo>
                  <a:pt x="35493" y="0"/>
                </a:lnTo>
                <a:lnTo>
                  <a:pt x="35493" y="5874166"/>
                </a:lnTo>
                <a:lnTo>
                  <a:pt x="35493" y="5874166"/>
                </a:lnTo>
                <a:cubicBezTo>
                  <a:pt x="15891" y="5874166"/>
                  <a:pt x="0" y="5858275"/>
                  <a:pt x="0" y="5838672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03389" y="1384245"/>
            <a:ext cx="496908" cy="496908"/>
          </a:xfrm>
          <a:custGeom>
            <a:rect b="b" l="l" r="r" t="t"/>
            <a:pathLst>
              <a:path extrusionOk="0" h="496908" w="496908">
                <a:moveTo>
                  <a:pt x="248454" y="0"/>
                </a:moveTo>
                <a:lnTo>
                  <a:pt x="248454" y="0"/>
                </a:lnTo>
                <a:cubicBezTo>
                  <a:pt x="385580" y="0"/>
                  <a:pt x="496908" y="111329"/>
                  <a:pt x="496908" y="248454"/>
                </a:cubicBezTo>
                <a:lnTo>
                  <a:pt x="496908" y="248454"/>
                </a:lnTo>
                <a:cubicBezTo>
                  <a:pt x="496908" y="385580"/>
                  <a:pt x="385580" y="496908"/>
                  <a:pt x="248454" y="496908"/>
                </a:cubicBezTo>
                <a:lnTo>
                  <a:pt x="248454" y="496908"/>
                </a:lnTo>
                <a:cubicBezTo>
                  <a:pt x="111329" y="496908"/>
                  <a:pt x="0" y="385580"/>
                  <a:pt x="0" y="248454"/>
                </a:cubicBezTo>
                <a:lnTo>
                  <a:pt x="0" y="248454"/>
                </a:lnTo>
                <a:cubicBezTo>
                  <a:pt x="0" y="111329"/>
                  <a:pt x="111329" y="0"/>
                  <a:pt x="24845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771983" y="1526218"/>
            <a:ext cx="159721" cy="212961"/>
          </a:xfrm>
          <a:custGeom>
            <a:rect b="b" l="l" r="r" t="t"/>
            <a:pathLst>
              <a:path extrusionOk="0" h="212961" w="159721">
                <a:moveTo>
                  <a:pt x="89260" y="7237"/>
                </a:moveTo>
                <a:cubicBezTo>
                  <a:pt x="84061" y="2038"/>
                  <a:pt x="75618" y="2038"/>
                  <a:pt x="70418" y="7237"/>
                </a:cubicBezTo>
                <a:lnTo>
                  <a:pt x="3868" y="73788"/>
                </a:lnTo>
                <a:cubicBezTo>
                  <a:pt x="-1331" y="78987"/>
                  <a:pt x="-1331" y="87430"/>
                  <a:pt x="3868" y="92630"/>
                </a:cubicBezTo>
                <a:cubicBezTo>
                  <a:pt x="9067" y="97829"/>
                  <a:pt x="17511" y="97829"/>
                  <a:pt x="22710" y="92630"/>
                </a:cubicBezTo>
                <a:lnTo>
                  <a:pt x="66550" y="48790"/>
                </a:lnTo>
                <a:lnTo>
                  <a:pt x="66550" y="202978"/>
                </a:lnTo>
                <a:cubicBezTo>
                  <a:pt x="66550" y="210340"/>
                  <a:pt x="72498" y="216288"/>
                  <a:pt x="79860" y="216288"/>
                </a:cubicBezTo>
                <a:cubicBezTo>
                  <a:pt x="87222" y="216288"/>
                  <a:pt x="93170" y="210340"/>
                  <a:pt x="93170" y="202978"/>
                </a:cubicBezTo>
                <a:lnTo>
                  <a:pt x="93170" y="48790"/>
                </a:lnTo>
                <a:lnTo>
                  <a:pt x="137010" y="92630"/>
                </a:lnTo>
                <a:cubicBezTo>
                  <a:pt x="142209" y="97829"/>
                  <a:pt x="150653" y="97829"/>
                  <a:pt x="155852" y="92630"/>
                </a:cubicBezTo>
                <a:cubicBezTo>
                  <a:pt x="161052" y="87430"/>
                  <a:pt x="161052" y="78987"/>
                  <a:pt x="155852" y="73788"/>
                </a:cubicBezTo>
                <a:lnTo>
                  <a:pt x="89302" y="7237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206777" y="1348751"/>
            <a:ext cx="1845659" cy="31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6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Agglomerative</a:t>
            </a:r>
            <a:endParaRPr b="0" i="0" sz="1600" u="none" cap="none" strike="noStrike"/>
          </a:p>
        </p:txBody>
      </p:sp>
      <p:sp>
        <p:nvSpPr>
          <p:cNvPr id="288" name="Google Shape;288;p10"/>
          <p:cNvSpPr/>
          <p:nvPr/>
        </p:nvSpPr>
        <p:spPr>
          <a:xfrm>
            <a:off x="1206777" y="1668192"/>
            <a:ext cx="1792419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Bottom-Up Approach</a:t>
            </a:r>
            <a:endParaRPr b="0" i="0" sz="1600" u="none" cap="none" strike="noStrike"/>
          </a:p>
        </p:txBody>
      </p:sp>
      <p:sp>
        <p:nvSpPr>
          <p:cNvPr id="289" name="Google Shape;289;p10"/>
          <p:cNvSpPr/>
          <p:nvPr/>
        </p:nvSpPr>
        <p:spPr>
          <a:xfrm>
            <a:off x="603389" y="2094114"/>
            <a:ext cx="5253031" cy="52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Common Type</a:t>
            </a:r>
            <a:r>
              <a:rPr b="0" i="0" lang="en-US" sz="125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Start with each data point as its own cluster, then iteratively merge the closest pairs until one cluster remains.</a:t>
            </a:r>
            <a:endParaRPr b="0" i="0" sz="1600" u="none" cap="none" strike="noStrike"/>
          </a:p>
        </p:txBody>
      </p:sp>
      <p:sp>
        <p:nvSpPr>
          <p:cNvPr id="290" name="Google Shape;290;p10"/>
          <p:cNvSpPr/>
          <p:nvPr/>
        </p:nvSpPr>
        <p:spPr>
          <a:xfrm>
            <a:off x="603389" y="2790672"/>
            <a:ext cx="5173170" cy="709869"/>
          </a:xfrm>
          <a:custGeom>
            <a:rect b="b" l="l" r="r" t="t"/>
            <a:pathLst>
              <a:path extrusionOk="0" h="709869" w="5173170">
                <a:moveTo>
                  <a:pt x="70987" y="0"/>
                </a:moveTo>
                <a:lnTo>
                  <a:pt x="5102183" y="0"/>
                </a:lnTo>
                <a:cubicBezTo>
                  <a:pt x="5141388" y="0"/>
                  <a:pt x="5173170" y="31782"/>
                  <a:pt x="5173170" y="70987"/>
                </a:cubicBezTo>
                <a:lnTo>
                  <a:pt x="5173170" y="638882"/>
                </a:lnTo>
                <a:cubicBezTo>
                  <a:pt x="5173170" y="678087"/>
                  <a:pt x="5141388" y="709869"/>
                  <a:pt x="5102183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09869" y="2897153"/>
            <a:ext cx="283948" cy="283948"/>
          </a:xfrm>
          <a:custGeom>
            <a:rect b="b" l="l" r="r" t="t"/>
            <a:pathLst>
              <a:path extrusionOk="0" h="283948" w="283948">
                <a:moveTo>
                  <a:pt x="141974" y="0"/>
                </a:moveTo>
                <a:lnTo>
                  <a:pt x="141974" y="0"/>
                </a:lnTo>
                <a:cubicBezTo>
                  <a:pt x="220331" y="0"/>
                  <a:pt x="283948" y="63616"/>
                  <a:pt x="283948" y="141974"/>
                </a:cubicBezTo>
                <a:lnTo>
                  <a:pt x="283948" y="141974"/>
                </a:lnTo>
                <a:cubicBezTo>
                  <a:pt x="283948" y="220331"/>
                  <a:pt x="220331" y="283948"/>
                  <a:pt x="141974" y="283948"/>
                </a:cubicBezTo>
                <a:lnTo>
                  <a:pt x="141974" y="283948"/>
                </a:lnTo>
                <a:cubicBezTo>
                  <a:pt x="63616" y="283948"/>
                  <a:pt x="0" y="220331"/>
                  <a:pt x="0" y="141974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829659" y="2932646"/>
            <a:ext cx="115354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293" name="Google Shape;293;p10"/>
          <p:cNvSpPr/>
          <p:nvPr/>
        </p:nvSpPr>
        <p:spPr>
          <a:xfrm>
            <a:off x="1100297" y="2897153"/>
            <a:ext cx="2102987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Start</a:t>
            </a:r>
            <a:endParaRPr b="0" i="0" sz="1600" u="none" cap="none" strike="noStrike"/>
          </a:p>
        </p:txBody>
      </p:sp>
      <p:sp>
        <p:nvSpPr>
          <p:cNvPr id="294" name="Google Shape;294;p10"/>
          <p:cNvSpPr/>
          <p:nvPr/>
        </p:nvSpPr>
        <p:spPr>
          <a:xfrm>
            <a:off x="1100297" y="3181100"/>
            <a:ext cx="2094114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point = 1 cluster (N clusters)</a:t>
            </a:r>
            <a:endParaRPr b="0" i="0" sz="1600" u="none" cap="none" strike="noStrike"/>
          </a:p>
        </p:txBody>
      </p:sp>
      <p:sp>
        <p:nvSpPr>
          <p:cNvPr id="295" name="Google Shape;295;p10"/>
          <p:cNvSpPr/>
          <p:nvPr/>
        </p:nvSpPr>
        <p:spPr>
          <a:xfrm>
            <a:off x="603389" y="3607022"/>
            <a:ext cx="5173170" cy="709869"/>
          </a:xfrm>
          <a:custGeom>
            <a:rect b="b" l="l" r="r" t="t"/>
            <a:pathLst>
              <a:path extrusionOk="0" h="709869" w="5173170">
                <a:moveTo>
                  <a:pt x="70987" y="0"/>
                </a:moveTo>
                <a:lnTo>
                  <a:pt x="5102183" y="0"/>
                </a:lnTo>
                <a:cubicBezTo>
                  <a:pt x="5141388" y="0"/>
                  <a:pt x="5173170" y="31782"/>
                  <a:pt x="5173170" y="70987"/>
                </a:cubicBezTo>
                <a:lnTo>
                  <a:pt x="5173170" y="638882"/>
                </a:lnTo>
                <a:cubicBezTo>
                  <a:pt x="5173170" y="678087"/>
                  <a:pt x="5141388" y="709869"/>
                  <a:pt x="5102183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709869" y="3713502"/>
            <a:ext cx="283948" cy="283948"/>
          </a:xfrm>
          <a:custGeom>
            <a:rect b="b" l="l" r="r" t="t"/>
            <a:pathLst>
              <a:path extrusionOk="0" h="283948" w="283948">
                <a:moveTo>
                  <a:pt x="141974" y="0"/>
                </a:moveTo>
                <a:lnTo>
                  <a:pt x="141974" y="0"/>
                </a:lnTo>
                <a:cubicBezTo>
                  <a:pt x="220331" y="0"/>
                  <a:pt x="283948" y="63616"/>
                  <a:pt x="283948" y="141974"/>
                </a:cubicBezTo>
                <a:lnTo>
                  <a:pt x="283948" y="141974"/>
                </a:lnTo>
                <a:cubicBezTo>
                  <a:pt x="283948" y="220331"/>
                  <a:pt x="220331" y="283948"/>
                  <a:pt x="141974" y="283948"/>
                </a:cubicBezTo>
                <a:lnTo>
                  <a:pt x="141974" y="283948"/>
                </a:lnTo>
                <a:cubicBezTo>
                  <a:pt x="63616" y="283948"/>
                  <a:pt x="0" y="220331"/>
                  <a:pt x="0" y="141974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816349" y="3748996"/>
            <a:ext cx="141974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298" name="Google Shape;298;p10"/>
          <p:cNvSpPr/>
          <p:nvPr/>
        </p:nvSpPr>
        <p:spPr>
          <a:xfrm>
            <a:off x="1100297" y="3713502"/>
            <a:ext cx="2138480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Merge</a:t>
            </a:r>
            <a:endParaRPr b="0" i="0" sz="1600" u="none" cap="none" strike="noStrike"/>
          </a:p>
        </p:txBody>
      </p:sp>
      <p:sp>
        <p:nvSpPr>
          <p:cNvPr id="299" name="Google Shape;299;p10"/>
          <p:cNvSpPr/>
          <p:nvPr/>
        </p:nvSpPr>
        <p:spPr>
          <a:xfrm>
            <a:off x="1100297" y="3997450"/>
            <a:ext cx="2129607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 closest clusters, merge them</a:t>
            </a:r>
            <a:endParaRPr b="0" i="0" sz="1600" u="none" cap="none" strike="noStrike"/>
          </a:p>
        </p:txBody>
      </p:sp>
      <p:sp>
        <p:nvSpPr>
          <p:cNvPr id="300" name="Google Shape;300;p10"/>
          <p:cNvSpPr/>
          <p:nvPr/>
        </p:nvSpPr>
        <p:spPr>
          <a:xfrm>
            <a:off x="603389" y="4423371"/>
            <a:ext cx="5173170" cy="709869"/>
          </a:xfrm>
          <a:custGeom>
            <a:rect b="b" l="l" r="r" t="t"/>
            <a:pathLst>
              <a:path extrusionOk="0" h="709869" w="5173170">
                <a:moveTo>
                  <a:pt x="70987" y="0"/>
                </a:moveTo>
                <a:lnTo>
                  <a:pt x="5102183" y="0"/>
                </a:lnTo>
                <a:cubicBezTo>
                  <a:pt x="5141388" y="0"/>
                  <a:pt x="5173170" y="31782"/>
                  <a:pt x="5173170" y="70987"/>
                </a:cubicBezTo>
                <a:lnTo>
                  <a:pt x="5173170" y="638882"/>
                </a:lnTo>
                <a:cubicBezTo>
                  <a:pt x="5173170" y="678087"/>
                  <a:pt x="5141388" y="709869"/>
                  <a:pt x="5102183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09869" y="4529852"/>
            <a:ext cx="283948" cy="283948"/>
          </a:xfrm>
          <a:custGeom>
            <a:rect b="b" l="l" r="r" t="t"/>
            <a:pathLst>
              <a:path extrusionOk="0" h="283948" w="283948">
                <a:moveTo>
                  <a:pt x="141974" y="0"/>
                </a:moveTo>
                <a:lnTo>
                  <a:pt x="141974" y="0"/>
                </a:lnTo>
                <a:cubicBezTo>
                  <a:pt x="220331" y="0"/>
                  <a:pt x="283948" y="63616"/>
                  <a:pt x="283948" y="141974"/>
                </a:cubicBezTo>
                <a:lnTo>
                  <a:pt x="283948" y="141974"/>
                </a:lnTo>
                <a:cubicBezTo>
                  <a:pt x="283948" y="220331"/>
                  <a:pt x="220331" y="283948"/>
                  <a:pt x="141974" y="283948"/>
                </a:cubicBezTo>
                <a:lnTo>
                  <a:pt x="141974" y="283948"/>
                </a:lnTo>
                <a:cubicBezTo>
                  <a:pt x="63616" y="283948"/>
                  <a:pt x="0" y="220331"/>
                  <a:pt x="0" y="141974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811913" y="4565345"/>
            <a:ext cx="150847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03" name="Google Shape;303;p10"/>
          <p:cNvSpPr/>
          <p:nvPr/>
        </p:nvSpPr>
        <p:spPr>
          <a:xfrm>
            <a:off x="1100297" y="4529852"/>
            <a:ext cx="2014253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Repeat</a:t>
            </a:r>
            <a:endParaRPr b="0" i="0" sz="1600" u="none" cap="none" strike="noStrike"/>
          </a:p>
        </p:txBody>
      </p:sp>
      <p:sp>
        <p:nvSpPr>
          <p:cNvPr id="304" name="Google Shape;304;p10"/>
          <p:cNvSpPr/>
          <p:nvPr/>
        </p:nvSpPr>
        <p:spPr>
          <a:xfrm>
            <a:off x="1100297" y="4813799"/>
            <a:ext cx="2005380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Continue until 1 cluster remains</a:t>
            </a:r>
            <a:endParaRPr b="0" i="0" sz="1600" u="none" cap="none" strike="noStrike"/>
          </a:p>
        </p:txBody>
      </p:sp>
      <p:sp>
        <p:nvSpPr>
          <p:cNvPr id="305" name="Google Shape;305;p10"/>
          <p:cNvSpPr/>
          <p:nvPr/>
        </p:nvSpPr>
        <p:spPr>
          <a:xfrm>
            <a:off x="607825" y="5315144"/>
            <a:ext cx="5164297" cy="1322131"/>
          </a:xfrm>
          <a:custGeom>
            <a:rect b="b" l="l" r="r" t="t"/>
            <a:pathLst>
              <a:path extrusionOk="0" h="1322131" w="5164297">
                <a:moveTo>
                  <a:pt x="35499" y="0"/>
                </a:moveTo>
                <a:lnTo>
                  <a:pt x="5128798" y="0"/>
                </a:lnTo>
                <a:cubicBezTo>
                  <a:pt x="5148403" y="0"/>
                  <a:pt x="5164297" y="15894"/>
                  <a:pt x="5164297" y="35499"/>
                </a:cubicBezTo>
                <a:lnTo>
                  <a:pt x="5164297" y="1286632"/>
                </a:lnTo>
                <a:cubicBezTo>
                  <a:pt x="5164297" y="1306237"/>
                  <a:pt x="5148403" y="1322131"/>
                  <a:pt x="5128798" y="1322131"/>
                </a:cubicBezTo>
                <a:lnTo>
                  <a:pt x="35499" y="1322131"/>
                </a:lnTo>
                <a:cubicBezTo>
                  <a:pt x="15894" y="1322131"/>
                  <a:pt x="0" y="1306237"/>
                  <a:pt x="0" y="1286632"/>
                </a:cubicBezTo>
                <a:lnTo>
                  <a:pt x="0" y="35499"/>
                </a:lnTo>
                <a:cubicBezTo>
                  <a:pt x="0" y="15907"/>
                  <a:pt x="15907" y="0"/>
                  <a:pt x="35499" y="0"/>
                </a:cubicBezTo>
                <a:close/>
              </a:path>
            </a:pathLst>
          </a:custGeom>
          <a:solidFill>
            <a:srgbClr val="F6AD55">
              <a:alpha val="14901"/>
            </a:srgbClr>
          </a:solidFill>
          <a:ln cap="flat" cmpd="sng" w="127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754236" y="5461555"/>
            <a:ext cx="4951336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Why Popular?</a:t>
            </a:r>
            <a:endParaRPr b="0" i="0" sz="1600" u="none" cap="none" strike="noStrike"/>
          </a:p>
        </p:txBody>
      </p:sp>
      <p:sp>
        <p:nvSpPr>
          <p:cNvPr id="307" name="Google Shape;307;p10"/>
          <p:cNvSpPr/>
          <p:nvPr/>
        </p:nvSpPr>
        <p:spPr>
          <a:xfrm>
            <a:off x="754236" y="5780996"/>
            <a:ext cx="4942463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Simple to understand and implement</a:t>
            </a:r>
            <a:endParaRPr b="0" i="0" sz="1600" u="none" cap="none" strike="noStrike"/>
          </a:p>
        </p:txBody>
      </p:sp>
      <p:sp>
        <p:nvSpPr>
          <p:cNvPr id="308" name="Google Shape;308;p10"/>
          <p:cNvSpPr/>
          <p:nvPr/>
        </p:nvSpPr>
        <p:spPr>
          <a:xfrm>
            <a:off x="754236" y="6029450"/>
            <a:ext cx="4942463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Produces clear dendrogram visualization</a:t>
            </a:r>
            <a:endParaRPr b="0" i="0" sz="1600" u="none" cap="none" strike="noStrike"/>
          </a:p>
        </p:txBody>
      </p:sp>
      <p:sp>
        <p:nvSpPr>
          <p:cNvPr id="309" name="Google Shape;309;p10"/>
          <p:cNvSpPr/>
          <p:nvPr/>
        </p:nvSpPr>
        <p:spPr>
          <a:xfrm>
            <a:off x="754236" y="6277904"/>
            <a:ext cx="4942463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No need to specify K in advance</a:t>
            </a:r>
            <a:endParaRPr b="0" i="0" sz="1600" u="none" cap="none" strike="noStrike"/>
          </a:p>
        </p:txBody>
      </p:sp>
      <p:sp>
        <p:nvSpPr>
          <p:cNvPr id="310" name="Google Shape;310;p10"/>
          <p:cNvSpPr/>
          <p:nvPr/>
        </p:nvSpPr>
        <p:spPr>
          <a:xfrm>
            <a:off x="6221198" y="1135790"/>
            <a:ext cx="5616838" cy="5874166"/>
          </a:xfrm>
          <a:custGeom>
            <a:rect b="b" l="l" r="r" t="t"/>
            <a:pathLst>
              <a:path extrusionOk="0" h="5874166" w="5616838">
                <a:moveTo>
                  <a:pt x="35493" y="0"/>
                </a:moveTo>
                <a:lnTo>
                  <a:pt x="5545842" y="0"/>
                </a:lnTo>
                <a:cubicBezTo>
                  <a:pt x="5585052" y="0"/>
                  <a:pt x="5616838" y="31786"/>
                  <a:pt x="5616838" y="70997"/>
                </a:cubicBezTo>
                <a:lnTo>
                  <a:pt x="5616838" y="5803169"/>
                </a:lnTo>
                <a:cubicBezTo>
                  <a:pt x="5616838" y="5842380"/>
                  <a:pt x="5585052" y="5874166"/>
                  <a:pt x="5545842" y="5874166"/>
                </a:cubicBezTo>
                <a:lnTo>
                  <a:pt x="35493" y="5874166"/>
                </a:lnTo>
                <a:cubicBezTo>
                  <a:pt x="15891" y="5874166"/>
                  <a:pt x="0" y="5858275"/>
                  <a:pt x="0" y="5838672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6221198" y="1135790"/>
            <a:ext cx="35493" cy="5874166"/>
          </a:xfrm>
          <a:custGeom>
            <a:rect b="b" l="l" r="r" t="t"/>
            <a:pathLst>
              <a:path extrusionOk="0" h="5874166" w="35493">
                <a:moveTo>
                  <a:pt x="35493" y="0"/>
                </a:moveTo>
                <a:lnTo>
                  <a:pt x="35493" y="0"/>
                </a:lnTo>
                <a:lnTo>
                  <a:pt x="35493" y="5874166"/>
                </a:lnTo>
                <a:lnTo>
                  <a:pt x="35493" y="5874166"/>
                </a:lnTo>
                <a:cubicBezTo>
                  <a:pt x="15891" y="5874166"/>
                  <a:pt x="0" y="5858275"/>
                  <a:pt x="0" y="5838672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6451905" y="1384245"/>
            <a:ext cx="496908" cy="496908"/>
          </a:xfrm>
          <a:custGeom>
            <a:rect b="b" l="l" r="r" t="t"/>
            <a:pathLst>
              <a:path extrusionOk="0" h="496908" w="496908">
                <a:moveTo>
                  <a:pt x="248454" y="0"/>
                </a:moveTo>
                <a:lnTo>
                  <a:pt x="248454" y="0"/>
                </a:lnTo>
                <a:cubicBezTo>
                  <a:pt x="385580" y="0"/>
                  <a:pt x="496908" y="111329"/>
                  <a:pt x="496908" y="248454"/>
                </a:cubicBezTo>
                <a:lnTo>
                  <a:pt x="496908" y="248454"/>
                </a:lnTo>
                <a:cubicBezTo>
                  <a:pt x="496908" y="385580"/>
                  <a:pt x="385580" y="496908"/>
                  <a:pt x="248454" y="496908"/>
                </a:cubicBezTo>
                <a:lnTo>
                  <a:pt x="248454" y="496908"/>
                </a:lnTo>
                <a:cubicBezTo>
                  <a:pt x="111329" y="496908"/>
                  <a:pt x="0" y="385580"/>
                  <a:pt x="0" y="248454"/>
                </a:cubicBezTo>
                <a:lnTo>
                  <a:pt x="0" y="248454"/>
                </a:lnTo>
                <a:cubicBezTo>
                  <a:pt x="0" y="111329"/>
                  <a:pt x="111329" y="0"/>
                  <a:pt x="248454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6620499" y="1526218"/>
            <a:ext cx="159721" cy="212961"/>
          </a:xfrm>
          <a:custGeom>
            <a:rect b="b" l="l" r="r" t="t"/>
            <a:pathLst>
              <a:path extrusionOk="0" h="212961" w="159721">
                <a:moveTo>
                  <a:pt x="70460" y="209051"/>
                </a:moveTo>
                <a:cubicBezTo>
                  <a:pt x="75659" y="214250"/>
                  <a:pt x="84103" y="214250"/>
                  <a:pt x="89302" y="209051"/>
                </a:cubicBezTo>
                <a:lnTo>
                  <a:pt x="155852" y="142501"/>
                </a:lnTo>
                <a:cubicBezTo>
                  <a:pt x="161052" y="137301"/>
                  <a:pt x="161052" y="128858"/>
                  <a:pt x="155852" y="123659"/>
                </a:cubicBezTo>
                <a:cubicBezTo>
                  <a:pt x="150653" y="118459"/>
                  <a:pt x="142209" y="118459"/>
                  <a:pt x="137010" y="123659"/>
                </a:cubicBezTo>
                <a:lnTo>
                  <a:pt x="93170" y="167499"/>
                </a:lnTo>
                <a:lnTo>
                  <a:pt x="93170" y="13310"/>
                </a:lnTo>
                <a:cubicBezTo>
                  <a:pt x="93170" y="5948"/>
                  <a:pt x="87222" y="0"/>
                  <a:pt x="79860" y="0"/>
                </a:cubicBezTo>
                <a:cubicBezTo>
                  <a:pt x="72498" y="0"/>
                  <a:pt x="66550" y="5948"/>
                  <a:pt x="66550" y="13310"/>
                </a:cubicBezTo>
                <a:lnTo>
                  <a:pt x="66550" y="167499"/>
                </a:lnTo>
                <a:lnTo>
                  <a:pt x="22710" y="123659"/>
                </a:lnTo>
                <a:cubicBezTo>
                  <a:pt x="17511" y="118459"/>
                  <a:pt x="9067" y="118459"/>
                  <a:pt x="3868" y="123659"/>
                </a:cubicBezTo>
                <a:cubicBezTo>
                  <a:pt x="-1331" y="128858"/>
                  <a:pt x="-1331" y="137301"/>
                  <a:pt x="3868" y="142501"/>
                </a:cubicBezTo>
                <a:lnTo>
                  <a:pt x="70418" y="209051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7055294" y="1348751"/>
            <a:ext cx="1614952" cy="31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6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Divisive</a:t>
            </a:r>
            <a:endParaRPr b="0" i="0" sz="1600" u="none" cap="none" strike="noStrike"/>
          </a:p>
        </p:txBody>
      </p:sp>
      <p:sp>
        <p:nvSpPr>
          <p:cNvPr id="315" name="Google Shape;315;p10"/>
          <p:cNvSpPr/>
          <p:nvPr/>
        </p:nvSpPr>
        <p:spPr>
          <a:xfrm>
            <a:off x="7055294" y="1668192"/>
            <a:ext cx="1561712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Top-Down Approach</a:t>
            </a:r>
            <a:endParaRPr b="0" i="0" sz="1600" u="none" cap="none" strike="noStrike"/>
          </a:p>
        </p:txBody>
      </p:sp>
      <p:sp>
        <p:nvSpPr>
          <p:cNvPr id="316" name="Google Shape;316;p10"/>
          <p:cNvSpPr/>
          <p:nvPr/>
        </p:nvSpPr>
        <p:spPr>
          <a:xfrm>
            <a:off x="6451905" y="2094114"/>
            <a:ext cx="5253031" cy="52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Common</a:t>
            </a:r>
            <a:r>
              <a:rPr b="0" i="0" lang="en-US" sz="125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Start with all points in one cluster, then recursively split clusters until each point is in its own cluster.</a:t>
            </a:r>
            <a:endParaRPr b="0" i="0" sz="1600" u="none" cap="none" strike="noStrike"/>
          </a:p>
        </p:txBody>
      </p:sp>
      <p:sp>
        <p:nvSpPr>
          <p:cNvPr id="317" name="Google Shape;317;p10"/>
          <p:cNvSpPr/>
          <p:nvPr/>
        </p:nvSpPr>
        <p:spPr>
          <a:xfrm>
            <a:off x="6451905" y="2790672"/>
            <a:ext cx="5173170" cy="709869"/>
          </a:xfrm>
          <a:custGeom>
            <a:rect b="b" l="l" r="r" t="t"/>
            <a:pathLst>
              <a:path extrusionOk="0" h="709869" w="5173170">
                <a:moveTo>
                  <a:pt x="70987" y="0"/>
                </a:moveTo>
                <a:lnTo>
                  <a:pt x="5102183" y="0"/>
                </a:lnTo>
                <a:cubicBezTo>
                  <a:pt x="5141388" y="0"/>
                  <a:pt x="5173170" y="31782"/>
                  <a:pt x="5173170" y="70987"/>
                </a:cubicBezTo>
                <a:lnTo>
                  <a:pt x="5173170" y="638882"/>
                </a:lnTo>
                <a:cubicBezTo>
                  <a:pt x="5173170" y="678087"/>
                  <a:pt x="5141388" y="709869"/>
                  <a:pt x="5102183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6558385" y="2897153"/>
            <a:ext cx="283948" cy="283948"/>
          </a:xfrm>
          <a:custGeom>
            <a:rect b="b" l="l" r="r" t="t"/>
            <a:pathLst>
              <a:path extrusionOk="0" h="283948" w="283948">
                <a:moveTo>
                  <a:pt x="141974" y="0"/>
                </a:moveTo>
                <a:lnTo>
                  <a:pt x="141974" y="0"/>
                </a:lnTo>
                <a:cubicBezTo>
                  <a:pt x="220331" y="0"/>
                  <a:pt x="283948" y="63616"/>
                  <a:pt x="283948" y="141974"/>
                </a:cubicBezTo>
                <a:lnTo>
                  <a:pt x="283948" y="141974"/>
                </a:lnTo>
                <a:cubicBezTo>
                  <a:pt x="283948" y="220331"/>
                  <a:pt x="220331" y="283948"/>
                  <a:pt x="141974" y="283948"/>
                </a:cubicBezTo>
                <a:lnTo>
                  <a:pt x="141974" y="283948"/>
                </a:lnTo>
                <a:cubicBezTo>
                  <a:pt x="63616" y="283948"/>
                  <a:pt x="0" y="220331"/>
                  <a:pt x="0" y="141974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6678176" y="2932646"/>
            <a:ext cx="115354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20" name="Google Shape;320;p10"/>
          <p:cNvSpPr/>
          <p:nvPr/>
        </p:nvSpPr>
        <p:spPr>
          <a:xfrm>
            <a:off x="6948813" y="2897153"/>
            <a:ext cx="1295511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Start</a:t>
            </a:r>
            <a:endParaRPr b="0" i="0" sz="1600" u="none" cap="none" strike="noStrike"/>
          </a:p>
        </p:txBody>
      </p:sp>
      <p:sp>
        <p:nvSpPr>
          <p:cNvPr id="321" name="Google Shape;321;p10"/>
          <p:cNvSpPr/>
          <p:nvPr/>
        </p:nvSpPr>
        <p:spPr>
          <a:xfrm>
            <a:off x="6948813" y="3181100"/>
            <a:ext cx="1286638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points = 1 cluster</a:t>
            </a:r>
            <a:endParaRPr b="0" i="0" sz="1600" u="none" cap="none" strike="noStrike"/>
          </a:p>
        </p:txBody>
      </p:sp>
      <p:sp>
        <p:nvSpPr>
          <p:cNvPr id="322" name="Google Shape;322;p10"/>
          <p:cNvSpPr/>
          <p:nvPr/>
        </p:nvSpPr>
        <p:spPr>
          <a:xfrm>
            <a:off x="6451905" y="3607022"/>
            <a:ext cx="5173170" cy="709869"/>
          </a:xfrm>
          <a:custGeom>
            <a:rect b="b" l="l" r="r" t="t"/>
            <a:pathLst>
              <a:path extrusionOk="0" h="709869" w="5173170">
                <a:moveTo>
                  <a:pt x="70987" y="0"/>
                </a:moveTo>
                <a:lnTo>
                  <a:pt x="5102183" y="0"/>
                </a:lnTo>
                <a:cubicBezTo>
                  <a:pt x="5141388" y="0"/>
                  <a:pt x="5173170" y="31782"/>
                  <a:pt x="5173170" y="70987"/>
                </a:cubicBezTo>
                <a:lnTo>
                  <a:pt x="5173170" y="638882"/>
                </a:lnTo>
                <a:cubicBezTo>
                  <a:pt x="5173170" y="678087"/>
                  <a:pt x="5141388" y="709869"/>
                  <a:pt x="5102183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558385" y="3713502"/>
            <a:ext cx="283948" cy="283948"/>
          </a:xfrm>
          <a:custGeom>
            <a:rect b="b" l="l" r="r" t="t"/>
            <a:pathLst>
              <a:path extrusionOk="0" h="283948" w="283948">
                <a:moveTo>
                  <a:pt x="141974" y="0"/>
                </a:moveTo>
                <a:lnTo>
                  <a:pt x="141974" y="0"/>
                </a:lnTo>
                <a:cubicBezTo>
                  <a:pt x="220331" y="0"/>
                  <a:pt x="283948" y="63616"/>
                  <a:pt x="283948" y="141974"/>
                </a:cubicBezTo>
                <a:lnTo>
                  <a:pt x="283948" y="141974"/>
                </a:lnTo>
                <a:cubicBezTo>
                  <a:pt x="283948" y="220331"/>
                  <a:pt x="220331" y="283948"/>
                  <a:pt x="141974" y="283948"/>
                </a:cubicBezTo>
                <a:lnTo>
                  <a:pt x="141974" y="283948"/>
                </a:lnTo>
                <a:cubicBezTo>
                  <a:pt x="63616" y="283948"/>
                  <a:pt x="0" y="220331"/>
                  <a:pt x="0" y="141974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6664866" y="3748996"/>
            <a:ext cx="141974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25" name="Google Shape;325;p10"/>
          <p:cNvSpPr/>
          <p:nvPr/>
        </p:nvSpPr>
        <p:spPr>
          <a:xfrm>
            <a:off x="6948813" y="3713502"/>
            <a:ext cx="1650445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Split</a:t>
            </a:r>
            <a:endParaRPr b="0" i="0" sz="1600" u="none" cap="none" strike="noStrike"/>
          </a:p>
        </p:txBody>
      </p:sp>
      <p:sp>
        <p:nvSpPr>
          <p:cNvPr id="326" name="Google Shape;326;p10"/>
          <p:cNvSpPr/>
          <p:nvPr/>
        </p:nvSpPr>
        <p:spPr>
          <a:xfrm>
            <a:off x="6948813" y="3997450"/>
            <a:ext cx="1641572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 cluster into 2 groups</a:t>
            </a:r>
            <a:endParaRPr b="0" i="0" sz="1600" u="none" cap="none" strike="noStrike"/>
          </a:p>
        </p:txBody>
      </p:sp>
      <p:sp>
        <p:nvSpPr>
          <p:cNvPr id="327" name="Google Shape;327;p10"/>
          <p:cNvSpPr/>
          <p:nvPr/>
        </p:nvSpPr>
        <p:spPr>
          <a:xfrm>
            <a:off x="6451905" y="4423371"/>
            <a:ext cx="5173170" cy="709869"/>
          </a:xfrm>
          <a:custGeom>
            <a:rect b="b" l="l" r="r" t="t"/>
            <a:pathLst>
              <a:path extrusionOk="0" h="709869" w="5173170">
                <a:moveTo>
                  <a:pt x="70987" y="0"/>
                </a:moveTo>
                <a:lnTo>
                  <a:pt x="5102183" y="0"/>
                </a:lnTo>
                <a:cubicBezTo>
                  <a:pt x="5141388" y="0"/>
                  <a:pt x="5173170" y="31782"/>
                  <a:pt x="5173170" y="70987"/>
                </a:cubicBezTo>
                <a:lnTo>
                  <a:pt x="5173170" y="638882"/>
                </a:lnTo>
                <a:cubicBezTo>
                  <a:pt x="5173170" y="678087"/>
                  <a:pt x="5141388" y="709869"/>
                  <a:pt x="5102183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6558385" y="4529852"/>
            <a:ext cx="283948" cy="283948"/>
          </a:xfrm>
          <a:custGeom>
            <a:rect b="b" l="l" r="r" t="t"/>
            <a:pathLst>
              <a:path extrusionOk="0" h="283948" w="283948">
                <a:moveTo>
                  <a:pt x="141974" y="0"/>
                </a:moveTo>
                <a:lnTo>
                  <a:pt x="141974" y="0"/>
                </a:lnTo>
                <a:cubicBezTo>
                  <a:pt x="220331" y="0"/>
                  <a:pt x="283948" y="63616"/>
                  <a:pt x="283948" y="141974"/>
                </a:cubicBezTo>
                <a:lnTo>
                  <a:pt x="283948" y="141974"/>
                </a:lnTo>
                <a:cubicBezTo>
                  <a:pt x="283948" y="220331"/>
                  <a:pt x="220331" y="283948"/>
                  <a:pt x="141974" y="283948"/>
                </a:cubicBezTo>
                <a:lnTo>
                  <a:pt x="141974" y="283948"/>
                </a:lnTo>
                <a:cubicBezTo>
                  <a:pt x="63616" y="283948"/>
                  <a:pt x="0" y="220331"/>
                  <a:pt x="0" y="141974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6660429" y="4565345"/>
            <a:ext cx="150847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30" name="Google Shape;330;p10"/>
          <p:cNvSpPr/>
          <p:nvPr/>
        </p:nvSpPr>
        <p:spPr>
          <a:xfrm>
            <a:off x="6948813" y="4529852"/>
            <a:ext cx="2449048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Repeat</a:t>
            </a:r>
            <a:endParaRPr b="0" i="0" sz="1600" u="none" cap="none" strike="noStrike"/>
          </a:p>
        </p:txBody>
      </p:sp>
      <p:sp>
        <p:nvSpPr>
          <p:cNvPr id="331" name="Google Shape;331;p10"/>
          <p:cNvSpPr/>
          <p:nvPr/>
        </p:nvSpPr>
        <p:spPr>
          <a:xfrm>
            <a:off x="6948813" y="4813799"/>
            <a:ext cx="2440175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Continue until N clusters (1 point each)</a:t>
            </a:r>
            <a:endParaRPr b="0" i="0" sz="1600" u="none" cap="none" strike="noStrike"/>
          </a:p>
        </p:txBody>
      </p:sp>
      <p:sp>
        <p:nvSpPr>
          <p:cNvPr id="332" name="Google Shape;332;p10"/>
          <p:cNvSpPr/>
          <p:nvPr/>
        </p:nvSpPr>
        <p:spPr>
          <a:xfrm>
            <a:off x="6456342" y="5315144"/>
            <a:ext cx="5164297" cy="1322131"/>
          </a:xfrm>
          <a:custGeom>
            <a:rect b="b" l="l" r="r" t="t"/>
            <a:pathLst>
              <a:path extrusionOk="0" h="1322131" w="5164297">
                <a:moveTo>
                  <a:pt x="35499" y="0"/>
                </a:moveTo>
                <a:lnTo>
                  <a:pt x="5128798" y="0"/>
                </a:lnTo>
                <a:cubicBezTo>
                  <a:pt x="5148403" y="0"/>
                  <a:pt x="5164297" y="15894"/>
                  <a:pt x="5164297" y="35499"/>
                </a:cubicBezTo>
                <a:lnTo>
                  <a:pt x="5164297" y="1286632"/>
                </a:lnTo>
                <a:cubicBezTo>
                  <a:pt x="5164297" y="1306237"/>
                  <a:pt x="5148403" y="1322131"/>
                  <a:pt x="5128798" y="1322131"/>
                </a:cubicBezTo>
                <a:lnTo>
                  <a:pt x="35499" y="1322131"/>
                </a:lnTo>
                <a:cubicBezTo>
                  <a:pt x="15894" y="1322131"/>
                  <a:pt x="0" y="1306237"/>
                  <a:pt x="0" y="1286632"/>
                </a:cubicBezTo>
                <a:lnTo>
                  <a:pt x="0" y="35499"/>
                </a:lnTo>
                <a:cubicBezTo>
                  <a:pt x="0" y="15907"/>
                  <a:pt x="15907" y="0"/>
                  <a:pt x="35499" y="0"/>
                </a:cubicBezTo>
                <a:close/>
              </a:path>
            </a:pathLst>
          </a:custGeom>
          <a:solidFill>
            <a:srgbClr val="A0AEC0">
              <a:alpha val="14901"/>
            </a:srgbClr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6602752" y="5461555"/>
            <a:ext cx="4951336" cy="248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Challenges</a:t>
            </a:r>
            <a:endParaRPr b="0" i="0" sz="1600" u="none" cap="none" strike="noStrike"/>
          </a:p>
        </p:txBody>
      </p:sp>
      <p:sp>
        <p:nvSpPr>
          <p:cNvPr id="334" name="Google Shape;334;p10"/>
          <p:cNvSpPr/>
          <p:nvPr/>
        </p:nvSpPr>
        <p:spPr>
          <a:xfrm>
            <a:off x="6602752" y="5780996"/>
            <a:ext cx="4942463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Computationally more expensive</a:t>
            </a:r>
            <a:endParaRPr b="0" i="0" sz="1600" u="none" cap="none" strike="noStrike"/>
          </a:p>
        </p:txBody>
      </p:sp>
      <p:sp>
        <p:nvSpPr>
          <p:cNvPr id="335" name="Google Shape;335;p10"/>
          <p:cNvSpPr/>
          <p:nvPr/>
        </p:nvSpPr>
        <p:spPr>
          <a:xfrm>
            <a:off x="6602752" y="6029450"/>
            <a:ext cx="4942463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Harder to make splitting decisions</a:t>
            </a:r>
            <a:endParaRPr b="0" i="0" sz="1600" u="none" cap="none" strike="noStrike"/>
          </a:p>
        </p:txBody>
      </p:sp>
      <p:sp>
        <p:nvSpPr>
          <p:cNvPr id="336" name="Google Shape;336;p10"/>
          <p:cNvSpPr/>
          <p:nvPr/>
        </p:nvSpPr>
        <p:spPr>
          <a:xfrm>
            <a:off x="6602752" y="6277904"/>
            <a:ext cx="4942463" cy="2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8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Less intuitive than agglomerative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/>
          <p:nvPr/>
        </p:nvSpPr>
        <p:spPr>
          <a:xfrm>
            <a:off x="325337" y="357871"/>
            <a:ext cx="325337" cy="325337"/>
          </a:xfrm>
          <a:custGeom>
            <a:rect b="b" l="l" r="r" t="t"/>
            <a:pathLst>
              <a:path extrusionOk="0" h="325337" w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390404" y="406671"/>
            <a:ext cx="276536" cy="22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344" name="Google Shape;344;p11"/>
          <p:cNvSpPr/>
          <p:nvPr/>
        </p:nvSpPr>
        <p:spPr>
          <a:xfrm>
            <a:off x="748275" y="325337"/>
            <a:ext cx="4367648" cy="390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4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Dendrograms &amp; Linkage</a:t>
            </a:r>
            <a:endParaRPr b="0" i="0" sz="1600" u="none" cap="none" strike="noStrike"/>
          </a:p>
        </p:txBody>
      </p:sp>
      <p:sp>
        <p:nvSpPr>
          <p:cNvPr id="345" name="Google Shape;345;p11"/>
          <p:cNvSpPr/>
          <p:nvPr/>
        </p:nvSpPr>
        <p:spPr>
          <a:xfrm>
            <a:off x="325337" y="813342"/>
            <a:ext cx="1041078" cy="32534"/>
          </a:xfrm>
          <a:custGeom>
            <a:rect b="b" l="l" r="r" t="t"/>
            <a:pathLst>
              <a:path extrusionOk="0" h="32534" w="1041078">
                <a:moveTo>
                  <a:pt x="0" y="0"/>
                </a:moveTo>
                <a:lnTo>
                  <a:pt x="1041078" y="0"/>
                </a:lnTo>
                <a:lnTo>
                  <a:pt x="1041078" y="32534"/>
                </a:lnTo>
                <a:lnTo>
                  <a:pt x="0" y="32534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</p:sp>
      <p:sp>
        <p:nvSpPr>
          <p:cNvPr id="346" name="Google Shape;346;p11"/>
          <p:cNvSpPr/>
          <p:nvPr/>
        </p:nvSpPr>
        <p:spPr>
          <a:xfrm>
            <a:off x="329404" y="1012611"/>
            <a:ext cx="4221246" cy="6685673"/>
          </a:xfrm>
          <a:custGeom>
            <a:rect b="b" l="l" r="r" t="t"/>
            <a:pathLst>
              <a:path extrusionOk="0" h="6685673" w="4221246">
                <a:moveTo>
                  <a:pt x="65049" y="0"/>
                </a:moveTo>
                <a:lnTo>
                  <a:pt x="4156197" y="0"/>
                </a:lnTo>
                <a:cubicBezTo>
                  <a:pt x="4192123" y="0"/>
                  <a:pt x="4221246" y="29124"/>
                  <a:pt x="4221246" y="65049"/>
                </a:cubicBezTo>
                <a:lnTo>
                  <a:pt x="4221246" y="6620624"/>
                </a:lnTo>
                <a:cubicBezTo>
                  <a:pt x="4221246" y="6656550"/>
                  <a:pt x="4192123" y="6685673"/>
                  <a:pt x="4156197" y="6685673"/>
                </a:cubicBezTo>
                <a:lnTo>
                  <a:pt x="65049" y="6685673"/>
                </a:lnTo>
                <a:cubicBezTo>
                  <a:pt x="29124" y="6685673"/>
                  <a:pt x="0" y="6656550"/>
                  <a:pt x="0" y="6620624"/>
                </a:cubicBezTo>
                <a:lnTo>
                  <a:pt x="0" y="65049"/>
                </a:lnTo>
                <a:cubicBezTo>
                  <a:pt x="0" y="29148"/>
                  <a:pt x="29148" y="0"/>
                  <a:pt x="6504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422938" y="1146813"/>
            <a:ext cx="4034177" cy="22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Reading a Dendrogram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8-d5rjb72liqu60ig2729g.png" id="348" name="Google Shape;3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05" y="1439616"/>
            <a:ext cx="3952843" cy="390404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49" name="Google Shape;349;p11"/>
          <p:cNvSpPr/>
          <p:nvPr/>
        </p:nvSpPr>
        <p:spPr>
          <a:xfrm>
            <a:off x="4733652" y="1008544"/>
            <a:ext cx="7133011" cy="1065478"/>
          </a:xfrm>
          <a:custGeom>
            <a:rect b="b" l="l" r="r" t="t"/>
            <a:pathLst>
              <a:path extrusionOk="0" h="1065478" w="7133011">
                <a:moveTo>
                  <a:pt x="32534" y="0"/>
                </a:moveTo>
                <a:lnTo>
                  <a:pt x="7067943" y="0"/>
                </a:lnTo>
                <a:cubicBezTo>
                  <a:pt x="7103879" y="0"/>
                  <a:pt x="7133011" y="29132"/>
                  <a:pt x="7133011" y="65069"/>
                </a:cubicBezTo>
                <a:lnTo>
                  <a:pt x="7133011" y="1000410"/>
                </a:lnTo>
                <a:cubicBezTo>
                  <a:pt x="7133011" y="1036346"/>
                  <a:pt x="7103879" y="1065478"/>
                  <a:pt x="7067943" y="1065478"/>
                </a:cubicBezTo>
                <a:lnTo>
                  <a:pt x="32534" y="1065478"/>
                </a:lnTo>
                <a:cubicBezTo>
                  <a:pt x="14578" y="1065478"/>
                  <a:pt x="0" y="1050900"/>
                  <a:pt x="0" y="1032945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733652" y="1008544"/>
            <a:ext cx="32534" cy="1065478"/>
          </a:xfrm>
          <a:custGeom>
            <a:rect b="b" l="l" r="r" t="t"/>
            <a:pathLst>
              <a:path extrusionOk="0" h="1065478" w="32534">
                <a:moveTo>
                  <a:pt x="32534" y="0"/>
                </a:moveTo>
                <a:lnTo>
                  <a:pt x="32534" y="0"/>
                </a:lnTo>
                <a:lnTo>
                  <a:pt x="32534" y="1065478"/>
                </a:lnTo>
                <a:lnTo>
                  <a:pt x="32534" y="1065478"/>
                </a:lnTo>
                <a:cubicBezTo>
                  <a:pt x="14578" y="1065478"/>
                  <a:pt x="0" y="1050900"/>
                  <a:pt x="0" y="1032945"/>
                </a:cubicBezTo>
                <a:lnTo>
                  <a:pt x="0" y="32534"/>
                </a:lnTo>
                <a:cubicBezTo>
                  <a:pt x="0" y="14566"/>
                  <a:pt x="14566" y="0"/>
                  <a:pt x="3253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4880053" y="1138679"/>
            <a:ext cx="6954076" cy="260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7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What is a Dendrogram?</a:t>
            </a:r>
            <a:endParaRPr b="0" i="0" sz="1600" u="none" cap="none" strike="noStrike"/>
          </a:p>
        </p:txBody>
      </p:sp>
      <p:sp>
        <p:nvSpPr>
          <p:cNvPr id="352" name="Google Shape;352;p11"/>
          <p:cNvSpPr/>
          <p:nvPr/>
        </p:nvSpPr>
        <p:spPr>
          <a:xfrm>
            <a:off x="4880053" y="1464016"/>
            <a:ext cx="6929676" cy="479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3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</a:t>
            </a:r>
            <a:r>
              <a:rPr b="1" i="0" lang="en-US" sz="1153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dendrogram</a:t>
            </a:r>
            <a:r>
              <a:rPr b="0" i="0" lang="en-US" sz="1153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a tree-like diagram that shows how clusters are merged (or split). The </a:t>
            </a:r>
            <a:r>
              <a:rPr b="0" i="0" lang="en-US" sz="1153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height</a:t>
            </a:r>
            <a:r>
              <a:rPr b="0" i="0" lang="en-US" sz="1153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represents the distance between clusters.</a:t>
            </a:r>
            <a:endParaRPr b="0" i="0" sz="1600" u="none" cap="none" strike="noStrike"/>
          </a:p>
        </p:txBody>
      </p:sp>
      <p:sp>
        <p:nvSpPr>
          <p:cNvPr id="353" name="Google Shape;353;p11"/>
          <p:cNvSpPr/>
          <p:nvPr/>
        </p:nvSpPr>
        <p:spPr>
          <a:xfrm>
            <a:off x="4717385" y="2200091"/>
            <a:ext cx="7149278" cy="1529083"/>
          </a:xfrm>
          <a:custGeom>
            <a:rect b="b" l="l" r="r" t="t"/>
            <a:pathLst>
              <a:path extrusionOk="0" h="1529083" w="7149278">
                <a:moveTo>
                  <a:pt x="65062" y="0"/>
                </a:moveTo>
                <a:lnTo>
                  <a:pt x="7084216" y="0"/>
                </a:lnTo>
                <a:cubicBezTo>
                  <a:pt x="7120149" y="0"/>
                  <a:pt x="7149278" y="29129"/>
                  <a:pt x="7149278" y="65062"/>
                </a:cubicBezTo>
                <a:lnTo>
                  <a:pt x="7149278" y="1464021"/>
                </a:lnTo>
                <a:cubicBezTo>
                  <a:pt x="7149278" y="1499954"/>
                  <a:pt x="7120149" y="1529083"/>
                  <a:pt x="7084216" y="1529083"/>
                </a:cubicBezTo>
                <a:lnTo>
                  <a:pt x="65062" y="1529083"/>
                </a:lnTo>
                <a:cubicBezTo>
                  <a:pt x="29129" y="1529083"/>
                  <a:pt x="0" y="1499954"/>
                  <a:pt x="0" y="1464021"/>
                </a:cubicBezTo>
                <a:lnTo>
                  <a:pt x="0" y="65062"/>
                </a:lnTo>
                <a:cubicBezTo>
                  <a:pt x="0" y="29154"/>
                  <a:pt x="29154" y="0"/>
                  <a:pt x="6506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847520" y="2330225"/>
            <a:ext cx="6986610" cy="260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7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How to Read It</a:t>
            </a:r>
            <a:endParaRPr b="0" i="0" sz="1600" u="none" cap="none" strike="noStrike"/>
          </a:p>
        </p:txBody>
      </p:sp>
      <p:sp>
        <p:nvSpPr>
          <p:cNvPr id="355" name="Google Shape;355;p11"/>
          <p:cNvSpPr/>
          <p:nvPr/>
        </p:nvSpPr>
        <p:spPr>
          <a:xfrm>
            <a:off x="4847520" y="2688096"/>
            <a:ext cx="260270" cy="260270"/>
          </a:xfrm>
          <a:custGeom>
            <a:rect b="b" l="l" r="r" t="t"/>
            <a:pathLst>
              <a:path extrusionOk="0" h="260270" w="260270">
                <a:moveTo>
                  <a:pt x="130135" y="0"/>
                </a:moveTo>
                <a:lnTo>
                  <a:pt x="130135" y="0"/>
                </a:lnTo>
                <a:cubicBezTo>
                  <a:pt x="202006" y="0"/>
                  <a:pt x="260270" y="58263"/>
                  <a:pt x="260270" y="130135"/>
                </a:cubicBezTo>
                <a:lnTo>
                  <a:pt x="260270" y="130135"/>
                </a:lnTo>
                <a:cubicBezTo>
                  <a:pt x="260270" y="202006"/>
                  <a:pt x="202006" y="260270"/>
                  <a:pt x="130135" y="260270"/>
                </a:cubicBezTo>
                <a:lnTo>
                  <a:pt x="130135" y="260270"/>
                </a:lnTo>
                <a:cubicBezTo>
                  <a:pt x="58263" y="260270"/>
                  <a:pt x="0" y="202006"/>
                  <a:pt x="0" y="130135"/>
                </a:cubicBezTo>
                <a:lnTo>
                  <a:pt x="0" y="130135"/>
                </a:lnTo>
                <a:cubicBezTo>
                  <a:pt x="0" y="58263"/>
                  <a:pt x="58263" y="0"/>
                  <a:pt x="13013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4961388" y="2736897"/>
            <a:ext cx="89468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57" name="Google Shape;357;p11"/>
          <p:cNvSpPr/>
          <p:nvPr/>
        </p:nvSpPr>
        <p:spPr>
          <a:xfrm>
            <a:off x="5205390" y="2688096"/>
            <a:ext cx="3285903" cy="19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Vertical Axis:</a:t>
            </a:r>
            <a:r>
              <a:rPr b="0" i="0" lang="en-US" sz="102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Shows distance/similarity between clusters</a:t>
            </a:r>
            <a:endParaRPr b="0" i="0" sz="1600" u="none" cap="none" strike="noStrike"/>
          </a:p>
        </p:txBody>
      </p:sp>
      <p:sp>
        <p:nvSpPr>
          <p:cNvPr id="358" name="Google Shape;358;p11"/>
          <p:cNvSpPr/>
          <p:nvPr/>
        </p:nvSpPr>
        <p:spPr>
          <a:xfrm>
            <a:off x="4847520" y="3013433"/>
            <a:ext cx="260270" cy="260270"/>
          </a:xfrm>
          <a:custGeom>
            <a:rect b="b" l="l" r="r" t="t"/>
            <a:pathLst>
              <a:path extrusionOk="0" h="260270" w="260270">
                <a:moveTo>
                  <a:pt x="130135" y="0"/>
                </a:moveTo>
                <a:lnTo>
                  <a:pt x="130135" y="0"/>
                </a:lnTo>
                <a:cubicBezTo>
                  <a:pt x="202006" y="0"/>
                  <a:pt x="260270" y="58263"/>
                  <a:pt x="260270" y="130135"/>
                </a:cubicBezTo>
                <a:lnTo>
                  <a:pt x="260270" y="130135"/>
                </a:lnTo>
                <a:cubicBezTo>
                  <a:pt x="260270" y="202006"/>
                  <a:pt x="202006" y="260270"/>
                  <a:pt x="130135" y="260270"/>
                </a:cubicBezTo>
                <a:lnTo>
                  <a:pt x="130135" y="260270"/>
                </a:lnTo>
                <a:cubicBezTo>
                  <a:pt x="58263" y="260270"/>
                  <a:pt x="0" y="202006"/>
                  <a:pt x="0" y="130135"/>
                </a:cubicBezTo>
                <a:lnTo>
                  <a:pt x="0" y="130135"/>
                </a:lnTo>
                <a:cubicBezTo>
                  <a:pt x="0" y="58263"/>
                  <a:pt x="58263" y="0"/>
                  <a:pt x="13013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4949187" y="3062233"/>
            <a:ext cx="113868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60" name="Google Shape;360;p11"/>
          <p:cNvSpPr/>
          <p:nvPr/>
        </p:nvSpPr>
        <p:spPr>
          <a:xfrm>
            <a:off x="5205390" y="3013433"/>
            <a:ext cx="3578706" cy="19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Horizontal Cut:</a:t>
            </a:r>
            <a:r>
              <a:rPr b="0" i="0" lang="en-US" sz="102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"Cut" the tree to get desired number of clusters</a:t>
            </a:r>
            <a:endParaRPr b="0" i="0" sz="1600" u="none" cap="none" strike="noStrike"/>
          </a:p>
        </p:txBody>
      </p:sp>
      <p:sp>
        <p:nvSpPr>
          <p:cNvPr id="361" name="Google Shape;361;p11"/>
          <p:cNvSpPr/>
          <p:nvPr/>
        </p:nvSpPr>
        <p:spPr>
          <a:xfrm>
            <a:off x="4847520" y="3338770"/>
            <a:ext cx="260270" cy="260270"/>
          </a:xfrm>
          <a:custGeom>
            <a:rect b="b" l="l" r="r" t="t"/>
            <a:pathLst>
              <a:path extrusionOk="0" h="260270" w="260270">
                <a:moveTo>
                  <a:pt x="130135" y="0"/>
                </a:moveTo>
                <a:lnTo>
                  <a:pt x="130135" y="0"/>
                </a:lnTo>
                <a:cubicBezTo>
                  <a:pt x="202006" y="0"/>
                  <a:pt x="260270" y="58263"/>
                  <a:pt x="260270" y="130135"/>
                </a:cubicBezTo>
                <a:lnTo>
                  <a:pt x="260270" y="130135"/>
                </a:lnTo>
                <a:cubicBezTo>
                  <a:pt x="260270" y="202006"/>
                  <a:pt x="202006" y="260270"/>
                  <a:pt x="130135" y="260270"/>
                </a:cubicBezTo>
                <a:lnTo>
                  <a:pt x="130135" y="260270"/>
                </a:lnTo>
                <a:cubicBezTo>
                  <a:pt x="58263" y="260270"/>
                  <a:pt x="0" y="202006"/>
                  <a:pt x="0" y="130135"/>
                </a:cubicBezTo>
                <a:lnTo>
                  <a:pt x="0" y="130135"/>
                </a:lnTo>
                <a:cubicBezTo>
                  <a:pt x="0" y="58263"/>
                  <a:pt x="58263" y="0"/>
                  <a:pt x="13013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949187" y="3387570"/>
            <a:ext cx="113868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63" name="Google Shape;363;p11"/>
          <p:cNvSpPr/>
          <p:nvPr/>
        </p:nvSpPr>
        <p:spPr>
          <a:xfrm>
            <a:off x="5205390" y="3338770"/>
            <a:ext cx="3594973" cy="19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Clusters Formed:</a:t>
            </a:r>
            <a:r>
              <a:rPr b="0" i="0" lang="en-US" sz="102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All points below the cut line form one cluster</a:t>
            </a:r>
            <a:endParaRPr b="0" i="0" sz="1600" u="none" cap="none" strike="noStrike"/>
          </a:p>
        </p:txBody>
      </p:sp>
      <p:sp>
        <p:nvSpPr>
          <p:cNvPr id="364" name="Google Shape;364;p11"/>
          <p:cNvSpPr/>
          <p:nvPr/>
        </p:nvSpPr>
        <p:spPr>
          <a:xfrm>
            <a:off x="4717385" y="3859309"/>
            <a:ext cx="7149278" cy="1659218"/>
          </a:xfrm>
          <a:custGeom>
            <a:rect b="b" l="l" r="r" t="t"/>
            <a:pathLst>
              <a:path extrusionOk="0" h="1659218" w="7149278">
                <a:moveTo>
                  <a:pt x="65075" y="0"/>
                </a:moveTo>
                <a:lnTo>
                  <a:pt x="7084204" y="0"/>
                </a:lnTo>
                <a:cubicBezTo>
                  <a:pt x="7120143" y="0"/>
                  <a:pt x="7149278" y="29135"/>
                  <a:pt x="7149278" y="65075"/>
                </a:cubicBezTo>
                <a:lnTo>
                  <a:pt x="7149278" y="1594144"/>
                </a:lnTo>
                <a:cubicBezTo>
                  <a:pt x="7149278" y="1630083"/>
                  <a:pt x="7120143" y="1659218"/>
                  <a:pt x="7084204" y="1659218"/>
                </a:cubicBezTo>
                <a:lnTo>
                  <a:pt x="65075" y="1659218"/>
                </a:lnTo>
                <a:cubicBezTo>
                  <a:pt x="29135" y="1659218"/>
                  <a:pt x="0" y="1630083"/>
                  <a:pt x="0" y="1594144"/>
                </a:cubicBezTo>
                <a:lnTo>
                  <a:pt x="0" y="65075"/>
                </a:lnTo>
                <a:cubicBezTo>
                  <a:pt x="0" y="29135"/>
                  <a:pt x="29135" y="0"/>
                  <a:pt x="6507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4847520" y="3989444"/>
            <a:ext cx="6986610" cy="260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7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Linkage Methods</a:t>
            </a:r>
            <a:endParaRPr b="0" i="0" sz="1600" u="none" cap="none" strike="noStrike"/>
          </a:p>
        </p:txBody>
      </p:sp>
      <p:sp>
        <p:nvSpPr>
          <p:cNvPr id="366" name="Google Shape;366;p11"/>
          <p:cNvSpPr/>
          <p:nvPr/>
        </p:nvSpPr>
        <p:spPr>
          <a:xfrm>
            <a:off x="4855653" y="4347314"/>
            <a:ext cx="3399771" cy="488005"/>
          </a:xfrm>
          <a:custGeom>
            <a:rect b="b" l="l" r="r" t="t"/>
            <a:pathLst>
              <a:path extrusionOk="0" h="488005" w="3399771">
                <a:moveTo>
                  <a:pt x="16267" y="0"/>
                </a:moveTo>
                <a:lnTo>
                  <a:pt x="3367235" y="0"/>
                </a:lnTo>
                <a:cubicBezTo>
                  <a:pt x="3385204" y="0"/>
                  <a:pt x="3399771" y="14567"/>
                  <a:pt x="3399771" y="32535"/>
                </a:cubicBezTo>
                <a:lnTo>
                  <a:pt x="3399771" y="455470"/>
                </a:lnTo>
                <a:cubicBezTo>
                  <a:pt x="3399771" y="473439"/>
                  <a:pt x="3385204" y="488005"/>
                  <a:pt x="3367235" y="488005"/>
                </a:cubicBez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855653" y="4347314"/>
            <a:ext cx="16267" cy="488005"/>
          </a:xfrm>
          <a:custGeom>
            <a:rect b="b" l="l" r="r" t="t"/>
            <a:pathLst>
              <a:path extrusionOk="0" h="488005" w="16267">
                <a:moveTo>
                  <a:pt x="16267" y="0"/>
                </a:moveTo>
                <a:lnTo>
                  <a:pt x="16267" y="0"/>
                </a:lnTo>
                <a:lnTo>
                  <a:pt x="16267" y="488005"/>
                </a:ln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928854" y="4412382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</a:t>
            </a:r>
            <a:endParaRPr b="0" i="0" sz="1600" u="none" cap="none" strike="noStrike"/>
          </a:p>
        </p:txBody>
      </p:sp>
      <p:sp>
        <p:nvSpPr>
          <p:cNvPr id="369" name="Google Shape;369;p11"/>
          <p:cNvSpPr/>
          <p:nvPr/>
        </p:nvSpPr>
        <p:spPr>
          <a:xfrm>
            <a:off x="4928854" y="4607584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Minimum distance</a:t>
            </a:r>
            <a:endParaRPr b="0" i="0" sz="1600" u="none" cap="none" strike="noStrike"/>
          </a:p>
        </p:txBody>
      </p:sp>
      <p:sp>
        <p:nvSpPr>
          <p:cNvPr id="370" name="Google Shape;370;p11"/>
          <p:cNvSpPr/>
          <p:nvPr/>
        </p:nvSpPr>
        <p:spPr>
          <a:xfrm>
            <a:off x="8331293" y="4347314"/>
            <a:ext cx="3399771" cy="488005"/>
          </a:xfrm>
          <a:custGeom>
            <a:rect b="b" l="l" r="r" t="t"/>
            <a:pathLst>
              <a:path extrusionOk="0" h="488005" w="3399771">
                <a:moveTo>
                  <a:pt x="16267" y="0"/>
                </a:moveTo>
                <a:lnTo>
                  <a:pt x="3367235" y="0"/>
                </a:lnTo>
                <a:cubicBezTo>
                  <a:pt x="3385204" y="0"/>
                  <a:pt x="3399771" y="14567"/>
                  <a:pt x="3399771" y="32535"/>
                </a:cubicBezTo>
                <a:lnTo>
                  <a:pt x="3399771" y="455470"/>
                </a:lnTo>
                <a:cubicBezTo>
                  <a:pt x="3399771" y="473439"/>
                  <a:pt x="3385204" y="488005"/>
                  <a:pt x="3367235" y="488005"/>
                </a:cubicBez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331293" y="4347314"/>
            <a:ext cx="16267" cy="488005"/>
          </a:xfrm>
          <a:custGeom>
            <a:rect b="b" l="l" r="r" t="t"/>
            <a:pathLst>
              <a:path extrusionOk="0" h="488005" w="16267">
                <a:moveTo>
                  <a:pt x="16267" y="0"/>
                </a:moveTo>
                <a:lnTo>
                  <a:pt x="16267" y="0"/>
                </a:lnTo>
                <a:lnTo>
                  <a:pt x="16267" y="488005"/>
                </a:ln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8404494" y="4412382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</a:t>
            </a:r>
            <a:endParaRPr b="0" i="0" sz="1600" u="none" cap="none" strike="noStrike"/>
          </a:p>
        </p:txBody>
      </p:sp>
      <p:sp>
        <p:nvSpPr>
          <p:cNvPr id="373" name="Google Shape;373;p11"/>
          <p:cNvSpPr/>
          <p:nvPr/>
        </p:nvSpPr>
        <p:spPr>
          <a:xfrm>
            <a:off x="8404494" y="4607584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Maximum distance</a:t>
            </a:r>
            <a:endParaRPr b="0" i="0" sz="1600" u="none" cap="none" strike="noStrike"/>
          </a:p>
        </p:txBody>
      </p:sp>
      <p:sp>
        <p:nvSpPr>
          <p:cNvPr id="374" name="Google Shape;374;p11"/>
          <p:cNvSpPr/>
          <p:nvPr/>
        </p:nvSpPr>
        <p:spPr>
          <a:xfrm>
            <a:off x="4855653" y="4900387"/>
            <a:ext cx="3399771" cy="488005"/>
          </a:xfrm>
          <a:custGeom>
            <a:rect b="b" l="l" r="r" t="t"/>
            <a:pathLst>
              <a:path extrusionOk="0" h="488005" w="3399771">
                <a:moveTo>
                  <a:pt x="16267" y="0"/>
                </a:moveTo>
                <a:lnTo>
                  <a:pt x="3367235" y="0"/>
                </a:lnTo>
                <a:cubicBezTo>
                  <a:pt x="3385204" y="0"/>
                  <a:pt x="3399771" y="14567"/>
                  <a:pt x="3399771" y="32535"/>
                </a:cubicBezTo>
                <a:lnTo>
                  <a:pt x="3399771" y="455470"/>
                </a:lnTo>
                <a:cubicBezTo>
                  <a:pt x="3399771" y="473439"/>
                  <a:pt x="3385204" y="488005"/>
                  <a:pt x="3367235" y="488005"/>
                </a:cubicBez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4855653" y="4900387"/>
            <a:ext cx="16267" cy="488005"/>
          </a:xfrm>
          <a:custGeom>
            <a:rect b="b" l="l" r="r" t="t"/>
            <a:pathLst>
              <a:path extrusionOk="0" h="488005" w="16267">
                <a:moveTo>
                  <a:pt x="16267" y="0"/>
                </a:moveTo>
                <a:lnTo>
                  <a:pt x="16267" y="0"/>
                </a:lnTo>
                <a:lnTo>
                  <a:pt x="16267" y="488005"/>
                </a:ln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4928854" y="4965454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Average</a:t>
            </a:r>
            <a:endParaRPr b="0" i="0" sz="1600" u="none" cap="none" strike="noStrike"/>
          </a:p>
        </p:txBody>
      </p:sp>
      <p:sp>
        <p:nvSpPr>
          <p:cNvPr id="377" name="Google Shape;377;p11"/>
          <p:cNvSpPr/>
          <p:nvPr/>
        </p:nvSpPr>
        <p:spPr>
          <a:xfrm>
            <a:off x="4928854" y="5160656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 distance</a:t>
            </a:r>
            <a:endParaRPr b="0" i="0" sz="1600" u="none" cap="none" strike="noStrike"/>
          </a:p>
        </p:txBody>
      </p:sp>
      <p:sp>
        <p:nvSpPr>
          <p:cNvPr id="378" name="Google Shape;378;p11"/>
          <p:cNvSpPr/>
          <p:nvPr/>
        </p:nvSpPr>
        <p:spPr>
          <a:xfrm>
            <a:off x="8331293" y="4900387"/>
            <a:ext cx="3399771" cy="488005"/>
          </a:xfrm>
          <a:custGeom>
            <a:rect b="b" l="l" r="r" t="t"/>
            <a:pathLst>
              <a:path extrusionOk="0" h="488005" w="3399771">
                <a:moveTo>
                  <a:pt x="16267" y="0"/>
                </a:moveTo>
                <a:lnTo>
                  <a:pt x="3367235" y="0"/>
                </a:lnTo>
                <a:cubicBezTo>
                  <a:pt x="3385204" y="0"/>
                  <a:pt x="3399771" y="14567"/>
                  <a:pt x="3399771" y="32535"/>
                </a:cubicBezTo>
                <a:lnTo>
                  <a:pt x="3399771" y="455470"/>
                </a:lnTo>
                <a:cubicBezTo>
                  <a:pt x="3399771" y="473439"/>
                  <a:pt x="3385204" y="488005"/>
                  <a:pt x="3367235" y="488005"/>
                </a:cubicBez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8331293" y="4900387"/>
            <a:ext cx="16267" cy="488005"/>
          </a:xfrm>
          <a:custGeom>
            <a:rect b="b" l="l" r="r" t="t"/>
            <a:pathLst>
              <a:path extrusionOk="0" h="488005" w="16267">
                <a:moveTo>
                  <a:pt x="16267" y="0"/>
                </a:moveTo>
                <a:lnTo>
                  <a:pt x="16267" y="0"/>
                </a:lnTo>
                <a:lnTo>
                  <a:pt x="16267" y="488005"/>
                </a:lnTo>
                <a:lnTo>
                  <a:pt x="16267" y="488005"/>
                </a:lnTo>
                <a:cubicBezTo>
                  <a:pt x="7289" y="488005"/>
                  <a:pt x="0" y="480716"/>
                  <a:pt x="0" y="471738"/>
                </a:cubicBezTo>
                <a:lnTo>
                  <a:pt x="0" y="16267"/>
                </a:lnTo>
                <a:cubicBezTo>
                  <a:pt x="0" y="7283"/>
                  <a:pt x="7283" y="0"/>
                  <a:pt x="16267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8404494" y="4965454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7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Ward</a:t>
            </a:r>
            <a:endParaRPr b="0" i="0" sz="1600" u="none" cap="none" strike="noStrike"/>
          </a:p>
        </p:txBody>
      </p:sp>
      <p:sp>
        <p:nvSpPr>
          <p:cNvPr id="381" name="Google Shape;381;p11"/>
          <p:cNvSpPr/>
          <p:nvPr/>
        </p:nvSpPr>
        <p:spPr>
          <a:xfrm>
            <a:off x="8404494" y="5160656"/>
            <a:ext cx="3318436" cy="162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Minimizes variance</a:t>
            </a:r>
            <a:endParaRPr b="0" i="0" sz="1600" u="none" cap="none" strike="noStrike"/>
          </a:p>
        </p:txBody>
      </p:sp>
      <p:sp>
        <p:nvSpPr>
          <p:cNvPr id="382" name="Google Shape;382;p11"/>
          <p:cNvSpPr/>
          <p:nvPr/>
        </p:nvSpPr>
        <p:spPr>
          <a:xfrm>
            <a:off x="4717385" y="5648662"/>
            <a:ext cx="7149278" cy="1203746"/>
          </a:xfrm>
          <a:custGeom>
            <a:rect b="b" l="l" r="r" t="t"/>
            <a:pathLst>
              <a:path extrusionOk="0" h="1203746" w="7149278">
                <a:moveTo>
                  <a:pt x="65062" y="0"/>
                </a:moveTo>
                <a:lnTo>
                  <a:pt x="7084216" y="0"/>
                </a:lnTo>
                <a:cubicBezTo>
                  <a:pt x="7120149" y="0"/>
                  <a:pt x="7149278" y="29129"/>
                  <a:pt x="7149278" y="65062"/>
                </a:cubicBezTo>
                <a:lnTo>
                  <a:pt x="7149278" y="1138684"/>
                </a:lnTo>
                <a:cubicBezTo>
                  <a:pt x="7149278" y="1174617"/>
                  <a:pt x="7120149" y="1203746"/>
                  <a:pt x="7084216" y="1203746"/>
                </a:cubicBezTo>
                <a:lnTo>
                  <a:pt x="65062" y="1203746"/>
                </a:lnTo>
                <a:cubicBezTo>
                  <a:pt x="29129" y="1203746"/>
                  <a:pt x="0" y="1174617"/>
                  <a:pt x="0" y="1138684"/>
                </a:cubicBezTo>
                <a:lnTo>
                  <a:pt x="0" y="65062"/>
                </a:lnTo>
                <a:cubicBezTo>
                  <a:pt x="0" y="29154"/>
                  <a:pt x="29154" y="0"/>
                  <a:pt x="6506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4847520" y="5778797"/>
            <a:ext cx="6962209" cy="22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3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b="0" i="0" sz="1600" u="none" cap="none" strike="noStrike"/>
          </a:p>
        </p:txBody>
      </p:sp>
      <p:sp>
        <p:nvSpPr>
          <p:cNvPr id="384" name="Google Shape;384;p11"/>
          <p:cNvSpPr/>
          <p:nvPr/>
        </p:nvSpPr>
        <p:spPr>
          <a:xfrm>
            <a:off x="4847520" y="6071600"/>
            <a:ext cx="6954076" cy="19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No need to specify K in advance</a:t>
            </a:r>
            <a:endParaRPr b="0" i="0" sz="1600" u="none" cap="none" strike="noStrike"/>
          </a:p>
        </p:txBody>
      </p:sp>
      <p:sp>
        <p:nvSpPr>
          <p:cNvPr id="385" name="Google Shape;385;p11"/>
          <p:cNvSpPr/>
          <p:nvPr/>
        </p:nvSpPr>
        <p:spPr>
          <a:xfrm>
            <a:off x="4847520" y="6299336"/>
            <a:ext cx="6954076" cy="19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Visual representation of cluster relationships</a:t>
            </a:r>
            <a:endParaRPr b="0" i="0" sz="1600" u="none" cap="none" strike="noStrike"/>
          </a:p>
        </p:txBody>
      </p:sp>
      <p:sp>
        <p:nvSpPr>
          <p:cNvPr id="386" name="Google Shape;386;p11"/>
          <p:cNvSpPr/>
          <p:nvPr/>
        </p:nvSpPr>
        <p:spPr>
          <a:xfrm>
            <a:off x="4847520" y="6527071"/>
            <a:ext cx="6954076" cy="195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5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Can choose any number of clusters after running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2e5bee961163feca0effb375e21341dbe5cdea26.jpg" id="392" name="Google Shape;392;p12"/>
          <p:cNvPicPr preferRelativeResize="0"/>
          <p:nvPr/>
        </p:nvPicPr>
        <p:blipFill rotWithShape="1">
          <a:blip r:embed="rId3">
            <a:alphaModFix amt="25000"/>
          </a:blip>
          <a:srcRect b="7783" l="0" r="0" t="7784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7647"/>
                </a:srgbClr>
              </a:gs>
              <a:gs pos="50000">
                <a:srgbClr val="1A202C">
                  <a:alpha val="89803"/>
                </a:srgbClr>
              </a:gs>
              <a:gs pos="100000">
                <a:srgbClr val="1A202C">
                  <a:alpha val="69803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394" name="Google Shape;394;p12"/>
          <p:cNvSpPr/>
          <p:nvPr/>
        </p:nvSpPr>
        <p:spPr>
          <a:xfrm>
            <a:off x="385763" y="1321594"/>
            <a:ext cx="1647825" cy="428625"/>
          </a:xfrm>
          <a:custGeom>
            <a:rect b="b" l="l" r="r" t="t"/>
            <a:pathLst>
              <a:path extrusionOk="0" h="428625" w="1647825">
                <a:moveTo>
                  <a:pt x="214313" y="0"/>
                </a:moveTo>
                <a:lnTo>
                  <a:pt x="1433513" y="0"/>
                </a:lnTo>
                <a:cubicBezTo>
                  <a:pt x="1551795" y="0"/>
                  <a:pt x="1647825" y="96030"/>
                  <a:pt x="1647825" y="214313"/>
                </a:cubicBezTo>
                <a:lnTo>
                  <a:pt x="1647825" y="214313"/>
                </a:lnTo>
                <a:cubicBezTo>
                  <a:pt x="1647825" y="332595"/>
                  <a:pt x="1551795" y="428625"/>
                  <a:pt x="14335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cap="flat" cmpd="sng" w="127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81025" y="1431131"/>
            <a:ext cx="1352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04</a:t>
            </a:r>
            <a:endParaRPr b="0" i="0" sz="1600" u="none" cap="none" strike="noStrike"/>
          </a:p>
        </p:txBody>
      </p:sp>
      <p:sp>
        <p:nvSpPr>
          <p:cNvPr id="396" name="Google Shape;396;p12"/>
          <p:cNvSpPr/>
          <p:nvPr/>
        </p:nvSpPr>
        <p:spPr>
          <a:xfrm>
            <a:off x="381000" y="2059781"/>
            <a:ext cx="11887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Customer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Segmentation</a:t>
            </a:r>
            <a:endParaRPr b="0" i="0" sz="1600" u="none" cap="none" strike="noStrike"/>
          </a:p>
        </p:txBody>
      </p:sp>
      <p:sp>
        <p:nvSpPr>
          <p:cNvPr id="397" name="Google Shape;397;p12"/>
          <p:cNvSpPr/>
          <p:nvPr/>
        </p:nvSpPr>
        <p:spPr>
          <a:xfrm>
            <a:off x="381000" y="4193381"/>
            <a:ext cx="1828800" cy="38100"/>
          </a:xfrm>
          <a:custGeom>
            <a:rect b="b" l="l" r="r" t="t"/>
            <a:pathLst>
              <a:path extrusionOk="0" h="38100" w="18288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398" name="Google Shape;398;p12"/>
          <p:cNvSpPr/>
          <p:nvPr/>
        </p:nvSpPr>
        <p:spPr>
          <a:xfrm>
            <a:off x="381000" y="461248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Applying clustering algorithms to real business problems with mall traffic data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"/>
          <p:cNvSpPr/>
          <p:nvPr/>
        </p:nvSpPr>
        <p:spPr>
          <a:xfrm>
            <a:off x="330855" y="363940"/>
            <a:ext cx="330855" cy="330855"/>
          </a:xfrm>
          <a:custGeom>
            <a:rect b="b" l="l" r="r" t="t"/>
            <a:pathLst>
              <a:path extrusionOk="0" h="330855" w="330855">
                <a:moveTo>
                  <a:pt x="66171" y="0"/>
                </a:moveTo>
                <a:lnTo>
                  <a:pt x="264684" y="0"/>
                </a:lnTo>
                <a:cubicBezTo>
                  <a:pt x="301229" y="0"/>
                  <a:pt x="330855" y="29626"/>
                  <a:pt x="330855" y="66171"/>
                </a:cubicBezTo>
                <a:lnTo>
                  <a:pt x="330855" y="264684"/>
                </a:lnTo>
                <a:cubicBezTo>
                  <a:pt x="330855" y="301229"/>
                  <a:pt x="301229" y="330855"/>
                  <a:pt x="264684" y="330855"/>
                </a:cubicBezTo>
                <a:lnTo>
                  <a:pt x="66171" y="330855"/>
                </a:lnTo>
                <a:cubicBezTo>
                  <a:pt x="29626" y="330855"/>
                  <a:pt x="0" y="301229"/>
                  <a:pt x="0" y="264684"/>
                </a:cubicBezTo>
                <a:lnTo>
                  <a:pt x="0" y="66171"/>
                </a:lnTo>
                <a:cubicBezTo>
                  <a:pt x="0" y="29650"/>
                  <a:pt x="29650" y="0"/>
                  <a:pt x="6617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401161" y="413569"/>
            <a:ext cx="272955" cy="231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406" name="Google Shape;406;p13"/>
          <p:cNvSpPr/>
          <p:nvPr/>
        </p:nvSpPr>
        <p:spPr>
          <a:xfrm>
            <a:off x="760966" y="330855"/>
            <a:ext cx="5293677" cy="397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6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Mall Customer Segmentation</a:t>
            </a:r>
            <a:endParaRPr b="0" i="0" sz="1600" u="none" cap="none" strike="noStrike"/>
          </a:p>
        </p:txBody>
      </p:sp>
      <p:sp>
        <p:nvSpPr>
          <p:cNvPr id="407" name="Google Shape;407;p13"/>
          <p:cNvSpPr/>
          <p:nvPr/>
        </p:nvSpPr>
        <p:spPr>
          <a:xfrm>
            <a:off x="330855" y="827137"/>
            <a:ext cx="1058735" cy="33085"/>
          </a:xfrm>
          <a:custGeom>
            <a:rect b="b" l="l" r="r" t="t"/>
            <a:pathLst>
              <a:path extrusionOk="0" h="33085" w="1058735">
                <a:moveTo>
                  <a:pt x="0" y="0"/>
                </a:moveTo>
                <a:lnTo>
                  <a:pt x="1058735" y="0"/>
                </a:lnTo>
                <a:lnTo>
                  <a:pt x="1058735" y="33085"/>
                </a:lnTo>
                <a:lnTo>
                  <a:pt x="0" y="33085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408" name="Google Shape;408;p13"/>
          <p:cNvSpPr/>
          <p:nvPr/>
        </p:nvSpPr>
        <p:spPr>
          <a:xfrm>
            <a:off x="347398" y="1058735"/>
            <a:ext cx="7014122" cy="1761802"/>
          </a:xfrm>
          <a:custGeom>
            <a:rect b="b" l="l" r="r" t="t"/>
            <a:pathLst>
              <a:path extrusionOk="0" h="1761802" w="7014122">
                <a:moveTo>
                  <a:pt x="33085" y="0"/>
                </a:moveTo>
                <a:lnTo>
                  <a:pt x="6947949" y="0"/>
                </a:lnTo>
                <a:cubicBezTo>
                  <a:pt x="6984495" y="0"/>
                  <a:pt x="7014122" y="29627"/>
                  <a:pt x="7014122" y="66173"/>
                </a:cubicBezTo>
                <a:lnTo>
                  <a:pt x="7014122" y="1695629"/>
                </a:lnTo>
                <a:cubicBezTo>
                  <a:pt x="7014122" y="1732175"/>
                  <a:pt x="6984495" y="1761802"/>
                  <a:pt x="6947949" y="1761802"/>
                </a:cubicBezTo>
                <a:lnTo>
                  <a:pt x="33085" y="1761802"/>
                </a:lnTo>
                <a:cubicBezTo>
                  <a:pt x="14813" y="1761802"/>
                  <a:pt x="0" y="1746989"/>
                  <a:pt x="0" y="1728716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347398" y="1058735"/>
            <a:ext cx="33085" cy="1761802"/>
          </a:xfrm>
          <a:custGeom>
            <a:rect b="b" l="l" r="r" t="t"/>
            <a:pathLst>
              <a:path extrusionOk="0" h="1761802" w="33085">
                <a:moveTo>
                  <a:pt x="33085" y="0"/>
                </a:moveTo>
                <a:lnTo>
                  <a:pt x="33085" y="0"/>
                </a:lnTo>
                <a:lnTo>
                  <a:pt x="33085" y="1761802"/>
                </a:lnTo>
                <a:lnTo>
                  <a:pt x="33085" y="1761802"/>
                </a:lnTo>
                <a:cubicBezTo>
                  <a:pt x="14813" y="1761802"/>
                  <a:pt x="0" y="1746989"/>
                  <a:pt x="0" y="1728716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529368" y="1224163"/>
            <a:ext cx="6765981" cy="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3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The Business Problem</a:t>
            </a:r>
            <a:endParaRPr b="0" i="0" sz="1600" u="none" cap="none" strike="noStrike"/>
          </a:p>
        </p:txBody>
      </p:sp>
      <p:sp>
        <p:nvSpPr>
          <p:cNvPr id="411" name="Google Shape;411;p13"/>
          <p:cNvSpPr/>
          <p:nvPr/>
        </p:nvSpPr>
        <p:spPr>
          <a:xfrm>
            <a:off x="529368" y="1588103"/>
            <a:ext cx="6741167" cy="488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mall wants to understand customer groups for </a:t>
            </a:r>
            <a:r>
              <a:rPr b="1" i="0" lang="en-US" sz="1172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targeted marketing</a:t>
            </a:r>
            <a:r>
              <a:rPr b="0" i="0" lang="en-US" sz="117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Different customers have different behaviors — but there are no predefined categories.</a:t>
            </a:r>
            <a:endParaRPr b="0" i="0" sz="1600" u="none" cap="none" strike="noStrike"/>
          </a:p>
        </p:txBody>
      </p:sp>
      <p:sp>
        <p:nvSpPr>
          <p:cNvPr id="412" name="Google Shape;412;p13"/>
          <p:cNvSpPr/>
          <p:nvPr/>
        </p:nvSpPr>
        <p:spPr>
          <a:xfrm>
            <a:off x="529368" y="2171235"/>
            <a:ext cx="6741167" cy="488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2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Solution:</a:t>
            </a:r>
            <a:r>
              <a:rPr b="0" i="0" lang="en-US" sz="117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 K-Means clustering to discover natural customer segments from purchase behavior and demographics.</a:t>
            </a:r>
            <a:endParaRPr b="0" i="0" sz="1600" u="none" cap="none" strike="noStrike"/>
          </a:p>
        </p:txBody>
      </p:sp>
      <p:sp>
        <p:nvSpPr>
          <p:cNvPr id="413" name="Google Shape;413;p13"/>
          <p:cNvSpPr/>
          <p:nvPr/>
        </p:nvSpPr>
        <p:spPr>
          <a:xfrm>
            <a:off x="330855" y="2985965"/>
            <a:ext cx="7030665" cy="2415240"/>
          </a:xfrm>
          <a:custGeom>
            <a:rect b="b" l="l" r="r" t="t"/>
            <a:pathLst>
              <a:path extrusionOk="0" h="2415240" w="7030665">
                <a:moveTo>
                  <a:pt x="66178" y="0"/>
                </a:moveTo>
                <a:lnTo>
                  <a:pt x="6964487" y="0"/>
                </a:lnTo>
                <a:cubicBezTo>
                  <a:pt x="7001036" y="0"/>
                  <a:pt x="7030665" y="29629"/>
                  <a:pt x="7030665" y="66178"/>
                </a:cubicBezTo>
                <a:lnTo>
                  <a:pt x="7030665" y="2349063"/>
                </a:lnTo>
                <a:cubicBezTo>
                  <a:pt x="7030665" y="2385611"/>
                  <a:pt x="7001036" y="2415240"/>
                  <a:pt x="6964487" y="2415240"/>
                </a:cubicBezTo>
                <a:lnTo>
                  <a:pt x="66178" y="2415240"/>
                </a:lnTo>
                <a:cubicBezTo>
                  <a:pt x="29629" y="2415240"/>
                  <a:pt x="0" y="2385611"/>
                  <a:pt x="0" y="2349063"/>
                </a:cubicBezTo>
                <a:lnTo>
                  <a:pt x="0" y="66178"/>
                </a:lnTo>
                <a:cubicBezTo>
                  <a:pt x="0" y="29653"/>
                  <a:pt x="29653" y="0"/>
                  <a:pt x="6617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496282" y="3151392"/>
            <a:ext cx="6799066" cy="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3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The Dataset</a:t>
            </a:r>
            <a:endParaRPr b="0" i="0" sz="1600" u="none" cap="none" strike="noStrike"/>
          </a:p>
        </p:txBody>
      </p:sp>
      <p:sp>
        <p:nvSpPr>
          <p:cNvPr id="415" name="Google Shape;415;p13"/>
          <p:cNvSpPr/>
          <p:nvPr/>
        </p:nvSpPr>
        <p:spPr>
          <a:xfrm>
            <a:off x="496282" y="3548418"/>
            <a:ext cx="6765981" cy="198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Mall Customer Segmentation dataset contains:</a:t>
            </a:r>
            <a:endParaRPr b="0" i="0" sz="1600" u="none" cap="none" strike="noStrike"/>
          </a:p>
        </p:txBody>
      </p:sp>
      <p:sp>
        <p:nvSpPr>
          <p:cNvPr id="416" name="Google Shape;416;p13"/>
          <p:cNvSpPr/>
          <p:nvPr/>
        </p:nvSpPr>
        <p:spPr>
          <a:xfrm>
            <a:off x="504554" y="3879273"/>
            <a:ext cx="3292005" cy="628624"/>
          </a:xfrm>
          <a:custGeom>
            <a:rect b="b" l="l" r="r" t="t"/>
            <a:pathLst>
              <a:path extrusionOk="0" h="628624" w="3292005">
                <a:moveTo>
                  <a:pt x="16543" y="0"/>
                </a:moveTo>
                <a:lnTo>
                  <a:pt x="3258921" y="0"/>
                </a:lnTo>
                <a:cubicBezTo>
                  <a:pt x="3277193" y="0"/>
                  <a:pt x="3292005" y="14812"/>
                  <a:pt x="3292005" y="33084"/>
                </a:cubicBezTo>
                <a:lnTo>
                  <a:pt x="3292005" y="595540"/>
                </a:lnTo>
                <a:cubicBezTo>
                  <a:pt x="3292005" y="613812"/>
                  <a:pt x="3277193" y="628624"/>
                  <a:pt x="3258921" y="628624"/>
                </a:cubicBez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04554" y="3879273"/>
            <a:ext cx="16543" cy="628624"/>
          </a:xfrm>
          <a:custGeom>
            <a:rect b="b" l="l" r="r" t="t"/>
            <a:pathLst>
              <a:path extrusionOk="0" h="628624" w="16543">
                <a:moveTo>
                  <a:pt x="16543" y="0"/>
                </a:moveTo>
                <a:lnTo>
                  <a:pt x="16543" y="0"/>
                </a:lnTo>
                <a:lnTo>
                  <a:pt x="16543" y="628624"/>
                </a:ln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620353" y="4011615"/>
            <a:ext cx="148885" cy="132342"/>
          </a:xfrm>
          <a:custGeom>
            <a:rect b="b" l="l" r="r" t="t"/>
            <a:pathLst>
              <a:path extrusionOk="0" h="132342" w="148885">
                <a:moveTo>
                  <a:pt x="0" y="24814"/>
                </a:moveTo>
                <a:cubicBezTo>
                  <a:pt x="0" y="15690"/>
                  <a:pt x="7418" y="8271"/>
                  <a:pt x="16543" y="8271"/>
                </a:cubicBezTo>
                <a:lnTo>
                  <a:pt x="132342" y="8271"/>
                </a:lnTo>
                <a:cubicBezTo>
                  <a:pt x="141466" y="8271"/>
                  <a:pt x="148885" y="15690"/>
                  <a:pt x="148885" y="24814"/>
                </a:cubicBezTo>
                <a:lnTo>
                  <a:pt x="0" y="24814"/>
                </a:lnTo>
                <a:close/>
                <a:moveTo>
                  <a:pt x="0" y="37221"/>
                </a:moveTo>
                <a:lnTo>
                  <a:pt x="148885" y="37221"/>
                </a:lnTo>
                <a:lnTo>
                  <a:pt x="148885" y="107528"/>
                </a:lnTo>
                <a:cubicBezTo>
                  <a:pt x="148885" y="116652"/>
                  <a:pt x="141466" y="124071"/>
                  <a:pt x="132342" y="124071"/>
                </a:cubicBezTo>
                <a:lnTo>
                  <a:pt x="16543" y="124071"/>
                </a:lnTo>
                <a:cubicBezTo>
                  <a:pt x="7418" y="124071"/>
                  <a:pt x="0" y="116652"/>
                  <a:pt x="0" y="107528"/>
                </a:cubicBezTo>
                <a:lnTo>
                  <a:pt x="0" y="37221"/>
                </a:lnTo>
                <a:close/>
                <a:moveTo>
                  <a:pt x="63922" y="107528"/>
                </a:moveTo>
                <a:cubicBezTo>
                  <a:pt x="69143" y="107528"/>
                  <a:pt x="73047" y="102513"/>
                  <a:pt x="69712" y="98481"/>
                </a:cubicBezTo>
                <a:cubicBezTo>
                  <a:pt x="65912" y="93906"/>
                  <a:pt x="60174" y="90985"/>
                  <a:pt x="53764" y="90985"/>
                </a:cubicBezTo>
                <a:lnTo>
                  <a:pt x="37221" y="90985"/>
                </a:lnTo>
                <a:cubicBezTo>
                  <a:pt x="30811" y="90985"/>
                  <a:pt x="25073" y="93906"/>
                  <a:pt x="21273" y="98481"/>
                </a:cubicBezTo>
                <a:cubicBezTo>
                  <a:pt x="17939" y="102513"/>
                  <a:pt x="21842" y="107528"/>
                  <a:pt x="27063" y="107528"/>
                </a:cubicBezTo>
                <a:lnTo>
                  <a:pt x="63896" y="107528"/>
                </a:lnTo>
                <a:close/>
                <a:moveTo>
                  <a:pt x="45493" y="80646"/>
                </a:moveTo>
                <a:cubicBezTo>
                  <a:pt x="53481" y="80646"/>
                  <a:pt x="59967" y="74160"/>
                  <a:pt x="59967" y="66171"/>
                </a:cubicBezTo>
                <a:cubicBezTo>
                  <a:pt x="59967" y="58182"/>
                  <a:pt x="53481" y="51696"/>
                  <a:pt x="45493" y="51696"/>
                </a:cubicBezTo>
                <a:cubicBezTo>
                  <a:pt x="37504" y="51696"/>
                  <a:pt x="31018" y="58182"/>
                  <a:pt x="31018" y="66171"/>
                </a:cubicBezTo>
                <a:cubicBezTo>
                  <a:pt x="31018" y="74160"/>
                  <a:pt x="37504" y="80646"/>
                  <a:pt x="45493" y="80646"/>
                </a:cubicBezTo>
                <a:close/>
                <a:moveTo>
                  <a:pt x="93053" y="53764"/>
                </a:moveTo>
                <a:cubicBezTo>
                  <a:pt x="89615" y="53764"/>
                  <a:pt x="86849" y="56530"/>
                  <a:pt x="86849" y="59967"/>
                </a:cubicBezTo>
                <a:cubicBezTo>
                  <a:pt x="86849" y="63405"/>
                  <a:pt x="89615" y="66171"/>
                  <a:pt x="93053" y="66171"/>
                </a:cubicBezTo>
                <a:lnTo>
                  <a:pt x="122003" y="66171"/>
                </a:lnTo>
                <a:cubicBezTo>
                  <a:pt x="125441" y="66171"/>
                  <a:pt x="128206" y="63405"/>
                  <a:pt x="128206" y="59967"/>
                </a:cubicBezTo>
                <a:cubicBezTo>
                  <a:pt x="128206" y="56530"/>
                  <a:pt x="125441" y="53764"/>
                  <a:pt x="122003" y="53764"/>
                </a:cubicBezTo>
                <a:lnTo>
                  <a:pt x="93053" y="53764"/>
                </a:lnTo>
                <a:close/>
                <a:moveTo>
                  <a:pt x="93053" y="78578"/>
                </a:moveTo>
                <a:cubicBezTo>
                  <a:pt x="89615" y="78578"/>
                  <a:pt x="86849" y="81344"/>
                  <a:pt x="86849" y="84782"/>
                </a:cubicBezTo>
                <a:cubicBezTo>
                  <a:pt x="86849" y="88219"/>
                  <a:pt x="89615" y="90985"/>
                  <a:pt x="93053" y="90985"/>
                </a:cubicBezTo>
                <a:lnTo>
                  <a:pt x="122003" y="90985"/>
                </a:lnTo>
                <a:cubicBezTo>
                  <a:pt x="125441" y="90985"/>
                  <a:pt x="128206" y="88219"/>
                  <a:pt x="128206" y="84782"/>
                </a:cubicBezTo>
                <a:cubicBezTo>
                  <a:pt x="128206" y="81344"/>
                  <a:pt x="125441" y="78578"/>
                  <a:pt x="122003" y="78578"/>
                </a:cubicBezTo>
                <a:lnTo>
                  <a:pt x="93053" y="78578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843680" y="3978529"/>
            <a:ext cx="752695" cy="198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2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CustomerID</a:t>
            </a:r>
            <a:endParaRPr b="0" i="0" sz="1600" u="none" cap="none" strike="noStrike"/>
          </a:p>
        </p:txBody>
      </p:sp>
      <p:sp>
        <p:nvSpPr>
          <p:cNvPr id="420" name="Google Shape;420;p13"/>
          <p:cNvSpPr/>
          <p:nvPr/>
        </p:nvSpPr>
        <p:spPr>
          <a:xfrm>
            <a:off x="612081" y="4243213"/>
            <a:ext cx="3143121" cy="165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 identifier</a:t>
            </a:r>
            <a:endParaRPr b="0" i="0" sz="1600" u="none" cap="none" strike="noStrike"/>
          </a:p>
        </p:txBody>
      </p:sp>
      <p:sp>
        <p:nvSpPr>
          <p:cNvPr id="421" name="Google Shape;421;p13"/>
          <p:cNvSpPr/>
          <p:nvPr/>
        </p:nvSpPr>
        <p:spPr>
          <a:xfrm>
            <a:off x="3903053" y="3879273"/>
            <a:ext cx="3292005" cy="628624"/>
          </a:xfrm>
          <a:custGeom>
            <a:rect b="b" l="l" r="r" t="t"/>
            <a:pathLst>
              <a:path extrusionOk="0" h="628624" w="3292005">
                <a:moveTo>
                  <a:pt x="16543" y="0"/>
                </a:moveTo>
                <a:lnTo>
                  <a:pt x="3258921" y="0"/>
                </a:lnTo>
                <a:cubicBezTo>
                  <a:pt x="3277193" y="0"/>
                  <a:pt x="3292005" y="14812"/>
                  <a:pt x="3292005" y="33084"/>
                </a:cubicBezTo>
                <a:lnTo>
                  <a:pt x="3292005" y="595540"/>
                </a:lnTo>
                <a:cubicBezTo>
                  <a:pt x="3292005" y="613812"/>
                  <a:pt x="3277193" y="628624"/>
                  <a:pt x="3258921" y="628624"/>
                </a:cubicBez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3903053" y="3879273"/>
            <a:ext cx="16543" cy="628624"/>
          </a:xfrm>
          <a:custGeom>
            <a:rect b="b" l="l" r="r" t="t"/>
            <a:pathLst>
              <a:path extrusionOk="0" h="628624" w="16543">
                <a:moveTo>
                  <a:pt x="16543" y="0"/>
                </a:moveTo>
                <a:lnTo>
                  <a:pt x="16543" y="0"/>
                </a:lnTo>
                <a:lnTo>
                  <a:pt x="16543" y="628624"/>
                </a:ln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4035395" y="4011615"/>
            <a:ext cx="115799" cy="132342"/>
          </a:xfrm>
          <a:custGeom>
            <a:rect b="b" l="l" r="r" t="t"/>
            <a:pathLst>
              <a:path extrusionOk="0" h="132342" w="115799">
                <a:moveTo>
                  <a:pt x="57900" y="64103"/>
                </a:moveTo>
                <a:cubicBezTo>
                  <a:pt x="75019" y="64103"/>
                  <a:pt x="88917" y="50205"/>
                  <a:pt x="88917" y="33085"/>
                </a:cubicBezTo>
                <a:cubicBezTo>
                  <a:pt x="88917" y="15966"/>
                  <a:pt x="75019" y="2068"/>
                  <a:pt x="57900" y="2068"/>
                </a:cubicBezTo>
                <a:cubicBezTo>
                  <a:pt x="40780" y="2068"/>
                  <a:pt x="26882" y="15966"/>
                  <a:pt x="26882" y="33085"/>
                </a:cubicBezTo>
                <a:cubicBezTo>
                  <a:pt x="26882" y="50205"/>
                  <a:pt x="40780" y="64103"/>
                  <a:pt x="57900" y="64103"/>
                </a:cubicBezTo>
                <a:close/>
                <a:moveTo>
                  <a:pt x="50223" y="78578"/>
                </a:moveTo>
                <a:cubicBezTo>
                  <a:pt x="24762" y="78578"/>
                  <a:pt x="4136" y="99205"/>
                  <a:pt x="4136" y="124665"/>
                </a:cubicBezTo>
                <a:cubicBezTo>
                  <a:pt x="4136" y="128904"/>
                  <a:pt x="7573" y="132342"/>
                  <a:pt x="11813" y="132342"/>
                </a:cubicBezTo>
                <a:lnTo>
                  <a:pt x="103987" y="132342"/>
                </a:lnTo>
                <a:cubicBezTo>
                  <a:pt x="108226" y="132342"/>
                  <a:pt x="111664" y="128904"/>
                  <a:pt x="111664" y="124665"/>
                </a:cubicBezTo>
                <a:cubicBezTo>
                  <a:pt x="111664" y="99205"/>
                  <a:pt x="91037" y="78578"/>
                  <a:pt x="65576" y="78578"/>
                </a:cubicBezTo>
                <a:lnTo>
                  <a:pt x="50223" y="78578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242179" y="3978529"/>
            <a:ext cx="281227" cy="198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2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</a:t>
            </a:r>
            <a:endParaRPr b="0" i="0" sz="1600" u="none" cap="none" strike="noStrike"/>
          </a:p>
        </p:txBody>
      </p:sp>
      <p:sp>
        <p:nvSpPr>
          <p:cNvPr id="425" name="Google Shape;425;p13"/>
          <p:cNvSpPr/>
          <p:nvPr/>
        </p:nvSpPr>
        <p:spPr>
          <a:xfrm>
            <a:off x="4010581" y="4243213"/>
            <a:ext cx="3143121" cy="165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age</a:t>
            </a:r>
            <a:endParaRPr b="0" i="0" sz="1600" u="none" cap="none" strike="noStrike"/>
          </a:p>
        </p:txBody>
      </p:sp>
      <p:sp>
        <p:nvSpPr>
          <p:cNvPr id="426" name="Google Shape;426;p13"/>
          <p:cNvSpPr/>
          <p:nvPr/>
        </p:nvSpPr>
        <p:spPr>
          <a:xfrm>
            <a:off x="504554" y="4607153"/>
            <a:ext cx="3292005" cy="628624"/>
          </a:xfrm>
          <a:custGeom>
            <a:rect b="b" l="l" r="r" t="t"/>
            <a:pathLst>
              <a:path extrusionOk="0" h="628624" w="3292005">
                <a:moveTo>
                  <a:pt x="16543" y="0"/>
                </a:moveTo>
                <a:lnTo>
                  <a:pt x="3258921" y="0"/>
                </a:lnTo>
                <a:cubicBezTo>
                  <a:pt x="3277193" y="0"/>
                  <a:pt x="3292005" y="14812"/>
                  <a:pt x="3292005" y="33084"/>
                </a:cubicBezTo>
                <a:lnTo>
                  <a:pt x="3292005" y="595540"/>
                </a:lnTo>
                <a:cubicBezTo>
                  <a:pt x="3292005" y="613812"/>
                  <a:pt x="3277193" y="628624"/>
                  <a:pt x="3258921" y="628624"/>
                </a:cubicBez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04554" y="4607153"/>
            <a:ext cx="16543" cy="628624"/>
          </a:xfrm>
          <a:custGeom>
            <a:rect b="b" l="l" r="r" t="t"/>
            <a:pathLst>
              <a:path extrusionOk="0" h="628624" w="16543">
                <a:moveTo>
                  <a:pt x="16543" y="0"/>
                </a:moveTo>
                <a:lnTo>
                  <a:pt x="16543" y="0"/>
                </a:lnTo>
                <a:lnTo>
                  <a:pt x="16543" y="628624"/>
                </a:ln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653438" y="4739495"/>
            <a:ext cx="82714" cy="132342"/>
          </a:xfrm>
          <a:custGeom>
            <a:rect b="b" l="l" r="r" t="t"/>
            <a:pathLst>
              <a:path extrusionOk="0" h="132342" w="82714">
                <a:moveTo>
                  <a:pt x="35153" y="6204"/>
                </a:moveTo>
                <a:cubicBezTo>
                  <a:pt x="35153" y="2766"/>
                  <a:pt x="37919" y="0"/>
                  <a:pt x="41357" y="0"/>
                </a:cubicBezTo>
                <a:cubicBezTo>
                  <a:pt x="44795" y="0"/>
                  <a:pt x="47560" y="2766"/>
                  <a:pt x="47560" y="6204"/>
                </a:cubicBezTo>
                <a:lnTo>
                  <a:pt x="47560" y="16543"/>
                </a:lnTo>
                <a:lnTo>
                  <a:pt x="62035" y="16543"/>
                </a:lnTo>
                <a:cubicBezTo>
                  <a:pt x="66610" y="16543"/>
                  <a:pt x="70307" y="20239"/>
                  <a:pt x="70307" y="24814"/>
                </a:cubicBezTo>
                <a:cubicBezTo>
                  <a:pt x="70307" y="29389"/>
                  <a:pt x="66610" y="33085"/>
                  <a:pt x="62035" y="33085"/>
                </a:cubicBezTo>
                <a:lnTo>
                  <a:pt x="32336" y="33085"/>
                </a:lnTo>
                <a:cubicBezTo>
                  <a:pt x="25900" y="33085"/>
                  <a:pt x="20678" y="38307"/>
                  <a:pt x="20678" y="44743"/>
                </a:cubicBezTo>
                <a:cubicBezTo>
                  <a:pt x="20678" y="50559"/>
                  <a:pt x="24943" y="55470"/>
                  <a:pt x="30682" y="56297"/>
                </a:cubicBezTo>
                <a:lnTo>
                  <a:pt x="54358" y="59683"/>
                </a:lnTo>
                <a:cubicBezTo>
                  <a:pt x="68265" y="61673"/>
                  <a:pt x="78578" y="73564"/>
                  <a:pt x="78578" y="87599"/>
                </a:cubicBezTo>
                <a:cubicBezTo>
                  <a:pt x="78578" y="103185"/>
                  <a:pt x="65938" y="115799"/>
                  <a:pt x="50378" y="115799"/>
                </a:cubicBezTo>
                <a:lnTo>
                  <a:pt x="47560" y="115799"/>
                </a:lnTo>
                <a:lnTo>
                  <a:pt x="47560" y="126138"/>
                </a:lnTo>
                <a:cubicBezTo>
                  <a:pt x="47560" y="129576"/>
                  <a:pt x="44795" y="132342"/>
                  <a:pt x="41357" y="132342"/>
                </a:cubicBezTo>
                <a:cubicBezTo>
                  <a:pt x="37919" y="132342"/>
                  <a:pt x="35153" y="129576"/>
                  <a:pt x="35153" y="126138"/>
                </a:cubicBezTo>
                <a:lnTo>
                  <a:pt x="35153" y="115799"/>
                </a:lnTo>
                <a:lnTo>
                  <a:pt x="16543" y="115799"/>
                </a:lnTo>
                <a:cubicBezTo>
                  <a:pt x="11968" y="115799"/>
                  <a:pt x="8271" y="112103"/>
                  <a:pt x="8271" y="107528"/>
                </a:cubicBezTo>
                <a:cubicBezTo>
                  <a:pt x="8271" y="102953"/>
                  <a:pt x="11968" y="99256"/>
                  <a:pt x="16543" y="99256"/>
                </a:cubicBezTo>
                <a:lnTo>
                  <a:pt x="50378" y="99256"/>
                </a:lnTo>
                <a:cubicBezTo>
                  <a:pt x="56814" y="99256"/>
                  <a:pt x="62035" y="94035"/>
                  <a:pt x="62035" y="87599"/>
                </a:cubicBezTo>
                <a:cubicBezTo>
                  <a:pt x="62035" y="81783"/>
                  <a:pt x="57770" y="76872"/>
                  <a:pt x="52032" y="76045"/>
                </a:cubicBezTo>
                <a:lnTo>
                  <a:pt x="28355" y="72659"/>
                </a:lnTo>
                <a:cubicBezTo>
                  <a:pt x="14449" y="70694"/>
                  <a:pt x="4136" y="58778"/>
                  <a:pt x="4136" y="44743"/>
                </a:cubicBezTo>
                <a:cubicBezTo>
                  <a:pt x="4136" y="29182"/>
                  <a:pt x="16775" y="16543"/>
                  <a:pt x="32336" y="16543"/>
                </a:cubicBezTo>
                <a:lnTo>
                  <a:pt x="35153" y="16543"/>
                </a:lnTo>
                <a:lnTo>
                  <a:pt x="35153" y="6204"/>
                </a:ln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843680" y="4706410"/>
            <a:ext cx="934665" cy="198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2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Income</a:t>
            </a:r>
            <a:endParaRPr b="0" i="0" sz="1600" u="none" cap="none" strike="noStrike"/>
          </a:p>
        </p:txBody>
      </p:sp>
      <p:sp>
        <p:nvSpPr>
          <p:cNvPr id="430" name="Google Shape;430;p13"/>
          <p:cNvSpPr/>
          <p:nvPr/>
        </p:nvSpPr>
        <p:spPr>
          <a:xfrm>
            <a:off x="612081" y="4971094"/>
            <a:ext cx="3143121" cy="165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thousands</a:t>
            </a:r>
            <a:endParaRPr b="0" i="0" sz="1600" u="none" cap="none" strike="noStrike"/>
          </a:p>
        </p:txBody>
      </p:sp>
      <p:sp>
        <p:nvSpPr>
          <p:cNvPr id="431" name="Google Shape;431;p13"/>
          <p:cNvSpPr/>
          <p:nvPr/>
        </p:nvSpPr>
        <p:spPr>
          <a:xfrm>
            <a:off x="3903053" y="4607153"/>
            <a:ext cx="3292005" cy="628624"/>
          </a:xfrm>
          <a:custGeom>
            <a:rect b="b" l="l" r="r" t="t"/>
            <a:pathLst>
              <a:path extrusionOk="0" h="628624" w="3292005">
                <a:moveTo>
                  <a:pt x="16543" y="0"/>
                </a:moveTo>
                <a:lnTo>
                  <a:pt x="3258921" y="0"/>
                </a:lnTo>
                <a:cubicBezTo>
                  <a:pt x="3277193" y="0"/>
                  <a:pt x="3292005" y="14812"/>
                  <a:pt x="3292005" y="33084"/>
                </a:cubicBezTo>
                <a:lnTo>
                  <a:pt x="3292005" y="595540"/>
                </a:lnTo>
                <a:cubicBezTo>
                  <a:pt x="3292005" y="613812"/>
                  <a:pt x="3277193" y="628624"/>
                  <a:pt x="3258921" y="628624"/>
                </a:cubicBez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3903053" y="4607153"/>
            <a:ext cx="16543" cy="628624"/>
          </a:xfrm>
          <a:custGeom>
            <a:rect b="b" l="l" r="r" t="t"/>
            <a:pathLst>
              <a:path extrusionOk="0" h="628624" w="16543">
                <a:moveTo>
                  <a:pt x="16543" y="0"/>
                </a:moveTo>
                <a:lnTo>
                  <a:pt x="16543" y="0"/>
                </a:lnTo>
                <a:lnTo>
                  <a:pt x="16543" y="628624"/>
                </a:lnTo>
                <a:lnTo>
                  <a:pt x="16543" y="628624"/>
                </a:lnTo>
                <a:cubicBezTo>
                  <a:pt x="7406" y="628624"/>
                  <a:pt x="0" y="621218"/>
                  <a:pt x="0" y="612081"/>
                </a:cubicBezTo>
                <a:lnTo>
                  <a:pt x="0" y="16543"/>
                </a:lnTo>
                <a:cubicBezTo>
                  <a:pt x="0" y="7413"/>
                  <a:pt x="7413" y="0"/>
                  <a:pt x="16543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4010581" y="4739495"/>
            <a:ext cx="165427" cy="132342"/>
          </a:xfrm>
          <a:custGeom>
            <a:rect b="b" l="l" r="r" t="t"/>
            <a:pathLst>
              <a:path extrusionOk="0" h="132342" w="165427">
                <a:moveTo>
                  <a:pt x="6204" y="-4136"/>
                </a:moveTo>
                <a:cubicBezTo>
                  <a:pt x="2766" y="-4136"/>
                  <a:pt x="0" y="-1370"/>
                  <a:pt x="0" y="2068"/>
                </a:cubicBezTo>
                <a:cubicBezTo>
                  <a:pt x="0" y="5506"/>
                  <a:pt x="2766" y="8271"/>
                  <a:pt x="6204" y="8271"/>
                </a:cubicBezTo>
                <a:lnTo>
                  <a:pt x="17913" y="8271"/>
                </a:lnTo>
                <a:cubicBezTo>
                  <a:pt x="18921" y="8271"/>
                  <a:pt x="19774" y="8995"/>
                  <a:pt x="19955" y="9977"/>
                </a:cubicBezTo>
                <a:lnTo>
                  <a:pt x="33422" y="83980"/>
                </a:lnTo>
                <a:cubicBezTo>
                  <a:pt x="35024" y="92820"/>
                  <a:pt x="42727" y="99256"/>
                  <a:pt x="51722" y="99256"/>
                </a:cubicBezTo>
                <a:lnTo>
                  <a:pt x="117867" y="99256"/>
                </a:lnTo>
                <a:cubicBezTo>
                  <a:pt x="121305" y="99256"/>
                  <a:pt x="124071" y="96491"/>
                  <a:pt x="124071" y="93053"/>
                </a:cubicBezTo>
                <a:cubicBezTo>
                  <a:pt x="124071" y="89615"/>
                  <a:pt x="121305" y="86849"/>
                  <a:pt x="117867" y="86849"/>
                </a:cubicBezTo>
                <a:lnTo>
                  <a:pt x="51722" y="86849"/>
                </a:lnTo>
                <a:cubicBezTo>
                  <a:pt x="48724" y="86849"/>
                  <a:pt x="46165" y="84704"/>
                  <a:pt x="45622" y="81757"/>
                </a:cubicBezTo>
                <a:lnTo>
                  <a:pt x="44304" y="74442"/>
                </a:lnTo>
                <a:lnTo>
                  <a:pt x="122778" y="74442"/>
                </a:lnTo>
                <a:cubicBezTo>
                  <a:pt x="130739" y="74442"/>
                  <a:pt x="137563" y="68782"/>
                  <a:pt x="139037" y="60950"/>
                </a:cubicBezTo>
                <a:lnTo>
                  <a:pt x="147049" y="18068"/>
                </a:lnTo>
                <a:cubicBezTo>
                  <a:pt x="148006" y="12976"/>
                  <a:pt x="144103" y="8271"/>
                  <a:pt x="138907" y="8271"/>
                </a:cubicBezTo>
                <a:lnTo>
                  <a:pt x="32232" y="8271"/>
                </a:lnTo>
                <a:lnTo>
                  <a:pt x="32129" y="7754"/>
                </a:lnTo>
                <a:cubicBezTo>
                  <a:pt x="30888" y="879"/>
                  <a:pt x="24892" y="-4136"/>
                  <a:pt x="17887" y="-4136"/>
                </a:cubicBezTo>
                <a:lnTo>
                  <a:pt x="6204" y="-4136"/>
                </a:lnTo>
                <a:close/>
                <a:moveTo>
                  <a:pt x="53764" y="132342"/>
                </a:moveTo>
                <a:cubicBezTo>
                  <a:pt x="60612" y="132342"/>
                  <a:pt x="66171" y="126783"/>
                  <a:pt x="66171" y="119935"/>
                </a:cubicBezTo>
                <a:cubicBezTo>
                  <a:pt x="66171" y="113087"/>
                  <a:pt x="60612" y="107528"/>
                  <a:pt x="53764" y="107528"/>
                </a:cubicBezTo>
                <a:cubicBezTo>
                  <a:pt x="46916" y="107528"/>
                  <a:pt x="41357" y="113087"/>
                  <a:pt x="41357" y="119935"/>
                </a:cubicBezTo>
                <a:cubicBezTo>
                  <a:pt x="41357" y="126783"/>
                  <a:pt x="46916" y="132342"/>
                  <a:pt x="53764" y="132342"/>
                </a:cubicBezTo>
                <a:close/>
                <a:moveTo>
                  <a:pt x="111664" y="132342"/>
                </a:moveTo>
                <a:cubicBezTo>
                  <a:pt x="118511" y="132342"/>
                  <a:pt x="124071" y="126783"/>
                  <a:pt x="124071" y="119935"/>
                </a:cubicBezTo>
                <a:cubicBezTo>
                  <a:pt x="124071" y="113087"/>
                  <a:pt x="118511" y="107528"/>
                  <a:pt x="111664" y="107528"/>
                </a:cubicBezTo>
                <a:cubicBezTo>
                  <a:pt x="104816" y="107528"/>
                  <a:pt x="99256" y="113087"/>
                  <a:pt x="99256" y="119935"/>
                </a:cubicBezTo>
                <a:cubicBezTo>
                  <a:pt x="99256" y="126783"/>
                  <a:pt x="104816" y="132342"/>
                  <a:pt x="111664" y="132342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4242179" y="4706410"/>
            <a:ext cx="967750" cy="198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2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Spending Score</a:t>
            </a:r>
            <a:endParaRPr b="0" i="0" sz="1600" u="none" cap="none" strike="noStrike"/>
          </a:p>
        </p:txBody>
      </p:sp>
      <p:sp>
        <p:nvSpPr>
          <p:cNvPr id="435" name="Google Shape;435;p13"/>
          <p:cNvSpPr/>
          <p:nvPr/>
        </p:nvSpPr>
        <p:spPr>
          <a:xfrm>
            <a:off x="4010581" y="4971094"/>
            <a:ext cx="3143121" cy="165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2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1-100 rating</a:t>
            </a:r>
            <a:endParaRPr b="0" i="0" sz="1600" u="none" cap="none" strike="noStrike"/>
          </a:p>
        </p:txBody>
      </p:sp>
      <p:sp>
        <p:nvSpPr>
          <p:cNvPr id="436" name="Google Shape;436;p13"/>
          <p:cNvSpPr/>
          <p:nvPr/>
        </p:nvSpPr>
        <p:spPr>
          <a:xfrm>
            <a:off x="7562230" y="1062871"/>
            <a:ext cx="4292841" cy="2795723"/>
          </a:xfrm>
          <a:custGeom>
            <a:rect b="b" l="l" r="r" t="t"/>
            <a:pathLst>
              <a:path extrusionOk="0" h="2795723" w="4292841">
                <a:moveTo>
                  <a:pt x="66175" y="0"/>
                </a:moveTo>
                <a:lnTo>
                  <a:pt x="4226666" y="0"/>
                </a:lnTo>
                <a:cubicBezTo>
                  <a:pt x="4263214" y="0"/>
                  <a:pt x="4292841" y="29627"/>
                  <a:pt x="4292841" y="66175"/>
                </a:cubicBezTo>
                <a:lnTo>
                  <a:pt x="4292841" y="2729548"/>
                </a:lnTo>
                <a:cubicBezTo>
                  <a:pt x="4292841" y="2766096"/>
                  <a:pt x="4263214" y="2795723"/>
                  <a:pt x="4226666" y="2795723"/>
                </a:cubicBezTo>
                <a:lnTo>
                  <a:pt x="66175" y="2795723"/>
                </a:lnTo>
                <a:cubicBezTo>
                  <a:pt x="29627" y="2795723"/>
                  <a:pt x="0" y="2766096"/>
                  <a:pt x="0" y="2729548"/>
                </a:cubicBezTo>
                <a:lnTo>
                  <a:pt x="0" y="66175"/>
                </a:lnTo>
                <a:cubicBezTo>
                  <a:pt x="0" y="29652"/>
                  <a:pt x="29652" y="0"/>
                  <a:pt x="6617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7690436" y="1232434"/>
            <a:ext cx="4036429" cy="231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Sample Data</a:t>
            </a:r>
            <a:endParaRPr b="0" i="0" sz="1600" u="none" cap="none" strike="noStrike"/>
          </a:p>
        </p:txBody>
      </p:sp>
      <p:graphicFrame>
        <p:nvGraphicFramePr>
          <p:cNvPr id="438" name="Google Shape;438;p13"/>
          <p:cNvGraphicFramePr/>
          <p:nvPr/>
        </p:nvGraphicFramePr>
        <p:xfrm>
          <a:off x="7731793" y="15632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{0C481AC5-0C52-4444-938B-FC1978BA1FF0}</a:tableStyleId>
              </a:tblPr>
              <a:tblGrid>
                <a:gridCol w="851950"/>
                <a:gridCol w="794050"/>
                <a:gridCol w="1265525"/>
                <a:gridCol w="1042200"/>
              </a:tblGrid>
              <a:tr h="30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2E8F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2E8F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Age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2E8F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Income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2E8F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Score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30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001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70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002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003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42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004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28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90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60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005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55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A0AEC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36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>
                          <a:solidFill>
                            <a:srgbClr val="F6AD5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... and 195 more customers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6175" marB="66175" marR="66175" marL="66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556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439" name="Google Shape;439;p13"/>
          <p:cNvSpPr/>
          <p:nvPr/>
        </p:nvSpPr>
        <p:spPr>
          <a:xfrm>
            <a:off x="7562230" y="4032293"/>
            <a:ext cx="4292841" cy="2820537"/>
          </a:xfrm>
          <a:custGeom>
            <a:rect b="b" l="l" r="r" t="t"/>
            <a:pathLst>
              <a:path extrusionOk="0" h="2820537" w="4292841">
                <a:moveTo>
                  <a:pt x="66170" y="0"/>
                </a:moveTo>
                <a:lnTo>
                  <a:pt x="4226671" y="0"/>
                </a:lnTo>
                <a:cubicBezTo>
                  <a:pt x="4263216" y="0"/>
                  <a:pt x="4292841" y="29625"/>
                  <a:pt x="4292841" y="66170"/>
                </a:cubicBezTo>
                <a:lnTo>
                  <a:pt x="4292841" y="2754368"/>
                </a:lnTo>
                <a:cubicBezTo>
                  <a:pt x="4292841" y="2790912"/>
                  <a:pt x="4263216" y="2820537"/>
                  <a:pt x="4226671" y="2820537"/>
                </a:cubicBezTo>
                <a:lnTo>
                  <a:pt x="66170" y="2820537"/>
                </a:lnTo>
                <a:cubicBezTo>
                  <a:pt x="29625" y="2820537"/>
                  <a:pt x="0" y="2790912"/>
                  <a:pt x="0" y="2754368"/>
                </a:cubicBezTo>
                <a:lnTo>
                  <a:pt x="0" y="66170"/>
                </a:lnTo>
                <a:cubicBezTo>
                  <a:pt x="0" y="29650"/>
                  <a:pt x="29650" y="0"/>
                  <a:pt x="6617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7690436" y="4201856"/>
            <a:ext cx="4036429" cy="231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Distribution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29-d5rjb7amvvhic8s9jb40.png" id="441" name="Google Shape;4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1793" y="4532711"/>
            <a:ext cx="3953715" cy="215055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4"/>
          <p:cNvSpPr/>
          <p:nvPr/>
        </p:nvSpPr>
        <p:spPr>
          <a:xfrm>
            <a:off x="381000" y="419100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461963" y="476250"/>
            <a:ext cx="314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449" name="Google Shape;449;p14"/>
          <p:cNvSpPr/>
          <p:nvPr/>
        </p:nvSpPr>
        <p:spPr>
          <a:xfrm>
            <a:off x="876300" y="381000"/>
            <a:ext cx="6448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Applying K-Means to Mall Data</a:t>
            </a:r>
            <a:endParaRPr b="0" i="0" sz="1600" u="none" cap="none" strike="noStrike"/>
          </a:p>
        </p:txBody>
      </p:sp>
      <p:sp>
        <p:nvSpPr>
          <p:cNvPr id="450" name="Google Shape;450;p14"/>
          <p:cNvSpPr/>
          <p:nvPr/>
        </p:nvSpPr>
        <p:spPr>
          <a:xfrm>
            <a:off x="381000" y="952500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451" name="Google Shape;451;p14"/>
          <p:cNvSpPr/>
          <p:nvPr/>
        </p:nvSpPr>
        <p:spPr>
          <a:xfrm>
            <a:off x="400050" y="1181100"/>
            <a:ext cx="6267450" cy="3238500"/>
          </a:xfrm>
          <a:custGeom>
            <a:rect b="b" l="l" r="r" t="t"/>
            <a:pathLst>
              <a:path extrusionOk="0" h="3238500" w="6267450">
                <a:moveTo>
                  <a:pt x="38100" y="0"/>
                </a:moveTo>
                <a:lnTo>
                  <a:pt x="6191248" y="0"/>
                </a:lnTo>
                <a:cubicBezTo>
                  <a:pt x="6233333" y="0"/>
                  <a:pt x="6267450" y="34117"/>
                  <a:pt x="6267450" y="76202"/>
                </a:cubicBezTo>
                <a:lnTo>
                  <a:pt x="6267450" y="3162298"/>
                </a:lnTo>
                <a:cubicBezTo>
                  <a:pt x="6267450" y="3204383"/>
                  <a:pt x="6233333" y="3238500"/>
                  <a:pt x="6191248" y="3238500"/>
                </a:cubicBez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400050" y="1181100"/>
            <a:ext cx="38100" cy="3238500"/>
          </a:xfrm>
          <a:custGeom>
            <a:rect b="b" l="l" r="r" t="t"/>
            <a:pathLst>
              <a:path extrusionOk="0" h="3238500" w="38100">
                <a:moveTo>
                  <a:pt x="38100" y="0"/>
                </a:moveTo>
                <a:lnTo>
                  <a:pt x="38100" y="0"/>
                </a:lnTo>
                <a:lnTo>
                  <a:pt x="38100" y="3238500"/>
                </a:lnTo>
                <a:lnTo>
                  <a:pt x="38100" y="3238500"/>
                </a:lnTo>
                <a:cubicBezTo>
                  <a:pt x="17072" y="3238500"/>
                  <a:pt x="0" y="3221428"/>
                  <a:pt x="0" y="3200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571500" y="1333500"/>
            <a:ext cx="605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Implementation Steps</a:t>
            </a:r>
            <a:endParaRPr b="0" i="0" sz="1600" u="none" cap="none" strike="noStrike"/>
          </a:p>
        </p:txBody>
      </p:sp>
      <p:sp>
        <p:nvSpPr>
          <p:cNvPr id="454" name="Google Shape;454;p14"/>
          <p:cNvSpPr/>
          <p:nvPr/>
        </p:nvSpPr>
        <p:spPr>
          <a:xfrm>
            <a:off x="571500" y="1752600"/>
            <a:ext cx="5943600" cy="571500"/>
          </a:xfrm>
          <a:custGeom>
            <a:rect b="b" l="l" r="r" t="t"/>
            <a:pathLst>
              <a:path extrusionOk="0" h="571500" w="5943600">
                <a:moveTo>
                  <a:pt x="38102" y="0"/>
                </a:moveTo>
                <a:lnTo>
                  <a:pt x="5905498" y="0"/>
                </a:lnTo>
                <a:cubicBezTo>
                  <a:pt x="5926541" y="0"/>
                  <a:pt x="5943600" y="17059"/>
                  <a:pt x="5943600" y="38102"/>
                </a:cubicBezTo>
                <a:lnTo>
                  <a:pt x="5943600" y="533398"/>
                </a:lnTo>
                <a:cubicBezTo>
                  <a:pt x="5943600" y="554441"/>
                  <a:pt x="5926541" y="571500"/>
                  <a:pt x="59054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47700" y="188595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776288" y="1924050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457" name="Google Shape;457;p14"/>
          <p:cNvSpPr/>
          <p:nvPr/>
        </p:nvSpPr>
        <p:spPr>
          <a:xfrm>
            <a:off x="1066800" y="1828800"/>
            <a:ext cx="2733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Explore &amp; Visualize</a:t>
            </a:r>
            <a:endParaRPr b="0" i="0" sz="1600" u="none" cap="none" strike="noStrike"/>
          </a:p>
        </p:txBody>
      </p:sp>
      <p:sp>
        <p:nvSpPr>
          <p:cNvPr id="458" name="Google Shape;458;p14"/>
          <p:cNvSpPr/>
          <p:nvPr/>
        </p:nvSpPr>
        <p:spPr>
          <a:xfrm>
            <a:off x="1066800" y="2057400"/>
            <a:ext cx="2724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Plot Age vs Income, Income vs Spending Score</a:t>
            </a:r>
            <a:endParaRPr b="0" i="0" sz="1600" u="none" cap="none" strike="noStrike"/>
          </a:p>
        </p:txBody>
      </p:sp>
      <p:sp>
        <p:nvSpPr>
          <p:cNvPr id="459" name="Google Shape;459;p14"/>
          <p:cNvSpPr/>
          <p:nvPr/>
        </p:nvSpPr>
        <p:spPr>
          <a:xfrm>
            <a:off x="571500" y="2400300"/>
            <a:ext cx="5943600" cy="571500"/>
          </a:xfrm>
          <a:custGeom>
            <a:rect b="b" l="l" r="r" t="t"/>
            <a:pathLst>
              <a:path extrusionOk="0" h="571500" w="5943600">
                <a:moveTo>
                  <a:pt x="38102" y="0"/>
                </a:moveTo>
                <a:lnTo>
                  <a:pt x="5905498" y="0"/>
                </a:lnTo>
                <a:cubicBezTo>
                  <a:pt x="5926541" y="0"/>
                  <a:pt x="5943600" y="17059"/>
                  <a:pt x="5943600" y="38102"/>
                </a:cubicBezTo>
                <a:lnTo>
                  <a:pt x="5943600" y="533398"/>
                </a:lnTo>
                <a:cubicBezTo>
                  <a:pt x="5943600" y="554441"/>
                  <a:pt x="5926541" y="571500"/>
                  <a:pt x="59054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647700" y="253365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762000" y="25717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462" name="Google Shape;462;p14"/>
          <p:cNvSpPr/>
          <p:nvPr/>
        </p:nvSpPr>
        <p:spPr>
          <a:xfrm>
            <a:off x="1066800" y="24765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Find Optimal K</a:t>
            </a:r>
            <a:endParaRPr b="0" i="0" sz="1600" u="none" cap="none" strike="noStrike"/>
          </a:p>
        </p:txBody>
      </p:sp>
      <p:sp>
        <p:nvSpPr>
          <p:cNvPr id="463" name="Google Shape;463;p14"/>
          <p:cNvSpPr/>
          <p:nvPr/>
        </p:nvSpPr>
        <p:spPr>
          <a:xfrm>
            <a:off x="1066800" y="2705100"/>
            <a:ext cx="2495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Elbow Method and Silhouette Analysis</a:t>
            </a:r>
            <a:endParaRPr b="0" i="0" sz="1600" u="none" cap="none" strike="noStrike"/>
          </a:p>
        </p:txBody>
      </p:sp>
      <p:sp>
        <p:nvSpPr>
          <p:cNvPr id="464" name="Google Shape;464;p14"/>
          <p:cNvSpPr/>
          <p:nvPr/>
        </p:nvSpPr>
        <p:spPr>
          <a:xfrm>
            <a:off x="571500" y="3048000"/>
            <a:ext cx="5943600" cy="571500"/>
          </a:xfrm>
          <a:custGeom>
            <a:rect b="b" l="l" r="r" t="t"/>
            <a:pathLst>
              <a:path extrusionOk="0" h="571500" w="5943600">
                <a:moveTo>
                  <a:pt x="38102" y="0"/>
                </a:moveTo>
                <a:lnTo>
                  <a:pt x="5905498" y="0"/>
                </a:lnTo>
                <a:cubicBezTo>
                  <a:pt x="5926541" y="0"/>
                  <a:pt x="5943600" y="17059"/>
                  <a:pt x="5943600" y="38102"/>
                </a:cubicBezTo>
                <a:lnTo>
                  <a:pt x="5943600" y="533398"/>
                </a:lnTo>
                <a:cubicBezTo>
                  <a:pt x="5943600" y="554441"/>
                  <a:pt x="5926541" y="571500"/>
                  <a:pt x="59054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47700" y="318135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757238" y="3219450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467" name="Google Shape;467;p14"/>
          <p:cNvSpPr/>
          <p:nvPr/>
        </p:nvSpPr>
        <p:spPr>
          <a:xfrm>
            <a:off x="1066800" y="31242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Apply K-Means</a:t>
            </a:r>
            <a:endParaRPr b="0" i="0" sz="1600" u="none" cap="none" strike="noStrike"/>
          </a:p>
        </p:txBody>
      </p:sp>
      <p:sp>
        <p:nvSpPr>
          <p:cNvPr id="468" name="Google Shape;468;p14"/>
          <p:cNvSpPr/>
          <p:nvPr/>
        </p:nvSpPr>
        <p:spPr>
          <a:xfrm>
            <a:off x="1066800" y="3352800"/>
            <a:ext cx="2428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Fit model with optimal K, get cluster labels</a:t>
            </a:r>
            <a:endParaRPr b="0" i="0" sz="1600" u="none" cap="none" strike="noStrike"/>
          </a:p>
        </p:txBody>
      </p:sp>
      <p:sp>
        <p:nvSpPr>
          <p:cNvPr id="469" name="Google Shape;469;p14"/>
          <p:cNvSpPr/>
          <p:nvPr/>
        </p:nvSpPr>
        <p:spPr>
          <a:xfrm>
            <a:off x="571500" y="3695700"/>
            <a:ext cx="5943600" cy="571500"/>
          </a:xfrm>
          <a:custGeom>
            <a:rect b="b" l="l" r="r" t="t"/>
            <a:pathLst>
              <a:path extrusionOk="0" h="571500" w="5943600">
                <a:moveTo>
                  <a:pt x="38102" y="0"/>
                </a:moveTo>
                <a:lnTo>
                  <a:pt x="5905498" y="0"/>
                </a:lnTo>
                <a:cubicBezTo>
                  <a:pt x="5926541" y="0"/>
                  <a:pt x="5943600" y="17059"/>
                  <a:pt x="5943600" y="38102"/>
                </a:cubicBezTo>
                <a:lnTo>
                  <a:pt x="5943600" y="533398"/>
                </a:lnTo>
                <a:cubicBezTo>
                  <a:pt x="5943600" y="554441"/>
                  <a:pt x="5926541" y="571500"/>
                  <a:pt x="59054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47700" y="3829050"/>
            <a:ext cx="304800" cy="30480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762000" y="386715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472" name="Google Shape;472;p14"/>
          <p:cNvSpPr/>
          <p:nvPr/>
        </p:nvSpPr>
        <p:spPr>
          <a:xfrm>
            <a:off x="1066800" y="3771900"/>
            <a:ext cx="252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Analyze Clusters</a:t>
            </a:r>
            <a:endParaRPr b="0" i="0" sz="1600" u="none" cap="none" strike="noStrike"/>
          </a:p>
        </p:txBody>
      </p:sp>
      <p:sp>
        <p:nvSpPr>
          <p:cNvPr id="473" name="Google Shape;473;p14"/>
          <p:cNvSpPr/>
          <p:nvPr/>
        </p:nvSpPr>
        <p:spPr>
          <a:xfrm>
            <a:off x="1066800" y="4000500"/>
            <a:ext cx="2514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 what each segment represents</a:t>
            </a:r>
            <a:endParaRPr b="0" i="0" sz="1600" u="none" cap="none" strike="noStrike"/>
          </a:p>
        </p:txBody>
      </p:sp>
      <p:sp>
        <p:nvSpPr>
          <p:cNvPr id="474" name="Google Shape;474;p14"/>
          <p:cNvSpPr/>
          <p:nvPr/>
        </p:nvSpPr>
        <p:spPr>
          <a:xfrm>
            <a:off x="381000" y="4572000"/>
            <a:ext cx="6286500" cy="1790700"/>
          </a:xfrm>
          <a:custGeom>
            <a:rect b="b" l="l" r="r" t="t"/>
            <a:pathLst>
              <a:path extrusionOk="0" h="1790700" w="6286500">
                <a:moveTo>
                  <a:pt x="76194" y="0"/>
                </a:moveTo>
                <a:lnTo>
                  <a:pt x="6210306" y="0"/>
                </a:lnTo>
                <a:cubicBezTo>
                  <a:pt x="6252358" y="0"/>
                  <a:pt x="6286500" y="34142"/>
                  <a:pt x="6286500" y="76194"/>
                </a:cubicBezTo>
                <a:lnTo>
                  <a:pt x="6286500" y="1714506"/>
                </a:lnTo>
                <a:cubicBezTo>
                  <a:pt x="6286500" y="1756587"/>
                  <a:pt x="6252387" y="1790700"/>
                  <a:pt x="62103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533400" y="47244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Elbow Analysis Result</a:t>
            </a:r>
            <a:endParaRPr b="0" i="0" sz="1600" u="none" cap="none" strike="noStrike"/>
          </a:p>
        </p:txBody>
      </p:sp>
      <p:sp>
        <p:nvSpPr>
          <p:cNvPr id="476" name="Google Shape;476;p14"/>
          <p:cNvSpPr/>
          <p:nvPr/>
        </p:nvSpPr>
        <p:spPr>
          <a:xfrm>
            <a:off x="542925" y="5143500"/>
            <a:ext cx="5972175" cy="1066800"/>
          </a:xfrm>
          <a:custGeom>
            <a:rect b="b" l="l" r="r" t="t"/>
            <a:pathLst>
              <a:path extrusionOk="0" h="1066800" w="5972175">
                <a:moveTo>
                  <a:pt x="19050" y="0"/>
                </a:moveTo>
                <a:lnTo>
                  <a:pt x="5934080" y="0"/>
                </a:lnTo>
                <a:cubicBezTo>
                  <a:pt x="5955105" y="0"/>
                  <a:pt x="5972175" y="17070"/>
                  <a:pt x="5972175" y="38095"/>
                </a:cubicBezTo>
                <a:lnTo>
                  <a:pt x="5972175" y="1028705"/>
                </a:lnTo>
                <a:cubicBezTo>
                  <a:pt x="5972175" y="1049730"/>
                  <a:pt x="5955105" y="1066800"/>
                  <a:pt x="5934080" y="1066800"/>
                </a:cubicBezTo>
                <a:lnTo>
                  <a:pt x="19050" y="1066800"/>
                </a:lnTo>
                <a:cubicBezTo>
                  <a:pt x="8536" y="1066800"/>
                  <a:pt x="0" y="1058264"/>
                  <a:pt x="0" y="1047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542925" y="5143500"/>
            <a:ext cx="19050" cy="1066800"/>
          </a:xfrm>
          <a:custGeom>
            <a:rect b="b" l="l" r="r" t="t"/>
            <a:pathLst>
              <a:path extrusionOk="0" h="1066800" w="19050">
                <a:moveTo>
                  <a:pt x="19050" y="0"/>
                </a:moveTo>
                <a:lnTo>
                  <a:pt x="19050" y="0"/>
                </a:lnTo>
                <a:lnTo>
                  <a:pt x="19050" y="1066800"/>
                </a:lnTo>
                <a:lnTo>
                  <a:pt x="19050" y="1066800"/>
                </a:lnTo>
                <a:cubicBezTo>
                  <a:pt x="8536" y="1066800"/>
                  <a:pt x="0" y="1058264"/>
                  <a:pt x="0" y="1047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666750" y="5295900"/>
            <a:ext cx="107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Optimal K = 5</a:t>
            </a:r>
            <a:endParaRPr b="0" i="0" sz="1600" u="none" cap="none" strike="noStrike"/>
          </a:p>
        </p:txBody>
      </p:sp>
      <p:sp>
        <p:nvSpPr>
          <p:cNvPr id="479" name="Google Shape;479;p14"/>
          <p:cNvSpPr/>
          <p:nvPr/>
        </p:nvSpPr>
        <p:spPr>
          <a:xfrm>
            <a:off x="666750" y="560070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elbow method shows a clear bend at K=5, suggesting 5 distinct customer segments.</a:t>
            </a:r>
            <a:endParaRPr b="0" i="0" sz="1600" u="none" cap="none" strike="noStrike"/>
          </a:p>
        </p:txBody>
      </p:sp>
      <p:sp>
        <p:nvSpPr>
          <p:cNvPr id="480" name="Google Shape;480;p14"/>
          <p:cNvSpPr/>
          <p:nvPr/>
        </p:nvSpPr>
        <p:spPr>
          <a:xfrm>
            <a:off x="6862763" y="1185863"/>
            <a:ext cx="4943475" cy="5286375"/>
          </a:xfrm>
          <a:custGeom>
            <a:rect b="b" l="l" r="r" t="t"/>
            <a:pathLst>
              <a:path extrusionOk="0" h="5286375" w="4943475">
                <a:moveTo>
                  <a:pt x="76179" y="0"/>
                </a:moveTo>
                <a:lnTo>
                  <a:pt x="4867296" y="0"/>
                </a:lnTo>
                <a:cubicBezTo>
                  <a:pt x="4909369" y="0"/>
                  <a:pt x="4943475" y="34106"/>
                  <a:pt x="4943475" y="76179"/>
                </a:cubicBezTo>
                <a:lnTo>
                  <a:pt x="4943475" y="5210196"/>
                </a:lnTo>
                <a:cubicBezTo>
                  <a:pt x="4943475" y="5252269"/>
                  <a:pt x="4909369" y="5286375"/>
                  <a:pt x="4867296" y="5286375"/>
                </a:cubicBezTo>
                <a:lnTo>
                  <a:pt x="76179" y="5286375"/>
                </a:lnTo>
                <a:cubicBezTo>
                  <a:pt x="34106" y="5286375"/>
                  <a:pt x="0" y="5252269"/>
                  <a:pt x="0" y="5210196"/>
                </a:cubicBezTo>
                <a:lnTo>
                  <a:pt x="0" y="76179"/>
                </a:lnTo>
                <a:cubicBezTo>
                  <a:pt x="0" y="34135"/>
                  <a:pt x="34135" y="0"/>
                  <a:pt x="7617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6972300" y="1343025"/>
            <a:ext cx="472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Customer Segments Discovered</a:t>
            </a:r>
            <a:endParaRPr b="0" i="0" sz="1600" u="none" cap="none" strike="noStrike"/>
          </a:p>
        </p:txBody>
      </p:sp>
      <p:pic>
        <p:nvPicPr>
          <p:cNvPr descr="https://kimi-img.moonshot.cn/pub/slides/26-01-26-17:36:31-d5rjb7thstkinekm2idg.png" id="482" name="Google Shape;4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9925" y="1685925"/>
            <a:ext cx="4629150" cy="457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"/>
          <p:cNvSpPr/>
          <p:nvPr/>
        </p:nvSpPr>
        <p:spPr>
          <a:xfrm>
            <a:off x="329736" y="362710"/>
            <a:ext cx="329736" cy="329736"/>
          </a:xfrm>
          <a:custGeom>
            <a:rect b="b" l="l" r="r" t="t"/>
            <a:pathLst>
              <a:path extrusionOk="0" h="329736" w="329736">
                <a:moveTo>
                  <a:pt x="65947" y="0"/>
                </a:moveTo>
                <a:lnTo>
                  <a:pt x="263789" y="0"/>
                </a:lnTo>
                <a:cubicBezTo>
                  <a:pt x="300186" y="0"/>
                  <a:pt x="329736" y="29550"/>
                  <a:pt x="329736" y="65947"/>
                </a:cubicBezTo>
                <a:lnTo>
                  <a:pt x="329736" y="263789"/>
                </a:lnTo>
                <a:cubicBezTo>
                  <a:pt x="329736" y="300186"/>
                  <a:pt x="300186" y="329736"/>
                  <a:pt x="263789" y="329736"/>
                </a:cubicBezTo>
                <a:lnTo>
                  <a:pt x="65947" y="329736"/>
                </a:lnTo>
                <a:cubicBezTo>
                  <a:pt x="29550" y="329736"/>
                  <a:pt x="0" y="300186"/>
                  <a:pt x="0" y="26378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399805" y="412170"/>
            <a:ext cx="272032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8" u="none" cap="none" strike="noStrike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490" name="Google Shape;490;p15"/>
          <p:cNvSpPr/>
          <p:nvPr/>
        </p:nvSpPr>
        <p:spPr>
          <a:xfrm>
            <a:off x="758394" y="329736"/>
            <a:ext cx="4904828" cy="395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16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Business Impact &amp; Insights</a:t>
            </a:r>
            <a:endParaRPr b="0" i="0" sz="1600" u="none" cap="none" strike="noStrike"/>
          </a:p>
        </p:txBody>
      </p:sp>
      <p:sp>
        <p:nvSpPr>
          <p:cNvPr id="491" name="Google Shape;491;p15"/>
          <p:cNvSpPr/>
          <p:nvPr/>
        </p:nvSpPr>
        <p:spPr>
          <a:xfrm>
            <a:off x="329736" y="824341"/>
            <a:ext cx="1055156" cy="32974"/>
          </a:xfrm>
          <a:custGeom>
            <a:rect b="b" l="l" r="r" t="t"/>
            <a:pathLst>
              <a:path extrusionOk="0" h="32974" w="1055156">
                <a:moveTo>
                  <a:pt x="0" y="0"/>
                </a:moveTo>
                <a:lnTo>
                  <a:pt x="1055156" y="0"/>
                </a:lnTo>
                <a:lnTo>
                  <a:pt x="1055156" y="32974"/>
                </a:lnTo>
                <a:lnTo>
                  <a:pt x="0" y="32974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492" name="Google Shape;492;p15"/>
          <p:cNvSpPr/>
          <p:nvPr/>
        </p:nvSpPr>
        <p:spPr>
          <a:xfrm>
            <a:off x="346223" y="1022183"/>
            <a:ext cx="5671465" cy="4187651"/>
          </a:xfrm>
          <a:custGeom>
            <a:rect b="b" l="l" r="r" t="t"/>
            <a:pathLst>
              <a:path extrusionOk="0" h="4187651" w="5671465">
                <a:moveTo>
                  <a:pt x="32974" y="0"/>
                </a:moveTo>
                <a:lnTo>
                  <a:pt x="5605509" y="0"/>
                </a:lnTo>
                <a:cubicBezTo>
                  <a:pt x="5641935" y="0"/>
                  <a:pt x="5671465" y="29529"/>
                  <a:pt x="5671465" y="65956"/>
                </a:cubicBezTo>
                <a:lnTo>
                  <a:pt x="5671465" y="4121696"/>
                </a:lnTo>
                <a:cubicBezTo>
                  <a:pt x="5671465" y="4158122"/>
                  <a:pt x="5641935" y="4187651"/>
                  <a:pt x="5605509" y="4187651"/>
                </a:cubicBezTo>
                <a:lnTo>
                  <a:pt x="32974" y="4187651"/>
                </a:lnTo>
                <a:cubicBezTo>
                  <a:pt x="14763" y="4187651"/>
                  <a:pt x="0" y="4172888"/>
                  <a:pt x="0" y="415467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346223" y="1022183"/>
            <a:ext cx="32974" cy="4187651"/>
          </a:xfrm>
          <a:custGeom>
            <a:rect b="b" l="l" r="r" t="t"/>
            <a:pathLst>
              <a:path extrusionOk="0" h="4187651" w="32974">
                <a:moveTo>
                  <a:pt x="32974" y="0"/>
                </a:moveTo>
                <a:lnTo>
                  <a:pt x="32974" y="0"/>
                </a:lnTo>
                <a:lnTo>
                  <a:pt x="32974" y="4187651"/>
                </a:lnTo>
                <a:lnTo>
                  <a:pt x="32974" y="4187651"/>
                </a:lnTo>
                <a:cubicBezTo>
                  <a:pt x="14763" y="4187651"/>
                  <a:pt x="0" y="4172888"/>
                  <a:pt x="0" y="4154677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494604" y="1154077"/>
            <a:ext cx="5490110" cy="263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Customer Segments Identified</a:t>
            </a:r>
            <a:endParaRPr b="0" i="0" sz="1600" u="none" cap="none" strike="noStrike"/>
          </a:p>
        </p:txBody>
      </p:sp>
      <p:sp>
        <p:nvSpPr>
          <p:cNvPr id="495" name="Google Shape;495;p15"/>
          <p:cNvSpPr/>
          <p:nvPr/>
        </p:nvSpPr>
        <p:spPr>
          <a:xfrm>
            <a:off x="494604" y="1516787"/>
            <a:ext cx="5391189" cy="659473"/>
          </a:xfrm>
          <a:custGeom>
            <a:rect b="b" l="l" r="r" t="t"/>
            <a:pathLst>
              <a:path extrusionOk="0" h="659473" w="5391189">
                <a:moveTo>
                  <a:pt x="32974" y="0"/>
                </a:moveTo>
                <a:lnTo>
                  <a:pt x="5358215" y="0"/>
                </a:lnTo>
                <a:cubicBezTo>
                  <a:pt x="5376426" y="0"/>
                  <a:pt x="5391189" y="14763"/>
                  <a:pt x="5391189" y="32974"/>
                </a:cubicBezTo>
                <a:lnTo>
                  <a:pt x="5391189" y="626499"/>
                </a:lnTo>
                <a:cubicBezTo>
                  <a:pt x="5391189" y="644710"/>
                  <a:pt x="5376426" y="659473"/>
                  <a:pt x="5358215" y="659473"/>
                </a:cubicBezTo>
                <a:lnTo>
                  <a:pt x="32974" y="659473"/>
                </a:lnTo>
                <a:cubicBezTo>
                  <a:pt x="14763" y="659473"/>
                  <a:pt x="0" y="644710"/>
                  <a:pt x="0" y="626499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593525" y="1632195"/>
            <a:ext cx="197842" cy="197842"/>
          </a:xfrm>
          <a:custGeom>
            <a:rect b="b" l="l" r="r" t="t"/>
            <a:pathLst>
              <a:path extrusionOk="0" h="197842" w="197842">
                <a:moveTo>
                  <a:pt x="98921" y="0"/>
                </a:moveTo>
                <a:lnTo>
                  <a:pt x="98921" y="0"/>
                </a:lnTo>
                <a:cubicBezTo>
                  <a:pt x="153517" y="0"/>
                  <a:pt x="197842" y="44325"/>
                  <a:pt x="197842" y="98921"/>
                </a:cubicBezTo>
                <a:lnTo>
                  <a:pt x="197842" y="98921"/>
                </a:lnTo>
                <a:cubicBezTo>
                  <a:pt x="197842" y="153517"/>
                  <a:pt x="153517" y="197842"/>
                  <a:pt x="98921" y="197842"/>
                </a:cubicBezTo>
                <a:lnTo>
                  <a:pt x="98921" y="197842"/>
                </a:lnTo>
                <a:cubicBezTo>
                  <a:pt x="44325" y="197842"/>
                  <a:pt x="0" y="153517"/>
                  <a:pt x="0" y="98921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857314" y="1615708"/>
            <a:ext cx="2019635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Segment 1: Budget Conscious</a:t>
            </a:r>
            <a:endParaRPr b="0" i="0" sz="1600" u="none" cap="none" strike="noStrike"/>
          </a:p>
        </p:txBody>
      </p:sp>
      <p:sp>
        <p:nvSpPr>
          <p:cNvPr id="498" name="Google Shape;498;p15"/>
          <p:cNvSpPr/>
          <p:nvPr/>
        </p:nvSpPr>
        <p:spPr>
          <a:xfrm>
            <a:off x="593525" y="1912471"/>
            <a:ext cx="5251051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Low income, low spending. </a:t>
            </a: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Discounts, value products</a:t>
            </a:r>
            <a:endParaRPr b="0" i="0" sz="1600" u="none" cap="none" strike="noStrike"/>
          </a:p>
        </p:txBody>
      </p:sp>
      <p:sp>
        <p:nvSpPr>
          <p:cNvPr id="499" name="Google Shape;499;p15"/>
          <p:cNvSpPr/>
          <p:nvPr/>
        </p:nvSpPr>
        <p:spPr>
          <a:xfrm>
            <a:off x="494604" y="2242207"/>
            <a:ext cx="5391189" cy="659473"/>
          </a:xfrm>
          <a:custGeom>
            <a:rect b="b" l="l" r="r" t="t"/>
            <a:pathLst>
              <a:path extrusionOk="0" h="659473" w="5391189">
                <a:moveTo>
                  <a:pt x="32974" y="0"/>
                </a:moveTo>
                <a:lnTo>
                  <a:pt x="5358215" y="0"/>
                </a:lnTo>
                <a:cubicBezTo>
                  <a:pt x="5376426" y="0"/>
                  <a:pt x="5391189" y="14763"/>
                  <a:pt x="5391189" y="32974"/>
                </a:cubicBezTo>
                <a:lnTo>
                  <a:pt x="5391189" y="626499"/>
                </a:lnTo>
                <a:cubicBezTo>
                  <a:pt x="5391189" y="644710"/>
                  <a:pt x="5376426" y="659473"/>
                  <a:pt x="5358215" y="659473"/>
                </a:cubicBezTo>
                <a:lnTo>
                  <a:pt x="32974" y="659473"/>
                </a:lnTo>
                <a:cubicBezTo>
                  <a:pt x="14763" y="659473"/>
                  <a:pt x="0" y="644710"/>
                  <a:pt x="0" y="626499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593525" y="2357615"/>
            <a:ext cx="197842" cy="197842"/>
          </a:xfrm>
          <a:custGeom>
            <a:rect b="b" l="l" r="r" t="t"/>
            <a:pathLst>
              <a:path extrusionOk="0" h="197842" w="197842">
                <a:moveTo>
                  <a:pt x="98921" y="0"/>
                </a:moveTo>
                <a:lnTo>
                  <a:pt x="98921" y="0"/>
                </a:lnTo>
                <a:cubicBezTo>
                  <a:pt x="153517" y="0"/>
                  <a:pt x="197842" y="44325"/>
                  <a:pt x="197842" y="98921"/>
                </a:cubicBezTo>
                <a:lnTo>
                  <a:pt x="197842" y="98921"/>
                </a:lnTo>
                <a:cubicBezTo>
                  <a:pt x="197842" y="153517"/>
                  <a:pt x="153517" y="197842"/>
                  <a:pt x="98921" y="197842"/>
                </a:cubicBezTo>
                <a:lnTo>
                  <a:pt x="98921" y="197842"/>
                </a:lnTo>
                <a:cubicBezTo>
                  <a:pt x="44325" y="197842"/>
                  <a:pt x="0" y="153517"/>
                  <a:pt x="0" y="98921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857314" y="2341128"/>
            <a:ext cx="1714629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Segment 2: Big Spenders</a:t>
            </a:r>
            <a:endParaRPr b="0" i="0" sz="1600" u="none" cap="none" strike="noStrike"/>
          </a:p>
        </p:txBody>
      </p:sp>
      <p:sp>
        <p:nvSpPr>
          <p:cNvPr id="502" name="Google Shape;502;p15"/>
          <p:cNvSpPr/>
          <p:nvPr/>
        </p:nvSpPr>
        <p:spPr>
          <a:xfrm>
            <a:off x="593525" y="2637890"/>
            <a:ext cx="5251051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income, high spending. </a:t>
            </a: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Premium products, VIP</a:t>
            </a:r>
            <a:endParaRPr b="0" i="0" sz="1600" u="none" cap="none" strike="noStrike"/>
          </a:p>
        </p:txBody>
      </p:sp>
      <p:sp>
        <p:nvSpPr>
          <p:cNvPr id="503" name="Google Shape;503;p15"/>
          <p:cNvSpPr/>
          <p:nvPr/>
        </p:nvSpPr>
        <p:spPr>
          <a:xfrm>
            <a:off x="494604" y="2967627"/>
            <a:ext cx="5391189" cy="659473"/>
          </a:xfrm>
          <a:custGeom>
            <a:rect b="b" l="l" r="r" t="t"/>
            <a:pathLst>
              <a:path extrusionOk="0" h="659473" w="5391189">
                <a:moveTo>
                  <a:pt x="32974" y="0"/>
                </a:moveTo>
                <a:lnTo>
                  <a:pt x="5358215" y="0"/>
                </a:lnTo>
                <a:cubicBezTo>
                  <a:pt x="5376426" y="0"/>
                  <a:pt x="5391189" y="14763"/>
                  <a:pt x="5391189" y="32974"/>
                </a:cubicBezTo>
                <a:lnTo>
                  <a:pt x="5391189" y="626499"/>
                </a:lnTo>
                <a:cubicBezTo>
                  <a:pt x="5391189" y="644710"/>
                  <a:pt x="5376426" y="659473"/>
                  <a:pt x="5358215" y="659473"/>
                </a:cubicBezTo>
                <a:lnTo>
                  <a:pt x="32974" y="659473"/>
                </a:lnTo>
                <a:cubicBezTo>
                  <a:pt x="14763" y="659473"/>
                  <a:pt x="0" y="644710"/>
                  <a:pt x="0" y="626499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4A5568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593525" y="3083034"/>
            <a:ext cx="197842" cy="197842"/>
          </a:xfrm>
          <a:custGeom>
            <a:rect b="b" l="l" r="r" t="t"/>
            <a:pathLst>
              <a:path extrusionOk="0" h="197842" w="197842">
                <a:moveTo>
                  <a:pt x="98921" y="0"/>
                </a:moveTo>
                <a:lnTo>
                  <a:pt x="98921" y="0"/>
                </a:lnTo>
                <a:cubicBezTo>
                  <a:pt x="153517" y="0"/>
                  <a:pt x="197842" y="44325"/>
                  <a:pt x="197842" y="98921"/>
                </a:cubicBezTo>
                <a:lnTo>
                  <a:pt x="197842" y="98921"/>
                </a:lnTo>
                <a:cubicBezTo>
                  <a:pt x="197842" y="153517"/>
                  <a:pt x="153517" y="197842"/>
                  <a:pt x="98921" y="197842"/>
                </a:cubicBezTo>
                <a:lnTo>
                  <a:pt x="98921" y="197842"/>
                </a:lnTo>
                <a:cubicBezTo>
                  <a:pt x="44325" y="197842"/>
                  <a:pt x="0" y="153517"/>
                  <a:pt x="0" y="98921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857314" y="3066548"/>
            <a:ext cx="1747602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Segment 3: Average Joes</a:t>
            </a:r>
            <a:endParaRPr b="0" i="0" sz="1600" u="none" cap="none" strike="noStrike"/>
          </a:p>
        </p:txBody>
      </p:sp>
      <p:sp>
        <p:nvSpPr>
          <p:cNvPr id="506" name="Google Shape;506;p15"/>
          <p:cNvSpPr/>
          <p:nvPr/>
        </p:nvSpPr>
        <p:spPr>
          <a:xfrm>
            <a:off x="593525" y="3363310"/>
            <a:ext cx="5251051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Mid income, moderate spending. </a:t>
            </a: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Loyalty programs</a:t>
            </a:r>
            <a:endParaRPr b="0" i="0" sz="1600" u="none" cap="none" strike="noStrike"/>
          </a:p>
        </p:txBody>
      </p:sp>
      <p:sp>
        <p:nvSpPr>
          <p:cNvPr id="507" name="Google Shape;507;p15"/>
          <p:cNvSpPr/>
          <p:nvPr/>
        </p:nvSpPr>
        <p:spPr>
          <a:xfrm>
            <a:off x="494604" y="3693047"/>
            <a:ext cx="5391189" cy="659473"/>
          </a:xfrm>
          <a:custGeom>
            <a:rect b="b" l="l" r="r" t="t"/>
            <a:pathLst>
              <a:path extrusionOk="0" h="659473" w="5391189">
                <a:moveTo>
                  <a:pt x="32974" y="0"/>
                </a:moveTo>
                <a:lnTo>
                  <a:pt x="5358215" y="0"/>
                </a:lnTo>
                <a:cubicBezTo>
                  <a:pt x="5376426" y="0"/>
                  <a:pt x="5391189" y="14763"/>
                  <a:pt x="5391189" y="32974"/>
                </a:cubicBezTo>
                <a:lnTo>
                  <a:pt x="5391189" y="626499"/>
                </a:lnTo>
                <a:cubicBezTo>
                  <a:pt x="5391189" y="644710"/>
                  <a:pt x="5376426" y="659473"/>
                  <a:pt x="5358215" y="659473"/>
                </a:cubicBezTo>
                <a:lnTo>
                  <a:pt x="32974" y="659473"/>
                </a:lnTo>
                <a:cubicBezTo>
                  <a:pt x="14763" y="659473"/>
                  <a:pt x="0" y="644710"/>
                  <a:pt x="0" y="626499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593525" y="3808454"/>
            <a:ext cx="197842" cy="197842"/>
          </a:xfrm>
          <a:custGeom>
            <a:rect b="b" l="l" r="r" t="t"/>
            <a:pathLst>
              <a:path extrusionOk="0" h="197842" w="197842">
                <a:moveTo>
                  <a:pt x="98921" y="0"/>
                </a:moveTo>
                <a:lnTo>
                  <a:pt x="98921" y="0"/>
                </a:lnTo>
                <a:cubicBezTo>
                  <a:pt x="153517" y="0"/>
                  <a:pt x="197842" y="44325"/>
                  <a:pt x="197842" y="98921"/>
                </a:cubicBezTo>
                <a:lnTo>
                  <a:pt x="197842" y="98921"/>
                </a:lnTo>
                <a:cubicBezTo>
                  <a:pt x="197842" y="153517"/>
                  <a:pt x="153517" y="197842"/>
                  <a:pt x="98921" y="197842"/>
                </a:cubicBezTo>
                <a:lnTo>
                  <a:pt x="98921" y="197842"/>
                </a:lnTo>
                <a:cubicBezTo>
                  <a:pt x="44325" y="197842"/>
                  <a:pt x="0" y="153517"/>
                  <a:pt x="0" y="98921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7180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857314" y="3791968"/>
            <a:ext cx="2060852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Segment 4: Window Shoppers</a:t>
            </a:r>
            <a:endParaRPr b="0" i="0" sz="1600" u="none" cap="none" strike="noStrike"/>
          </a:p>
        </p:txBody>
      </p:sp>
      <p:sp>
        <p:nvSpPr>
          <p:cNvPr id="510" name="Google Shape;510;p15"/>
          <p:cNvSpPr/>
          <p:nvPr/>
        </p:nvSpPr>
        <p:spPr>
          <a:xfrm>
            <a:off x="593525" y="4088730"/>
            <a:ext cx="5251051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Low income, high browsing. </a:t>
            </a: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Engagement campaigns</a:t>
            </a:r>
            <a:endParaRPr b="0" i="0" sz="1600" u="none" cap="none" strike="noStrike"/>
          </a:p>
        </p:txBody>
      </p:sp>
      <p:sp>
        <p:nvSpPr>
          <p:cNvPr id="511" name="Google Shape;511;p15"/>
          <p:cNvSpPr/>
          <p:nvPr/>
        </p:nvSpPr>
        <p:spPr>
          <a:xfrm>
            <a:off x="494604" y="4418467"/>
            <a:ext cx="5391189" cy="659473"/>
          </a:xfrm>
          <a:custGeom>
            <a:rect b="b" l="l" r="r" t="t"/>
            <a:pathLst>
              <a:path extrusionOk="0" h="659473" w="5391189">
                <a:moveTo>
                  <a:pt x="32974" y="0"/>
                </a:moveTo>
                <a:lnTo>
                  <a:pt x="5358215" y="0"/>
                </a:lnTo>
                <a:cubicBezTo>
                  <a:pt x="5376426" y="0"/>
                  <a:pt x="5391189" y="14763"/>
                  <a:pt x="5391189" y="32974"/>
                </a:cubicBezTo>
                <a:lnTo>
                  <a:pt x="5391189" y="626499"/>
                </a:lnTo>
                <a:cubicBezTo>
                  <a:pt x="5391189" y="644710"/>
                  <a:pt x="5376426" y="659473"/>
                  <a:pt x="5358215" y="659473"/>
                </a:cubicBezTo>
                <a:lnTo>
                  <a:pt x="32974" y="659473"/>
                </a:lnTo>
                <a:cubicBezTo>
                  <a:pt x="14763" y="659473"/>
                  <a:pt x="0" y="644710"/>
                  <a:pt x="0" y="626499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DD6B2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593525" y="4533874"/>
            <a:ext cx="197842" cy="197842"/>
          </a:xfrm>
          <a:custGeom>
            <a:rect b="b" l="l" r="r" t="t"/>
            <a:pathLst>
              <a:path extrusionOk="0" h="197842" w="197842">
                <a:moveTo>
                  <a:pt x="98921" y="0"/>
                </a:moveTo>
                <a:lnTo>
                  <a:pt x="98921" y="0"/>
                </a:lnTo>
                <a:cubicBezTo>
                  <a:pt x="153517" y="0"/>
                  <a:pt x="197842" y="44325"/>
                  <a:pt x="197842" y="98921"/>
                </a:cubicBezTo>
                <a:lnTo>
                  <a:pt x="197842" y="98921"/>
                </a:lnTo>
                <a:cubicBezTo>
                  <a:pt x="197842" y="153517"/>
                  <a:pt x="153517" y="197842"/>
                  <a:pt x="98921" y="197842"/>
                </a:cubicBezTo>
                <a:lnTo>
                  <a:pt x="98921" y="197842"/>
                </a:lnTo>
                <a:cubicBezTo>
                  <a:pt x="44325" y="197842"/>
                  <a:pt x="0" y="153517"/>
                  <a:pt x="0" y="98921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DD6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857314" y="4517387"/>
            <a:ext cx="1920714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Segment 5: Careful Planners</a:t>
            </a:r>
            <a:endParaRPr b="0" i="0" sz="1600" u="none" cap="none" strike="noStrike"/>
          </a:p>
        </p:txBody>
      </p:sp>
      <p:sp>
        <p:nvSpPr>
          <p:cNvPr id="514" name="Google Shape;514;p15"/>
          <p:cNvSpPr/>
          <p:nvPr/>
        </p:nvSpPr>
        <p:spPr>
          <a:xfrm>
            <a:off x="593525" y="4814150"/>
            <a:ext cx="5251051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income, low spending. </a:t>
            </a:r>
            <a:r>
              <a:rPr b="1" i="0" lang="en-US" sz="909" u="none" cap="none" strike="noStrike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Strategy:</a:t>
            </a: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Detailed info, reviews</a:t>
            </a:r>
            <a:endParaRPr b="0" i="0" sz="1600" u="none" cap="none" strike="noStrike"/>
          </a:p>
        </p:txBody>
      </p:sp>
      <p:sp>
        <p:nvSpPr>
          <p:cNvPr id="515" name="Google Shape;515;p15"/>
          <p:cNvSpPr/>
          <p:nvPr/>
        </p:nvSpPr>
        <p:spPr>
          <a:xfrm>
            <a:off x="6182942" y="1026304"/>
            <a:ext cx="5679708" cy="3107765"/>
          </a:xfrm>
          <a:custGeom>
            <a:rect b="b" l="l" r="r" t="t"/>
            <a:pathLst>
              <a:path extrusionOk="0" h="3107765" w="5679708">
                <a:moveTo>
                  <a:pt x="65947" y="0"/>
                </a:moveTo>
                <a:lnTo>
                  <a:pt x="5613761" y="0"/>
                </a:lnTo>
                <a:cubicBezTo>
                  <a:pt x="5650183" y="0"/>
                  <a:pt x="5679708" y="29525"/>
                  <a:pt x="5679708" y="65947"/>
                </a:cubicBezTo>
                <a:lnTo>
                  <a:pt x="5679708" y="3041818"/>
                </a:lnTo>
                <a:cubicBezTo>
                  <a:pt x="5679708" y="3078239"/>
                  <a:pt x="5650183" y="3107765"/>
                  <a:pt x="5613761" y="3107765"/>
                </a:cubicBezTo>
                <a:lnTo>
                  <a:pt x="65947" y="3107765"/>
                </a:lnTo>
                <a:cubicBezTo>
                  <a:pt x="29525" y="3107765"/>
                  <a:pt x="0" y="3078239"/>
                  <a:pt x="0" y="3041818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6318958" y="1162320"/>
            <a:ext cx="5506596" cy="263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Real Case Studies</a:t>
            </a:r>
            <a:endParaRPr b="0" i="0" sz="1600" u="none" cap="none" strike="noStrike"/>
          </a:p>
        </p:txBody>
      </p:sp>
      <p:sp>
        <p:nvSpPr>
          <p:cNvPr id="517" name="Google Shape;517;p15"/>
          <p:cNvSpPr/>
          <p:nvPr/>
        </p:nvSpPr>
        <p:spPr>
          <a:xfrm>
            <a:off x="6335445" y="1525030"/>
            <a:ext cx="5391189" cy="1121103"/>
          </a:xfrm>
          <a:custGeom>
            <a:rect b="b" l="l" r="r" t="t"/>
            <a:pathLst>
              <a:path extrusionOk="0" h="1121103" w="5391189">
                <a:moveTo>
                  <a:pt x="32972" y="0"/>
                </a:moveTo>
                <a:lnTo>
                  <a:pt x="5358217" y="0"/>
                </a:lnTo>
                <a:cubicBezTo>
                  <a:pt x="5376427" y="0"/>
                  <a:pt x="5391189" y="14762"/>
                  <a:pt x="5391189" y="32972"/>
                </a:cubicBezTo>
                <a:lnTo>
                  <a:pt x="5391189" y="1088132"/>
                </a:lnTo>
                <a:cubicBezTo>
                  <a:pt x="5391189" y="1106342"/>
                  <a:pt x="5376427" y="1121103"/>
                  <a:pt x="5358217" y="1121103"/>
                </a:cubicBezTo>
                <a:lnTo>
                  <a:pt x="32972" y="1121103"/>
                </a:lnTo>
                <a:cubicBezTo>
                  <a:pt x="14762" y="1121103"/>
                  <a:pt x="0" y="1106342"/>
                  <a:pt x="0" y="1088132"/>
                </a:cubicBezTo>
                <a:lnTo>
                  <a:pt x="0" y="32972"/>
                </a:lnTo>
                <a:cubicBezTo>
                  <a:pt x="0" y="14774"/>
                  <a:pt x="14774" y="0"/>
                  <a:pt x="32972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6335445" y="1525030"/>
            <a:ext cx="32974" cy="1121103"/>
          </a:xfrm>
          <a:custGeom>
            <a:rect b="b" l="l" r="r" t="t"/>
            <a:pathLst>
              <a:path extrusionOk="0" h="1121103" w="32974">
                <a:moveTo>
                  <a:pt x="32974" y="0"/>
                </a:moveTo>
                <a:lnTo>
                  <a:pt x="32974" y="0"/>
                </a:lnTo>
                <a:lnTo>
                  <a:pt x="32974" y="1121103"/>
                </a:lnTo>
                <a:lnTo>
                  <a:pt x="32974" y="1121103"/>
                </a:lnTo>
                <a:cubicBezTo>
                  <a:pt x="14763" y="1121103"/>
                  <a:pt x="0" y="1106341"/>
                  <a:pt x="0" y="108813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6483827" y="1656925"/>
            <a:ext cx="5185103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Wondercide</a:t>
            </a:r>
            <a:endParaRPr b="0" i="0" sz="1600" u="none" cap="none" strike="noStrike"/>
          </a:p>
        </p:txBody>
      </p:sp>
      <p:sp>
        <p:nvSpPr>
          <p:cNvPr id="520" name="Google Shape;520;p15"/>
          <p:cNvSpPr/>
          <p:nvPr/>
        </p:nvSpPr>
        <p:spPr>
          <a:xfrm>
            <a:off x="6483827" y="1953688"/>
            <a:ext cx="931505" cy="329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600%</a:t>
            </a:r>
            <a:endParaRPr b="0" i="0" sz="1600" u="none" cap="none" strike="noStrike"/>
          </a:p>
        </p:txBody>
      </p:sp>
      <p:sp>
        <p:nvSpPr>
          <p:cNvPr id="521" name="Google Shape;521;p15"/>
          <p:cNvSpPr/>
          <p:nvPr/>
        </p:nvSpPr>
        <p:spPr>
          <a:xfrm>
            <a:off x="7398845" y="2019635"/>
            <a:ext cx="725420" cy="19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Overall ROI</a:t>
            </a:r>
            <a:endParaRPr b="0" i="0" sz="1600" u="none" cap="none" strike="noStrike"/>
          </a:p>
        </p:txBody>
      </p:sp>
      <p:sp>
        <p:nvSpPr>
          <p:cNvPr id="522" name="Google Shape;522;p15"/>
          <p:cNvSpPr/>
          <p:nvPr/>
        </p:nvSpPr>
        <p:spPr>
          <a:xfrm>
            <a:off x="6483827" y="2349371"/>
            <a:ext cx="5168617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 mail to segmented customers: 310% ROI for opted-out, 203% for inactive</a:t>
            </a:r>
            <a:endParaRPr b="0" i="0" sz="1600" u="none" cap="none" strike="noStrike"/>
          </a:p>
        </p:txBody>
      </p:sp>
      <p:sp>
        <p:nvSpPr>
          <p:cNvPr id="523" name="Google Shape;523;p15"/>
          <p:cNvSpPr/>
          <p:nvPr/>
        </p:nvSpPr>
        <p:spPr>
          <a:xfrm>
            <a:off x="6335445" y="2745055"/>
            <a:ext cx="5391189" cy="1252998"/>
          </a:xfrm>
          <a:custGeom>
            <a:rect b="b" l="l" r="r" t="t"/>
            <a:pathLst>
              <a:path extrusionOk="0" h="1252998" w="5391189">
                <a:moveTo>
                  <a:pt x="32974" y="0"/>
                </a:moveTo>
                <a:lnTo>
                  <a:pt x="5358210" y="0"/>
                </a:lnTo>
                <a:cubicBezTo>
                  <a:pt x="5376423" y="0"/>
                  <a:pt x="5391189" y="14765"/>
                  <a:pt x="5391189" y="32979"/>
                </a:cubicBezTo>
                <a:lnTo>
                  <a:pt x="5391189" y="1220019"/>
                </a:lnTo>
                <a:cubicBezTo>
                  <a:pt x="5391189" y="1238233"/>
                  <a:pt x="5376423" y="1252998"/>
                  <a:pt x="5358210" y="1252998"/>
                </a:cubicBezTo>
                <a:lnTo>
                  <a:pt x="32974" y="1252998"/>
                </a:lnTo>
                <a:cubicBezTo>
                  <a:pt x="14763" y="1252998"/>
                  <a:pt x="0" y="1238235"/>
                  <a:pt x="0" y="1220024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A0AEC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6335445" y="2745055"/>
            <a:ext cx="32974" cy="1252998"/>
          </a:xfrm>
          <a:custGeom>
            <a:rect b="b" l="l" r="r" t="t"/>
            <a:pathLst>
              <a:path extrusionOk="0" h="1252998" w="32974">
                <a:moveTo>
                  <a:pt x="32974" y="0"/>
                </a:moveTo>
                <a:lnTo>
                  <a:pt x="32974" y="0"/>
                </a:lnTo>
                <a:lnTo>
                  <a:pt x="32974" y="1252998"/>
                </a:lnTo>
                <a:lnTo>
                  <a:pt x="32974" y="1252998"/>
                </a:lnTo>
                <a:cubicBezTo>
                  <a:pt x="14763" y="1252998"/>
                  <a:pt x="0" y="1238235"/>
                  <a:pt x="0" y="1220024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6483827" y="2876949"/>
            <a:ext cx="5185103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Mountain Khakis</a:t>
            </a:r>
            <a:endParaRPr b="0" i="0" sz="1600" u="none" cap="none" strike="noStrike"/>
          </a:p>
        </p:txBody>
      </p:sp>
      <p:sp>
        <p:nvSpPr>
          <p:cNvPr id="526" name="Google Shape;526;p15"/>
          <p:cNvSpPr/>
          <p:nvPr/>
        </p:nvSpPr>
        <p:spPr>
          <a:xfrm>
            <a:off x="6422001" y="3173712"/>
            <a:ext cx="2646134" cy="29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6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7.1x</a:t>
            </a:r>
            <a:endParaRPr b="0" i="0" sz="1600" u="none" cap="none" strike="noStrike"/>
          </a:p>
        </p:txBody>
      </p:sp>
      <p:sp>
        <p:nvSpPr>
          <p:cNvPr id="527" name="Google Shape;527;p15"/>
          <p:cNvSpPr/>
          <p:nvPr/>
        </p:nvSpPr>
        <p:spPr>
          <a:xfrm>
            <a:off x="6454975" y="3470475"/>
            <a:ext cx="2580187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Sales Increase</a:t>
            </a:r>
            <a:endParaRPr b="0" i="0" sz="1600" u="none" cap="none" strike="noStrike"/>
          </a:p>
        </p:txBody>
      </p:sp>
      <p:sp>
        <p:nvSpPr>
          <p:cNvPr id="528" name="Google Shape;528;p15"/>
          <p:cNvSpPr/>
          <p:nvPr/>
        </p:nvSpPr>
        <p:spPr>
          <a:xfrm>
            <a:off x="9008628" y="3173712"/>
            <a:ext cx="2646134" cy="29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6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5x</a:t>
            </a:r>
            <a:endParaRPr b="0" i="0" sz="1600" u="none" cap="none" strike="noStrike"/>
          </a:p>
        </p:txBody>
      </p:sp>
      <p:sp>
        <p:nvSpPr>
          <p:cNvPr id="529" name="Google Shape;529;p15"/>
          <p:cNvSpPr/>
          <p:nvPr/>
        </p:nvSpPr>
        <p:spPr>
          <a:xfrm>
            <a:off x="9041601" y="3470475"/>
            <a:ext cx="2580187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ROAS</a:t>
            </a:r>
            <a:endParaRPr b="0" i="0" sz="1600" u="none" cap="none" strike="noStrike"/>
          </a:p>
        </p:txBody>
      </p:sp>
      <p:sp>
        <p:nvSpPr>
          <p:cNvPr id="530" name="Google Shape;530;p15"/>
          <p:cNvSpPr/>
          <p:nvPr/>
        </p:nvSpPr>
        <p:spPr>
          <a:xfrm>
            <a:off x="6483827" y="3701290"/>
            <a:ext cx="5168617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Targeted female gift-buyers during holidays: 49% boost in sales, 47% boost in customers</a:t>
            </a:r>
            <a:endParaRPr b="0" i="0" sz="1600" u="none" cap="none" strike="noStrike"/>
          </a:p>
        </p:txBody>
      </p:sp>
      <p:sp>
        <p:nvSpPr>
          <p:cNvPr id="531" name="Google Shape;531;p15"/>
          <p:cNvSpPr/>
          <p:nvPr/>
        </p:nvSpPr>
        <p:spPr>
          <a:xfrm>
            <a:off x="6182942" y="4274207"/>
            <a:ext cx="5679708" cy="2415318"/>
          </a:xfrm>
          <a:custGeom>
            <a:rect b="b" l="l" r="r" t="t"/>
            <a:pathLst>
              <a:path extrusionOk="0" h="2415318" w="5679708">
                <a:moveTo>
                  <a:pt x="65938" y="0"/>
                </a:moveTo>
                <a:lnTo>
                  <a:pt x="5613770" y="0"/>
                </a:lnTo>
                <a:cubicBezTo>
                  <a:pt x="5650186" y="0"/>
                  <a:pt x="5679708" y="29522"/>
                  <a:pt x="5679708" y="65938"/>
                </a:cubicBezTo>
                <a:lnTo>
                  <a:pt x="5679708" y="2349380"/>
                </a:lnTo>
                <a:cubicBezTo>
                  <a:pt x="5679708" y="2385797"/>
                  <a:pt x="5650186" y="2415318"/>
                  <a:pt x="5613770" y="2415318"/>
                </a:cubicBezTo>
                <a:lnTo>
                  <a:pt x="65938" y="2415318"/>
                </a:lnTo>
                <a:cubicBezTo>
                  <a:pt x="29522" y="2415318"/>
                  <a:pt x="0" y="2385797"/>
                  <a:pt x="0" y="2349380"/>
                </a:cubicBezTo>
                <a:lnTo>
                  <a:pt x="0" y="65938"/>
                </a:lnTo>
                <a:cubicBezTo>
                  <a:pt x="0" y="29546"/>
                  <a:pt x="29546" y="0"/>
                  <a:pt x="6593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cap="flat" cmpd="sng" w="12700">
            <a:solidFill>
              <a:srgbClr val="A0AEC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6318958" y="4410223"/>
            <a:ext cx="5506596" cy="263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Key Benefits</a:t>
            </a:r>
            <a:endParaRPr b="0" i="0" sz="1600" u="none" cap="none" strike="noStrike"/>
          </a:p>
        </p:txBody>
      </p:sp>
      <p:sp>
        <p:nvSpPr>
          <p:cNvPr id="533" name="Google Shape;533;p15"/>
          <p:cNvSpPr/>
          <p:nvPr/>
        </p:nvSpPr>
        <p:spPr>
          <a:xfrm>
            <a:off x="6318958" y="4772933"/>
            <a:ext cx="263789" cy="263789"/>
          </a:xfrm>
          <a:custGeom>
            <a:rect b="b" l="l" r="r" t="t"/>
            <a:pathLst>
              <a:path extrusionOk="0" h="263789" w="263789">
                <a:moveTo>
                  <a:pt x="131895" y="0"/>
                </a:moveTo>
                <a:lnTo>
                  <a:pt x="131895" y="0"/>
                </a:lnTo>
                <a:cubicBezTo>
                  <a:pt x="204689" y="0"/>
                  <a:pt x="263789" y="59100"/>
                  <a:pt x="263789" y="131895"/>
                </a:cubicBezTo>
                <a:lnTo>
                  <a:pt x="263789" y="131895"/>
                </a:lnTo>
                <a:cubicBezTo>
                  <a:pt x="263789" y="204689"/>
                  <a:pt x="204689" y="263789"/>
                  <a:pt x="131895" y="263789"/>
                </a:cubicBezTo>
                <a:lnTo>
                  <a:pt x="131895" y="263789"/>
                </a:lnTo>
                <a:cubicBezTo>
                  <a:pt x="59100" y="263789"/>
                  <a:pt x="0" y="204689"/>
                  <a:pt x="0" y="131895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6384906" y="4838880"/>
            <a:ext cx="131895" cy="131895"/>
          </a:xfrm>
          <a:custGeom>
            <a:rect b="b" l="l" r="r" t="t"/>
            <a:pathLst>
              <a:path extrusionOk="0" h="131895" w="131895">
                <a:moveTo>
                  <a:pt x="115408" y="65947"/>
                </a:moveTo>
                <a:cubicBezTo>
                  <a:pt x="115408" y="38649"/>
                  <a:pt x="93245" y="16487"/>
                  <a:pt x="65947" y="16487"/>
                </a:cubicBezTo>
                <a:cubicBezTo>
                  <a:pt x="38649" y="16487"/>
                  <a:pt x="16487" y="38649"/>
                  <a:pt x="16487" y="65947"/>
                </a:cubicBezTo>
                <a:cubicBezTo>
                  <a:pt x="16487" y="93245"/>
                  <a:pt x="38649" y="115408"/>
                  <a:pt x="65947" y="115408"/>
                </a:cubicBezTo>
                <a:cubicBezTo>
                  <a:pt x="93245" y="115408"/>
                  <a:pt x="115408" y="93245"/>
                  <a:pt x="115408" y="65947"/>
                </a:cubicBezTo>
                <a:close/>
                <a:moveTo>
                  <a:pt x="0" y="65947"/>
                </a:moveTo>
                <a:cubicBezTo>
                  <a:pt x="0" y="29550"/>
                  <a:pt x="29550" y="0"/>
                  <a:pt x="65947" y="0"/>
                </a:cubicBezTo>
                <a:cubicBezTo>
                  <a:pt x="102345" y="0"/>
                  <a:pt x="131895" y="29550"/>
                  <a:pt x="131895" y="65947"/>
                </a:cubicBezTo>
                <a:cubicBezTo>
                  <a:pt x="131895" y="102345"/>
                  <a:pt x="102345" y="131895"/>
                  <a:pt x="65947" y="131895"/>
                </a:cubicBezTo>
                <a:cubicBezTo>
                  <a:pt x="29550" y="131895"/>
                  <a:pt x="0" y="102345"/>
                  <a:pt x="0" y="65947"/>
                </a:cubicBezTo>
                <a:close/>
                <a:moveTo>
                  <a:pt x="65947" y="86556"/>
                </a:moveTo>
                <a:cubicBezTo>
                  <a:pt x="77321" y="86556"/>
                  <a:pt x="86556" y="77321"/>
                  <a:pt x="86556" y="65947"/>
                </a:cubicBezTo>
                <a:cubicBezTo>
                  <a:pt x="86556" y="54573"/>
                  <a:pt x="77321" y="45339"/>
                  <a:pt x="65947" y="45339"/>
                </a:cubicBezTo>
                <a:cubicBezTo>
                  <a:pt x="54573" y="45339"/>
                  <a:pt x="45339" y="54573"/>
                  <a:pt x="45339" y="65947"/>
                </a:cubicBezTo>
                <a:cubicBezTo>
                  <a:pt x="45339" y="77321"/>
                  <a:pt x="54573" y="86556"/>
                  <a:pt x="65947" y="86556"/>
                </a:cubicBezTo>
                <a:close/>
                <a:moveTo>
                  <a:pt x="65947" y="28852"/>
                </a:moveTo>
                <a:cubicBezTo>
                  <a:pt x="86421" y="28852"/>
                  <a:pt x="103043" y="45474"/>
                  <a:pt x="103043" y="65947"/>
                </a:cubicBezTo>
                <a:cubicBezTo>
                  <a:pt x="103043" y="86421"/>
                  <a:pt x="86421" y="103043"/>
                  <a:pt x="65947" y="103043"/>
                </a:cubicBezTo>
                <a:cubicBezTo>
                  <a:pt x="45474" y="103043"/>
                  <a:pt x="28852" y="86421"/>
                  <a:pt x="28852" y="65947"/>
                </a:cubicBezTo>
                <a:cubicBezTo>
                  <a:pt x="28852" y="45474"/>
                  <a:pt x="45474" y="28852"/>
                  <a:pt x="65947" y="28852"/>
                </a:cubicBezTo>
                <a:close/>
                <a:moveTo>
                  <a:pt x="57704" y="65947"/>
                </a:moveTo>
                <a:cubicBezTo>
                  <a:pt x="57704" y="61398"/>
                  <a:pt x="61398" y="57704"/>
                  <a:pt x="65947" y="57704"/>
                </a:cubicBezTo>
                <a:cubicBezTo>
                  <a:pt x="70497" y="57704"/>
                  <a:pt x="74191" y="61398"/>
                  <a:pt x="74191" y="65947"/>
                </a:cubicBezTo>
                <a:cubicBezTo>
                  <a:pt x="74191" y="70497"/>
                  <a:pt x="70497" y="74191"/>
                  <a:pt x="65947" y="74191"/>
                </a:cubicBezTo>
                <a:cubicBezTo>
                  <a:pt x="61398" y="74191"/>
                  <a:pt x="57704" y="70497"/>
                  <a:pt x="57704" y="65947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6681668" y="4772933"/>
            <a:ext cx="1846523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Targeted Marketing</a:t>
            </a:r>
            <a:endParaRPr b="0" i="0" sz="1600" u="none" cap="none" strike="noStrike"/>
          </a:p>
        </p:txBody>
      </p:sp>
      <p:sp>
        <p:nvSpPr>
          <p:cNvPr id="536" name="Google Shape;536;p15"/>
          <p:cNvSpPr/>
          <p:nvPr/>
        </p:nvSpPr>
        <p:spPr>
          <a:xfrm>
            <a:off x="6681668" y="5003748"/>
            <a:ext cx="1830037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Personalized campaigns by segment</a:t>
            </a:r>
            <a:endParaRPr b="0" i="0" sz="1600" u="none" cap="none" strike="noStrike"/>
          </a:p>
        </p:txBody>
      </p:sp>
      <p:sp>
        <p:nvSpPr>
          <p:cNvPr id="537" name="Google Shape;537;p15"/>
          <p:cNvSpPr/>
          <p:nvPr/>
        </p:nvSpPr>
        <p:spPr>
          <a:xfrm>
            <a:off x="6318958" y="5234564"/>
            <a:ext cx="263789" cy="263789"/>
          </a:xfrm>
          <a:custGeom>
            <a:rect b="b" l="l" r="r" t="t"/>
            <a:pathLst>
              <a:path extrusionOk="0" h="263789" w="263789">
                <a:moveTo>
                  <a:pt x="131895" y="0"/>
                </a:moveTo>
                <a:lnTo>
                  <a:pt x="131895" y="0"/>
                </a:lnTo>
                <a:cubicBezTo>
                  <a:pt x="204689" y="0"/>
                  <a:pt x="263789" y="59100"/>
                  <a:pt x="263789" y="131895"/>
                </a:cubicBezTo>
                <a:lnTo>
                  <a:pt x="263789" y="131895"/>
                </a:lnTo>
                <a:cubicBezTo>
                  <a:pt x="263789" y="204689"/>
                  <a:pt x="204689" y="263789"/>
                  <a:pt x="131895" y="263789"/>
                </a:cubicBezTo>
                <a:lnTo>
                  <a:pt x="131895" y="263789"/>
                </a:lnTo>
                <a:cubicBezTo>
                  <a:pt x="59100" y="263789"/>
                  <a:pt x="0" y="204689"/>
                  <a:pt x="0" y="131895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6409636" y="5300511"/>
            <a:ext cx="82434" cy="131895"/>
          </a:xfrm>
          <a:custGeom>
            <a:rect b="b" l="l" r="r" t="t"/>
            <a:pathLst>
              <a:path extrusionOk="0" h="131895" w="82434">
                <a:moveTo>
                  <a:pt x="35034" y="6183"/>
                </a:moveTo>
                <a:cubicBezTo>
                  <a:pt x="35034" y="2756"/>
                  <a:pt x="37791" y="0"/>
                  <a:pt x="41217" y="0"/>
                </a:cubicBezTo>
                <a:cubicBezTo>
                  <a:pt x="44643" y="0"/>
                  <a:pt x="47400" y="2756"/>
                  <a:pt x="47400" y="6183"/>
                </a:cubicBezTo>
                <a:lnTo>
                  <a:pt x="47400" y="16487"/>
                </a:lnTo>
                <a:lnTo>
                  <a:pt x="61826" y="16487"/>
                </a:lnTo>
                <a:cubicBezTo>
                  <a:pt x="66385" y="16487"/>
                  <a:pt x="70069" y="20171"/>
                  <a:pt x="70069" y="24730"/>
                </a:cubicBezTo>
                <a:cubicBezTo>
                  <a:pt x="70069" y="29290"/>
                  <a:pt x="66385" y="32974"/>
                  <a:pt x="61826" y="32974"/>
                </a:cubicBezTo>
                <a:lnTo>
                  <a:pt x="32227" y="32974"/>
                </a:lnTo>
                <a:cubicBezTo>
                  <a:pt x="25812" y="32974"/>
                  <a:pt x="20609" y="38177"/>
                  <a:pt x="20609" y="44592"/>
                </a:cubicBezTo>
                <a:cubicBezTo>
                  <a:pt x="20609" y="50388"/>
                  <a:pt x="24859" y="55282"/>
                  <a:pt x="30578" y="56107"/>
                </a:cubicBezTo>
                <a:lnTo>
                  <a:pt x="54175" y="59481"/>
                </a:lnTo>
                <a:cubicBezTo>
                  <a:pt x="68034" y="61465"/>
                  <a:pt x="78312" y="73315"/>
                  <a:pt x="78312" y="87303"/>
                </a:cubicBezTo>
                <a:cubicBezTo>
                  <a:pt x="78312" y="102837"/>
                  <a:pt x="65715" y="115408"/>
                  <a:pt x="50208" y="115408"/>
                </a:cubicBezTo>
                <a:lnTo>
                  <a:pt x="47400" y="115408"/>
                </a:lnTo>
                <a:lnTo>
                  <a:pt x="47400" y="125712"/>
                </a:lnTo>
                <a:cubicBezTo>
                  <a:pt x="47400" y="129138"/>
                  <a:pt x="44643" y="131895"/>
                  <a:pt x="41217" y="131895"/>
                </a:cubicBezTo>
                <a:cubicBezTo>
                  <a:pt x="37791" y="131895"/>
                  <a:pt x="35034" y="129138"/>
                  <a:pt x="35034" y="125712"/>
                </a:cubicBezTo>
                <a:lnTo>
                  <a:pt x="35034" y="115408"/>
                </a:lnTo>
                <a:lnTo>
                  <a:pt x="16487" y="115408"/>
                </a:lnTo>
                <a:cubicBezTo>
                  <a:pt x="11927" y="115408"/>
                  <a:pt x="8243" y="111724"/>
                  <a:pt x="8243" y="107164"/>
                </a:cubicBezTo>
                <a:cubicBezTo>
                  <a:pt x="8243" y="102605"/>
                  <a:pt x="11927" y="98921"/>
                  <a:pt x="16487" y="98921"/>
                </a:cubicBezTo>
                <a:lnTo>
                  <a:pt x="50208" y="98921"/>
                </a:lnTo>
                <a:cubicBezTo>
                  <a:pt x="56622" y="98921"/>
                  <a:pt x="61826" y="93717"/>
                  <a:pt x="61826" y="87303"/>
                </a:cubicBezTo>
                <a:cubicBezTo>
                  <a:pt x="61826" y="81507"/>
                  <a:pt x="57575" y="76612"/>
                  <a:pt x="51856" y="75788"/>
                </a:cubicBezTo>
                <a:lnTo>
                  <a:pt x="28259" y="72413"/>
                </a:lnTo>
                <a:cubicBezTo>
                  <a:pt x="14400" y="70455"/>
                  <a:pt x="4122" y="58580"/>
                  <a:pt x="4122" y="44592"/>
                </a:cubicBezTo>
                <a:cubicBezTo>
                  <a:pt x="4122" y="29084"/>
                  <a:pt x="16719" y="16487"/>
                  <a:pt x="32227" y="16487"/>
                </a:cubicBezTo>
                <a:lnTo>
                  <a:pt x="35034" y="16487"/>
                </a:lnTo>
                <a:lnTo>
                  <a:pt x="35034" y="6183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6681668" y="5234564"/>
            <a:ext cx="1599221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Increased ROI</a:t>
            </a:r>
            <a:endParaRPr b="0" i="0" sz="1600" u="none" cap="none" strike="noStrike"/>
          </a:p>
        </p:txBody>
      </p:sp>
      <p:sp>
        <p:nvSpPr>
          <p:cNvPr id="540" name="Google Shape;540;p15"/>
          <p:cNvSpPr/>
          <p:nvPr/>
        </p:nvSpPr>
        <p:spPr>
          <a:xfrm>
            <a:off x="6681668" y="5465379"/>
            <a:ext cx="1582734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conversion, lower costs</a:t>
            </a:r>
            <a:endParaRPr b="0" i="0" sz="1600" u="none" cap="none" strike="noStrike"/>
          </a:p>
        </p:txBody>
      </p:sp>
      <p:sp>
        <p:nvSpPr>
          <p:cNvPr id="541" name="Google Shape;541;p15"/>
          <p:cNvSpPr/>
          <p:nvPr/>
        </p:nvSpPr>
        <p:spPr>
          <a:xfrm>
            <a:off x="6318958" y="5696195"/>
            <a:ext cx="263789" cy="263789"/>
          </a:xfrm>
          <a:custGeom>
            <a:rect b="b" l="l" r="r" t="t"/>
            <a:pathLst>
              <a:path extrusionOk="0" h="263789" w="263789">
                <a:moveTo>
                  <a:pt x="131895" y="0"/>
                </a:moveTo>
                <a:lnTo>
                  <a:pt x="131895" y="0"/>
                </a:lnTo>
                <a:cubicBezTo>
                  <a:pt x="204689" y="0"/>
                  <a:pt x="263789" y="59100"/>
                  <a:pt x="263789" y="131895"/>
                </a:cubicBezTo>
                <a:lnTo>
                  <a:pt x="263789" y="131895"/>
                </a:lnTo>
                <a:cubicBezTo>
                  <a:pt x="263789" y="204689"/>
                  <a:pt x="204689" y="263789"/>
                  <a:pt x="131895" y="263789"/>
                </a:cubicBezTo>
                <a:lnTo>
                  <a:pt x="131895" y="263789"/>
                </a:lnTo>
                <a:cubicBezTo>
                  <a:pt x="59100" y="263789"/>
                  <a:pt x="0" y="204689"/>
                  <a:pt x="0" y="131895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6384906" y="5762142"/>
            <a:ext cx="131895" cy="131895"/>
          </a:xfrm>
          <a:custGeom>
            <a:rect b="b" l="l" r="r" t="t"/>
            <a:pathLst>
              <a:path extrusionOk="0" h="131895" w="131895">
                <a:moveTo>
                  <a:pt x="16487" y="16487"/>
                </a:moveTo>
                <a:cubicBezTo>
                  <a:pt x="16487" y="11927"/>
                  <a:pt x="12803" y="8243"/>
                  <a:pt x="8243" y="8243"/>
                </a:cubicBezTo>
                <a:cubicBezTo>
                  <a:pt x="3684" y="8243"/>
                  <a:pt x="0" y="11927"/>
                  <a:pt x="0" y="16487"/>
                </a:cubicBezTo>
                <a:lnTo>
                  <a:pt x="0" y="103043"/>
                </a:lnTo>
                <a:cubicBezTo>
                  <a:pt x="0" y="114429"/>
                  <a:pt x="9222" y="123651"/>
                  <a:pt x="20609" y="123651"/>
                </a:cubicBezTo>
                <a:lnTo>
                  <a:pt x="123651" y="123651"/>
                </a:lnTo>
                <a:cubicBezTo>
                  <a:pt x="128211" y="123651"/>
                  <a:pt x="131895" y="119967"/>
                  <a:pt x="131895" y="115408"/>
                </a:cubicBezTo>
                <a:cubicBezTo>
                  <a:pt x="131895" y="110848"/>
                  <a:pt x="128211" y="107164"/>
                  <a:pt x="123651" y="107164"/>
                </a:cubicBezTo>
                <a:lnTo>
                  <a:pt x="20609" y="107164"/>
                </a:lnTo>
                <a:cubicBezTo>
                  <a:pt x="18342" y="107164"/>
                  <a:pt x="16487" y="105310"/>
                  <a:pt x="16487" y="103043"/>
                </a:cubicBezTo>
                <a:lnTo>
                  <a:pt x="16487" y="16487"/>
                </a:lnTo>
                <a:close/>
                <a:moveTo>
                  <a:pt x="121230" y="38796"/>
                </a:moveTo>
                <a:cubicBezTo>
                  <a:pt x="124450" y="35575"/>
                  <a:pt x="124450" y="30346"/>
                  <a:pt x="121230" y="27126"/>
                </a:cubicBezTo>
                <a:cubicBezTo>
                  <a:pt x="118010" y="23906"/>
                  <a:pt x="112780" y="23906"/>
                  <a:pt x="109560" y="27126"/>
                </a:cubicBezTo>
                <a:lnTo>
                  <a:pt x="82434" y="54278"/>
                </a:lnTo>
                <a:lnTo>
                  <a:pt x="67647" y="39517"/>
                </a:lnTo>
                <a:cubicBezTo>
                  <a:pt x="64427" y="36297"/>
                  <a:pt x="59198" y="36297"/>
                  <a:pt x="55978" y="39517"/>
                </a:cubicBezTo>
                <a:lnTo>
                  <a:pt x="31248" y="64247"/>
                </a:lnTo>
                <a:cubicBezTo>
                  <a:pt x="28028" y="67467"/>
                  <a:pt x="28028" y="72697"/>
                  <a:pt x="31248" y="75917"/>
                </a:cubicBezTo>
                <a:cubicBezTo>
                  <a:pt x="34468" y="79137"/>
                  <a:pt x="39697" y="79137"/>
                  <a:pt x="42917" y="75917"/>
                </a:cubicBezTo>
                <a:lnTo>
                  <a:pt x="61826" y="57008"/>
                </a:lnTo>
                <a:lnTo>
                  <a:pt x="76612" y="71795"/>
                </a:lnTo>
                <a:cubicBezTo>
                  <a:pt x="79832" y="75015"/>
                  <a:pt x="85062" y="75015"/>
                  <a:pt x="88282" y="71795"/>
                </a:cubicBezTo>
                <a:lnTo>
                  <a:pt x="121255" y="38821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6681668" y="5696195"/>
            <a:ext cx="1755846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Data-Driven Decisions</a:t>
            </a:r>
            <a:endParaRPr b="0" i="0" sz="1600" u="none" cap="none" strike="noStrike"/>
          </a:p>
        </p:txBody>
      </p:sp>
      <p:sp>
        <p:nvSpPr>
          <p:cNvPr id="544" name="Google Shape;544;p15"/>
          <p:cNvSpPr/>
          <p:nvPr/>
        </p:nvSpPr>
        <p:spPr>
          <a:xfrm>
            <a:off x="6681668" y="5927010"/>
            <a:ext cx="1739359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Replace assumptions with insights</a:t>
            </a:r>
            <a:endParaRPr b="0" i="0" sz="1600" u="none" cap="none" strike="noStrike"/>
          </a:p>
        </p:txBody>
      </p:sp>
      <p:sp>
        <p:nvSpPr>
          <p:cNvPr id="545" name="Google Shape;545;p15"/>
          <p:cNvSpPr/>
          <p:nvPr/>
        </p:nvSpPr>
        <p:spPr>
          <a:xfrm>
            <a:off x="6318958" y="6157826"/>
            <a:ext cx="263789" cy="263789"/>
          </a:xfrm>
          <a:custGeom>
            <a:rect b="b" l="l" r="r" t="t"/>
            <a:pathLst>
              <a:path extrusionOk="0" h="263789" w="263789">
                <a:moveTo>
                  <a:pt x="131895" y="0"/>
                </a:moveTo>
                <a:lnTo>
                  <a:pt x="131895" y="0"/>
                </a:lnTo>
                <a:cubicBezTo>
                  <a:pt x="204689" y="0"/>
                  <a:pt x="263789" y="59100"/>
                  <a:pt x="263789" y="131895"/>
                </a:cubicBezTo>
                <a:lnTo>
                  <a:pt x="263789" y="131895"/>
                </a:lnTo>
                <a:cubicBezTo>
                  <a:pt x="263789" y="204689"/>
                  <a:pt x="204689" y="263789"/>
                  <a:pt x="131895" y="263789"/>
                </a:cubicBezTo>
                <a:lnTo>
                  <a:pt x="131895" y="263789"/>
                </a:lnTo>
                <a:cubicBezTo>
                  <a:pt x="59100" y="263789"/>
                  <a:pt x="0" y="204689"/>
                  <a:pt x="0" y="131895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6368419" y="6223773"/>
            <a:ext cx="164868" cy="131895"/>
          </a:xfrm>
          <a:custGeom>
            <a:rect b="b" l="l" r="r" t="t"/>
            <a:pathLst>
              <a:path extrusionOk="0" h="131895" w="164868">
                <a:moveTo>
                  <a:pt x="82434" y="4122"/>
                </a:moveTo>
                <a:cubicBezTo>
                  <a:pt x="97220" y="4122"/>
                  <a:pt x="109225" y="16126"/>
                  <a:pt x="109225" y="30913"/>
                </a:cubicBezTo>
                <a:cubicBezTo>
                  <a:pt x="109225" y="45699"/>
                  <a:pt x="97220" y="57704"/>
                  <a:pt x="82434" y="57704"/>
                </a:cubicBezTo>
                <a:cubicBezTo>
                  <a:pt x="67648" y="57704"/>
                  <a:pt x="55643" y="45699"/>
                  <a:pt x="55643" y="30913"/>
                </a:cubicBezTo>
                <a:cubicBezTo>
                  <a:pt x="55643" y="16126"/>
                  <a:pt x="67648" y="4122"/>
                  <a:pt x="82434" y="4122"/>
                </a:cubicBezTo>
                <a:close/>
                <a:moveTo>
                  <a:pt x="24730" y="22669"/>
                </a:moveTo>
                <a:cubicBezTo>
                  <a:pt x="34967" y="22669"/>
                  <a:pt x="43278" y="30980"/>
                  <a:pt x="43278" y="41217"/>
                </a:cubicBezTo>
                <a:cubicBezTo>
                  <a:pt x="43278" y="51454"/>
                  <a:pt x="34967" y="59765"/>
                  <a:pt x="24730" y="59765"/>
                </a:cubicBezTo>
                <a:cubicBezTo>
                  <a:pt x="14493" y="59765"/>
                  <a:pt x="6183" y="51454"/>
                  <a:pt x="6183" y="41217"/>
                </a:cubicBezTo>
                <a:cubicBezTo>
                  <a:pt x="6183" y="30980"/>
                  <a:pt x="14493" y="22669"/>
                  <a:pt x="24730" y="22669"/>
                </a:cubicBezTo>
                <a:close/>
                <a:moveTo>
                  <a:pt x="0" y="107164"/>
                </a:moveTo>
                <a:cubicBezTo>
                  <a:pt x="0" y="88952"/>
                  <a:pt x="14761" y="74191"/>
                  <a:pt x="32974" y="74191"/>
                </a:cubicBezTo>
                <a:cubicBezTo>
                  <a:pt x="36271" y="74191"/>
                  <a:pt x="39465" y="74680"/>
                  <a:pt x="42479" y="75582"/>
                </a:cubicBezTo>
                <a:cubicBezTo>
                  <a:pt x="34004" y="85062"/>
                  <a:pt x="28852" y="97581"/>
                  <a:pt x="28852" y="111286"/>
                </a:cubicBezTo>
                <a:lnTo>
                  <a:pt x="28852" y="115408"/>
                </a:lnTo>
                <a:cubicBezTo>
                  <a:pt x="28852" y="118344"/>
                  <a:pt x="29470" y="121127"/>
                  <a:pt x="30578" y="123651"/>
                </a:cubicBezTo>
                <a:lnTo>
                  <a:pt x="8243" y="123651"/>
                </a:lnTo>
                <a:cubicBezTo>
                  <a:pt x="3684" y="123651"/>
                  <a:pt x="0" y="119967"/>
                  <a:pt x="0" y="115408"/>
                </a:cubicBezTo>
                <a:lnTo>
                  <a:pt x="0" y="107164"/>
                </a:lnTo>
                <a:close/>
                <a:moveTo>
                  <a:pt x="134290" y="123651"/>
                </a:moveTo>
                <a:cubicBezTo>
                  <a:pt x="135398" y="121127"/>
                  <a:pt x="136016" y="118344"/>
                  <a:pt x="136016" y="115408"/>
                </a:cubicBezTo>
                <a:lnTo>
                  <a:pt x="136016" y="111286"/>
                </a:lnTo>
                <a:cubicBezTo>
                  <a:pt x="136016" y="97581"/>
                  <a:pt x="130864" y="85062"/>
                  <a:pt x="122389" y="75582"/>
                </a:cubicBezTo>
                <a:cubicBezTo>
                  <a:pt x="125403" y="74680"/>
                  <a:pt x="128597" y="74191"/>
                  <a:pt x="131895" y="74191"/>
                </a:cubicBezTo>
                <a:cubicBezTo>
                  <a:pt x="150107" y="74191"/>
                  <a:pt x="164868" y="88952"/>
                  <a:pt x="164868" y="107164"/>
                </a:cubicBezTo>
                <a:lnTo>
                  <a:pt x="164868" y="115408"/>
                </a:lnTo>
                <a:cubicBezTo>
                  <a:pt x="164868" y="119967"/>
                  <a:pt x="161184" y="123651"/>
                  <a:pt x="156625" y="123651"/>
                </a:cubicBezTo>
                <a:lnTo>
                  <a:pt x="134290" y="123651"/>
                </a:lnTo>
                <a:close/>
                <a:moveTo>
                  <a:pt x="121590" y="41217"/>
                </a:moveTo>
                <a:cubicBezTo>
                  <a:pt x="121590" y="30980"/>
                  <a:pt x="129901" y="22669"/>
                  <a:pt x="140138" y="22669"/>
                </a:cubicBezTo>
                <a:cubicBezTo>
                  <a:pt x="150375" y="22669"/>
                  <a:pt x="158686" y="30980"/>
                  <a:pt x="158686" y="41217"/>
                </a:cubicBezTo>
                <a:cubicBezTo>
                  <a:pt x="158686" y="51454"/>
                  <a:pt x="150375" y="59765"/>
                  <a:pt x="140138" y="59765"/>
                </a:cubicBezTo>
                <a:cubicBezTo>
                  <a:pt x="129901" y="59765"/>
                  <a:pt x="121590" y="51454"/>
                  <a:pt x="121590" y="41217"/>
                </a:cubicBezTo>
                <a:close/>
                <a:moveTo>
                  <a:pt x="41217" y="111286"/>
                </a:moveTo>
                <a:cubicBezTo>
                  <a:pt x="41217" y="88514"/>
                  <a:pt x="59662" y="70069"/>
                  <a:pt x="82434" y="70069"/>
                </a:cubicBezTo>
                <a:cubicBezTo>
                  <a:pt x="105206" y="70069"/>
                  <a:pt x="123651" y="88514"/>
                  <a:pt x="123651" y="111286"/>
                </a:cubicBezTo>
                <a:lnTo>
                  <a:pt x="123651" y="115408"/>
                </a:lnTo>
                <a:cubicBezTo>
                  <a:pt x="123651" y="119967"/>
                  <a:pt x="119967" y="123651"/>
                  <a:pt x="115408" y="123651"/>
                </a:cubicBezTo>
                <a:lnTo>
                  <a:pt x="49460" y="123651"/>
                </a:lnTo>
                <a:cubicBezTo>
                  <a:pt x="44901" y="123651"/>
                  <a:pt x="41217" y="119967"/>
                  <a:pt x="41217" y="115408"/>
                </a:cubicBezTo>
                <a:lnTo>
                  <a:pt x="41217" y="111286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6681668" y="6157826"/>
            <a:ext cx="1714629" cy="230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8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Customer Understanding</a:t>
            </a:r>
            <a:endParaRPr b="0" i="0" sz="1600" u="none" cap="none" strike="noStrike"/>
          </a:p>
        </p:txBody>
      </p:sp>
      <p:sp>
        <p:nvSpPr>
          <p:cNvPr id="548" name="Google Shape;548;p15"/>
          <p:cNvSpPr/>
          <p:nvPr/>
        </p:nvSpPr>
        <p:spPr>
          <a:xfrm>
            <a:off x="6681668" y="6388641"/>
            <a:ext cx="1698142" cy="16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 your customers better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b1550945f3c840ee81a8e9c381739b6808bb599.jpg" id="554" name="Google Shape;554;p16"/>
          <p:cNvPicPr preferRelativeResize="0"/>
          <p:nvPr/>
        </p:nvPicPr>
        <p:blipFill rotWithShape="1">
          <a:blip r:embed="rId3">
            <a:alphaModFix amt="30000"/>
          </a:blip>
          <a:srcRect b="12500" l="0" r="0" t="1250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55" name="Google Shape;555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4901"/>
                </a:srgbClr>
              </a:gs>
              <a:gs pos="50000">
                <a:srgbClr val="1A202C">
                  <a:alpha val="89803"/>
                </a:srgbClr>
              </a:gs>
              <a:gs pos="100000">
                <a:srgbClr val="1A202C">
                  <a:alpha val="84705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556" name="Google Shape;556;p16"/>
          <p:cNvSpPr/>
          <p:nvPr/>
        </p:nvSpPr>
        <p:spPr>
          <a:xfrm>
            <a:off x="381000" y="15240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Key Takeaways</a:t>
            </a:r>
            <a:endParaRPr b="0" i="0" sz="1600" u="none" cap="none" strike="noStrike"/>
          </a:p>
        </p:txBody>
      </p:sp>
      <p:sp>
        <p:nvSpPr>
          <p:cNvPr id="557" name="Google Shape;557;p16"/>
          <p:cNvSpPr/>
          <p:nvPr/>
        </p:nvSpPr>
        <p:spPr>
          <a:xfrm>
            <a:off x="381000" y="876300"/>
            <a:ext cx="1524000" cy="38100"/>
          </a:xfrm>
          <a:custGeom>
            <a:rect b="b" l="l" r="r" t="t"/>
            <a:pathLst>
              <a:path extrusionOk="0" h="38100" w="15240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558" name="Google Shape;558;p16"/>
          <p:cNvSpPr/>
          <p:nvPr/>
        </p:nvSpPr>
        <p:spPr>
          <a:xfrm>
            <a:off x="400050" y="1219200"/>
            <a:ext cx="5581650" cy="1590675"/>
          </a:xfrm>
          <a:custGeom>
            <a:rect b="b" l="l" r="r" t="t"/>
            <a:pathLst>
              <a:path extrusionOk="0" h="1590675" w="5581650">
                <a:moveTo>
                  <a:pt x="38100" y="0"/>
                </a:moveTo>
                <a:lnTo>
                  <a:pt x="5505457" y="0"/>
                </a:lnTo>
                <a:cubicBezTo>
                  <a:pt x="5547537" y="0"/>
                  <a:pt x="5581650" y="34113"/>
                  <a:pt x="5581650" y="76193"/>
                </a:cubicBezTo>
                <a:lnTo>
                  <a:pt x="5581650" y="1514482"/>
                </a:lnTo>
                <a:cubicBezTo>
                  <a:pt x="5581650" y="1556562"/>
                  <a:pt x="5547537" y="1590675"/>
                  <a:pt x="5505457" y="1590675"/>
                </a:cubicBez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400050" y="1219200"/>
            <a:ext cx="38100" cy="1590675"/>
          </a:xfrm>
          <a:custGeom>
            <a:rect b="b" l="l" r="r" t="t"/>
            <a:pathLst>
              <a:path extrusionOk="0" h="1590675" w="38100">
                <a:moveTo>
                  <a:pt x="38100" y="0"/>
                </a:moveTo>
                <a:lnTo>
                  <a:pt x="38100" y="0"/>
                </a:lnTo>
                <a:lnTo>
                  <a:pt x="38100" y="1590675"/>
                </a:ln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647700" y="1447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804863" y="1581150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6"/>
          <p:cNvSpPr/>
          <p:nvPr/>
        </p:nvSpPr>
        <p:spPr>
          <a:xfrm>
            <a:off x="1219200" y="15240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Unsupervised Learning</a:t>
            </a:r>
            <a:endParaRPr b="0" i="0" sz="1600" u="none" cap="none" strike="noStrike"/>
          </a:p>
        </p:txBody>
      </p:sp>
      <p:sp>
        <p:nvSpPr>
          <p:cNvPr id="563" name="Google Shape;563;p16"/>
          <p:cNvSpPr/>
          <p:nvPr/>
        </p:nvSpPr>
        <p:spPr>
          <a:xfrm>
            <a:off x="647700" y="2019300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Discovers </a:t>
            </a:r>
            <a:r>
              <a:rPr b="1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hidden patterns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without labeled data. Perfect for exploratory analysis and understanding data structure.</a:t>
            </a:r>
            <a:endParaRPr b="0" i="0" sz="1600" u="none" cap="none" strike="noStrike"/>
          </a:p>
        </p:txBody>
      </p:sp>
      <p:sp>
        <p:nvSpPr>
          <p:cNvPr id="564" name="Google Shape;564;p16"/>
          <p:cNvSpPr/>
          <p:nvPr/>
        </p:nvSpPr>
        <p:spPr>
          <a:xfrm>
            <a:off x="6229350" y="1219200"/>
            <a:ext cx="5581650" cy="1590675"/>
          </a:xfrm>
          <a:custGeom>
            <a:rect b="b" l="l" r="r" t="t"/>
            <a:pathLst>
              <a:path extrusionOk="0" h="1590675" w="5581650">
                <a:moveTo>
                  <a:pt x="38100" y="0"/>
                </a:moveTo>
                <a:lnTo>
                  <a:pt x="5505457" y="0"/>
                </a:lnTo>
                <a:cubicBezTo>
                  <a:pt x="5547537" y="0"/>
                  <a:pt x="5581650" y="34113"/>
                  <a:pt x="5581650" y="76193"/>
                </a:cubicBezTo>
                <a:lnTo>
                  <a:pt x="5581650" y="1514482"/>
                </a:lnTo>
                <a:cubicBezTo>
                  <a:pt x="5581650" y="1556562"/>
                  <a:pt x="5547537" y="1590675"/>
                  <a:pt x="5505457" y="1590675"/>
                </a:cubicBez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6229350" y="1219200"/>
            <a:ext cx="38100" cy="1590675"/>
          </a:xfrm>
          <a:custGeom>
            <a:rect b="b" l="l" r="r" t="t"/>
            <a:pathLst>
              <a:path extrusionOk="0" h="1590675" w="38100">
                <a:moveTo>
                  <a:pt x="38100" y="0"/>
                </a:moveTo>
                <a:lnTo>
                  <a:pt x="38100" y="0"/>
                </a:lnTo>
                <a:lnTo>
                  <a:pt x="38100" y="1590675"/>
                </a:ln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6477000" y="1447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6610350" y="1581150"/>
            <a:ext cx="190500" cy="190500"/>
          </a:xfrm>
          <a:custGeom>
            <a:rect b="b" l="l" r="r" t="t"/>
            <a:pathLst>
              <a:path extrusionOk="0" h="190500" w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7048500" y="1524000"/>
            <a:ext cx="2124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K-Means Clustering</a:t>
            </a:r>
            <a:endParaRPr b="0" i="0" sz="1600" u="none" cap="none" strike="noStrike"/>
          </a:p>
        </p:txBody>
      </p:sp>
      <p:sp>
        <p:nvSpPr>
          <p:cNvPr id="569" name="Google Shape;569;p16"/>
          <p:cNvSpPr/>
          <p:nvPr/>
        </p:nvSpPr>
        <p:spPr>
          <a:xfrm>
            <a:off x="6477000" y="2019300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 and scalable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but requires pre-set K. Use Elbow Method and Silhouette Score to find optimal K.</a:t>
            </a:r>
            <a:endParaRPr b="0" i="0" sz="1600" u="none" cap="none" strike="noStrike"/>
          </a:p>
        </p:txBody>
      </p:sp>
      <p:sp>
        <p:nvSpPr>
          <p:cNvPr id="570" name="Google Shape;570;p16"/>
          <p:cNvSpPr/>
          <p:nvPr/>
        </p:nvSpPr>
        <p:spPr>
          <a:xfrm>
            <a:off x="400050" y="3033713"/>
            <a:ext cx="5581650" cy="1590675"/>
          </a:xfrm>
          <a:custGeom>
            <a:rect b="b" l="l" r="r" t="t"/>
            <a:pathLst>
              <a:path extrusionOk="0" h="1590675" w="5581650">
                <a:moveTo>
                  <a:pt x="38100" y="0"/>
                </a:moveTo>
                <a:lnTo>
                  <a:pt x="5505457" y="0"/>
                </a:lnTo>
                <a:cubicBezTo>
                  <a:pt x="5547537" y="0"/>
                  <a:pt x="5581650" y="34113"/>
                  <a:pt x="5581650" y="76193"/>
                </a:cubicBezTo>
                <a:lnTo>
                  <a:pt x="5581650" y="1514482"/>
                </a:lnTo>
                <a:cubicBezTo>
                  <a:pt x="5581650" y="1556562"/>
                  <a:pt x="5547537" y="1590675"/>
                  <a:pt x="5505457" y="1590675"/>
                </a:cubicBez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400050" y="3033713"/>
            <a:ext cx="38100" cy="1590675"/>
          </a:xfrm>
          <a:custGeom>
            <a:rect b="b" l="l" r="r" t="t"/>
            <a:pathLst>
              <a:path extrusionOk="0" h="1590675" w="38100">
                <a:moveTo>
                  <a:pt x="38100" y="0"/>
                </a:moveTo>
                <a:lnTo>
                  <a:pt x="38100" y="0"/>
                </a:lnTo>
                <a:lnTo>
                  <a:pt x="38100" y="1590675"/>
                </a:ln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647700" y="3262313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0AE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781050" y="3395663"/>
            <a:ext cx="190500" cy="190500"/>
          </a:xfrm>
          <a:custGeom>
            <a:rect b="b" l="l" r="r" t="t"/>
            <a:pathLst>
              <a:path extrusionOk="0" h="190500" w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1219200" y="3338513"/>
            <a:ext cx="2428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Hierarchical Clustering</a:t>
            </a:r>
            <a:endParaRPr b="0" i="0" sz="1600" u="none" cap="none" strike="noStrike"/>
          </a:p>
        </p:txBody>
      </p:sp>
      <p:sp>
        <p:nvSpPr>
          <p:cNvPr id="575" name="Google Shape;575;p16"/>
          <p:cNvSpPr/>
          <p:nvPr/>
        </p:nvSpPr>
        <p:spPr>
          <a:xfrm>
            <a:off x="647700" y="3833812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Shows </a:t>
            </a:r>
            <a:r>
              <a:rPr b="1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 relationships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through dendrograms. No need to specify K. Choose linkage method based on data.</a:t>
            </a:r>
            <a:endParaRPr b="0" i="0" sz="1600" u="none" cap="none" strike="noStrike"/>
          </a:p>
        </p:txBody>
      </p:sp>
      <p:sp>
        <p:nvSpPr>
          <p:cNvPr id="576" name="Google Shape;576;p16"/>
          <p:cNvSpPr/>
          <p:nvPr/>
        </p:nvSpPr>
        <p:spPr>
          <a:xfrm>
            <a:off x="6229350" y="3033713"/>
            <a:ext cx="5581650" cy="1590675"/>
          </a:xfrm>
          <a:custGeom>
            <a:rect b="b" l="l" r="r" t="t"/>
            <a:pathLst>
              <a:path extrusionOk="0" h="1590675" w="5581650">
                <a:moveTo>
                  <a:pt x="38100" y="0"/>
                </a:moveTo>
                <a:lnTo>
                  <a:pt x="5505457" y="0"/>
                </a:lnTo>
                <a:cubicBezTo>
                  <a:pt x="5547537" y="0"/>
                  <a:pt x="5581650" y="34113"/>
                  <a:pt x="5581650" y="76193"/>
                </a:cubicBezTo>
                <a:lnTo>
                  <a:pt x="5581650" y="1514482"/>
                </a:lnTo>
                <a:cubicBezTo>
                  <a:pt x="5581650" y="1556562"/>
                  <a:pt x="5547537" y="1590675"/>
                  <a:pt x="5505457" y="1590675"/>
                </a:cubicBez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6229350" y="3033713"/>
            <a:ext cx="38100" cy="1590675"/>
          </a:xfrm>
          <a:custGeom>
            <a:rect b="b" l="l" r="r" t="t"/>
            <a:pathLst>
              <a:path extrusionOk="0" h="1590675" w="38100">
                <a:moveTo>
                  <a:pt x="38100" y="0"/>
                </a:moveTo>
                <a:lnTo>
                  <a:pt x="38100" y="0"/>
                </a:lnTo>
                <a:lnTo>
                  <a:pt x="38100" y="1590675"/>
                </a:lnTo>
                <a:lnTo>
                  <a:pt x="38100" y="1590675"/>
                </a:lnTo>
                <a:cubicBezTo>
                  <a:pt x="17072" y="1590675"/>
                  <a:pt x="0" y="1573603"/>
                  <a:pt x="0" y="1552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6477000" y="3262313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6610350" y="3395663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7048500" y="3338513"/>
            <a:ext cx="1771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Business Impact</a:t>
            </a:r>
            <a:endParaRPr b="0" i="0" sz="1600" u="none" cap="none" strike="noStrike"/>
          </a:p>
        </p:txBody>
      </p:sp>
      <p:sp>
        <p:nvSpPr>
          <p:cNvPr id="581" name="Google Shape;581;p16"/>
          <p:cNvSpPr/>
          <p:nvPr/>
        </p:nvSpPr>
        <p:spPr>
          <a:xfrm>
            <a:off x="6477000" y="3833812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segmentation delivers </a:t>
            </a:r>
            <a:r>
              <a:rPr b="1" i="0" lang="en-US" sz="135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 ROI</a:t>
            </a: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Case studies show 600% ROI and 7x sales increases.</a:t>
            </a:r>
            <a:endParaRPr b="0" i="0" sz="1600" u="none" cap="none" strike="noStrike"/>
          </a:p>
        </p:txBody>
      </p:sp>
      <p:sp>
        <p:nvSpPr>
          <p:cNvPr id="582" name="Google Shape;582;p16"/>
          <p:cNvSpPr/>
          <p:nvPr/>
        </p:nvSpPr>
        <p:spPr>
          <a:xfrm>
            <a:off x="385763" y="4929188"/>
            <a:ext cx="11420475" cy="1771650"/>
          </a:xfrm>
          <a:custGeom>
            <a:rect b="b" l="l" r="r" t="t"/>
            <a:pathLst>
              <a:path extrusionOk="0" h="1771650" w="11420475">
                <a:moveTo>
                  <a:pt x="76199" y="0"/>
                </a:moveTo>
                <a:lnTo>
                  <a:pt x="11344276" y="0"/>
                </a:lnTo>
                <a:cubicBezTo>
                  <a:pt x="11386360" y="0"/>
                  <a:pt x="11420475" y="34115"/>
                  <a:pt x="11420475" y="76199"/>
                </a:cubicBezTo>
                <a:lnTo>
                  <a:pt x="11420475" y="1695451"/>
                </a:lnTo>
                <a:cubicBezTo>
                  <a:pt x="11420475" y="1737535"/>
                  <a:pt x="11386360" y="1771650"/>
                  <a:pt x="11344276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cap="flat" cmpd="sng" w="127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19125" y="5162550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771525" y="5314950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1304925" y="5257800"/>
            <a:ext cx="152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Next Steps</a:t>
            </a:r>
            <a:endParaRPr b="0" i="0" sz="1600" u="none" cap="none" strike="noStrike"/>
          </a:p>
        </p:txBody>
      </p:sp>
      <p:sp>
        <p:nvSpPr>
          <p:cNvPr id="586" name="Google Shape;586;p16"/>
          <p:cNvSpPr/>
          <p:nvPr/>
        </p:nvSpPr>
        <p:spPr>
          <a:xfrm>
            <a:off x="619125" y="5848350"/>
            <a:ext cx="11049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Practice with real datasets</a:t>
            </a:r>
            <a:r>
              <a:rPr b="0" i="0" lang="en-US" sz="150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build intuition. Try different K values, explore various linkage methods, and validate your clusters with multiple metrics.</a:t>
            </a:r>
            <a:endParaRPr b="0" i="0" sz="1600" u="none" cap="none" strike="noStrike"/>
          </a:p>
        </p:txBody>
      </p:sp>
      <p:sp>
        <p:nvSpPr>
          <p:cNvPr id="587" name="Google Shape;587;p16"/>
          <p:cNvSpPr/>
          <p:nvPr/>
        </p:nvSpPr>
        <p:spPr>
          <a:xfrm>
            <a:off x="8982075" y="5410200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Happy Clustering!</a:t>
            </a:r>
            <a:endParaRPr b="0" i="0" sz="1600" u="none" cap="none" strike="noStrike"/>
          </a:p>
        </p:txBody>
      </p:sp>
      <p:sp>
        <p:nvSpPr>
          <p:cNvPr id="588" name="Google Shape;588;p16"/>
          <p:cNvSpPr/>
          <p:nvPr/>
        </p:nvSpPr>
        <p:spPr>
          <a:xfrm>
            <a:off x="9010650" y="5753100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 exploring your data today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b1550945f3c840ee81a8e9c381739b6808bb599.jpg" id="594" name="Google Shape;594;g3c252a48159_0_0"/>
          <p:cNvPicPr preferRelativeResize="0"/>
          <p:nvPr/>
        </p:nvPicPr>
        <p:blipFill rotWithShape="1">
          <a:blip r:embed="rId3">
            <a:alphaModFix amt="30000"/>
          </a:blip>
          <a:srcRect b="12495" l="0" r="0" t="12502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95" name="Google Shape;595;g3c252a48159_0_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4901"/>
                </a:srgbClr>
              </a:gs>
              <a:gs pos="50000">
                <a:srgbClr val="1A202C">
                  <a:alpha val="89803"/>
                </a:srgbClr>
              </a:gs>
              <a:gs pos="100000">
                <a:srgbClr val="1A202C">
                  <a:alpha val="84705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596" name="Google Shape;596;g3c252a48159_0_0"/>
          <p:cNvSpPr txBox="1"/>
          <p:nvPr/>
        </p:nvSpPr>
        <p:spPr>
          <a:xfrm>
            <a:off x="2453550" y="1150925"/>
            <a:ext cx="728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Important Links</a:t>
            </a:r>
            <a:endParaRPr sz="4000"/>
          </a:p>
        </p:txBody>
      </p:sp>
      <p:sp>
        <p:nvSpPr>
          <p:cNvPr id="597" name="Google Shape;597;g3c252a48159_0_0"/>
          <p:cNvSpPr txBox="1"/>
          <p:nvPr/>
        </p:nvSpPr>
        <p:spPr>
          <a:xfrm>
            <a:off x="2782400" y="2440925"/>
            <a:ext cx="7284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Notebook: </a:t>
            </a:r>
            <a:r>
              <a:rPr lang="en-US" sz="2500" u="sng">
                <a:solidFill>
                  <a:schemeClr val="hlink"/>
                </a:solidFill>
                <a:hlinkClick r:id="rId4"/>
              </a:rPr>
              <a:t>Click here</a:t>
            </a:r>
            <a:endParaRPr sz="250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2026-01-26T09:42:24Z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{"Label":"Unsupervised Machine Learning","ContentProducer":"001191110108MACG2KBH8F10000","ProduceID":"19bf99db-c3a2-879a-8000-00008315cdcf","ReservedCode1":"","ContentPropagator":"001191110108MACG2KBH8F20000","PropagateID":"19bf99db-c3a2-879a-8000-00008315cdcf","ReservedCode2":""}</vt:lpwstr>
  </property>
</Properties>
</file>
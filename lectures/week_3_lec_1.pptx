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12192000"/>
  <p:notesSz cx="6858000" cy="12192000"/>
  <p:embeddedFontLst>
    <p:embeddedFont>
      <p:font typeface="Liter"/>
      <p:regular r:id="rId26"/>
    </p:embeddedFont>
    <p:embeddedFont>
      <p:font typeface="Hedvig Letters Sans"/>
      <p:regular r:id="rId27"/>
    </p:embeddedFont>
    <p:embeddedFont>
      <p:font typeface="Quattrocento Sans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CoZCVmdFgN93T4MMVc/2h+3v7v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C4F299C-ED9F-4CA2-ABEC-2788B87996FE}">
  <a:tblStyle styleId="{AC4F299C-ED9F-4CA2-ABEC-2788B87996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iter-regular.fntdata"/><Relationship Id="rId25" Type="http://schemas.openxmlformats.org/officeDocument/2006/relationships/slide" Target="slides/slide20.xml"/><Relationship Id="rId28" Type="http://schemas.openxmlformats.org/officeDocument/2006/relationships/font" Target="fonts/QuattrocentoSans-regular.fntdata"/><Relationship Id="rId27" Type="http://schemas.openxmlformats.org/officeDocument/2006/relationships/font" Target="fonts/HedvigLetters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Quattrocento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QuattrocentoSans-boldItalic.fntdata"/><Relationship Id="rId30" Type="http://schemas.openxmlformats.org/officeDocument/2006/relationships/font" Target="fonts/Quattrocento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" name="Google Shape;1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2" name="Google Shape;55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4" name="Google Shape;5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5" name="Google Shape;625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9" name="Google Shape;64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g3bfbcadccf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3" name="Google Shape;693;g3bfbcadccf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g3bfbcadccf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PTIST_MASTER">
  <p:cSld name="PPTIST_MASTER"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2.jpg"/><Relationship Id="rId4" Type="http://schemas.openxmlformats.org/officeDocument/2006/relationships/hyperlink" Target="https://drive.google.com/file/d/1rX-kFt1RmwptyBIxelHKeR61I_EKCwJi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tatic.vecteezy.com/615aa2baec41aa46362c4659a73acbc1940446c7.jpg" id="17" name="Google Shape;17;p1"/>
          <p:cNvPicPr preferRelativeResize="0"/>
          <p:nvPr/>
        </p:nvPicPr>
        <p:blipFill rotWithShape="1">
          <a:blip r:embed="rId3">
            <a:alphaModFix amt="40000"/>
          </a:blip>
          <a:srcRect b="0" l="5556" r="5555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18" name="Google Shape;18;p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4901"/>
                </a:srgbClr>
              </a:gs>
              <a:gs pos="50000">
                <a:srgbClr val="1A1D21">
                  <a:alpha val="84705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19" name="Google Shape;19;p1"/>
          <p:cNvSpPr/>
          <p:nvPr/>
        </p:nvSpPr>
        <p:spPr>
          <a:xfrm>
            <a:off x="390525" y="621506"/>
            <a:ext cx="3657600" cy="514350"/>
          </a:xfrm>
          <a:custGeom>
            <a:rect b="b" l="l" r="r" t="t"/>
            <a:pathLst>
              <a:path extrusionOk="0" h="514350" w="3657600">
                <a:moveTo>
                  <a:pt x="257175" y="0"/>
                </a:moveTo>
                <a:lnTo>
                  <a:pt x="3400425" y="0"/>
                </a:lnTo>
                <a:cubicBezTo>
                  <a:pt x="3542364" y="0"/>
                  <a:pt x="3657600" y="115236"/>
                  <a:pt x="3657600" y="257175"/>
                </a:cubicBezTo>
                <a:lnTo>
                  <a:pt x="3657600" y="257175"/>
                </a:lnTo>
                <a:cubicBezTo>
                  <a:pt x="3657600" y="399114"/>
                  <a:pt x="3542364" y="514350"/>
                  <a:pt x="340042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81000" y="611981"/>
            <a:ext cx="372427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228600" spcFirstLastPara="1" rIns="228600" wrap="square" tIns="1143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MACHINE LEARNING FUNDAMENTALS</a:t>
            </a:r>
            <a:endParaRPr b="0" i="0" sz="1600" u="none" cap="none" strike="noStrike"/>
          </a:p>
        </p:txBody>
      </p:sp>
      <p:sp>
        <p:nvSpPr>
          <p:cNvPr id="21" name="Google Shape;21;p1"/>
          <p:cNvSpPr/>
          <p:nvPr/>
        </p:nvSpPr>
        <p:spPr>
          <a:xfrm>
            <a:off x="381000" y="1373981"/>
            <a:ext cx="11887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Model Evaluation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&amp; Optimization</a:t>
            </a:r>
            <a:endParaRPr b="0" i="0" sz="1600" u="none" cap="none" strike="noStrike"/>
          </a:p>
        </p:txBody>
      </p:sp>
      <p:sp>
        <p:nvSpPr>
          <p:cNvPr id="22" name="Google Shape;22;p1"/>
          <p:cNvSpPr/>
          <p:nvPr/>
        </p:nvSpPr>
        <p:spPr>
          <a:xfrm>
            <a:off x="381000" y="3964781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</p:sp>
      <p:sp>
        <p:nvSpPr>
          <p:cNvPr id="23" name="Google Shape;23;p1"/>
          <p:cNvSpPr/>
          <p:nvPr/>
        </p:nvSpPr>
        <p:spPr>
          <a:xfrm>
            <a:off x="381000" y="4326731"/>
            <a:ext cx="86772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 Beginner's Guide to Precision, Recall, ROC-AUC,</a:t>
            </a:r>
            <a:endParaRPr b="0" i="0" sz="1600" u="none" cap="none" strike="noStrike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and Hyperparameter Tuning</a:t>
            </a:r>
            <a:endParaRPr b="0" i="0" sz="1600" u="none" cap="none" strike="noStrike"/>
          </a:p>
        </p:txBody>
      </p:sp>
      <p:sp>
        <p:nvSpPr>
          <p:cNvPr id="24" name="Google Shape;24;p1"/>
          <p:cNvSpPr/>
          <p:nvPr/>
        </p:nvSpPr>
        <p:spPr>
          <a:xfrm>
            <a:off x="381000" y="5712619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33400" y="5865019"/>
            <a:ext cx="228600" cy="228600"/>
          </a:xfrm>
          <a:custGeom>
            <a:rect b="b" l="l" r="r" t="t"/>
            <a:pathLst>
              <a:path extrusionOk="0" h="228600" w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1028700" y="5845969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Metrics</a:t>
            </a:r>
            <a:endParaRPr b="0" i="0" sz="1600" u="none" cap="none" strike="noStrike"/>
          </a:p>
        </p:txBody>
      </p:sp>
      <p:sp>
        <p:nvSpPr>
          <p:cNvPr id="27" name="Google Shape;27;p1"/>
          <p:cNvSpPr/>
          <p:nvPr/>
        </p:nvSpPr>
        <p:spPr>
          <a:xfrm>
            <a:off x="2838450" y="5712619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2990850" y="5865019"/>
            <a:ext cx="228600" cy="228600"/>
          </a:xfrm>
          <a:custGeom>
            <a:rect b="b" l="l" r="r" t="t"/>
            <a:pathLst>
              <a:path extrusionOk="0" h="228600" w="228600">
                <a:moveTo>
                  <a:pt x="14288" y="28575"/>
                </a:moveTo>
                <a:cubicBezTo>
                  <a:pt x="6385" y="28575"/>
                  <a:pt x="0" y="34960"/>
                  <a:pt x="0" y="42863"/>
                </a:cubicBezTo>
                <a:cubicBezTo>
                  <a:pt x="0" y="50765"/>
                  <a:pt x="6385" y="57150"/>
                  <a:pt x="14288" y="57150"/>
                </a:cubicBezTo>
                <a:lnTo>
                  <a:pt x="52998" y="57150"/>
                </a:lnTo>
                <a:cubicBezTo>
                  <a:pt x="58489" y="69786"/>
                  <a:pt x="71080" y="78581"/>
                  <a:pt x="85725" y="78581"/>
                </a:cubicBezTo>
                <a:cubicBezTo>
                  <a:pt x="100370" y="78581"/>
                  <a:pt x="112961" y="69786"/>
                  <a:pt x="118452" y="57150"/>
                </a:cubicBezTo>
                <a:lnTo>
                  <a:pt x="214313" y="57150"/>
                </a:lnTo>
                <a:cubicBezTo>
                  <a:pt x="222215" y="57150"/>
                  <a:pt x="228600" y="50765"/>
                  <a:pt x="228600" y="42863"/>
                </a:cubicBezTo>
                <a:cubicBezTo>
                  <a:pt x="228600" y="34960"/>
                  <a:pt x="222215" y="28575"/>
                  <a:pt x="214313" y="28575"/>
                </a:cubicBezTo>
                <a:lnTo>
                  <a:pt x="118452" y="28575"/>
                </a:lnTo>
                <a:cubicBezTo>
                  <a:pt x="112961" y="15939"/>
                  <a:pt x="100370" y="7144"/>
                  <a:pt x="85725" y="7144"/>
                </a:cubicBezTo>
                <a:cubicBezTo>
                  <a:pt x="71080" y="7144"/>
                  <a:pt x="58489" y="15939"/>
                  <a:pt x="52998" y="28575"/>
                </a:cubicBezTo>
                <a:lnTo>
                  <a:pt x="14288" y="28575"/>
                </a:lnTo>
                <a:close/>
                <a:moveTo>
                  <a:pt x="14288" y="100013"/>
                </a:moveTo>
                <a:cubicBezTo>
                  <a:pt x="6385" y="100013"/>
                  <a:pt x="0" y="106397"/>
                  <a:pt x="0" y="114300"/>
                </a:cubicBezTo>
                <a:cubicBezTo>
                  <a:pt x="0" y="122203"/>
                  <a:pt x="6385" y="128588"/>
                  <a:pt x="14288" y="128588"/>
                </a:cubicBezTo>
                <a:lnTo>
                  <a:pt x="124435" y="128588"/>
                </a:lnTo>
                <a:cubicBezTo>
                  <a:pt x="129927" y="141223"/>
                  <a:pt x="142518" y="150019"/>
                  <a:pt x="157163" y="150019"/>
                </a:cubicBezTo>
                <a:cubicBezTo>
                  <a:pt x="171807" y="150019"/>
                  <a:pt x="184398" y="141223"/>
                  <a:pt x="189890" y="128588"/>
                </a:cubicBezTo>
                <a:lnTo>
                  <a:pt x="214313" y="128588"/>
                </a:lnTo>
                <a:cubicBezTo>
                  <a:pt x="222215" y="128588"/>
                  <a:pt x="228600" y="122203"/>
                  <a:pt x="228600" y="114300"/>
                </a:cubicBezTo>
                <a:cubicBezTo>
                  <a:pt x="228600" y="106397"/>
                  <a:pt x="222215" y="100013"/>
                  <a:pt x="214313" y="100013"/>
                </a:cubicBezTo>
                <a:lnTo>
                  <a:pt x="189890" y="100013"/>
                </a:lnTo>
                <a:cubicBezTo>
                  <a:pt x="184398" y="87377"/>
                  <a:pt x="171807" y="78581"/>
                  <a:pt x="157163" y="78581"/>
                </a:cubicBezTo>
                <a:cubicBezTo>
                  <a:pt x="142518" y="78581"/>
                  <a:pt x="129927" y="87377"/>
                  <a:pt x="124435" y="100013"/>
                </a:cubicBezTo>
                <a:lnTo>
                  <a:pt x="14288" y="100013"/>
                </a:lnTo>
                <a:close/>
                <a:moveTo>
                  <a:pt x="14288" y="171450"/>
                </a:moveTo>
                <a:cubicBezTo>
                  <a:pt x="6385" y="171450"/>
                  <a:pt x="0" y="177835"/>
                  <a:pt x="0" y="185738"/>
                </a:cubicBezTo>
                <a:cubicBezTo>
                  <a:pt x="0" y="193640"/>
                  <a:pt x="6385" y="200025"/>
                  <a:pt x="14288" y="200025"/>
                </a:cubicBezTo>
                <a:lnTo>
                  <a:pt x="38710" y="200025"/>
                </a:lnTo>
                <a:cubicBezTo>
                  <a:pt x="44202" y="212661"/>
                  <a:pt x="56793" y="221456"/>
                  <a:pt x="71438" y="221456"/>
                </a:cubicBezTo>
                <a:cubicBezTo>
                  <a:pt x="86082" y="221456"/>
                  <a:pt x="98673" y="212661"/>
                  <a:pt x="104165" y="200025"/>
                </a:cubicBezTo>
                <a:lnTo>
                  <a:pt x="214313" y="200025"/>
                </a:lnTo>
                <a:cubicBezTo>
                  <a:pt x="222215" y="200025"/>
                  <a:pt x="228600" y="193640"/>
                  <a:pt x="228600" y="185738"/>
                </a:cubicBezTo>
                <a:cubicBezTo>
                  <a:pt x="228600" y="177835"/>
                  <a:pt x="222215" y="171450"/>
                  <a:pt x="214313" y="171450"/>
                </a:cubicBezTo>
                <a:lnTo>
                  <a:pt x="104165" y="171450"/>
                </a:lnTo>
                <a:cubicBezTo>
                  <a:pt x="98673" y="158814"/>
                  <a:pt x="86082" y="150019"/>
                  <a:pt x="71438" y="150019"/>
                </a:cubicBezTo>
                <a:cubicBezTo>
                  <a:pt x="56793" y="150019"/>
                  <a:pt x="44202" y="158814"/>
                  <a:pt x="38710" y="171450"/>
                </a:cubicBezTo>
                <a:lnTo>
                  <a:pt x="14288" y="171450"/>
                </a:ln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1"/>
          <p:cNvSpPr/>
          <p:nvPr/>
        </p:nvSpPr>
        <p:spPr>
          <a:xfrm>
            <a:off x="3486150" y="5845969"/>
            <a:ext cx="1543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Parameter Tuning</a:t>
            </a:r>
            <a:endParaRPr b="0" i="0" sz="1600" u="none" cap="none" strike="noStrike"/>
          </a:p>
        </p:txBody>
      </p:sp>
      <p:sp>
        <p:nvSpPr>
          <p:cNvPr id="30" name="Google Shape;30;p1"/>
          <p:cNvSpPr/>
          <p:nvPr/>
        </p:nvSpPr>
        <p:spPr>
          <a:xfrm>
            <a:off x="5238750" y="5712619"/>
            <a:ext cx="533400" cy="533400"/>
          </a:xfrm>
          <a:custGeom>
            <a:rect b="b" l="l" r="r" t="t"/>
            <a:pathLst>
              <a:path extrusionOk="0" h="533400" w="533400">
                <a:moveTo>
                  <a:pt x="76202" y="0"/>
                </a:moveTo>
                <a:lnTo>
                  <a:pt x="457198" y="0"/>
                </a:lnTo>
                <a:cubicBezTo>
                  <a:pt x="499283" y="0"/>
                  <a:pt x="533400" y="34117"/>
                  <a:pt x="533400" y="76202"/>
                </a:cubicBezTo>
                <a:lnTo>
                  <a:pt x="533400" y="457198"/>
                </a:lnTo>
                <a:cubicBezTo>
                  <a:pt x="533400" y="499283"/>
                  <a:pt x="499283" y="533400"/>
                  <a:pt x="457198" y="533400"/>
                </a:cubicBezTo>
                <a:lnTo>
                  <a:pt x="76202" y="533400"/>
                </a:lnTo>
                <a:cubicBezTo>
                  <a:pt x="34117" y="533400"/>
                  <a:pt x="0" y="499283"/>
                  <a:pt x="0" y="4571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5376863" y="5865019"/>
            <a:ext cx="257175" cy="228600"/>
          </a:xfrm>
          <a:custGeom>
            <a:rect b="b" l="l" r="r" t="t"/>
            <a:pathLst>
              <a:path extrusionOk="0" h="228600" w="257175">
                <a:moveTo>
                  <a:pt x="161092" y="536"/>
                </a:moveTo>
                <a:cubicBezTo>
                  <a:pt x="153501" y="-1652"/>
                  <a:pt x="145599" y="2768"/>
                  <a:pt x="143411" y="10358"/>
                </a:cubicBezTo>
                <a:lnTo>
                  <a:pt x="86261" y="210383"/>
                </a:lnTo>
                <a:cubicBezTo>
                  <a:pt x="84073" y="217974"/>
                  <a:pt x="88493" y="225876"/>
                  <a:pt x="96083" y="228064"/>
                </a:cubicBezTo>
                <a:cubicBezTo>
                  <a:pt x="103674" y="230252"/>
                  <a:pt x="111576" y="225832"/>
                  <a:pt x="113764" y="218242"/>
                </a:cubicBezTo>
                <a:lnTo>
                  <a:pt x="170914" y="18217"/>
                </a:lnTo>
                <a:cubicBezTo>
                  <a:pt x="173102" y="10626"/>
                  <a:pt x="168682" y="2724"/>
                  <a:pt x="161092" y="536"/>
                </a:cubicBezTo>
                <a:close/>
                <a:moveTo>
                  <a:pt x="189934" y="61302"/>
                </a:moveTo>
                <a:cubicBezTo>
                  <a:pt x="184353" y="66883"/>
                  <a:pt x="184353" y="75947"/>
                  <a:pt x="189934" y="81528"/>
                </a:cubicBezTo>
                <a:lnTo>
                  <a:pt x="222706" y="114300"/>
                </a:lnTo>
                <a:lnTo>
                  <a:pt x="189934" y="147072"/>
                </a:lnTo>
                <a:cubicBezTo>
                  <a:pt x="184353" y="152653"/>
                  <a:pt x="184353" y="161717"/>
                  <a:pt x="189934" y="167298"/>
                </a:cubicBezTo>
                <a:cubicBezTo>
                  <a:pt x="195516" y="172879"/>
                  <a:pt x="204579" y="172879"/>
                  <a:pt x="210160" y="167298"/>
                </a:cubicBezTo>
                <a:lnTo>
                  <a:pt x="253023" y="124435"/>
                </a:lnTo>
                <a:cubicBezTo>
                  <a:pt x="258604" y="118854"/>
                  <a:pt x="258604" y="109791"/>
                  <a:pt x="253023" y="104209"/>
                </a:cubicBezTo>
                <a:lnTo>
                  <a:pt x="210160" y="61347"/>
                </a:lnTo>
                <a:cubicBezTo>
                  <a:pt x="204579" y="55766"/>
                  <a:pt x="195516" y="55766"/>
                  <a:pt x="189934" y="61347"/>
                </a:cubicBezTo>
                <a:close/>
                <a:moveTo>
                  <a:pt x="67285" y="61302"/>
                </a:moveTo>
                <a:cubicBezTo>
                  <a:pt x="61704" y="55721"/>
                  <a:pt x="52641" y="55721"/>
                  <a:pt x="47059" y="61302"/>
                </a:cubicBezTo>
                <a:lnTo>
                  <a:pt x="4197" y="104165"/>
                </a:lnTo>
                <a:cubicBezTo>
                  <a:pt x="-1384" y="109746"/>
                  <a:pt x="-1384" y="118809"/>
                  <a:pt x="4197" y="124391"/>
                </a:cubicBezTo>
                <a:lnTo>
                  <a:pt x="47059" y="167253"/>
                </a:lnTo>
                <a:cubicBezTo>
                  <a:pt x="52641" y="172834"/>
                  <a:pt x="61704" y="172834"/>
                  <a:pt x="67285" y="167253"/>
                </a:cubicBezTo>
                <a:cubicBezTo>
                  <a:pt x="72866" y="161672"/>
                  <a:pt x="72866" y="152608"/>
                  <a:pt x="67285" y="147027"/>
                </a:cubicBezTo>
                <a:lnTo>
                  <a:pt x="34513" y="114300"/>
                </a:lnTo>
                <a:lnTo>
                  <a:pt x="67241" y="81528"/>
                </a:lnTo>
                <a:cubicBezTo>
                  <a:pt x="72822" y="75947"/>
                  <a:pt x="72822" y="66883"/>
                  <a:pt x="67241" y="61302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1"/>
          <p:cNvSpPr/>
          <p:nvPr/>
        </p:nvSpPr>
        <p:spPr>
          <a:xfrm>
            <a:off x="5886450" y="5845969"/>
            <a:ext cx="1638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Hands-on Practice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"/>
          <p:cNvSpPr/>
          <p:nvPr/>
        </p:nvSpPr>
        <p:spPr>
          <a:xfrm>
            <a:off x="351608" y="467254"/>
            <a:ext cx="1630581" cy="175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4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Course Overview</a:t>
            </a:r>
            <a:endParaRPr b="0" i="0" sz="1600" u="none" cap="none" strike="noStrike"/>
          </a:p>
        </p:txBody>
      </p:sp>
      <p:sp>
        <p:nvSpPr>
          <p:cNvPr id="39" name="Google Shape;39;p2"/>
          <p:cNvSpPr/>
          <p:nvPr/>
        </p:nvSpPr>
        <p:spPr>
          <a:xfrm>
            <a:off x="351608" y="748540"/>
            <a:ext cx="11699749" cy="4219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22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What You'll Learn Today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369188" y="1592399"/>
            <a:ext cx="5616934" cy="1292159"/>
          </a:xfrm>
          <a:custGeom>
            <a:rect b="b" l="l" r="r" t="t"/>
            <a:pathLst>
              <a:path extrusionOk="0" h="1292159" w="5616934">
                <a:moveTo>
                  <a:pt x="35161" y="0"/>
                </a:moveTo>
                <a:lnTo>
                  <a:pt x="5511455" y="0"/>
                </a:lnTo>
                <a:cubicBezTo>
                  <a:pt x="5569710" y="0"/>
                  <a:pt x="5616934" y="47225"/>
                  <a:pt x="5616934" y="105479"/>
                </a:cubicBezTo>
                <a:lnTo>
                  <a:pt x="5616934" y="1186680"/>
                </a:lnTo>
                <a:cubicBezTo>
                  <a:pt x="5616934" y="1244934"/>
                  <a:pt x="5569710" y="1292159"/>
                  <a:pt x="5511455" y="1292159"/>
                </a:cubicBez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369188" y="1592399"/>
            <a:ext cx="35161" cy="1292159"/>
          </a:xfrm>
          <a:custGeom>
            <a:rect b="b" l="l" r="r" t="t"/>
            <a:pathLst>
              <a:path extrusionOk="0" h="1292159" w="35161">
                <a:moveTo>
                  <a:pt x="35161" y="0"/>
                </a:moveTo>
                <a:lnTo>
                  <a:pt x="35161" y="0"/>
                </a:lnTo>
                <a:lnTo>
                  <a:pt x="35161" y="1292159"/>
                </a:ln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597733" y="1803363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703216" y="1873685"/>
            <a:ext cx="316447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01</a:t>
            </a:r>
            <a:endParaRPr b="0" i="0" sz="1600" u="none" cap="none" strike="noStrike"/>
          </a:p>
        </p:txBody>
      </p:sp>
      <p:sp>
        <p:nvSpPr>
          <p:cNvPr id="44" name="Google Shape;44;p2"/>
          <p:cNvSpPr/>
          <p:nvPr/>
        </p:nvSpPr>
        <p:spPr>
          <a:xfrm>
            <a:off x="1160306" y="1803363"/>
            <a:ext cx="4720335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Understanding Model Evaluation</a:t>
            </a:r>
            <a:endParaRPr b="0" i="0" sz="1600" u="none" cap="none" strike="noStrike"/>
          </a:p>
        </p:txBody>
      </p:sp>
      <p:sp>
        <p:nvSpPr>
          <p:cNvPr id="45" name="Google Shape;45;p2"/>
          <p:cNvSpPr/>
          <p:nvPr/>
        </p:nvSpPr>
        <p:spPr>
          <a:xfrm>
            <a:off x="1160306" y="2154971"/>
            <a:ext cx="4693964" cy="5186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accuracy alone isn't enough and how to properly assess your model's performance</a:t>
            </a:r>
            <a:endParaRPr b="0" i="0" sz="1600" u="none" cap="none" strike="noStrike"/>
          </a:p>
        </p:txBody>
      </p:sp>
      <p:sp>
        <p:nvSpPr>
          <p:cNvPr id="46" name="Google Shape;46;p2"/>
          <p:cNvSpPr/>
          <p:nvPr/>
        </p:nvSpPr>
        <p:spPr>
          <a:xfrm>
            <a:off x="6217552" y="1592399"/>
            <a:ext cx="5616934" cy="1292159"/>
          </a:xfrm>
          <a:custGeom>
            <a:rect b="b" l="l" r="r" t="t"/>
            <a:pathLst>
              <a:path extrusionOk="0" h="1292159" w="5616934">
                <a:moveTo>
                  <a:pt x="35161" y="0"/>
                </a:moveTo>
                <a:lnTo>
                  <a:pt x="5511455" y="0"/>
                </a:lnTo>
                <a:cubicBezTo>
                  <a:pt x="5569710" y="0"/>
                  <a:pt x="5616934" y="47225"/>
                  <a:pt x="5616934" y="105479"/>
                </a:cubicBezTo>
                <a:lnTo>
                  <a:pt x="5616934" y="1186680"/>
                </a:lnTo>
                <a:cubicBezTo>
                  <a:pt x="5616934" y="1244934"/>
                  <a:pt x="5569710" y="1292159"/>
                  <a:pt x="5511455" y="1292159"/>
                </a:cubicBez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"/>
          <p:cNvSpPr/>
          <p:nvPr/>
        </p:nvSpPr>
        <p:spPr>
          <a:xfrm>
            <a:off x="6217552" y="1592399"/>
            <a:ext cx="35161" cy="1292159"/>
          </a:xfrm>
          <a:custGeom>
            <a:rect b="b" l="l" r="r" t="t"/>
            <a:pathLst>
              <a:path extrusionOk="0" h="1292159" w="35161">
                <a:moveTo>
                  <a:pt x="35161" y="0"/>
                </a:moveTo>
                <a:lnTo>
                  <a:pt x="35161" y="0"/>
                </a:lnTo>
                <a:lnTo>
                  <a:pt x="35161" y="1292159"/>
                </a:ln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6446097" y="1803363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533999" y="1873685"/>
            <a:ext cx="35160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02</a:t>
            </a:r>
            <a:endParaRPr b="0" i="0" sz="1600" u="none" cap="none" strike="noStrike"/>
          </a:p>
        </p:txBody>
      </p:sp>
      <p:sp>
        <p:nvSpPr>
          <p:cNvPr id="50" name="Google Shape;50;p2"/>
          <p:cNvSpPr/>
          <p:nvPr/>
        </p:nvSpPr>
        <p:spPr>
          <a:xfrm>
            <a:off x="7008669" y="1803363"/>
            <a:ext cx="4720335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The Confusion Matrix Foundation</a:t>
            </a:r>
            <a:endParaRPr b="0" i="0" sz="1600" u="none" cap="none" strike="noStrike"/>
          </a:p>
        </p:txBody>
      </p:sp>
      <p:sp>
        <p:nvSpPr>
          <p:cNvPr id="51" name="Google Shape;51;p2"/>
          <p:cNvSpPr/>
          <p:nvPr/>
        </p:nvSpPr>
        <p:spPr>
          <a:xfrm>
            <a:off x="7008669" y="2154971"/>
            <a:ext cx="4693964" cy="5186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building blocks of all classification metrics and how to read them</a:t>
            </a:r>
            <a:endParaRPr b="0" i="0" sz="1600" u="none" cap="none" strike="noStrike"/>
          </a:p>
        </p:txBody>
      </p:sp>
      <p:sp>
        <p:nvSpPr>
          <p:cNvPr id="52" name="Google Shape;52;p2"/>
          <p:cNvSpPr/>
          <p:nvPr/>
        </p:nvSpPr>
        <p:spPr>
          <a:xfrm>
            <a:off x="369188" y="3091127"/>
            <a:ext cx="5616934" cy="1292159"/>
          </a:xfrm>
          <a:custGeom>
            <a:rect b="b" l="l" r="r" t="t"/>
            <a:pathLst>
              <a:path extrusionOk="0" h="1292159" w="5616934">
                <a:moveTo>
                  <a:pt x="35161" y="0"/>
                </a:moveTo>
                <a:lnTo>
                  <a:pt x="5511455" y="0"/>
                </a:lnTo>
                <a:cubicBezTo>
                  <a:pt x="5569710" y="0"/>
                  <a:pt x="5616934" y="47225"/>
                  <a:pt x="5616934" y="105479"/>
                </a:cubicBezTo>
                <a:lnTo>
                  <a:pt x="5616934" y="1186680"/>
                </a:lnTo>
                <a:cubicBezTo>
                  <a:pt x="5616934" y="1244934"/>
                  <a:pt x="5569710" y="1292159"/>
                  <a:pt x="5511455" y="1292159"/>
                </a:cubicBez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9188" y="3091127"/>
            <a:ext cx="35161" cy="1292159"/>
          </a:xfrm>
          <a:custGeom>
            <a:rect b="b" l="l" r="r" t="t"/>
            <a:pathLst>
              <a:path extrusionOk="0" h="1292159" w="35161">
                <a:moveTo>
                  <a:pt x="35161" y="0"/>
                </a:moveTo>
                <a:lnTo>
                  <a:pt x="35161" y="0"/>
                </a:lnTo>
                <a:lnTo>
                  <a:pt x="35161" y="1292159"/>
                </a:ln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97733" y="3302092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681240" y="3372413"/>
            <a:ext cx="36039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03</a:t>
            </a:r>
            <a:endParaRPr b="0" i="0" sz="1600" u="none" cap="none" strike="noStrike"/>
          </a:p>
        </p:txBody>
      </p:sp>
      <p:sp>
        <p:nvSpPr>
          <p:cNvPr id="56" name="Google Shape;56;p2"/>
          <p:cNvSpPr/>
          <p:nvPr/>
        </p:nvSpPr>
        <p:spPr>
          <a:xfrm>
            <a:off x="1160306" y="3302092"/>
            <a:ext cx="4720335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Precision, Recall, and F1 Score</a:t>
            </a:r>
            <a:endParaRPr b="0" i="0" sz="1600" u="none" cap="none" strike="noStrike"/>
          </a:p>
        </p:txBody>
      </p:sp>
      <p:sp>
        <p:nvSpPr>
          <p:cNvPr id="57" name="Google Shape;57;p2"/>
          <p:cNvSpPr/>
          <p:nvPr/>
        </p:nvSpPr>
        <p:spPr>
          <a:xfrm>
            <a:off x="1160306" y="3653699"/>
            <a:ext cx="4693964" cy="51862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Three essential metrics that reveal different aspects of model performance</a:t>
            </a:r>
            <a:endParaRPr b="0" i="0" sz="1600" u="none" cap="none" strike="noStrike"/>
          </a:p>
        </p:txBody>
      </p:sp>
      <p:sp>
        <p:nvSpPr>
          <p:cNvPr id="58" name="Google Shape;58;p2"/>
          <p:cNvSpPr/>
          <p:nvPr/>
        </p:nvSpPr>
        <p:spPr>
          <a:xfrm>
            <a:off x="6217552" y="3091127"/>
            <a:ext cx="5616934" cy="1292159"/>
          </a:xfrm>
          <a:custGeom>
            <a:rect b="b" l="l" r="r" t="t"/>
            <a:pathLst>
              <a:path extrusionOk="0" h="1292159" w="5616934">
                <a:moveTo>
                  <a:pt x="35161" y="0"/>
                </a:moveTo>
                <a:lnTo>
                  <a:pt x="5511455" y="0"/>
                </a:lnTo>
                <a:cubicBezTo>
                  <a:pt x="5569710" y="0"/>
                  <a:pt x="5616934" y="47225"/>
                  <a:pt x="5616934" y="105479"/>
                </a:cubicBezTo>
                <a:lnTo>
                  <a:pt x="5616934" y="1186680"/>
                </a:lnTo>
                <a:cubicBezTo>
                  <a:pt x="5616934" y="1244934"/>
                  <a:pt x="5569710" y="1292159"/>
                  <a:pt x="5511455" y="1292159"/>
                </a:cubicBez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6217552" y="3091127"/>
            <a:ext cx="35161" cy="1292159"/>
          </a:xfrm>
          <a:custGeom>
            <a:rect b="b" l="l" r="r" t="t"/>
            <a:pathLst>
              <a:path extrusionOk="0" h="1292159" w="35161">
                <a:moveTo>
                  <a:pt x="35161" y="0"/>
                </a:moveTo>
                <a:lnTo>
                  <a:pt x="35161" y="0"/>
                </a:lnTo>
                <a:lnTo>
                  <a:pt x="35161" y="1292159"/>
                </a:lnTo>
                <a:lnTo>
                  <a:pt x="35161" y="1292159"/>
                </a:lnTo>
                <a:cubicBezTo>
                  <a:pt x="15755" y="1292159"/>
                  <a:pt x="0" y="1276404"/>
                  <a:pt x="0" y="1256998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6446097" y="3302092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6533999" y="3372413"/>
            <a:ext cx="35160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04</a:t>
            </a:r>
            <a:endParaRPr b="0" i="0" sz="1600" u="none" cap="none" strike="noStrike"/>
          </a:p>
        </p:txBody>
      </p:sp>
      <p:sp>
        <p:nvSpPr>
          <p:cNvPr id="62" name="Google Shape;62;p2"/>
          <p:cNvSpPr/>
          <p:nvPr/>
        </p:nvSpPr>
        <p:spPr>
          <a:xfrm>
            <a:off x="7008669" y="3302092"/>
            <a:ext cx="4175342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ROC Curves and AUC</a:t>
            </a:r>
            <a:endParaRPr b="0" i="0" sz="1600" u="none" cap="none" strike="noStrike"/>
          </a:p>
        </p:txBody>
      </p:sp>
      <p:sp>
        <p:nvSpPr>
          <p:cNvPr id="63" name="Google Shape;63;p2"/>
          <p:cNvSpPr/>
          <p:nvPr/>
        </p:nvSpPr>
        <p:spPr>
          <a:xfrm>
            <a:off x="7008669" y="3653699"/>
            <a:ext cx="4148972" cy="254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Visualizing model performance across all possible thresholds</a:t>
            </a:r>
            <a:endParaRPr b="0" i="0" sz="1600" u="none" cap="none" strike="noStrike"/>
          </a:p>
        </p:txBody>
      </p:sp>
      <p:sp>
        <p:nvSpPr>
          <p:cNvPr id="64" name="Google Shape;64;p2"/>
          <p:cNvSpPr/>
          <p:nvPr/>
        </p:nvSpPr>
        <p:spPr>
          <a:xfrm>
            <a:off x="369188" y="4589855"/>
            <a:ext cx="5616934" cy="1028453"/>
          </a:xfrm>
          <a:custGeom>
            <a:rect b="b" l="l" r="r" t="t"/>
            <a:pathLst>
              <a:path extrusionOk="0" h="1028453" w="5616934">
                <a:moveTo>
                  <a:pt x="35161" y="0"/>
                </a:moveTo>
                <a:lnTo>
                  <a:pt x="5511456" y="0"/>
                </a:lnTo>
                <a:cubicBezTo>
                  <a:pt x="5569710" y="0"/>
                  <a:pt x="5616934" y="47224"/>
                  <a:pt x="5616934" y="105478"/>
                </a:cubicBezTo>
                <a:lnTo>
                  <a:pt x="5616934" y="922975"/>
                </a:lnTo>
                <a:cubicBezTo>
                  <a:pt x="5616934" y="981229"/>
                  <a:pt x="5569710" y="1028453"/>
                  <a:pt x="5511456" y="1028453"/>
                </a:cubicBez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369188" y="4589855"/>
            <a:ext cx="35161" cy="1028453"/>
          </a:xfrm>
          <a:custGeom>
            <a:rect b="b" l="l" r="r" t="t"/>
            <a:pathLst>
              <a:path extrusionOk="0" h="1028453" w="35161">
                <a:moveTo>
                  <a:pt x="35161" y="0"/>
                </a:moveTo>
                <a:lnTo>
                  <a:pt x="35161" y="0"/>
                </a:lnTo>
                <a:lnTo>
                  <a:pt x="35161" y="1028453"/>
                </a:ln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597733" y="4800820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"/>
          <p:cNvSpPr/>
          <p:nvPr/>
        </p:nvSpPr>
        <p:spPr>
          <a:xfrm>
            <a:off x="681240" y="4871141"/>
            <a:ext cx="36039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05</a:t>
            </a:r>
            <a:endParaRPr b="0" i="0" sz="1600" u="none" cap="none" strike="noStrike"/>
          </a:p>
        </p:txBody>
      </p:sp>
      <p:sp>
        <p:nvSpPr>
          <p:cNvPr id="68" name="Google Shape;68;p2"/>
          <p:cNvSpPr/>
          <p:nvPr/>
        </p:nvSpPr>
        <p:spPr>
          <a:xfrm>
            <a:off x="1160306" y="4800820"/>
            <a:ext cx="4342356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Hyperparameter Fundamentals</a:t>
            </a:r>
            <a:endParaRPr b="0" i="0" sz="1600" u="none" cap="none" strike="noStrike"/>
          </a:p>
        </p:txBody>
      </p:sp>
      <p:sp>
        <p:nvSpPr>
          <p:cNvPr id="69" name="Google Shape;69;p2"/>
          <p:cNvSpPr/>
          <p:nvPr/>
        </p:nvSpPr>
        <p:spPr>
          <a:xfrm>
            <a:off x="1160306" y="5152428"/>
            <a:ext cx="4315986" cy="254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Understanding the dials and knobs that control model behavior</a:t>
            </a:r>
            <a:endParaRPr b="0" i="0" sz="1600" u="none" cap="none" strike="noStrike"/>
          </a:p>
        </p:txBody>
      </p:sp>
      <p:sp>
        <p:nvSpPr>
          <p:cNvPr id="70" name="Google Shape;70;p2"/>
          <p:cNvSpPr/>
          <p:nvPr/>
        </p:nvSpPr>
        <p:spPr>
          <a:xfrm>
            <a:off x="6217552" y="4589855"/>
            <a:ext cx="5616934" cy="1028453"/>
          </a:xfrm>
          <a:custGeom>
            <a:rect b="b" l="l" r="r" t="t"/>
            <a:pathLst>
              <a:path extrusionOk="0" h="1028453" w="5616934">
                <a:moveTo>
                  <a:pt x="35161" y="0"/>
                </a:moveTo>
                <a:lnTo>
                  <a:pt x="5511456" y="0"/>
                </a:lnTo>
                <a:cubicBezTo>
                  <a:pt x="5569710" y="0"/>
                  <a:pt x="5616934" y="47224"/>
                  <a:pt x="5616934" y="105478"/>
                </a:cubicBezTo>
                <a:lnTo>
                  <a:pt x="5616934" y="922975"/>
                </a:lnTo>
                <a:cubicBezTo>
                  <a:pt x="5616934" y="981229"/>
                  <a:pt x="5569710" y="1028453"/>
                  <a:pt x="5511456" y="1028453"/>
                </a:cubicBez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6217552" y="4589855"/>
            <a:ext cx="35161" cy="1028453"/>
          </a:xfrm>
          <a:custGeom>
            <a:rect b="b" l="l" r="r" t="t"/>
            <a:pathLst>
              <a:path extrusionOk="0" h="1028453" w="35161">
                <a:moveTo>
                  <a:pt x="35161" y="0"/>
                </a:moveTo>
                <a:lnTo>
                  <a:pt x="35161" y="0"/>
                </a:lnTo>
                <a:lnTo>
                  <a:pt x="35161" y="1028453"/>
                </a:ln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6446097" y="4800820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2"/>
          <p:cNvSpPr/>
          <p:nvPr/>
        </p:nvSpPr>
        <p:spPr>
          <a:xfrm>
            <a:off x="6529604" y="4871141"/>
            <a:ext cx="36039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06</a:t>
            </a:r>
            <a:endParaRPr b="0" i="0" sz="1600" u="none" cap="none" strike="noStrike"/>
          </a:p>
        </p:txBody>
      </p:sp>
      <p:sp>
        <p:nvSpPr>
          <p:cNvPr id="74" name="Google Shape;74;p2"/>
          <p:cNvSpPr/>
          <p:nvPr/>
        </p:nvSpPr>
        <p:spPr>
          <a:xfrm>
            <a:off x="7008669" y="4800820"/>
            <a:ext cx="4351146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Grid Search vs Random Search</a:t>
            </a:r>
            <a:endParaRPr b="0" i="0" sz="1600" u="none" cap="none" strike="noStrike"/>
          </a:p>
        </p:txBody>
      </p:sp>
      <p:sp>
        <p:nvSpPr>
          <p:cNvPr id="75" name="Google Shape;75;p2"/>
          <p:cNvSpPr/>
          <p:nvPr/>
        </p:nvSpPr>
        <p:spPr>
          <a:xfrm>
            <a:off x="7008669" y="5152428"/>
            <a:ext cx="4324776" cy="254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Two powerful techniques for finding optimal model parameters</a:t>
            </a:r>
            <a:endParaRPr b="0" i="0" sz="1600" u="none" cap="none" strike="noStrike"/>
          </a:p>
        </p:txBody>
      </p:sp>
      <p:sp>
        <p:nvSpPr>
          <p:cNvPr id="76" name="Google Shape;76;p2"/>
          <p:cNvSpPr/>
          <p:nvPr/>
        </p:nvSpPr>
        <p:spPr>
          <a:xfrm>
            <a:off x="369188" y="5831470"/>
            <a:ext cx="11471204" cy="1028453"/>
          </a:xfrm>
          <a:custGeom>
            <a:rect b="b" l="l" r="r" t="t"/>
            <a:pathLst>
              <a:path extrusionOk="0" h="1028453" w="11471204">
                <a:moveTo>
                  <a:pt x="35161" y="0"/>
                </a:moveTo>
                <a:lnTo>
                  <a:pt x="11365726" y="0"/>
                </a:lnTo>
                <a:cubicBezTo>
                  <a:pt x="11423980" y="0"/>
                  <a:pt x="11471204" y="47224"/>
                  <a:pt x="11471204" y="105478"/>
                </a:cubicBezTo>
                <a:lnTo>
                  <a:pt x="11471204" y="922975"/>
                </a:lnTo>
                <a:cubicBezTo>
                  <a:pt x="11471204" y="981229"/>
                  <a:pt x="11423980" y="1028453"/>
                  <a:pt x="11365726" y="1028453"/>
                </a:cubicBez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"/>
          <p:cNvSpPr/>
          <p:nvPr/>
        </p:nvSpPr>
        <p:spPr>
          <a:xfrm>
            <a:off x="369188" y="5831470"/>
            <a:ext cx="35161" cy="1028453"/>
          </a:xfrm>
          <a:custGeom>
            <a:rect b="b" l="l" r="r" t="t"/>
            <a:pathLst>
              <a:path extrusionOk="0" h="1028453" w="35161">
                <a:moveTo>
                  <a:pt x="35161" y="0"/>
                </a:moveTo>
                <a:lnTo>
                  <a:pt x="35161" y="0"/>
                </a:lnTo>
                <a:lnTo>
                  <a:pt x="35161" y="1028453"/>
                </a:lnTo>
                <a:lnTo>
                  <a:pt x="35161" y="1028453"/>
                </a:lnTo>
                <a:cubicBezTo>
                  <a:pt x="15755" y="1028453"/>
                  <a:pt x="0" y="1012698"/>
                  <a:pt x="0" y="993292"/>
                </a:cubicBezTo>
                <a:lnTo>
                  <a:pt x="0" y="35161"/>
                </a:lnTo>
                <a:cubicBezTo>
                  <a:pt x="0" y="15755"/>
                  <a:pt x="15755" y="0"/>
                  <a:pt x="35161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2"/>
          <p:cNvSpPr/>
          <p:nvPr/>
        </p:nvSpPr>
        <p:spPr>
          <a:xfrm>
            <a:off x="597733" y="6042435"/>
            <a:ext cx="421929" cy="421929"/>
          </a:xfrm>
          <a:custGeom>
            <a:rect b="b" l="l" r="r" t="t"/>
            <a:pathLst>
              <a:path extrusionOk="0" h="421929" w="421929">
                <a:moveTo>
                  <a:pt x="70323" y="0"/>
                </a:moveTo>
                <a:lnTo>
                  <a:pt x="351606" y="0"/>
                </a:lnTo>
                <a:cubicBezTo>
                  <a:pt x="390419" y="0"/>
                  <a:pt x="421929" y="31511"/>
                  <a:pt x="421929" y="70323"/>
                </a:cubicBezTo>
                <a:lnTo>
                  <a:pt x="421929" y="351606"/>
                </a:lnTo>
                <a:cubicBezTo>
                  <a:pt x="421929" y="390445"/>
                  <a:pt x="390445" y="421929"/>
                  <a:pt x="351606" y="421929"/>
                </a:cubicBezTo>
                <a:lnTo>
                  <a:pt x="70323" y="421929"/>
                </a:lnTo>
                <a:cubicBezTo>
                  <a:pt x="31511" y="421929"/>
                  <a:pt x="0" y="390419"/>
                  <a:pt x="0" y="351606"/>
                </a:cubicBezTo>
                <a:lnTo>
                  <a:pt x="0" y="70323"/>
                </a:lnTo>
                <a:cubicBezTo>
                  <a:pt x="0" y="31511"/>
                  <a:pt x="31511" y="0"/>
                  <a:pt x="70323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"/>
          <p:cNvSpPr/>
          <p:nvPr/>
        </p:nvSpPr>
        <p:spPr>
          <a:xfrm>
            <a:off x="690030" y="6112756"/>
            <a:ext cx="342818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07</a:t>
            </a:r>
            <a:endParaRPr b="0" i="0" sz="1600" u="none" cap="none" strike="noStrike"/>
          </a:p>
        </p:txBody>
      </p:sp>
      <p:sp>
        <p:nvSpPr>
          <p:cNvPr id="80" name="Google Shape;80;p2"/>
          <p:cNvSpPr/>
          <p:nvPr/>
        </p:nvSpPr>
        <p:spPr>
          <a:xfrm>
            <a:off x="1160306" y="6042435"/>
            <a:ext cx="6777240" cy="281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61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Practical: Tuning a Random Forest</a:t>
            </a:r>
            <a:endParaRPr b="0" i="0" sz="1600" u="none" cap="none" strike="noStrike"/>
          </a:p>
        </p:txBody>
      </p:sp>
      <p:sp>
        <p:nvSpPr>
          <p:cNvPr id="81" name="Google Shape;81;p2"/>
          <p:cNvSpPr/>
          <p:nvPr/>
        </p:nvSpPr>
        <p:spPr>
          <a:xfrm>
            <a:off x="1160306" y="6394043"/>
            <a:ext cx="6750870" cy="2549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Hands-on lab session applying everything you've learned to optimize a real machine learning model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4a120b50e014cd6e63e9b9172f4a1032b01a6e0d.jpg" id="87" name="Google Shape;87;p3"/>
          <p:cNvPicPr preferRelativeResize="0"/>
          <p:nvPr/>
        </p:nvPicPr>
        <p:blipFill rotWithShape="1">
          <a:blip r:embed="rId3">
            <a:alphaModFix amt="30000"/>
          </a:blip>
          <a:srcRect b="0" l="18" r="18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88" name="Google Shape;88;p3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89" name="Google Shape;89;p3"/>
          <p:cNvSpPr/>
          <p:nvPr/>
        </p:nvSpPr>
        <p:spPr>
          <a:xfrm>
            <a:off x="390525" y="507206"/>
            <a:ext cx="1504950" cy="514350"/>
          </a:xfrm>
          <a:custGeom>
            <a:rect b="b" l="l" r="r" t="t"/>
            <a:pathLst>
              <a:path extrusionOk="0" h="514350" w="1504950">
                <a:moveTo>
                  <a:pt x="257175" y="0"/>
                </a:moveTo>
                <a:lnTo>
                  <a:pt x="1247775" y="0"/>
                </a:lnTo>
                <a:cubicBezTo>
                  <a:pt x="1389714" y="0"/>
                  <a:pt x="1504950" y="115236"/>
                  <a:pt x="1504950" y="257175"/>
                </a:cubicBezTo>
                <a:lnTo>
                  <a:pt x="1504950" y="257175"/>
                </a:lnTo>
                <a:cubicBezTo>
                  <a:pt x="1504950" y="399114"/>
                  <a:pt x="1389714" y="514350"/>
                  <a:pt x="12477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381000" y="497681"/>
            <a:ext cx="15716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228600" spcFirstLastPara="1" rIns="228600" wrap="square" tIns="1143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01</a:t>
            </a:r>
            <a:endParaRPr b="0" i="0" sz="1600" u="none" cap="none" strike="noStrike"/>
          </a:p>
        </p:txBody>
      </p:sp>
      <p:sp>
        <p:nvSpPr>
          <p:cNvPr id="91" name="Google Shape;91;p3"/>
          <p:cNvSpPr/>
          <p:nvPr/>
        </p:nvSpPr>
        <p:spPr>
          <a:xfrm>
            <a:off x="381000" y="1335881"/>
            <a:ext cx="77724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Understanding Model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Evaluation</a:t>
            </a:r>
            <a:endParaRPr b="0" i="0" sz="1600" u="none" cap="none" strike="noStrike"/>
          </a:p>
        </p:txBody>
      </p:sp>
      <p:sp>
        <p:nvSpPr>
          <p:cNvPr id="92" name="Google Shape;92;p3"/>
          <p:cNvSpPr/>
          <p:nvPr/>
        </p:nvSpPr>
        <p:spPr>
          <a:xfrm>
            <a:off x="381000" y="5069681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</p:sp>
      <p:sp>
        <p:nvSpPr>
          <p:cNvPr id="93" name="Google Shape;93;p3"/>
          <p:cNvSpPr/>
          <p:nvPr/>
        </p:nvSpPr>
        <p:spPr>
          <a:xfrm>
            <a:off x="381000" y="543163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Why accuracy alone isn't enough and how to properly assess your model's performance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374850" y="402964"/>
            <a:ext cx="1904268" cy="168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 Concepts</a:t>
            </a:r>
            <a:endParaRPr b="0" i="0" sz="1600" u="none" cap="none" strike="noStrike"/>
          </a:p>
        </p:txBody>
      </p:sp>
      <p:sp>
        <p:nvSpPr>
          <p:cNvPr id="100" name="Google Shape;100;p4"/>
          <p:cNvSpPr/>
          <p:nvPr/>
        </p:nvSpPr>
        <p:spPr>
          <a:xfrm>
            <a:off x="374850" y="674730"/>
            <a:ext cx="11610982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The Foundation: Confusion Matrix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74850" y="1228806"/>
            <a:ext cx="5660237" cy="824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</a:t>
            </a:r>
            <a:r>
              <a:rPr b="1" i="0" lang="en-US" sz="13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confusion matrix</a:t>
            </a:r>
            <a:r>
              <a:rPr b="0" i="0" lang="en-US" sz="13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is a 2×2 table that breaks down every prediction your model makes into four distinct categories. It's the foundation for all classification metrics.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379536" y="2205759"/>
            <a:ext cx="5566524" cy="4095238"/>
          </a:xfrm>
          <a:custGeom>
            <a:rect b="b" l="l" r="r" t="t"/>
            <a:pathLst>
              <a:path extrusionOk="0" h="4095238" w="5566524">
                <a:moveTo>
                  <a:pt x="112455" y="0"/>
                </a:moveTo>
                <a:lnTo>
                  <a:pt x="5454069" y="0"/>
                </a:lnTo>
                <a:cubicBezTo>
                  <a:pt x="5516176" y="0"/>
                  <a:pt x="5566524" y="50348"/>
                  <a:pt x="5566524" y="112455"/>
                </a:cubicBezTo>
                <a:lnTo>
                  <a:pt x="5566524" y="3982782"/>
                </a:lnTo>
                <a:cubicBezTo>
                  <a:pt x="5566524" y="4044890"/>
                  <a:pt x="5516176" y="4095238"/>
                  <a:pt x="5454069" y="4095238"/>
                </a:cubicBezTo>
                <a:lnTo>
                  <a:pt x="112455" y="4095238"/>
                </a:lnTo>
                <a:cubicBezTo>
                  <a:pt x="50348" y="4095238"/>
                  <a:pt x="0" y="4044890"/>
                  <a:pt x="0" y="3982782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2C3036"/>
          </a:solidFill>
          <a:ln cap="flat" cmpd="sng" w="12700">
            <a:solidFill>
              <a:srgbClr val="5C7A9E">
                <a:alpha val="2980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487305" y="2360384"/>
            <a:ext cx="5350985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Confusion Matrix</a:t>
            </a:r>
            <a:endParaRPr b="0" i="0" sz="1600" u="none" cap="none" strike="noStrike"/>
          </a:p>
        </p:txBody>
      </p:sp>
      <p:sp>
        <p:nvSpPr>
          <p:cNvPr id="104" name="Google Shape;104;p4"/>
          <p:cNvSpPr/>
          <p:nvPr/>
        </p:nvSpPr>
        <p:spPr>
          <a:xfrm>
            <a:off x="501362" y="2622779"/>
            <a:ext cx="5322872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3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Email Spam Detection Example</a:t>
            </a:r>
            <a:endParaRPr b="0" i="0" sz="1600" u="none" cap="none" strike="noStrike"/>
          </a:p>
        </p:txBody>
      </p:sp>
      <p:sp>
        <p:nvSpPr>
          <p:cNvPr id="105" name="Google Shape;105;p4"/>
          <p:cNvSpPr/>
          <p:nvPr/>
        </p:nvSpPr>
        <p:spPr>
          <a:xfrm>
            <a:off x="2310453" y="2922659"/>
            <a:ext cx="1705568" cy="374850"/>
          </a:xfrm>
          <a:custGeom>
            <a:rect b="b" l="l" r="r" t="t"/>
            <a:pathLst>
              <a:path extrusionOk="0" h="374850" w="1705568">
                <a:moveTo>
                  <a:pt x="74970" y="0"/>
                </a:moveTo>
                <a:lnTo>
                  <a:pt x="1630598" y="0"/>
                </a:lnTo>
                <a:cubicBezTo>
                  <a:pt x="1672003" y="0"/>
                  <a:pt x="1705568" y="33565"/>
                  <a:pt x="1705568" y="74970"/>
                </a:cubicBezTo>
                <a:lnTo>
                  <a:pt x="1705568" y="299880"/>
                </a:lnTo>
                <a:cubicBezTo>
                  <a:pt x="1705568" y="341285"/>
                  <a:pt x="1672003" y="374850"/>
                  <a:pt x="1630598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2272968" y="2922659"/>
            <a:ext cx="1780538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950" lIns="0" spcFirstLastPara="1" rIns="0" wrap="square" tIns="749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Predicted Spam</a:t>
            </a:r>
            <a:endParaRPr b="0" i="0" sz="1600" u="none" cap="none" strike="noStrike"/>
          </a:p>
        </p:txBody>
      </p:sp>
      <p:sp>
        <p:nvSpPr>
          <p:cNvPr id="107" name="Google Shape;107;p4"/>
          <p:cNvSpPr/>
          <p:nvPr/>
        </p:nvSpPr>
        <p:spPr>
          <a:xfrm>
            <a:off x="4086745" y="2922659"/>
            <a:ext cx="1705568" cy="374850"/>
          </a:xfrm>
          <a:custGeom>
            <a:rect b="b" l="l" r="r" t="t"/>
            <a:pathLst>
              <a:path extrusionOk="0" h="374850" w="1705568">
                <a:moveTo>
                  <a:pt x="74970" y="0"/>
                </a:moveTo>
                <a:lnTo>
                  <a:pt x="1630598" y="0"/>
                </a:lnTo>
                <a:cubicBezTo>
                  <a:pt x="1672003" y="0"/>
                  <a:pt x="1705568" y="33565"/>
                  <a:pt x="1705568" y="74970"/>
                </a:cubicBezTo>
                <a:lnTo>
                  <a:pt x="1705568" y="299880"/>
                </a:lnTo>
                <a:cubicBezTo>
                  <a:pt x="1705568" y="341285"/>
                  <a:pt x="1672003" y="374850"/>
                  <a:pt x="1630598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4049260" y="2922659"/>
            <a:ext cx="1780538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74950" lIns="0" spcFirstLastPara="1" rIns="0" wrap="square" tIns="749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Predicted Not Spam</a:t>
            </a:r>
            <a:endParaRPr b="0" i="0" sz="1600" u="none" cap="none" strike="noStrike"/>
          </a:p>
        </p:txBody>
      </p:sp>
      <p:sp>
        <p:nvSpPr>
          <p:cNvPr id="109" name="Google Shape;109;p4"/>
          <p:cNvSpPr/>
          <p:nvPr/>
        </p:nvSpPr>
        <p:spPr>
          <a:xfrm>
            <a:off x="534161" y="3372480"/>
            <a:ext cx="1705568" cy="1349460"/>
          </a:xfrm>
          <a:custGeom>
            <a:rect b="b" l="l" r="r" t="t"/>
            <a:pathLst>
              <a:path extrusionOk="0" h="1349460" w="1705568">
                <a:moveTo>
                  <a:pt x="74976" y="0"/>
                </a:moveTo>
                <a:lnTo>
                  <a:pt x="1630592" y="0"/>
                </a:lnTo>
                <a:cubicBezTo>
                  <a:pt x="1672000" y="0"/>
                  <a:pt x="1705568" y="33568"/>
                  <a:pt x="1705568" y="74976"/>
                </a:cubicBezTo>
                <a:lnTo>
                  <a:pt x="1705568" y="1274484"/>
                </a:lnTo>
                <a:cubicBezTo>
                  <a:pt x="1705568" y="1315893"/>
                  <a:pt x="1672000" y="1349460"/>
                  <a:pt x="1630592" y="1349460"/>
                </a:cubicBezTo>
                <a:lnTo>
                  <a:pt x="74976" y="1349460"/>
                </a:lnTo>
                <a:cubicBezTo>
                  <a:pt x="33568" y="1349460"/>
                  <a:pt x="0" y="1315893"/>
                  <a:pt x="0" y="1274484"/>
                </a:cubicBezTo>
                <a:lnTo>
                  <a:pt x="0" y="74976"/>
                </a:lnTo>
                <a:cubicBezTo>
                  <a:pt x="0" y="33596"/>
                  <a:pt x="33596" y="0"/>
                  <a:pt x="74976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496676" y="3372480"/>
            <a:ext cx="1780538" cy="134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850" lIns="0" spcFirstLastPara="1" rIns="0" wrap="square" tIns="3748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Spam</a:t>
            </a:r>
            <a:endParaRPr b="0" i="0" sz="1600" u="none" cap="none" strike="noStrike"/>
          </a:p>
        </p:txBody>
      </p:sp>
      <p:sp>
        <p:nvSpPr>
          <p:cNvPr id="111" name="Google Shape;111;p4"/>
          <p:cNvSpPr/>
          <p:nvPr/>
        </p:nvSpPr>
        <p:spPr>
          <a:xfrm>
            <a:off x="2319824" y="3381851"/>
            <a:ext cx="1686826" cy="1330718"/>
          </a:xfrm>
          <a:custGeom>
            <a:rect b="b" l="l" r="r" t="t"/>
            <a:pathLst>
              <a:path extrusionOk="0" h="1330718" w="1686826">
                <a:moveTo>
                  <a:pt x="74973" y="0"/>
                </a:moveTo>
                <a:lnTo>
                  <a:pt x="1611853" y="0"/>
                </a:lnTo>
                <a:cubicBezTo>
                  <a:pt x="1653259" y="0"/>
                  <a:pt x="1686826" y="33566"/>
                  <a:pt x="1686826" y="74973"/>
                </a:cubicBezTo>
                <a:lnTo>
                  <a:pt x="1686826" y="1255745"/>
                </a:lnTo>
                <a:cubicBezTo>
                  <a:pt x="1686826" y="1297152"/>
                  <a:pt x="1653259" y="1330718"/>
                  <a:pt x="1611853" y="1330718"/>
                </a:cubicBezTo>
                <a:lnTo>
                  <a:pt x="74973" y="1330718"/>
                </a:lnTo>
                <a:cubicBezTo>
                  <a:pt x="33566" y="1330718"/>
                  <a:pt x="0" y="1297152"/>
                  <a:pt x="0" y="1255745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2893960" y="3766072"/>
            <a:ext cx="534161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600" u="none" cap="none" strike="noStrike"/>
          </a:p>
        </p:txBody>
      </p:sp>
      <p:sp>
        <p:nvSpPr>
          <p:cNvPr id="113" name="Google Shape;113;p4"/>
          <p:cNvSpPr/>
          <p:nvPr/>
        </p:nvSpPr>
        <p:spPr>
          <a:xfrm>
            <a:off x="2776819" y="4140922"/>
            <a:ext cx="768443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</a:t>
            </a:r>
            <a:endParaRPr b="0" i="0" sz="1600" u="none" cap="none" strike="noStrike"/>
          </a:p>
        </p:txBody>
      </p:sp>
      <p:sp>
        <p:nvSpPr>
          <p:cNvPr id="114" name="Google Shape;114;p4"/>
          <p:cNvSpPr/>
          <p:nvPr/>
        </p:nvSpPr>
        <p:spPr>
          <a:xfrm>
            <a:off x="4096116" y="3381851"/>
            <a:ext cx="1686826" cy="1330718"/>
          </a:xfrm>
          <a:custGeom>
            <a:rect b="b" l="l" r="r" t="t"/>
            <a:pathLst>
              <a:path extrusionOk="0" h="1330718" w="1686826">
                <a:moveTo>
                  <a:pt x="74973" y="0"/>
                </a:moveTo>
                <a:lnTo>
                  <a:pt x="1611853" y="0"/>
                </a:lnTo>
                <a:cubicBezTo>
                  <a:pt x="1653259" y="0"/>
                  <a:pt x="1686826" y="33566"/>
                  <a:pt x="1686826" y="74973"/>
                </a:cubicBezTo>
                <a:lnTo>
                  <a:pt x="1686826" y="1255745"/>
                </a:lnTo>
                <a:cubicBezTo>
                  <a:pt x="1686826" y="1297152"/>
                  <a:pt x="1653259" y="1330718"/>
                  <a:pt x="1611853" y="1330718"/>
                </a:cubicBezTo>
                <a:lnTo>
                  <a:pt x="74973" y="1330718"/>
                </a:lnTo>
                <a:cubicBezTo>
                  <a:pt x="33566" y="1330718"/>
                  <a:pt x="0" y="1297152"/>
                  <a:pt x="0" y="1255745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8A9BA8">
              <a:alpha val="20000"/>
            </a:srgbClr>
          </a:solidFill>
          <a:ln cap="flat" cmpd="sng" w="25400">
            <a:solidFill>
              <a:srgbClr val="8A9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712422" y="3766072"/>
            <a:ext cx="449820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600" u="none" cap="none" strike="noStrike"/>
          </a:p>
        </p:txBody>
      </p:sp>
      <p:sp>
        <p:nvSpPr>
          <p:cNvPr id="116" name="Google Shape;116;p4"/>
          <p:cNvSpPr/>
          <p:nvPr/>
        </p:nvSpPr>
        <p:spPr>
          <a:xfrm>
            <a:off x="4506255" y="4140922"/>
            <a:ext cx="862155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Negative</a:t>
            </a:r>
            <a:endParaRPr b="0" i="0" sz="1600" u="none" cap="none" strike="noStrike"/>
          </a:p>
        </p:txBody>
      </p:sp>
      <p:sp>
        <p:nvSpPr>
          <p:cNvPr id="117" name="Google Shape;117;p4"/>
          <p:cNvSpPr/>
          <p:nvPr/>
        </p:nvSpPr>
        <p:spPr>
          <a:xfrm>
            <a:off x="534161" y="4796910"/>
            <a:ext cx="1705568" cy="1349460"/>
          </a:xfrm>
          <a:custGeom>
            <a:rect b="b" l="l" r="r" t="t"/>
            <a:pathLst>
              <a:path extrusionOk="0" h="1349460" w="1705568">
                <a:moveTo>
                  <a:pt x="74976" y="0"/>
                </a:moveTo>
                <a:lnTo>
                  <a:pt x="1630592" y="0"/>
                </a:lnTo>
                <a:cubicBezTo>
                  <a:pt x="1672000" y="0"/>
                  <a:pt x="1705568" y="33568"/>
                  <a:pt x="1705568" y="74976"/>
                </a:cubicBezTo>
                <a:lnTo>
                  <a:pt x="1705568" y="1274484"/>
                </a:lnTo>
                <a:cubicBezTo>
                  <a:pt x="1705568" y="1315893"/>
                  <a:pt x="1672000" y="1349460"/>
                  <a:pt x="1630592" y="1349460"/>
                </a:cubicBezTo>
                <a:lnTo>
                  <a:pt x="74976" y="1349460"/>
                </a:lnTo>
                <a:cubicBezTo>
                  <a:pt x="33568" y="1349460"/>
                  <a:pt x="0" y="1315893"/>
                  <a:pt x="0" y="1274484"/>
                </a:cubicBezTo>
                <a:lnTo>
                  <a:pt x="0" y="74976"/>
                </a:lnTo>
                <a:cubicBezTo>
                  <a:pt x="0" y="33596"/>
                  <a:pt x="33596" y="0"/>
                  <a:pt x="74976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96676" y="4796910"/>
            <a:ext cx="1780538" cy="1349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850" lIns="0" spcFirstLastPara="1" rIns="0" wrap="square" tIns="37485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Actual Not Spam</a:t>
            </a:r>
            <a:endParaRPr b="0" i="0" sz="1600" u="none" cap="none" strike="noStrike"/>
          </a:p>
        </p:txBody>
      </p:sp>
      <p:sp>
        <p:nvSpPr>
          <p:cNvPr id="119" name="Google Shape;119;p4"/>
          <p:cNvSpPr/>
          <p:nvPr/>
        </p:nvSpPr>
        <p:spPr>
          <a:xfrm>
            <a:off x="2319824" y="4806281"/>
            <a:ext cx="1686826" cy="1330718"/>
          </a:xfrm>
          <a:custGeom>
            <a:rect b="b" l="l" r="r" t="t"/>
            <a:pathLst>
              <a:path extrusionOk="0" h="1330718" w="1686826">
                <a:moveTo>
                  <a:pt x="74973" y="0"/>
                </a:moveTo>
                <a:lnTo>
                  <a:pt x="1611853" y="0"/>
                </a:lnTo>
                <a:cubicBezTo>
                  <a:pt x="1653259" y="0"/>
                  <a:pt x="1686826" y="33566"/>
                  <a:pt x="1686826" y="74973"/>
                </a:cubicBezTo>
                <a:lnTo>
                  <a:pt x="1686826" y="1255745"/>
                </a:lnTo>
                <a:cubicBezTo>
                  <a:pt x="1686826" y="1297152"/>
                  <a:pt x="1653259" y="1330718"/>
                  <a:pt x="1611853" y="1330718"/>
                </a:cubicBezTo>
                <a:lnTo>
                  <a:pt x="74973" y="1330718"/>
                </a:lnTo>
                <a:cubicBezTo>
                  <a:pt x="33566" y="1330718"/>
                  <a:pt x="0" y="1297152"/>
                  <a:pt x="0" y="1255745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8A9BA8">
              <a:alpha val="20000"/>
            </a:srgbClr>
          </a:solidFill>
          <a:ln cap="flat" cmpd="sng" w="25400">
            <a:solidFill>
              <a:srgbClr val="8A9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2987673" y="5190503"/>
            <a:ext cx="346736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/>
          </a:p>
        </p:txBody>
      </p:sp>
      <p:sp>
        <p:nvSpPr>
          <p:cNvPr id="121" name="Google Shape;121;p4"/>
          <p:cNvSpPr/>
          <p:nvPr/>
        </p:nvSpPr>
        <p:spPr>
          <a:xfrm>
            <a:off x="2762762" y="5565353"/>
            <a:ext cx="796556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</a:t>
            </a:r>
            <a:endParaRPr b="0" i="0" sz="1600" u="none" cap="none" strike="noStrike"/>
          </a:p>
        </p:txBody>
      </p:sp>
      <p:sp>
        <p:nvSpPr>
          <p:cNvPr id="122" name="Google Shape;122;p4"/>
          <p:cNvSpPr/>
          <p:nvPr/>
        </p:nvSpPr>
        <p:spPr>
          <a:xfrm>
            <a:off x="4096116" y="4806281"/>
            <a:ext cx="1686826" cy="1330718"/>
          </a:xfrm>
          <a:custGeom>
            <a:rect b="b" l="l" r="r" t="t"/>
            <a:pathLst>
              <a:path extrusionOk="0" h="1330718" w="1686826">
                <a:moveTo>
                  <a:pt x="74973" y="0"/>
                </a:moveTo>
                <a:lnTo>
                  <a:pt x="1611853" y="0"/>
                </a:lnTo>
                <a:cubicBezTo>
                  <a:pt x="1653259" y="0"/>
                  <a:pt x="1686826" y="33566"/>
                  <a:pt x="1686826" y="74973"/>
                </a:cubicBezTo>
                <a:lnTo>
                  <a:pt x="1686826" y="1255745"/>
                </a:lnTo>
                <a:cubicBezTo>
                  <a:pt x="1686826" y="1297152"/>
                  <a:pt x="1653259" y="1330718"/>
                  <a:pt x="1611853" y="1330718"/>
                </a:cubicBezTo>
                <a:lnTo>
                  <a:pt x="74973" y="1330718"/>
                </a:lnTo>
                <a:cubicBezTo>
                  <a:pt x="33566" y="1330718"/>
                  <a:pt x="0" y="1297152"/>
                  <a:pt x="0" y="1255745"/>
                </a:cubicBezTo>
                <a:lnTo>
                  <a:pt x="0" y="74973"/>
                </a:lnTo>
                <a:cubicBezTo>
                  <a:pt x="0" y="33594"/>
                  <a:pt x="33594" y="0"/>
                  <a:pt x="74973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618710" y="5190503"/>
            <a:ext cx="637245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195</a:t>
            </a:r>
            <a:endParaRPr b="0" i="0" sz="1600" u="none" cap="none" strike="noStrike"/>
          </a:p>
        </p:txBody>
      </p:sp>
      <p:sp>
        <p:nvSpPr>
          <p:cNvPr id="124" name="Google Shape;124;p4"/>
          <p:cNvSpPr/>
          <p:nvPr/>
        </p:nvSpPr>
        <p:spPr>
          <a:xfrm>
            <a:off x="4520312" y="5565353"/>
            <a:ext cx="834042" cy="187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Negative</a:t>
            </a:r>
            <a:endParaRPr b="0" i="0" sz="1600" u="none" cap="none" strike="noStrike"/>
          </a:p>
        </p:txBody>
      </p:sp>
      <p:sp>
        <p:nvSpPr>
          <p:cNvPr id="125" name="Google Shape;125;p4"/>
          <p:cNvSpPr/>
          <p:nvPr/>
        </p:nvSpPr>
        <p:spPr>
          <a:xfrm>
            <a:off x="6266147" y="1199520"/>
            <a:ext cx="5557153" cy="1237005"/>
          </a:xfrm>
          <a:custGeom>
            <a:rect b="b" l="l" r="r" t="t"/>
            <a:pathLst>
              <a:path extrusionOk="0" h="1237005" w="5557153">
                <a:moveTo>
                  <a:pt x="37485" y="0"/>
                </a:moveTo>
                <a:lnTo>
                  <a:pt x="5444697" y="0"/>
                </a:lnTo>
                <a:cubicBezTo>
                  <a:pt x="5506805" y="0"/>
                  <a:pt x="5557153" y="50348"/>
                  <a:pt x="5557153" y="112456"/>
                </a:cubicBezTo>
                <a:lnTo>
                  <a:pt x="5557153" y="1124549"/>
                </a:lnTo>
                <a:cubicBezTo>
                  <a:pt x="5557153" y="1186657"/>
                  <a:pt x="5506805" y="1237005"/>
                  <a:pt x="5444697" y="1237005"/>
                </a:cubicBez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266147" y="1199520"/>
            <a:ext cx="37485" cy="1237005"/>
          </a:xfrm>
          <a:custGeom>
            <a:rect b="b" l="l" r="r" t="t"/>
            <a:pathLst>
              <a:path extrusionOk="0" h="1237005" w="37485">
                <a:moveTo>
                  <a:pt x="37485" y="0"/>
                </a:moveTo>
                <a:lnTo>
                  <a:pt x="37485" y="0"/>
                </a:lnTo>
                <a:lnTo>
                  <a:pt x="37485" y="1237005"/>
                </a:ln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434829" y="1349460"/>
            <a:ext cx="374850" cy="374850"/>
          </a:xfrm>
          <a:custGeom>
            <a:rect b="b" l="l" r="r" t="t"/>
            <a:pathLst>
              <a:path extrusionOk="0" h="374850" w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550799" y="1452544"/>
            <a:ext cx="147597" cy="168683"/>
          </a:xfrm>
          <a:custGeom>
            <a:rect b="b" l="l" r="r" t="t"/>
            <a:pathLst>
              <a:path extrusionOk="0" h="168683" w="147597">
                <a:moveTo>
                  <a:pt x="143248" y="23095"/>
                </a:moveTo>
                <a:cubicBezTo>
                  <a:pt x="147960" y="26521"/>
                  <a:pt x="149014" y="33111"/>
                  <a:pt x="145588" y="37822"/>
                </a:cubicBezTo>
                <a:lnTo>
                  <a:pt x="61246" y="153791"/>
                </a:lnTo>
                <a:cubicBezTo>
                  <a:pt x="59434" y="156295"/>
                  <a:pt x="56634" y="157843"/>
                  <a:pt x="53537" y="158107"/>
                </a:cubicBezTo>
                <a:cubicBezTo>
                  <a:pt x="50440" y="158371"/>
                  <a:pt x="47442" y="157217"/>
                  <a:pt x="45268" y="155043"/>
                </a:cubicBezTo>
                <a:lnTo>
                  <a:pt x="3097" y="112872"/>
                </a:lnTo>
                <a:cubicBezTo>
                  <a:pt x="-1021" y="108754"/>
                  <a:pt x="-1021" y="102066"/>
                  <a:pt x="3097" y="97948"/>
                </a:cubicBezTo>
                <a:cubicBezTo>
                  <a:pt x="7215" y="93830"/>
                  <a:pt x="13903" y="93830"/>
                  <a:pt x="18021" y="97948"/>
                </a:cubicBezTo>
                <a:lnTo>
                  <a:pt x="51461" y="131388"/>
                </a:lnTo>
                <a:lnTo>
                  <a:pt x="128555" y="25401"/>
                </a:lnTo>
                <a:cubicBezTo>
                  <a:pt x="131981" y="20690"/>
                  <a:pt x="138570" y="19636"/>
                  <a:pt x="143281" y="23062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922135" y="1405688"/>
            <a:ext cx="1593113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True Positive (TP)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434829" y="1799281"/>
            <a:ext cx="5313500" cy="487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correctly predicted </a:t>
            </a:r>
            <a:r>
              <a:rPr b="1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positive</a:t>
            </a: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In our example: correctly identified spam emails.</a:t>
            </a:r>
            <a:endParaRPr b="0" i="0" sz="1600" u="none" cap="none" strike="noStrike"/>
          </a:p>
        </p:txBody>
      </p:sp>
      <p:sp>
        <p:nvSpPr>
          <p:cNvPr id="131" name="Google Shape;131;p4"/>
          <p:cNvSpPr/>
          <p:nvPr/>
        </p:nvSpPr>
        <p:spPr>
          <a:xfrm>
            <a:off x="6266147" y="2548981"/>
            <a:ext cx="5557153" cy="1237005"/>
          </a:xfrm>
          <a:custGeom>
            <a:rect b="b" l="l" r="r" t="t"/>
            <a:pathLst>
              <a:path extrusionOk="0" h="1237005" w="5557153">
                <a:moveTo>
                  <a:pt x="37485" y="0"/>
                </a:moveTo>
                <a:lnTo>
                  <a:pt x="5444697" y="0"/>
                </a:lnTo>
                <a:cubicBezTo>
                  <a:pt x="5506805" y="0"/>
                  <a:pt x="5557153" y="50348"/>
                  <a:pt x="5557153" y="112456"/>
                </a:cubicBezTo>
                <a:lnTo>
                  <a:pt x="5557153" y="1124549"/>
                </a:lnTo>
                <a:cubicBezTo>
                  <a:pt x="5557153" y="1186657"/>
                  <a:pt x="5506805" y="1237005"/>
                  <a:pt x="5444697" y="1237005"/>
                </a:cubicBez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266147" y="2548981"/>
            <a:ext cx="37485" cy="1237005"/>
          </a:xfrm>
          <a:custGeom>
            <a:rect b="b" l="l" r="r" t="t"/>
            <a:pathLst>
              <a:path extrusionOk="0" h="1237005" w="37485">
                <a:moveTo>
                  <a:pt x="37485" y="0"/>
                </a:moveTo>
                <a:lnTo>
                  <a:pt x="37485" y="0"/>
                </a:lnTo>
                <a:lnTo>
                  <a:pt x="37485" y="1237005"/>
                </a:ln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434829" y="2698921"/>
            <a:ext cx="374850" cy="374850"/>
          </a:xfrm>
          <a:custGeom>
            <a:rect b="b" l="l" r="r" t="t"/>
            <a:pathLst>
              <a:path extrusionOk="0" h="374850" w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6550799" y="2802005"/>
            <a:ext cx="147597" cy="168683"/>
          </a:xfrm>
          <a:custGeom>
            <a:rect b="b" l="l" r="r" t="t"/>
            <a:pathLst>
              <a:path extrusionOk="0" h="168683" w="147597">
                <a:moveTo>
                  <a:pt x="143248" y="23095"/>
                </a:moveTo>
                <a:cubicBezTo>
                  <a:pt x="147960" y="26521"/>
                  <a:pt x="149014" y="33111"/>
                  <a:pt x="145588" y="37822"/>
                </a:cubicBezTo>
                <a:lnTo>
                  <a:pt x="61246" y="153791"/>
                </a:lnTo>
                <a:cubicBezTo>
                  <a:pt x="59434" y="156295"/>
                  <a:pt x="56634" y="157843"/>
                  <a:pt x="53537" y="158107"/>
                </a:cubicBezTo>
                <a:cubicBezTo>
                  <a:pt x="50440" y="158371"/>
                  <a:pt x="47442" y="157217"/>
                  <a:pt x="45268" y="155043"/>
                </a:cubicBezTo>
                <a:lnTo>
                  <a:pt x="3097" y="112872"/>
                </a:lnTo>
                <a:cubicBezTo>
                  <a:pt x="-1021" y="108754"/>
                  <a:pt x="-1021" y="102066"/>
                  <a:pt x="3097" y="97948"/>
                </a:cubicBezTo>
                <a:cubicBezTo>
                  <a:pt x="7215" y="93830"/>
                  <a:pt x="13903" y="93830"/>
                  <a:pt x="18021" y="97948"/>
                </a:cubicBezTo>
                <a:lnTo>
                  <a:pt x="51461" y="131388"/>
                </a:lnTo>
                <a:lnTo>
                  <a:pt x="128555" y="25401"/>
                </a:lnTo>
                <a:cubicBezTo>
                  <a:pt x="131981" y="20690"/>
                  <a:pt x="138570" y="19636"/>
                  <a:pt x="143281" y="23062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6922135" y="2755148"/>
            <a:ext cx="171493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True Negative (TN)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6434829" y="3148741"/>
            <a:ext cx="5313500" cy="487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correctly predicted </a:t>
            </a:r>
            <a:r>
              <a:rPr b="1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</a:t>
            </a: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In our example: correctly identified legitimate emails.</a:t>
            </a:r>
            <a:endParaRPr b="0" i="0" sz="1600" u="none" cap="none" strike="noStrike"/>
          </a:p>
        </p:txBody>
      </p:sp>
      <p:sp>
        <p:nvSpPr>
          <p:cNvPr id="137" name="Google Shape;137;p4"/>
          <p:cNvSpPr/>
          <p:nvPr/>
        </p:nvSpPr>
        <p:spPr>
          <a:xfrm>
            <a:off x="6266147" y="3898441"/>
            <a:ext cx="5557153" cy="1237005"/>
          </a:xfrm>
          <a:custGeom>
            <a:rect b="b" l="l" r="r" t="t"/>
            <a:pathLst>
              <a:path extrusionOk="0" h="1237005" w="5557153">
                <a:moveTo>
                  <a:pt x="37485" y="0"/>
                </a:moveTo>
                <a:lnTo>
                  <a:pt x="5444697" y="0"/>
                </a:lnTo>
                <a:cubicBezTo>
                  <a:pt x="5506805" y="0"/>
                  <a:pt x="5557153" y="50348"/>
                  <a:pt x="5557153" y="112456"/>
                </a:cubicBezTo>
                <a:lnTo>
                  <a:pt x="5557153" y="1124549"/>
                </a:lnTo>
                <a:cubicBezTo>
                  <a:pt x="5557153" y="1186657"/>
                  <a:pt x="5506805" y="1237005"/>
                  <a:pt x="5444697" y="1237005"/>
                </a:cubicBez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8A9BA8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6266147" y="3898441"/>
            <a:ext cx="37485" cy="1237005"/>
          </a:xfrm>
          <a:custGeom>
            <a:rect b="b" l="l" r="r" t="t"/>
            <a:pathLst>
              <a:path extrusionOk="0" h="1237005" w="37485">
                <a:moveTo>
                  <a:pt x="37485" y="0"/>
                </a:moveTo>
                <a:lnTo>
                  <a:pt x="37485" y="0"/>
                </a:lnTo>
                <a:lnTo>
                  <a:pt x="37485" y="1237005"/>
                </a:ln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6434829" y="4048381"/>
            <a:ext cx="374850" cy="374850"/>
          </a:xfrm>
          <a:custGeom>
            <a:rect b="b" l="l" r="r" t="t"/>
            <a:pathLst>
              <a:path extrusionOk="0" h="374850" w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6561341" y="4151465"/>
            <a:ext cx="126512" cy="168683"/>
          </a:xfrm>
          <a:custGeom>
            <a:rect b="b" l="l" r="r" t="t"/>
            <a:pathLst>
              <a:path extrusionOk="0" h="168683" w="126512">
                <a:moveTo>
                  <a:pt x="18153" y="24182"/>
                </a:moveTo>
                <a:cubicBezTo>
                  <a:pt x="14035" y="20064"/>
                  <a:pt x="7347" y="20064"/>
                  <a:pt x="3229" y="24182"/>
                </a:cubicBezTo>
                <a:cubicBezTo>
                  <a:pt x="-890" y="28300"/>
                  <a:pt x="-890" y="34988"/>
                  <a:pt x="3229" y="39107"/>
                </a:cubicBezTo>
                <a:lnTo>
                  <a:pt x="48496" y="84341"/>
                </a:lnTo>
                <a:lnTo>
                  <a:pt x="3262" y="129609"/>
                </a:lnTo>
                <a:cubicBezTo>
                  <a:pt x="-857" y="133727"/>
                  <a:pt x="-857" y="140415"/>
                  <a:pt x="3262" y="144533"/>
                </a:cubicBezTo>
                <a:cubicBezTo>
                  <a:pt x="7380" y="148651"/>
                  <a:pt x="14068" y="148651"/>
                  <a:pt x="18186" y="144533"/>
                </a:cubicBezTo>
                <a:lnTo>
                  <a:pt x="63421" y="99266"/>
                </a:lnTo>
                <a:lnTo>
                  <a:pt x="108688" y="144500"/>
                </a:lnTo>
                <a:cubicBezTo>
                  <a:pt x="112806" y="148619"/>
                  <a:pt x="119494" y="148619"/>
                  <a:pt x="123613" y="144500"/>
                </a:cubicBezTo>
                <a:cubicBezTo>
                  <a:pt x="127731" y="140382"/>
                  <a:pt x="127731" y="133694"/>
                  <a:pt x="123613" y="129576"/>
                </a:cubicBezTo>
                <a:lnTo>
                  <a:pt x="78345" y="84341"/>
                </a:lnTo>
                <a:lnTo>
                  <a:pt x="123580" y="39074"/>
                </a:lnTo>
                <a:cubicBezTo>
                  <a:pt x="127698" y="34956"/>
                  <a:pt x="127698" y="28268"/>
                  <a:pt x="123580" y="24149"/>
                </a:cubicBezTo>
                <a:cubicBezTo>
                  <a:pt x="119462" y="20031"/>
                  <a:pt x="112774" y="20031"/>
                  <a:pt x="108655" y="24149"/>
                </a:cubicBezTo>
                <a:lnTo>
                  <a:pt x="63421" y="69417"/>
                </a:lnTo>
                <a:lnTo>
                  <a:pt x="18153" y="24182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"/>
          <p:cNvSpPr/>
          <p:nvPr/>
        </p:nvSpPr>
        <p:spPr>
          <a:xfrm>
            <a:off x="6922135" y="4104609"/>
            <a:ext cx="163996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False Positive (FP)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6434829" y="4498201"/>
            <a:ext cx="5313500" cy="487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incorrectly predicted </a:t>
            </a:r>
            <a:r>
              <a:rPr b="1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positive</a:t>
            </a: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(Type I Error). In our example: legitimate email marked as spam.</a:t>
            </a:r>
            <a:endParaRPr b="0" i="0" sz="1600" u="none" cap="none" strike="noStrike"/>
          </a:p>
        </p:txBody>
      </p:sp>
      <p:sp>
        <p:nvSpPr>
          <p:cNvPr id="143" name="Google Shape;143;p4"/>
          <p:cNvSpPr/>
          <p:nvPr/>
        </p:nvSpPr>
        <p:spPr>
          <a:xfrm>
            <a:off x="6266147" y="5247902"/>
            <a:ext cx="5557153" cy="1237005"/>
          </a:xfrm>
          <a:custGeom>
            <a:rect b="b" l="l" r="r" t="t"/>
            <a:pathLst>
              <a:path extrusionOk="0" h="1237005" w="5557153">
                <a:moveTo>
                  <a:pt x="37485" y="0"/>
                </a:moveTo>
                <a:lnTo>
                  <a:pt x="5444697" y="0"/>
                </a:lnTo>
                <a:cubicBezTo>
                  <a:pt x="5506805" y="0"/>
                  <a:pt x="5557153" y="50348"/>
                  <a:pt x="5557153" y="112456"/>
                </a:cubicBezTo>
                <a:lnTo>
                  <a:pt x="5557153" y="1124549"/>
                </a:lnTo>
                <a:cubicBezTo>
                  <a:pt x="5557153" y="1186657"/>
                  <a:pt x="5506805" y="1237005"/>
                  <a:pt x="5444697" y="1237005"/>
                </a:cubicBez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8A9BA8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6266147" y="5247902"/>
            <a:ext cx="37485" cy="1237005"/>
          </a:xfrm>
          <a:custGeom>
            <a:rect b="b" l="l" r="r" t="t"/>
            <a:pathLst>
              <a:path extrusionOk="0" h="1237005" w="37485">
                <a:moveTo>
                  <a:pt x="37485" y="0"/>
                </a:moveTo>
                <a:lnTo>
                  <a:pt x="37485" y="0"/>
                </a:lnTo>
                <a:lnTo>
                  <a:pt x="37485" y="1237005"/>
                </a:lnTo>
                <a:lnTo>
                  <a:pt x="37485" y="1237005"/>
                </a:lnTo>
                <a:cubicBezTo>
                  <a:pt x="16783" y="1237005"/>
                  <a:pt x="0" y="1220223"/>
                  <a:pt x="0" y="1199520"/>
                </a:cubicBezTo>
                <a:lnTo>
                  <a:pt x="0" y="37485"/>
                </a:lnTo>
                <a:cubicBezTo>
                  <a:pt x="0" y="16783"/>
                  <a:pt x="16783" y="0"/>
                  <a:pt x="37485" y="0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6434829" y="5397842"/>
            <a:ext cx="374850" cy="374850"/>
          </a:xfrm>
          <a:custGeom>
            <a:rect b="b" l="l" r="r" t="t"/>
            <a:pathLst>
              <a:path extrusionOk="0" h="374850" w="374850">
                <a:moveTo>
                  <a:pt x="74970" y="0"/>
                </a:moveTo>
                <a:lnTo>
                  <a:pt x="299880" y="0"/>
                </a:lnTo>
                <a:cubicBezTo>
                  <a:pt x="341285" y="0"/>
                  <a:pt x="374850" y="33565"/>
                  <a:pt x="374850" y="74970"/>
                </a:cubicBezTo>
                <a:lnTo>
                  <a:pt x="374850" y="299880"/>
                </a:lnTo>
                <a:cubicBezTo>
                  <a:pt x="374850" y="341285"/>
                  <a:pt x="341285" y="374850"/>
                  <a:pt x="299880" y="374850"/>
                </a:cubicBezTo>
                <a:lnTo>
                  <a:pt x="74970" y="374850"/>
                </a:lnTo>
                <a:cubicBezTo>
                  <a:pt x="33565" y="374850"/>
                  <a:pt x="0" y="341285"/>
                  <a:pt x="0" y="299880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6561341" y="5500925"/>
            <a:ext cx="126512" cy="168683"/>
          </a:xfrm>
          <a:custGeom>
            <a:rect b="b" l="l" r="r" t="t"/>
            <a:pathLst>
              <a:path extrusionOk="0" h="168683" w="126512">
                <a:moveTo>
                  <a:pt x="18153" y="24182"/>
                </a:moveTo>
                <a:cubicBezTo>
                  <a:pt x="14035" y="20064"/>
                  <a:pt x="7347" y="20064"/>
                  <a:pt x="3229" y="24182"/>
                </a:cubicBezTo>
                <a:cubicBezTo>
                  <a:pt x="-890" y="28300"/>
                  <a:pt x="-890" y="34988"/>
                  <a:pt x="3229" y="39107"/>
                </a:cubicBezTo>
                <a:lnTo>
                  <a:pt x="48496" y="84341"/>
                </a:lnTo>
                <a:lnTo>
                  <a:pt x="3262" y="129609"/>
                </a:lnTo>
                <a:cubicBezTo>
                  <a:pt x="-857" y="133727"/>
                  <a:pt x="-857" y="140415"/>
                  <a:pt x="3262" y="144533"/>
                </a:cubicBezTo>
                <a:cubicBezTo>
                  <a:pt x="7380" y="148651"/>
                  <a:pt x="14068" y="148651"/>
                  <a:pt x="18186" y="144533"/>
                </a:cubicBezTo>
                <a:lnTo>
                  <a:pt x="63421" y="99266"/>
                </a:lnTo>
                <a:lnTo>
                  <a:pt x="108688" y="144500"/>
                </a:lnTo>
                <a:cubicBezTo>
                  <a:pt x="112806" y="148619"/>
                  <a:pt x="119494" y="148619"/>
                  <a:pt x="123613" y="144500"/>
                </a:cubicBezTo>
                <a:cubicBezTo>
                  <a:pt x="127731" y="140382"/>
                  <a:pt x="127731" y="133694"/>
                  <a:pt x="123613" y="129576"/>
                </a:cubicBezTo>
                <a:lnTo>
                  <a:pt x="78345" y="84341"/>
                </a:lnTo>
                <a:lnTo>
                  <a:pt x="123580" y="39074"/>
                </a:lnTo>
                <a:cubicBezTo>
                  <a:pt x="127698" y="34956"/>
                  <a:pt x="127698" y="28268"/>
                  <a:pt x="123580" y="24149"/>
                </a:cubicBezTo>
                <a:cubicBezTo>
                  <a:pt x="119462" y="20031"/>
                  <a:pt x="112774" y="20031"/>
                  <a:pt x="108655" y="24149"/>
                </a:cubicBezTo>
                <a:lnTo>
                  <a:pt x="63421" y="69417"/>
                </a:lnTo>
                <a:lnTo>
                  <a:pt x="18153" y="24182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6922135" y="5454069"/>
            <a:ext cx="1761796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76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False Negative (FN)</a:t>
            </a:r>
            <a:endParaRPr b="0" i="0" sz="1600" u="none" cap="none" strike="noStrike">
              <a:solidFill>
                <a:srgbClr val="D9A443"/>
              </a:solidFill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6434829" y="5847662"/>
            <a:ext cx="5313500" cy="48730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incorrectly predicted </a:t>
            </a:r>
            <a:r>
              <a:rPr b="1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negative</a:t>
            </a: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(Type II Error). In our example: spam email missed by filter.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"/>
          <p:cNvSpPr/>
          <p:nvPr/>
        </p:nvSpPr>
        <p:spPr>
          <a:xfrm>
            <a:off x="381000" y="409575"/>
            <a:ext cx="1737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Metrics</a:t>
            </a:r>
            <a:endParaRPr b="0" i="0" sz="1600" u="none" cap="none" strike="noStrike"/>
          </a:p>
        </p:txBody>
      </p:sp>
      <p:sp>
        <p:nvSpPr>
          <p:cNvPr id="155" name="Google Shape;155;p5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Precision: When You're Right, How Right Are You?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390525" y="1266825"/>
            <a:ext cx="3638550" cy="2076450"/>
          </a:xfrm>
          <a:custGeom>
            <a:rect b="b" l="l" r="r" t="t"/>
            <a:pathLst>
              <a:path extrusionOk="0" h="2076450" w="3638550">
                <a:moveTo>
                  <a:pt x="114309" y="0"/>
                </a:moveTo>
                <a:lnTo>
                  <a:pt x="3524241" y="0"/>
                </a:lnTo>
                <a:cubicBezTo>
                  <a:pt x="3587372" y="0"/>
                  <a:pt x="3638550" y="51178"/>
                  <a:pt x="3638550" y="114309"/>
                </a:cubicBezTo>
                <a:lnTo>
                  <a:pt x="3638550" y="1962141"/>
                </a:lnTo>
                <a:cubicBezTo>
                  <a:pt x="3638550" y="2025272"/>
                  <a:pt x="3587372" y="2076450"/>
                  <a:pt x="352424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590550" y="1466850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Precision Formula</a:t>
            </a:r>
            <a:endParaRPr b="0" i="0" sz="1600" u="none" cap="none" strike="noStrike"/>
          </a:p>
        </p:txBody>
      </p:sp>
      <p:sp>
        <p:nvSpPr>
          <p:cNvPr id="158" name="Google Shape;158;p5"/>
          <p:cNvSpPr/>
          <p:nvPr/>
        </p:nvSpPr>
        <p:spPr>
          <a:xfrm>
            <a:off x="590550" y="1885950"/>
            <a:ext cx="3238500" cy="647700"/>
          </a:xfrm>
          <a:custGeom>
            <a:rect b="b" l="l" r="r" t="t"/>
            <a:pathLst>
              <a:path extrusionOk="0" h="647700" w="3238500">
                <a:moveTo>
                  <a:pt x="76202" y="0"/>
                </a:moveTo>
                <a:lnTo>
                  <a:pt x="3162298" y="0"/>
                </a:lnTo>
                <a:cubicBezTo>
                  <a:pt x="3204383" y="0"/>
                  <a:pt x="3238500" y="34117"/>
                  <a:pt x="3238500" y="76202"/>
                </a:cubicBezTo>
                <a:lnTo>
                  <a:pt x="3238500" y="571498"/>
                </a:lnTo>
                <a:cubicBezTo>
                  <a:pt x="3238500" y="613583"/>
                  <a:pt x="3204383" y="647700"/>
                  <a:pt x="3162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519113" y="2038350"/>
            <a:ext cx="338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 / (TP + FP)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590550" y="2647950"/>
            <a:ext cx="3314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 of all positive predictions, how many were actually correct?</a:t>
            </a:r>
            <a:endParaRPr b="0" i="0" sz="1600" u="none" cap="none" strike="noStrike"/>
          </a:p>
        </p:txBody>
      </p:sp>
      <p:sp>
        <p:nvSpPr>
          <p:cNvPr id="161" name="Google Shape;161;p5"/>
          <p:cNvSpPr/>
          <p:nvPr/>
        </p:nvSpPr>
        <p:spPr>
          <a:xfrm>
            <a:off x="381000" y="3505200"/>
            <a:ext cx="3657600" cy="1962150"/>
          </a:xfrm>
          <a:custGeom>
            <a:rect b="b" l="l" r="r" t="t"/>
            <a:pathLst>
              <a:path extrusionOk="0" h="1962150" w="3657600">
                <a:moveTo>
                  <a:pt x="114295" y="0"/>
                </a:moveTo>
                <a:lnTo>
                  <a:pt x="3543305" y="0"/>
                </a:lnTo>
                <a:cubicBezTo>
                  <a:pt x="3606428" y="0"/>
                  <a:pt x="3657600" y="51172"/>
                  <a:pt x="3657600" y="114295"/>
                </a:cubicBezTo>
                <a:lnTo>
                  <a:pt x="3657600" y="1847855"/>
                </a:lnTo>
                <a:cubicBezTo>
                  <a:pt x="3657600" y="1910978"/>
                  <a:pt x="3606428" y="1962150"/>
                  <a:pt x="3543305" y="1962150"/>
                </a:cubicBezTo>
                <a:lnTo>
                  <a:pt x="114295" y="1962150"/>
                </a:lnTo>
                <a:cubicBezTo>
                  <a:pt x="51172" y="1962150"/>
                  <a:pt x="0" y="1910978"/>
                  <a:pt x="0" y="1847855"/>
                </a:cubicBezTo>
                <a:lnTo>
                  <a:pt x="0" y="114295"/>
                </a:lnTo>
                <a:cubicBezTo>
                  <a:pt x="0" y="51172"/>
                  <a:pt x="51172" y="0"/>
                  <a:pt x="114295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33400" y="3657600"/>
            <a:ext cx="3438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When to Use Precision</a:t>
            </a:r>
            <a:endParaRPr b="0" i="0" sz="1600" u="none" cap="none" strike="noStrike"/>
          </a:p>
        </p:txBody>
      </p:sp>
      <p:sp>
        <p:nvSpPr>
          <p:cNvPr id="163" name="Google Shape;163;p5"/>
          <p:cNvSpPr/>
          <p:nvPr/>
        </p:nvSpPr>
        <p:spPr>
          <a:xfrm>
            <a:off x="533400" y="4000500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precision when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positives are costly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600" u="none" cap="none" strike="noStrike"/>
          </a:p>
        </p:txBody>
      </p:sp>
      <p:sp>
        <p:nvSpPr>
          <p:cNvPr id="164" name="Google Shape;164;p5"/>
          <p:cNvSpPr/>
          <p:nvPr/>
        </p:nvSpPr>
        <p:spPr>
          <a:xfrm>
            <a:off x="533400" y="432435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165" name="Google Shape;165;p5"/>
          <p:cNvSpPr/>
          <p:nvPr/>
        </p:nvSpPr>
        <p:spPr>
          <a:xfrm>
            <a:off x="657225" y="4324350"/>
            <a:ext cx="3305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Spam detection (avoid blocking legitimate emails)</a:t>
            </a:r>
            <a:endParaRPr b="0" i="0" sz="1600" u="none" cap="none" strike="noStrike"/>
          </a:p>
        </p:txBody>
      </p:sp>
      <p:sp>
        <p:nvSpPr>
          <p:cNvPr id="166" name="Google Shape;166;p5"/>
          <p:cNvSpPr/>
          <p:nvPr/>
        </p:nvSpPr>
        <p:spPr>
          <a:xfrm>
            <a:off x="533400" y="481965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167" name="Google Shape;167;p5"/>
          <p:cNvSpPr/>
          <p:nvPr/>
        </p:nvSpPr>
        <p:spPr>
          <a:xfrm>
            <a:off x="657225" y="4819650"/>
            <a:ext cx="2619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Search engines (show relevant results)</a:t>
            </a:r>
            <a:endParaRPr b="0" i="0" sz="1600" u="none" cap="none" strike="noStrike"/>
          </a:p>
        </p:txBody>
      </p:sp>
      <p:sp>
        <p:nvSpPr>
          <p:cNvPr id="168" name="Google Shape;168;p5"/>
          <p:cNvSpPr/>
          <p:nvPr/>
        </p:nvSpPr>
        <p:spPr>
          <a:xfrm>
            <a:off x="533400" y="5086350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169" name="Google Shape;169;p5"/>
          <p:cNvSpPr/>
          <p:nvPr/>
        </p:nvSpPr>
        <p:spPr>
          <a:xfrm>
            <a:off x="657225" y="5086350"/>
            <a:ext cx="23907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Quality control (avoid false alarms)</a:t>
            </a:r>
            <a:endParaRPr b="0" i="0" sz="1600" u="none" cap="none" strike="noStrike"/>
          </a:p>
        </p:txBody>
      </p:sp>
      <p:sp>
        <p:nvSpPr>
          <p:cNvPr id="170" name="Google Shape;170;p5"/>
          <p:cNvSpPr/>
          <p:nvPr/>
        </p:nvSpPr>
        <p:spPr>
          <a:xfrm>
            <a:off x="4267200" y="1219200"/>
            <a:ext cx="3657600" cy="2705100"/>
          </a:xfrm>
          <a:custGeom>
            <a:rect b="b" l="l" r="r" t="t"/>
            <a:pathLst>
              <a:path extrusionOk="0" h="2705100" w="3657600">
                <a:moveTo>
                  <a:pt x="114290" y="0"/>
                </a:moveTo>
                <a:lnTo>
                  <a:pt x="3543310" y="0"/>
                </a:lnTo>
                <a:cubicBezTo>
                  <a:pt x="3606430" y="0"/>
                  <a:pt x="3657600" y="51170"/>
                  <a:pt x="3657600" y="114290"/>
                </a:cubicBezTo>
                <a:lnTo>
                  <a:pt x="3657600" y="2590810"/>
                </a:lnTo>
                <a:cubicBezTo>
                  <a:pt x="3657600" y="2653930"/>
                  <a:pt x="3606430" y="2705100"/>
                  <a:pt x="3543310" y="2705100"/>
                </a:cubicBezTo>
                <a:lnTo>
                  <a:pt x="114290" y="2705100"/>
                </a:lnTo>
                <a:cubicBezTo>
                  <a:pt x="51170" y="2705100"/>
                  <a:pt x="0" y="2653930"/>
                  <a:pt x="0" y="259081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4371975" y="1371600"/>
            <a:ext cx="3448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Calculation Example</a:t>
            </a:r>
            <a:endParaRPr b="0" i="0" sz="1600" u="none" cap="none" strike="noStrike"/>
          </a:p>
        </p:txBody>
      </p:sp>
      <p:sp>
        <p:nvSpPr>
          <p:cNvPr id="172" name="Google Shape;172;p5"/>
          <p:cNvSpPr/>
          <p:nvPr/>
        </p:nvSpPr>
        <p:spPr>
          <a:xfrm>
            <a:off x="4381500" y="1752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our spam detection example:</a:t>
            </a:r>
            <a:endParaRPr b="0" i="0" sz="1600" u="none" cap="none" strike="noStrike"/>
          </a:p>
        </p:txBody>
      </p:sp>
      <p:sp>
        <p:nvSpPr>
          <p:cNvPr id="173" name="Google Shape;173;p5"/>
          <p:cNvSpPr/>
          <p:nvPr/>
        </p:nvSpPr>
        <p:spPr>
          <a:xfrm>
            <a:off x="4381500" y="20574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Positives (TP) = </a:t>
            </a:r>
            <a:r>
              <a:rPr b="1" i="0" lang="en-US" sz="15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4381500" y="23622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Positives (FP) = </a:t>
            </a:r>
            <a:r>
              <a:rPr b="1" i="0" lang="en-US" sz="15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4419600" y="2743200"/>
            <a:ext cx="3352800" cy="914400"/>
          </a:xfrm>
          <a:custGeom>
            <a:rect b="b" l="l" r="r" t="t"/>
            <a:pathLst>
              <a:path extrusionOk="0" h="914400" w="3352800">
                <a:moveTo>
                  <a:pt x="76197" y="0"/>
                </a:moveTo>
                <a:lnTo>
                  <a:pt x="3276603" y="0"/>
                </a:lnTo>
                <a:cubicBezTo>
                  <a:pt x="3318685" y="0"/>
                  <a:pt x="3352800" y="34115"/>
                  <a:pt x="3352800" y="76197"/>
                </a:cubicBezTo>
                <a:lnTo>
                  <a:pt x="3352800" y="838203"/>
                </a:lnTo>
                <a:cubicBezTo>
                  <a:pt x="3352800" y="880285"/>
                  <a:pt x="3318685" y="914400"/>
                  <a:pt x="32766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4491038" y="2857500"/>
            <a:ext cx="3209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 = 85 / (85 + 5)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4462463" y="3200400"/>
            <a:ext cx="3267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0.944 = 94.4%</a:t>
            </a:r>
            <a:endParaRPr b="0" i="0" sz="1600" u="none" cap="none" strike="noStrike"/>
          </a:p>
        </p:txBody>
      </p:sp>
      <p:sp>
        <p:nvSpPr>
          <p:cNvPr id="178" name="Google Shape;178;p5"/>
          <p:cNvSpPr/>
          <p:nvPr/>
        </p:nvSpPr>
        <p:spPr>
          <a:xfrm>
            <a:off x="4276725" y="4086225"/>
            <a:ext cx="3638550" cy="1409700"/>
          </a:xfrm>
          <a:custGeom>
            <a:rect b="b" l="l" r="r" t="t"/>
            <a:pathLst>
              <a:path extrusionOk="0" h="1409700" w="3638550">
                <a:moveTo>
                  <a:pt x="114298" y="0"/>
                </a:moveTo>
                <a:lnTo>
                  <a:pt x="3524252" y="0"/>
                </a:lnTo>
                <a:cubicBezTo>
                  <a:pt x="3587377" y="0"/>
                  <a:pt x="3638550" y="51173"/>
                  <a:pt x="3638550" y="114298"/>
                </a:cubicBezTo>
                <a:lnTo>
                  <a:pt x="3638550" y="1295402"/>
                </a:lnTo>
                <a:cubicBezTo>
                  <a:pt x="3638550" y="1358527"/>
                  <a:pt x="3587377" y="1409700"/>
                  <a:pt x="352425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4495800" y="4267200"/>
            <a:ext cx="171450" cy="228600"/>
          </a:xfrm>
          <a:custGeom>
            <a:rect b="b" l="l" r="r" t="t"/>
            <a:pathLst>
              <a:path extrusionOk="0" h="228600" w="17145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4838700" y="4248150"/>
            <a:ext cx="923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Key Insight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438650" y="4591050"/>
            <a:ext cx="33909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precision (94.4%) means when the model says an email is spam, it's right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94.4% of the time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Only 5 legitimate emails were incorrectly flagged.</a:t>
            </a:r>
            <a:endParaRPr b="0" i="0" sz="1600" u="none" cap="none" strike="noStrike"/>
          </a:p>
        </p:txBody>
      </p:sp>
      <p:sp>
        <p:nvSpPr>
          <p:cNvPr id="182" name="Google Shape;182;p5"/>
          <p:cNvSpPr/>
          <p:nvPr/>
        </p:nvSpPr>
        <p:spPr>
          <a:xfrm>
            <a:off x="8153400" y="1495425"/>
            <a:ext cx="3657600" cy="3733800"/>
          </a:xfrm>
          <a:custGeom>
            <a:rect b="b" l="l" r="r" t="t"/>
            <a:pathLst>
              <a:path extrusionOk="0" h="3733800" w="36576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3619500"/>
                </a:lnTo>
                <a:cubicBezTo>
                  <a:pt x="3657600" y="3682584"/>
                  <a:pt x="3606384" y="3733800"/>
                  <a:pt x="3543300" y="3733800"/>
                </a:cubicBezTo>
                <a:lnTo>
                  <a:pt x="114300" y="3733800"/>
                </a:lnTo>
                <a:cubicBezTo>
                  <a:pt x="51216" y="3733800"/>
                  <a:pt x="0" y="3682584"/>
                  <a:pt x="0" y="36195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8262938" y="1647825"/>
            <a:ext cx="3438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09F00"/>
                </a:solidFill>
                <a:latin typeface="Liter"/>
                <a:ea typeface="Liter"/>
                <a:cs typeface="Liter"/>
                <a:sym typeface="Liter"/>
              </a:rPr>
              <a:t>Visual Representation</a:t>
            </a:r>
            <a:endParaRPr b="0" i="0" sz="1600" u="none" cap="none" strike="noStrike"/>
          </a:p>
        </p:txBody>
      </p:sp>
      <p:pic>
        <p:nvPicPr>
          <p:cNvPr descr="https://kimi-img.moonshot.cn/pub/slides/26-01-26-13:42:16-d5rfte3djm8j6gspl590.png" id="184" name="Google Shape;1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2028825"/>
            <a:ext cx="3352800" cy="304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6"/>
          <p:cNvSpPr/>
          <p:nvPr/>
        </p:nvSpPr>
        <p:spPr>
          <a:xfrm>
            <a:off x="381000" y="409575"/>
            <a:ext cx="173742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Metrics</a:t>
            </a:r>
            <a:endParaRPr b="0" i="0" sz="1600" u="none" cap="none" strike="noStrike"/>
          </a:p>
        </p:txBody>
      </p:sp>
      <p:sp>
        <p:nvSpPr>
          <p:cNvPr id="191" name="Google Shape;191;p6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Recall: Did You Catch Them All?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90525" y="1504950"/>
            <a:ext cx="3638550" cy="2076450"/>
          </a:xfrm>
          <a:custGeom>
            <a:rect b="b" l="l" r="r" t="t"/>
            <a:pathLst>
              <a:path extrusionOk="0" h="2076450" w="3638550">
                <a:moveTo>
                  <a:pt x="114309" y="0"/>
                </a:moveTo>
                <a:lnTo>
                  <a:pt x="3524241" y="0"/>
                </a:lnTo>
                <a:cubicBezTo>
                  <a:pt x="3587372" y="0"/>
                  <a:pt x="3638550" y="51178"/>
                  <a:pt x="3638550" y="114309"/>
                </a:cubicBezTo>
                <a:lnTo>
                  <a:pt x="3638550" y="1962141"/>
                </a:lnTo>
                <a:cubicBezTo>
                  <a:pt x="3638550" y="2025272"/>
                  <a:pt x="3587372" y="2076450"/>
                  <a:pt x="3524241" y="2076450"/>
                </a:cubicBezTo>
                <a:lnTo>
                  <a:pt x="114309" y="2076450"/>
                </a:lnTo>
                <a:cubicBezTo>
                  <a:pt x="51178" y="2076450"/>
                  <a:pt x="0" y="2025272"/>
                  <a:pt x="0" y="1962141"/>
                </a:cubicBezTo>
                <a:lnTo>
                  <a:pt x="0" y="114309"/>
                </a:lnTo>
                <a:cubicBezTo>
                  <a:pt x="0" y="51220"/>
                  <a:pt x="51220" y="0"/>
                  <a:pt x="114309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90550" y="1704975"/>
            <a:ext cx="3352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Recall Formula</a:t>
            </a:r>
            <a:endParaRPr b="0" i="0" sz="1600" u="none" cap="none" strike="noStrike"/>
          </a:p>
        </p:txBody>
      </p:sp>
      <p:sp>
        <p:nvSpPr>
          <p:cNvPr id="194" name="Google Shape;194;p6"/>
          <p:cNvSpPr/>
          <p:nvPr/>
        </p:nvSpPr>
        <p:spPr>
          <a:xfrm>
            <a:off x="590550" y="2124075"/>
            <a:ext cx="3238500" cy="647700"/>
          </a:xfrm>
          <a:custGeom>
            <a:rect b="b" l="l" r="r" t="t"/>
            <a:pathLst>
              <a:path extrusionOk="0" h="647700" w="3238500">
                <a:moveTo>
                  <a:pt x="76202" y="0"/>
                </a:moveTo>
                <a:lnTo>
                  <a:pt x="3162298" y="0"/>
                </a:lnTo>
                <a:cubicBezTo>
                  <a:pt x="3204383" y="0"/>
                  <a:pt x="3238500" y="34117"/>
                  <a:pt x="3238500" y="76202"/>
                </a:cubicBezTo>
                <a:lnTo>
                  <a:pt x="3238500" y="571498"/>
                </a:lnTo>
                <a:cubicBezTo>
                  <a:pt x="3238500" y="613583"/>
                  <a:pt x="3204383" y="647700"/>
                  <a:pt x="3162298" y="647700"/>
                </a:cubicBezTo>
                <a:lnTo>
                  <a:pt x="76202" y="647700"/>
                </a:lnTo>
                <a:cubicBezTo>
                  <a:pt x="34117" y="647700"/>
                  <a:pt x="0" y="613583"/>
                  <a:pt x="0" y="5714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19113" y="2276475"/>
            <a:ext cx="3381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 / (TP + FN)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590550" y="2886075"/>
            <a:ext cx="3314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 of all actual positive cases, how many did the model find?</a:t>
            </a:r>
            <a:endParaRPr b="0" i="0" sz="1600" u="none" cap="none" strike="noStrike"/>
          </a:p>
        </p:txBody>
      </p:sp>
      <p:sp>
        <p:nvSpPr>
          <p:cNvPr id="197" name="Google Shape;197;p6"/>
          <p:cNvSpPr/>
          <p:nvPr/>
        </p:nvSpPr>
        <p:spPr>
          <a:xfrm>
            <a:off x="381000" y="3743325"/>
            <a:ext cx="3657600" cy="1733550"/>
          </a:xfrm>
          <a:custGeom>
            <a:rect b="b" l="l" r="r" t="t"/>
            <a:pathLst>
              <a:path extrusionOk="0" h="1733550" w="3657600">
                <a:moveTo>
                  <a:pt x="114293" y="0"/>
                </a:moveTo>
                <a:lnTo>
                  <a:pt x="3543307" y="0"/>
                </a:lnTo>
                <a:cubicBezTo>
                  <a:pt x="3606429" y="0"/>
                  <a:pt x="3657600" y="51171"/>
                  <a:pt x="3657600" y="114293"/>
                </a:cubicBezTo>
                <a:lnTo>
                  <a:pt x="3657600" y="1619257"/>
                </a:lnTo>
                <a:cubicBezTo>
                  <a:pt x="3657600" y="1682379"/>
                  <a:pt x="3606429" y="1733550"/>
                  <a:pt x="3543307" y="1733550"/>
                </a:cubicBezTo>
                <a:lnTo>
                  <a:pt x="114293" y="1733550"/>
                </a:lnTo>
                <a:cubicBezTo>
                  <a:pt x="51171" y="1733550"/>
                  <a:pt x="0" y="1682379"/>
                  <a:pt x="0" y="1619257"/>
                </a:cubicBezTo>
                <a:lnTo>
                  <a:pt x="0" y="114293"/>
                </a:lnTo>
                <a:cubicBezTo>
                  <a:pt x="0" y="51171"/>
                  <a:pt x="51171" y="0"/>
                  <a:pt x="114293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533400" y="3895725"/>
            <a:ext cx="3438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When to Use Recall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533400" y="4238625"/>
            <a:ext cx="34290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recall when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negatives are costly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600" u="none" cap="none" strike="noStrike"/>
          </a:p>
        </p:txBody>
      </p:sp>
      <p:sp>
        <p:nvSpPr>
          <p:cNvPr id="200" name="Google Shape;200;p6"/>
          <p:cNvSpPr/>
          <p:nvPr/>
        </p:nvSpPr>
        <p:spPr>
          <a:xfrm>
            <a:off x="533400" y="4562475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01" name="Google Shape;201;p6"/>
          <p:cNvSpPr/>
          <p:nvPr/>
        </p:nvSpPr>
        <p:spPr>
          <a:xfrm>
            <a:off x="657225" y="4562475"/>
            <a:ext cx="2924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Disease screening (don't miss sick patients)</a:t>
            </a:r>
            <a:endParaRPr b="0" i="0" sz="1600" u="none" cap="none" strike="noStrike"/>
          </a:p>
        </p:txBody>
      </p:sp>
      <p:sp>
        <p:nvSpPr>
          <p:cNvPr id="202" name="Google Shape;202;p6"/>
          <p:cNvSpPr/>
          <p:nvPr/>
        </p:nvSpPr>
        <p:spPr>
          <a:xfrm>
            <a:off x="533400" y="4829175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03" name="Google Shape;203;p6"/>
          <p:cNvSpPr/>
          <p:nvPr/>
        </p:nvSpPr>
        <p:spPr>
          <a:xfrm>
            <a:off x="657225" y="4829175"/>
            <a:ext cx="2190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Fraud detection (catch all fraud)</a:t>
            </a:r>
            <a:endParaRPr b="0" i="0" sz="1600" u="none" cap="none" strike="noStrike"/>
          </a:p>
        </p:txBody>
      </p:sp>
      <p:sp>
        <p:nvSpPr>
          <p:cNvPr id="204" name="Google Shape;204;p6"/>
          <p:cNvSpPr/>
          <p:nvPr/>
        </p:nvSpPr>
        <p:spPr>
          <a:xfrm>
            <a:off x="533400" y="5095875"/>
            <a:ext cx="1238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05" name="Google Shape;205;p6"/>
          <p:cNvSpPr/>
          <p:nvPr/>
        </p:nvSpPr>
        <p:spPr>
          <a:xfrm>
            <a:off x="657225" y="5095875"/>
            <a:ext cx="2428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systems (don't miss dangers)</a:t>
            </a:r>
            <a:endParaRPr b="0" i="0" sz="1600" u="none" cap="none" strike="noStrike"/>
          </a:p>
        </p:txBody>
      </p:sp>
      <p:sp>
        <p:nvSpPr>
          <p:cNvPr id="206" name="Google Shape;206;p6"/>
          <p:cNvSpPr/>
          <p:nvPr/>
        </p:nvSpPr>
        <p:spPr>
          <a:xfrm>
            <a:off x="4267200" y="1219200"/>
            <a:ext cx="3657600" cy="2705100"/>
          </a:xfrm>
          <a:custGeom>
            <a:rect b="b" l="l" r="r" t="t"/>
            <a:pathLst>
              <a:path extrusionOk="0" h="2705100" w="3657600">
                <a:moveTo>
                  <a:pt x="114290" y="0"/>
                </a:moveTo>
                <a:lnTo>
                  <a:pt x="3543310" y="0"/>
                </a:lnTo>
                <a:cubicBezTo>
                  <a:pt x="3606430" y="0"/>
                  <a:pt x="3657600" y="51170"/>
                  <a:pt x="3657600" y="114290"/>
                </a:cubicBezTo>
                <a:lnTo>
                  <a:pt x="3657600" y="2590810"/>
                </a:lnTo>
                <a:cubicBezTo>
                  <a:pt x="3657600" y="2653930"/>
                  <a:pt x="3606430" y="2705100"/>
                  <a:pt x="3543310" y="2705100"/>
                </a:cubicBezTo>
                <a:lnTo>
                  <a:pt x="114290" y="2705100"/>
                </a:lnTo>
                <a:cubicBezTo>
                  <a:pt x="51170" y="2705100"/>
                  <a:pt x="0" y="2653930"/>
                  <a:pt x="0" y="2590810"/>
                </a:cubicBezTo>
                <a:lnTo>
                  <a:pt x="0" y="114290"/>
                </a:lnTo>
                <a:cubicBezTo>
                  <a:pt x="0" y="51212"/>
                  <a:pt x="51212" y="0"/>
                  <a:pt x="114290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371975" y="1371600"/>
            <a:ext cx="34480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Calculation Example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381500" y="1752600"/>
            <a:ext cx="3429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From our spam detection example:</a:t>
            </a:r>
            <a:endParaRPr b="0" i="0" sz="1600" u="none" cap="none" strike="noStrike"/>
          </a:p>
        </p:txBody>
      </p:sp>
      <p:sp>
        <p:nvSpPr>
          <p:cNvPr id="209" name="Google Shape;209;p6"/>
          <p:cNvSpPr/>
          <p:nvPr/>
        </p:nvSpPr>
        <p:spPr>
          <a:xfrm>
            <a:off x="4381500" y="20574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Positives (TP) = </a:t>
            </a:r>
            <a:r>
              <a:rPr b="1" i="0" lang="en-US" sz="15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</a:t>
            </a:r>
            <a:endParaRPr b="0" i="0" sz="1600" u="none" cap="none" strike="noStrike"/>
          </a:p>
        </p:txBody>
      </p:sp>
      <p:sp>
        <p:nvSpPr>
          <p:cNvPr id="210" name="Google Shape;210;p6"/>
          <p:cNvSpPr/>
          <p:nvPr/>
        </p:nvSpPr>
        <p:spPr>
          <a:xfrm>
            <a:off x="4381500" y="2362200"/>
            <a:ext cx="3429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Negatives (FN) = </a:t>
            </a:r>
            <a:r>
              <a:rPr b="1" i="0" lang="en-US" sz="15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15</a:t>
            </a:r>
            <a:endParaRPr b="0" i="0" sz="1600" u="none" cap="none" strike="noStrike"/>
          </a:p>
        </p:txBody>
      </p:sp>
      <p:sp>
        <p:nvSpPr>
          <p:cNvPr id="211" name="Google Shape;211;p6"/>
          <p:cNvSpPr/>
          <p:nvPr/>
        </p:nvSpPr>
        <p:spPr>
          <a:xfrm>
            <a:off x="4419600" y="2743200"/>
            <a:ext cx="3352800" cy="914400"/>
          </a:xfrm>
          <a:custGeom>
            <a:rect b="b" l="l" r="r" t="t"/>
            <a:pathLst>
              <a:path extrusionOk="0" h="914400" w="3352800">
                <a:moveTo>
                  <a:pt x="76197" y="0"/>
                </a:moveTo>
                <a:lnTo>
                  <a:pt x="3276603" y="0"/>
                </a:lnTo>
                <a:cubicBezTo>
                  <a:pt x="3318685" y="0"/>
                  <a:pt x="3352800" y="34115"/>
                  <a:pt x="3352800" y="76197"/>
                </a:cubicBezTo>
                <a:lnTo>
                  <a:pt x="3352800" y="838203"/>
                </a:lnTo>
                <a:cubicBezTo>
                  <a:pt x="3352800" y="880285"/>
                  <a:pt x="3318685" y="914400"/>
                  <a:pt x="3276603" y="914400"/>
                </a:cubicBezTo>
                <a:lnTo>
                  <a:pt x="76197" y="914400"/>
                </a:lnTo>
                <a:cubicBezTo>
                  <a:pt x="34115" y="914400"/>
                  <a:pt x="0" y="880285"/>
                  <a:pt x="0" y="838203"/>
                </a:cubicBezTo>
                <a:lnTo>
                  <a:pt x="0" y="76197"/>
                </a:lnTo>
                <a:cubicBezTo>
                  <a:pt x="0" y="34143"/>
                  <a:pt x="34143" y="0"/>
                  <a:pt x="7619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4491038" y="2857500"/>
            <a:ext cx="3209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= 85 / (85 + 15)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462463" y="3200400"/>
            <a:ext cx="32670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0.850 = 85.0%</a:t>
            </a:r>
            <a:endParaRPr b="0" i="0" sz="1600" u="none" cap="none" strike="noStrike"/>
          </a:p>
        </p:txBody>
      </p:sp>
      <p:sp>
        <p:nvSpPr>
          <p:cNvPr id="214" name="Google Shape;214;p6"/>
          <p:cNvSpPr/>
          <p:nvPr/>
        </p:nvSpPr>
        <p:spPr>
          <a:xfrm>
            <a:off x="4276725" y="4086225"/>
            <a:ext cx="3638550" cy="1657350"/>
          </a:xfrm>
          <a:custGeom>
            <a:rect b="b" l="l" r="r" t="t"/>
            <a:pathLst>
              <a:path extrusionOk="0" h="1657350" w="3638550">
                <a:moveTo>
                  <a:pt x="114307" y="0"/>
                </a:moveTo>
                <a:lnTo>
                  <a:pt x="3524243" y="0"/>
                </a:lnTo>
                <a:cubicBezTo>
                  <a:pt x="3587373" y="0"/>
                  <a:pt x="3638550" y="51177"/>
                  <a:pt x="3638550" y="114307"/>
                </a:cubicBezTo>
                <a:lnTo>
                  <a:pt x="3638550" y="1543043"/>
                </a:lnTo>
                <a:cubicBezTo>
                  <a:pt x="3638550" y="1606173"/>
                  <a:pt x="3587373" y="1657350"/>
                  <a:pt x="3524243" y="1657350"/>
                </a:cubicBezTo>
                <a:lnTo>
                  <a:pt x="114307" y="1657350"/>
                </a:lnTo>
                <a:cubicBezTo>
                  <a:pt x="51177" y="1657350"/>
                  <a:pt x="0" y="1606173"/>
                  <a:pt x="0" y="15430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4467225" y="4267200"/>
            <a:ext cx="228600" cy="228600"/>
          </a:xfrm>
          <a:custGeom>
            <a:rect b="b" l="l" r="r" t="t"/>
            <a:pathLst>
              <a:path extrusionOk="0" h="228600" w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4838700" y="4248150"/>
            <a:ext cx="923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Key Insight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4438650" y="4591050"/>
            <a:ext cx="33909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85% recall means the model found </a:t>
            </a: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85% of all spam emails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but 15 spam emails slipped through to the inbox. Missing spam is less critical than blocking legitimate emails.</a:t>
            </a:r>
            <a:endParaRPr b="0" i="0" sz="1600" u="none" cap="none" strike="noStrike"/>
          </a:p>
        </p:txBody>
      </p:sp>
      <p:sp>
        <p:nvSpPr>
          <p:cNvPr id="218" name="Google Shape;218;p6"/>
          <p:cNvSpPr/>
          <p:nvPr/>
        </p:nvSpPr>
        <p:spPr>
          <a:xfrm>
            <a:off x="8153400" y="1619250"/>
            <a:ext cx="3657600" cy="3733800"/>
          </a:xfrm>
          <a:custGeom>
            <a:rect b="b" l="l" r="r" t="t"/>
            <a:pathLst>
              <a:path extrusionOk="0" h="3733800" w="3657600">
                <a:moveTo>
                  <a:pt x="114300" y="0"/>
                </a:moveTo>
                <a:lnTo>
                  <a:pt x="3543300" y="0"/>
                </a:lnTo>
                <a:cubicBezTo>
                  <a:pt x="3606384" y="0"/>
                  <a:pt x="3657600" y="51216"/>
                  <a:pt x="3657600" y="114300"/>
                </a:cubicBezTo>
                <a:lnTo>
                  <a:pt x="3657600" y="3619500"/>
                </a:lnTo>
                <a:cubicBezTo>
                  <a:pt x="3657600" y="3682584"/>
                  <a:pt x="3606384" y="3733800"/>
                  <a:pt x="3543300" y="3733800"/>
                </a:cubicBezTo>
                <a:lnTo>
                  <a:pt x="114300" y="3733800"/>
                </a:lnTo>
                <a:cubicBezTo>
                  <a:pt x="51216" y="3733800"/>
                  <a:pt x="0" y="3682584"/>
                  <a:pt x="0" y="36195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8262938" y="1771650"/>
            <a:ext cx="34385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Visual Representation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pic>
        <p:nvPicPr>
          <p:cNvPr descr="https://kimi-img.moonshot.cn/pub/slides/26-01-26-13:42:16-d5rfte4tr22ubdo716d0.png" id="220" name="Google Shape;220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05800" y="2152650"/>
            <a:ext cx="3352800" cy="304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/>
          <p:nvPr/>
        </p:nvSpPr>
        <p:spPr>
          <a:xfrm>
            <a:off x="343679" y="369455"/>
            <a:ext cx="1567228" cy="154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Evaluation Metrics</a:t>
            </a:r>
            <a:endParaRPr b="0" i="0" sz="1600" u="none" cap="none" strike="noStrike"/>
          </a:p>
        </p:txBody>
      </p:sp>
      <p:sp>
        <p:nvSpPr>
          <p:cNvPr id="227" name="Google Shape;227;p7"/>
          <p:cNvSpPr/>
          <p:nvPr/>
        </p:nvSpPr>
        <p:spPr>
          <a:xfrm>
            <a:off x="343679" y="618622"/>
            <a:ext cx="11659298" cy="34367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6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F1 Score: The Best of Both Worlds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352271" y="1916008"/>
            <a:ext cx="5627738" cy="2079256"/>
          </a:xfrm>
          <a:custGeom>
            <a:rect b="b" l="l" r="r" t="t"/>
            <a:pathLst>
              <a:path extrusionOk="0" h="2079256" w="5627738">
                <a:moveTo>
                  <a:pt x="103110" y="0"/>
                </a:moveTo>
                <a:lnTo>
                  <a:pt x="5524628" y="0"/>
                </a:lnTo>
                <a:cubicBezTo>
                  <a:pt x="5581574" y="0"/>
                  <a:pt x="5627738" y="46164"/>
                  <a:pt x="5627738" y="103110"/>
                </a:cubicBezTo>
                <a:lnTo>
                  <a:pt x="5627738" y="1976146"/>
                </a:lnTo>
                <a:cubicBezTo>
                  <a:pt x="5627738" y="2033092"/>
                  <a:pt x="5581574" y="2079256"/>
                  <a:pt x="5524628" y="2079256"/>
                </a:cubicBezTo>
                <a:lnTo>
                  <a:pt x="103110" y="2079256"/>
                </a:lnTo>
                <a:cubicBezTo>
                  <a:pt x="46164" y="2079256"/>
                  <a:pt x="0" y="2033092"/>
                  <a:pt x="0" y="1976146"/>
                </a:cubicBezTo>
                <a:lnTo>
                  <a:pt x="0" y="103110"/>
                </a:lnTo>
                <a:cubicBezTo>
                  <a:pt x="0" y="46202"/>
                  <a:pt x="46202" y="0"/>
                  <a:pt x="10311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532702" y="2096440"/>
            <a:ext cx="5369979" cy="2749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24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F1 Score Formula</a:t>
            </a:r>
            <a:endParaRPr b="0" i="0" sz="1600" u="none" cap="none" strike="noStrike"/>
          </a:p>
        </p:txBody>
      </p:sp>
      <p:sp>
        <p:nvSpPr>
          <p:cNvPr id="230" name="Google Shape;230;p7"/>
          <p:cNvSpPr/>
          <p:nvPr/>
        </p:nvSpPr>
        <p:spPr>
          <a:xfrm>
            <a:off x="532702" y="2474486"/>
            <a:ext cx="5266875" cy="790461"/>
          </a:xfrm>
          <a:custGeom>
            <a:rect b="b" l="l" r="r" t="t"/>
            <a:pathLst>
              <a:path extrusionOk="0" h="790461" w="5266875">
                <a:moveTo>
                  <a:pt x="68738" y="0"/>
                </a:moveTo>
                <a:lnTo>
                  <a:pt x="5198137" y="0"/>
                </a:lnTo>
                <a:cubicBezTo>
                  <a:pt x="5236075" y="0"/>
                  <a:pt x="5266875" y="30801"/>
                  <a:pt x="5266875" y="68738"/>
                </a:cubicBezTo>
                <a:lnTo>
                  <a:pt x="5266875" y="721722"/>
                </a:lnTo>
                <a:cubicBezTo>
                  <a:pt x="5266875" y="759686"/>
                  <a:pt x="5236100" y="790461"/>
                  <a:pt x="5198137" y="790461"/>
                </a:cubicBezTo>
                <a:lnTo>
                  <a:pt x="68738" y="790461"/>
                </a:lnTo>
                <a:cubicBezTo>
                  <a:pt x="30801" y="790461"/>
                  <a:pt x="0" y="759660"/>
                  <a:pt x="0" y="721722"/>
                </a:cubicBezTo>
                <a:lnTo>
                  <a:pt x="0" y="68738"/>
                </a:lnTo>
                <a:cubicBezTo>
                  <a:pt x="0" y="30801"/>
                  <a:pt x="30801" y="0"/>
                  <a:pt x="6873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627214" y="2611958"/>
            <a:ext cx="5077852" cy="24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3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 = 2 × (Precision × Recall) / (Precision + Recall)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635805" y="2921268"/>
            <a:ext cx="5060668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Harmonic Mean of Precision and Recall</a:t>
            </a:r>
            <a:endParaRPr b="0" i="0" sz="1600" u="none" cap="none" strike="noStrike"/>
          </a:p>
        </p:txBody>
      </p:sp>
      <p:sp>
        <p:nvSpPr>
          <p:cNvPr id="233" name="Google Shape;233;p7"/>
          <p:cNvSpPr/>
          <p:nvPr/>
        </p:nvSpPr>
        <p:spPr>
          <a:xfrm>
            <a:off x="532702" y="3368051"/>
            <a:ext cx="5335611" cy="44678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harmonic mean punishes extreme values, ensuring both metrics contribute meaningfully.</a:t>
            </a:r>
            <a:endParaRPr b="0" i="0" sz="1600" u="none" cap="none" strike="noStrike"/>
          </a:p>
        </p:txBody>
      </p:sp>
      <p:sp>
        <p:nvSpPr>
          <p:cNvPr id="234" name="Google Shape;234;p7"/>
          <p:cNvSpPr/>
          <p:nvPr/>
        </p:nvSpPr>
        <p:spPr>
          <a:xfrm>
            <a:off x="343679" y="4141328"/>
            <a:ext cx="5644922" cy="1563738"/>
          </a:xfrm>
          <a:custGeom>
            <a:rect b="b" l="l" r="r" t="t"/>
            <a:pathLst>
              <a:path extrusionOk="0" h="1563738" w="5644922">
                <a:moveTo>
                  <a:pt x="103097" y="0"/>
                </a:moveTo>
                <a:lnTo>
                  <a:pt x="5541825" y="0"/>
                </a:lnTo>
                <a:cubicBezTo>
                  <a:pt x="5598764" y="0"/>
                  <a:pt x="5644922" y="46158"/>
                  <a:pt x="5644922" y="103097"/>
                </a:cubicBezTo>
                <a:lnTo>
                  <a:pt x="5644922" y="1460641"/>
                </a:lnTo>
                <a:cubicBezTo>
                  <a:pt x="5644922" y="1517580"/>
                  <a:pt x="5598764" y="1563738"/>
                  <a:pt x="5541825" y="1563738"/>
                </a:cubicBezTo>
                <a:lnTo>
                  <a:pt x="103097" y="1563738"/>
                </a:lnTo>
                <a:cubicBezTo>
                  <a:pt x="46158" y="1563738"/>
                  <a:pt x="0" y="1517580"/>
                  <a:pt x="0" y="1460641"/>
                </a:cubicBezTo>
                <a:lnTo>
                  <a:pt x="0" y="103097"/>
                </a:lnTo>
                <a:cubicBezTo>
                  <a:pt x="0" y="46196"/>
                  <a:pt x="46196" y="0"/>
                  <a:pt x="103097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481150" y="4278799"/>
            <a:ext cx="5447307" cy="24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8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Why Use F1 Score?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481150" y="4588110"/>
            <a:ext cx="5438715" cy="2233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 F1 when you need a </a:t>
            </a:r>
            <a:r>
              <a:rPr b="1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balance between precision and recall</a:t>
            </a: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</a:t>
            </a:r>
            <a:endParaRPr b="0" i="0" sz="1600" u="none" cap="none" strike="noStrike"/>
          </a:p>
        </p:txBody>
      </p:sp>
      <p:sp>
        <p:nvSpPr>
          <p:cNvPr id="237" name="Google Shape;237;p7"/>
          <p:cNvSpPr/>
          <p:nvPr/>
        </p:nvSpPr>
        <p:spPr>
          <a:xfrm>
            <a:off x="481150" y="4880237"/>
            <a:ext cx="111696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38" name="Google Shape;238;p7"/>
          <p:cNvSpPr/>
          <p:nvPr/>
        </p:nvSpPr>
        <p:spPr>
          <a:xfrm>
            <a:off x="592846" y="4880237"/>
            <a:ext cx="3479746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Information retrieval (balance relevance &amp; completeness)</a:t>
            </a:r>
            <a:endParaRPr b="0" i="0" sz="1600" u="none" cap="none" strike="noStrike"/>
          </a:p>
        </p:txBody>
      </p:sp>
      <p:sp>
        <p:nvSpPr>
          <p:cNvPr id="239" name="Google Shape;239;p7"/>
          <p:cNvSpPr/>
          <p:nvPr/>
        </p:nvSpPr>
        <p:spPr>
          <a:xfrm>
            <a:off x="481150" y="5120812"/>
            <a:ext cx="111696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40" name="Google Shape;240;p7"/>
          <p:cNvSpPr/>
          <p:nvPr/>
        </p:nvSpPr>
        <p:spPr>
          <a:xfrm>
            <a:off x="592846" y="5120812"/>
            <a:ext cx="2586182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Imbalanced datasets (avoid accuracy trap)</a:t>
            </a:r>
            <a:endParaRPr b="0" i="0" sz="1600" u="none" cap="none" strike="noStrike"/>
          </a:p>
        </p:txBody>
      </p:sp>
      <p:sp>
        <p:nvSpPr>
          <p:cNvPr id="241" name="Google Shape;241;p7"/>
          <p:cNvSpPr/>
          <p:nvPr/>
        </p:nvSpPr>
        <p:spPr>
          <a:xfrm>
            <a:off x="481150" y="5361387"/>
            <a:ext cx="111696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42" name="Google Shape;242;p7"/>
          <p:cNvSpPr/>
          <p:nvPr/>
        </p:nvSpPr>
        <p:spPr>
          <a:xfrm>
            <a:off x="592846" y="5361387"/>
            <a:ext cx="3204803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When both false positives and false negatives matter</a:t>
            </a:r>
            <a:endParaRPr b="0" i="0" sz="1600" u="none" cap="none" strike="noStrike"/>
          </a:p>
        </p:txBody>
      </p:sp>
      <p:sp>
        <p:nvSpPr>
          <p:cNvPr id="243" name="Google Shape;243;p7"/>
          <p:cNvSpPr/>
          <p:nvPr/>
        </p:nvSpPr>
        <p:spPr>
          <a:xfrm>
            <a:off x="6197627" y="1099772"/>
            <a:ext cx="5644922" cy="2800981"/>
          </a:xfrm>
          <a:custGeom>
            <a:rect b="b" l="l" r="r" t="t"/>
            <a:pathLst>
              <a:path extrusionOk="0" h="2800981" w="5644922">
                <a:moveTo>
                  <a:pt x="103104" y="0"/>
                </a:moveTo>
                <a:lnTo>
                  <a:pt x="5541818" y="0"/>
                </a:lnTo>
                <a:cubicBezTo>
                  <a:pt x="5598760" y="0"/>
                  <a:pt x="5644922" y="46161"/>
                  <a:pt x="5644922" y="103104"/>
                </a:cubicBezTo>
                <a:lnTo>
                  <a:pt x="5644922" y="2697877"/>
                </a:lnTo>
                <a:cubicBezTo>
                  <a:pt x="5644922" y="2754820"/>
                  <a:pt x="5598760" y="2800981"/>
                  <a:pt x="5541818" y="2800981"/>
                </a:cubicBezTo>
                <a:lnTo>
                  <a:pt x="103104" y="2800981"/>
                </a:lnTo>
                <a:cubicBezTo>
                  <a:pt x="46161" y="2800981"/>
                  <a:pt x="0" y="2754820"/>
                  <a:pt x="0" y="2697877"/>
                </a:cubicBezTo>
                <a:lnTo>
                  <a:pt x="0" y="103104"/>
                </a:lnTo>
                <a:cubicBezTo>
                  <a:pt x="0" y="46199"/>
                  <a:pt x="46199" y="0"/>
                  <a:pt x="103104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6292138" y="1237243"/>
            <a:ext cx="5455899" cy="24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3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Calculation Example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6300730" y="1580922"/>
            <a:ext cx="5438715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Using our previous calculations:</a:t>
            </a:r>
            <a:endParaRPr b="0" i="0" sz="1600" u="none" cap="none" strike="noStrike"/>
          </a:p>
        </p:txBody>
      </p:sp>
      <p:sp>
        <p:nvSpPr>
          <p:cNvPr id="246" name="Google Shape;246;p7"/>
          <p:cNvSpPr/>
          <p:nvPr/>
        </p:nvSpPr>
        <p:spPr>
          <a:xfrm>
            <a:off x="6300730" y="1855865"/>
            <a:ext cx="5438715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 = </a:t>
            </a:r>
            <a:r>
              <a:rPr b="1" i="0" lang="en-US" sz="1082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94.4%</a:t>
            </a:r>
            <a:endParaRPr b="0" i="0" sz="1600" u="none" cap="none" strike="noStrike"/>
          </a:p>
        </p:txBody>
      </p:sp>
      <p:sp>
        <p:nvSpPr>
          <p:cNvPr id="247" name="Google Shape;247;p7"/>
          <p:cNvSpPr/>
          <p:nvPr/>
        </p:nvSpPr>
        <p:spPr>
          <a:xfrm>
            <a:off x="6300730" y="2096440"/>
            <a:ext cx="5438715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82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 = </a:t>
            </a:r>
            <a:r>
              <a:rPr b="1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85.0%</a:t>
            </a:r>
            <a:endParaRPr b="0" i="0" sz="1600" u="none" cap="none" strike="noStrike"/>
          </a:p>
        </p:txBody>
      </p:sp>
      <p:sp>
        <p:nvSpPr>
          <p:cNvPr id="248" name="Google Shape;248;p7"/>
          <p:cNvSpPr/>
          <p:nvPr/>
        </p:nvSpPr>
        <p:spPr>
          <a:xfrm>
            <a:off x="6335098" y="2405751"/>
            <a:ext cx="5369979" cy="824829"/>
          </a:xfrm>
          <a:custGeom>
            <a:rect b="b" l="l" r="r" t="t"/>
            <a:pathLst>
              <a:path extrusionOk="0" h="824829" w="5369979">
                <a:moveTo>
                  <a:pt x="68733" y="0"/>
                </a:moveTo>
                <a:lnTo>
                  <a:pt x="5301246" y="0"/>
                </a:lnTo>
                <a:cubicBezTo>
                  <a:pt x="5339206" y="0"/>
                  <a:pt x="5369979" y="30773"/>
                  <a:pt x="5369979" y="68733"/>
                </a:cubicBezTo>
                <a:lnTo>
                  <a:pt x="5369979" y="756096"/>
                </a:lnTo>
                <a:cubicBezTo>
                  <a:pt x="5369979" y="794056"/>
                  <a:pt x="5339206" y="824829"/>
                  <a:pt x="5301246" y="824829"/>
                </a:cubicBezTo>
                <a:lnTo>
                  <a:pt x="68733" y="824829"/>
                </a:lnTo>
                <a:cubicBezTo>
                  <a:pt x="30773" y="824829"/>
                  <a:pt x="0" y="794056"/>
                  <a:pt x="0" y="756096"/>
                </a:cubicBezTo>
                <a:lnTo>
                  <a:pt x="0" y="68733"/>
                </a:lnTo>
                <a:cubicBezTo>
                  <a:pt x="0" y="30798"/>
                  <a:pt x="30798" y="0"/>
                  <a:pt x="68733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6399538" y="2508854"/>
            <a:ext cx="5241099" cy="24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8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 = 2 × (0.944 × 0.85) / (0.944 + 0.85)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373762" y="2818165"/>
            <a:ext cx="5292651" cy="30931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29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= 0.894 = 89.4%</a:t>
            </a:r>
            <a:endParaRPr b="0" i="0" sz="1600" u="none" cap="none" strike="noStrike"/>
          </a:p>
        </p:txBody>
      </p:sp>
      <p:sp>
        <p:nvSpPr>
          <p:cNvPr id="251" name="Google Shape;251;p7"/>
          <p:cNvSpPr/>
          <p:nvPr/>
        </p:nvSpPr>
        <p:spPr>
          <a:xfrm>
            <a:off x="6339394" y="3337979"/>
            <a:ext cx="5361387" cy="421006"/>
          </a:xfrm>
          <a:custGeom>
            <a:rect b="b" l="l" r="r" t="t"/>
            <a:pathLst>
              <a:path extrusionOk="0" h="421006" w="5361387">
                <a:moveTo>
                  <a:pt x="68738" y="0"/>
                </a:moveTo>
                <a:lnTo>
                  <a:pt x="5292649" y="0"/>
                </a:lnTo>
                <a:cubicBezTo>
                  <a:pt x="5330612" y="0"/>
                  <a:pt x="5361387" y="30775"/>
                  <a:pt x="5361387" y="68738"/>
                </a:cubicBezTo>
                <a:lnTo>
                  <a:pt x="5361387" y="352269"/>
                </a:lnTo>
                <a:cubicBezTo>
                  <a:pt x="5361387" y="390231"/>
                  <a:pt x="5330612" y="421006"/>
                  <a:pt x="5292649" y="421006"/>
                </a:cubicBezTo>
                <a:lnTo>
                  <a:pt x="68738" y="421006"/>
                </a:lnTo>
                <a:cubicBezTo>
                  <a:pt x="30800" y="421006"/>
                  <a:pt x="0" y="390206"/>
                  <a:pt x="0" y="352269"/>
                </a:cubicBezTo>
                <a:lnTo>
                  <a:pt x="0" y="68738"/>
                </a:lnTo>
                <a:cubicBezTo>
                  <a:pt x="0" y="30775"/>
                  <a:pt x="30775" y="0"/>
                  <a:pt x="68738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127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6412426" y="3445378"/>
            <a:ext cx="5215323" cy="206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82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89.4% F1</a:t>
            </a:r>
            <a:r>
              <a:rPr b="0" i="0" lang="en-US" sz="1082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shows balanced performance</a:t>
            </a:r>
            <a:endParaRPr b="0" i="0" sz="1600" u="none" cap="none" strike="noStrike"/>
          </a:p>
        </p:txBody>
      </p:sp>
      <p:sp>
        <p:nvSpPr>
          <p:cNvPr id="253" name="Google Shape;253;p7"/>
          <p:cNvSpPr/>
          <p:nvPr/>
        </p:nvSpPr>
        <p:spPr>
          <a:xfrm>
            <a:off x="6197627" y="4038224"/>
            <a:ext cx="5644922" cy="2474486"/>
          </a:xfrm>
          <a:custGeom>
            <a:rect b="b" l="l" r="r" t="t"/>
            <a:pathLst>
              <a:path extrusionOk="0" h="2474486" w="5644922">
                <a:moveTo>
                  <a:pt x="103112" y="0"/>
                </a:moveTo>
                <a:lnTo>
                  <a:pt x="5541810" y="0"/>
                </a:lnTo>
                <a:cubicBezTo>
                  <a:pt x="5598757" y="0"/>
                  <a:pt x="5644922" y="46165"/>
                  <a:pt x="5644922" y="103112"/>
                </a:cubicBezTo>
                <a:lnTo>
                  <a:pt x="5644922" y="2371374"/>
                </a:lnTo>
                <a:cubicBezTo>
                  <a:pt x="5644922" y="2428322"/>
                  <a:pt x="5598757" y="2474486"/>
                  <a:pt x="5541810" y="2474486"/>
                </a:cubicBezTo>
                <a:lnTo>
                  <a:pt x="103112" y="2474486"/>
                </a:lnTo>
                <a:cubicBezTo>
                  <a:pt x="46165" y="2474486"/>
                  <a:pt x="0" y="2428322"/>
                  <a:pt x="0" y="2371374"/>
                </a:cubicBezTo>
                <a:lnTo>
                  <a:pt x="0" y="103112"/>
                </a:lnTo>
                <a:cubicBezTo>
                  <a:pt x="0" y="46203"/>
                  <a:pt x="46203" y="0"/>
                  <a:pt x="103112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6296434" y="4175696"/>
            <a:ext cx="5447307" cy="2405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8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F1 Score Landscape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pic>
        <p:nvPicPr>
          <p:cNvPr descr="https://kimi-img.moonshot.cn/pub/slides/26-01-26-13:42:16-d5rfte2j4egnforid730.png" id="255" name="Google Shape;25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5098" y="4485006"/>
            <a:ext cx="4777133" cy="189023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tatic.vecteezy.com/3774e27ec412482aebaac8281720471473b80d2f.jpg" id="261" name="Google Shape;261;p8"/>
          <p:cNvPicPr preferRelativeResize="0"/>
          <p:nvPr/>
        </p:nvPicPr>
        <p:blipFill rotWithShape="1">
          <a:blip r:embed="rId3">
            <a:alphaModFix amt="30000"/>
          </a:blip>
          <a:srcRect b="10293" l="0" r="0" t="10294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62" name="Google Shape;262;p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263" name="Google Shape;263;p8"/>
          <p:cNvSpPr/>
          <p:nvPr/>
        </p:nvSpPr>
        <p:spPr>
          <a:xfrm>
            <a:off x="390525" y="1078706"/>
            <a:ext cx="1533525" cy="514350"/>
          </a:xfrm>
          <a:custGeom>
            <a:rect b="b" l="l" r="r" t="t"/>
            <a:pathLst>
              <a:path extrusionOk="0" h="514350" w="1533525">
                <a:moveTo>
                  <a:pt x="257175" y="0"/>
                </a:moveTo>
                <a:lnTo>
                  <a:pt x="1276350" y="0"/>
                </a:lnTo>
                <a:cubicBezTo>
                  <a:pt x="1418289" y="0"/>
                  <a:pt x="1533525" y="115236"/>
                  <a:pt x="1533525" y="257175"/>
                </a:cubicBezTo>
                <a:lnTo>
                  <a:pt x="1533525" y="257175"/>
                </a:lnTo>
                <a:cubicBezTo>
                  <a:pt x="1533525" y="399114"/>
                  <a:pt x="1418289" y="514350"/>
                  <a:pt x="1276350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8"/>
          <p:cNvSpPr/>
          <p:nvPr/>
        </p:nvSpPr>
        <p:spPr>
          <a:xfrm>
            <a:off x="381000" y="1069181"/>
            <a:ext cx="1600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228600" spcFirstLastPara="1" rIns="228600" wrap="square" tIns="1143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02</a:t>
            </a:r>
            <a:endParaRPr b="0" i="0" sz="1600" u="none" cap="none" strike="noStrike"/>
          </a:p>
        </p:txBody>
      </p:sp>
      <p:sp>
        <p:nvSpPr>
          <p:cNvPr id="265" name="Google Shape;265;p8"/>
          <p:cNvSpPr/>
          <p:nvPr/>
        </p:nvSpPr>
        <p:spPr>
          <a:xfrm>
            <a:off x="381000" y="1907381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ROC Curves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&amp; AUC</a:t>
            </a:r>
            <a:endParaRPr b="0" i="0" sz="1600" u="none" cap="none" strike="noStrike"/>
          </a:p>
        </p:txBody>
      </p:sp>
      <p:sp>
        <p:nvSpPr>
          <p:cNvPr id="266" name="Google Shape;266;p8"/>
          <p:cNvSpPr/>
          <p:nvPr/>
        </p:nvSpPr>
        <p:spPr>
          <a:xfrm>
            <a:off x="381000" y="4498181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  <a:ln>
            <a:noFill/>
          </a:ln>
        </p:spPr>
      </p:sp>
      <p:sp>
        <p:nvSpPr>
          <p:cNvPr id="267" name="Google Shape;267;p8"/>
          <p:cNvSpPr/>
          <p:nvPr/>
        </p:nvSpPr>
        <p:spPr>
          <a:xfrm>
            <a:off x="381000" y="486013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Visualizing model performance across all possible thresholds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9"/>
          <p:cNvSpPr/>
          <p:nvPr/>
        </p:nvSpPr>
        <p:spPr>
          <a:xfrm>
            <a:off x="372844" y="400807"/>
            <a:ext cx="1152175" cy="167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 Analysis</a:t>
            </a:r>
            <a:endParaRPr b="0" i="0" sz="1600" u="none" cap="none" strike="noStrike"/>
          </a:p>
        </p:txBody>
      </p:sp>
      <p:sp>
        <p:nvSpPr>
          <p:cNvPr id="274" name="Google Shape;274;p9"/>
          <p:cNvSpPr/>
          <p:nvPr/>
        </p:nvSpPr>
        <p:spPr>
          <a:xfrm>
            <a:off x="372844" y="671119"/>
            <a:ext cx="11614092" cy="372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42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Understanding ROC Curves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372844" y="1733725"/>
            <a:ext cx="5611303" cy="4213138"/>
          </a:xfrm>
          <a:custGeom>
            <a:rect b="b" l="l" r="r" t="t"/>
            <a:pathLst>
              <a:path extrusionOk="0" h="4213138" w="5611303">
                <a:moveTo>
                  <a:pt x="111859" y="0"/>
                </a:moveTo>
                <a:lnTo>
                  <a:pt x="5499444" y="0"/>
                </a:lnTo>
                <a:cubicBezTo>
                  <a:pt x="5561222" y="0"/>
                  <a:pt x="5611303" y="50081"/>
                  <a:pt x="5611303" y="111859"/>
                </a:cubicBezTo>
                <a:lnTo>
                  <a:pt x="5611303" y="4101279"/>
                </a:lnTo>
                <a:cubicBezTo>
                  <a:pt x="5611303" y="4163057"/>
                  <a:pt x="5561222" y="4213138"/>
                  <a:pt x="5499444" y="4213138"/>
                </a:cubicBezTo>
                <a:lnTo>
                  <a:pt x="111859" y="4213138"/>
                </a:lnTo>
                <a:cubicBezTo>
                  <a:pt x="50081" y="4213138"/>
                  <a:pt x="0" y="4163057"/>
                  <a:pt x="0" y="4101279"/>
                </a:cubicBezTo>
                <a:lnTo>
                  <a:pt x="0" y="111859"/>
                </a:lnTo>
                <a:cubicBezTo>
                  <a:pt x="0" y="50122"/>
                  <a:pt x="50122" y="0"/>
                  <a:pt x="111859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9"/>
          <p:cNvSpPr/>
          <p:nvPr/>
        </p:nvSpPr>
        <p:spPr>
          <a:xfrm>
            <a:off x="475376" y="1882862"/>
            <a:ext cx="5406239" cy="26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ROC Curve Example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pic>
        <p:nvPicPr>
          <p:cNvPr descr="https://kimi-img.moonshot.cn/pub/slides/26-01-26-13:42:16-d5rfte2i597ees9inikg.png" id="277" name="Google Shape;27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82" y="2255706"/>
            <a:ext cx="5182532" cy="3542018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278" name="Google Shape;278;p9"/>
          <p:cNvSpPr/>
          <p:nvPr/>
        </p:nvSpPr>
        <p:spPr>
          <a:xfrm>
            <a:off x="6219213" y="1202422"/>
            <a:ext cx="5592661" cy="2106569"/>
          </a:xfrm>
          <a:custGeom>
            <a:rect b="b" l="l" r="r" t="t"/>
            <a:pathLst>
              <a:path extrusionOk="0" h="2106569" w="5592661">
                <a:moveTo>
                  <a:pt x="111859" y="0"/>
                </a:moveTo>
                <a:lnTo>
                  <a:pt x="5480802" y="0"/>
                </a:lnTo>
                <a:cubicBezTo>
                  <a:pt x="5542580" y="0"/>
                  <a:pt x="5592661" y="50081"/>
                  <a:pt x="5592661" y="111859"/>
                </a:cubicBezTo>
                <a:lnTo>
                  <a:pt x="5592661" y="1994710"/>
                </a:lnTo>
                <a:cubicBezTo>
                  <a:pt x="5592661" y="2056488"/>
                  <a:pt x="5542580" y="2106569"/>
                  <a:pt x="5480802" y="2106569"/>
                </a:cubicBezTo>
                <a:lnTo>
                  <a:pt x="111859" y="2106569"/>
                </a:lnTo>
                <a:cubicBezTo>
                  <a:pt x="50081" y="2106569"/>
                  <a:pt x="0" y="2056488"/>
                  <a:pt x="0" y="1994710"/>
                </a:cubicBezTo>
                <a:lnTo>
                  <a:pt x="0" y="111859"/>
                </a:lnTo>
                <a:cubicBezTo>
                  <a:pt x="0" y="50122"/>
                  <a:pt x="50122" y="0"/>
                  <a:pt x="111859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"/>
          <p:cNvSpPr/>
          <p:nvPr/>
        </p:nvSpPr>
        <p:spPr>
          <a:xfrm>
            <a:off x="6377672" y="1360881"/>
            <a:ext cx="5368954" cy="26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68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What is a ROC Curve?</a:t>
            </a:r>
            <a:endParaRPr b="0" i="0" sz="1600" u="none" cap="none" strike="noStrike"/>
          </a:p>
        </p:txBody>
      </p:sp>
      <p:sp>
        <p:nvSpPr>
          <p:cNvPr id="280" name="Google Shape;280;p9"/>
          <p:cNvSpPr/>
          <p:nvPr/>
        </p:nvSpPr>
        <p:spPr>
          <a:xfrm>
            <a:off x="6377672" y="1733725"/>
            <a:ext cx="5350312" cy="48469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74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 (Receiver Operating Characteristic) curve plots the </a:t>
            </a:r>
            <a:r>
              <a:rPr b="1" i="0" lang="en-US" sz="1174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 Rate</a:t>
            </a:r>
            <a:r>
              <a:rPr b="0" i="0" lang="en-US" sz="1174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against the </a:t>
            </a:r>
            <a:r>
              <a:rPr b="1" i="0" lang="en-US" sz="1174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 Rate</a:t>
            </a:r>
            <a:r>
              <a:rPr b="0" i="0" lang="en-US" sz="1174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 various classification thresholds.</a:t>
            </a:r>
            <a:endParaRPr b="0" i="0" sz="1600" u="none" cap="none" strike="noStrike"/>
          </a:p>
        </p:txBody>
      </p:sp>
      <p:sp>
        <p:nvSpPr>
          <p:cNvPr id="281" name="Google Shape;281;p9"/>
          <p:cNvSpPr/>
          <p:nvPr/>
        </p:nvSpPr>
        <p:spPr>
          <a:xfrm>
            <a:off x="6377672" y="2330275"/>
            <a:ext cx="5350312" cy="223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X-axis:</a:t>
            </a:r>
            <a:r>
              <a:rPr b="0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False Positive Rate (FPR)</a:t>
            </a:r>
            <a:endParaRPr b="0" i="0" sz="1600" u="none" cap="none" strike="noStrike">
              <a:solidFill>
                <a:schemeClr val="accent3"/>
              </a:solidFill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377672" y="2628550"/>
            <a:ext cx="5350312" cy="223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Y-axis:</a:t>
            </a:r>
            <a:r>
              <a:rPr b="0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True Positive Rate (TPR)</a:t>
            </a:r>
            <a:endParaRPr b="0" i="0" sz="1600" u="none" cap="none" strike="noStrike">
              <a:solidFill>
                <a:schemeClr val="accent3"/>
              </a:solidFill>
            </a:endParaRPr>
          </a:p>
        </p:txBody>
      </p:sp>
      <p:sp>
        <p:nvSpPr>
          <p:cNvPr id="283" name="Google Shape;283;p9"/>
          <p:cNvSpPr/>
          <p:nvPr/>
        </p:nvSpPr>
        <p:spPr>
          <a:xfrm>
            <a:off x="6377672" y="2926826"/>
            <a:ext cx="5350312" cy="223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Threshold:</a:t>
            </a:r>
            <a:r>
              <a:rPr b="0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Probability cutoff</a:t>
            </a:r>
            <a:endParaRPr b="0" i="0" sz="1600" u="none" cap="none" strike="noStrike">
              <a:solidFill>
                <a:schemeClr val="accent3"/>
              </a:solidFill>
            </a:endParaRPr>
          </a:p>
        </p:txBody>
      </p:sp>
      <p:sp>
        <p:nvSpPr>
          <p:cNvPr id="284" name="Google Shape;284;p9"/>
          <p:cNvSpPr/>
          <p:nvPr/>
        </p:nvSpPr>
        <p:spPr>
          <a:xfrm>
            <a:off x="6209892" y="3467450"/>
            <a:ext cx="5611303" cy="1565945"/>
          </a:xfrm>
          <a:custGeom>
            <a:rect b="b" l="l" r="r" t="t"/>
            <a:pathLst>
              <a:path extrusionOk="0" h="1565945" w="5611303">
                <a:moveTo>
                  <a:pt x="111855" y="0"/>
                </a:moveTo>
                <a:lnTo>
                  <a:pt x="5499447" y="0"/>
                </a:lnTo>
                <a:cubicBezTo>
                  <a:pt x="5561223" y="0"/>
                  <a:pt x="5611303" y="50079"/>
                  <a:pt x="5611303" y="111855"/>
                </a:cubicBezTo>
                <a:lnTo>
                  <a:pt x="5611303" y="1454090"/>
                </a:lnTo>
                <a:cubicBezTo>
                  <a:pt x="5611303" y="1515866"/>
                  <a:pt x="5561223" y="1565945"/>
                  <a:pt x="5499447" y="1565945"/>
                </a:cubicBezTo>
                <a:lnTo>
                  <a:pt x="111855" y="1565945"/>
                </a:lnTo>
                <a:cubicBezTo>
                  <a:pt x="50079" y="1565945"/>
                  <a:pt x="0" y="1515866"/>
                  <a:pt x="0" y="1454090"/>
                </a:cubicBezTo>
                <a:lnTo>
                  <a:pt x="0" y="111855"/>
                </a:lnTo>
                <a:cubicBezTo>
                  <a:pt x="0" y="50079"/>
                  <a:pt x="50079" y="0"/>
                  <a:pt x="111855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9"/>
          <p:cNvSpPr/>
          <p:nvPr/>
        </p:nvSpPr>
        <p:spPr>
          <a:xfrm>
            <a:off x="6359030" y="3616587"/>
            <a:ext cx="5396917" cy="26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Key Definitions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359030" y="3989431"/>
            <a:ext cx="298275" cy="298275"/>
          </a:xfrm>
          <a:custGeom>
            <a:rect b="b" l="l" r="r" t="t"/>
            <a:pathLst>
              <a:path extrusionOk="0" h="298275" w="298275">
                <a:moveTo>
                  <a:pt x="37284" y="0"/>
                </a:moveTo>
                <a:lnTo>
                  <a:pt x="260991" y="0"/>
                </a:lnTo>
                <a:cubicBezTo>
                  <a:pt x="281582" y="0"/>
                  <a:pt x="298275" y="16693"/>
                  <a:pt x="298275" y="37284"/>
                </a:cubicBezTo>
                <a:lnTo>
                  <a:pt x="298275" y="260991"/>
                </a:lnTo>
                <a:cubicBezTo>
                  <a:pt x="298275" y="281582"/>
                  <a:pt x="281582" y="298275"/>
                  <a:pt x="260991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326406" y="3989431"/>
            <a:ext cx="363523" cy="29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TPR</a:t>
            </a:r>
            <a:endParaRPr b="0" i="0" sz="1600" u="none" cap="none" strike="noStrike"/>
          </a:p>
        </p:txBody>
      </p:sp>
      <p:sp>
        <p:nvSpPr>
          <p:cNvPr id="288" name="Google Shape;288;p9"/>
          <p:cNvSpPr/>
          <p:nvPr/>
        </p:nvSpPr>
        <p:spPr>
          <a:xfrm>
            <a:off x="6769158" y="3989431"/>
            <a:ext cx="1631193" cy="223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Positive Rate</a:t>
            </a:r>
            <a:endParaRPr b="0" i="0" sz="1600" u="none" cap="none" strike="noStrike">
              <a:solidFill>
                <a:schemeClr val="accent3"/>
              </a:solidFill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769158" y="4213138"/>
            <a:ext cx="1621872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as Recall or Sensitivity</a:t>
            </a:r>
            <a:endParaRPr b="0" i="0" sz="1600" u="none" cap="none" strike="noStrike"/>
          </a:p>
        </p:txBody>
      </p:sp>
      <p:sp>
        <p:nvSpPr>
          <p:cNvPr id="290" name="Google Shape;290;p9"/>
          <p:cNvSpPr/>
          <p:nvPr/>
        </p:nvSpPr>
        <p:spPr>
          <a:xfrm>
            <a:off x="6359030" y="4474128"/>
            <a:ext cx="298275" cy="298275"/>
          </a:xfrm>
          <a:custGeom>
            <a:rect b="b" l="l" r="r" t="t"/>
            <a:pathLst>
              <a:path extrusionOk="0" h="298275" w="298275">
                <a:moveTo>
                  <a:pt x="37284" y="0"/>
                </a:moveTo>
                <a:lnTo>
                  <a:pt x="260991" y="0"/>
                </a:lnTo>
                <a:cubicBezTo>
                  <a:pt x="281582" y="0"/>
                  <a:pt x="298275" y="16693"/>
                  <a:pt x="298275" y="37284"/>
                </a:cubicBezTo>
                <a:lnTo>
                  <a:pt x="298275" y="260991"/>
                </a:lnTo>
                <a:cubicBezTo>
                  <a:pt x="298275" y="281582"/>
                  <a:pt x="281582" y="298275"/>
                  <a:pt x="260991" y="298275"/>
                </a:cubicBezTo>
                <a:lnTo>
                  <a:pt x="37284" y="298275"/>
                </a:lnTo>
                <a:cubicBezTo>
                  <a:pt x="16693" y="298275"/>
                  <a:pt x="0" y="281582"/>
                  <a:pt x="0" y="260991"/>
                </a:cubicBezTo>
                <a:lnTo>
                  <a:pt x="0" y="37284"/>
                </a:lnTo>
                <a:cubicBezTo>
                  <a:pt x="0" y="16693"/>
                  <a:pt x="16693" y="0"/>
                  <a:pt x="37284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326406" y="4474128"/>
            <a:ext cx="363523" cy="298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FPR</a:t>
            </a:r>
            <a:endParaRPr b="0" i="0" sz="1600" u="none" cap="none" strike="noStrike"/>
          </a:p>
        </p:txBody>
      </p:sp>
      <p:sp>
        <p:nvSpPr>
          <p:cNvPr id="292" name="Google Shape;292;p9"/>
          <p:cNvSpPr/>
          <p:nvPr/>
        </p:nvSpPr>
        <p:spPr>
          <a:xfrm>
            <a:off x="6769158" y="4474128"/>
            <a:ext cx="1258349" cy="223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74" u="none" cap="none" strike="noStrike">
                <a:solidFill>
                  <a:schemeClr val="accent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False Positive Rate</a:t>
            </a:r>
            <a:endParaRPr b="0" i="0" sz="1600" u="none" cap="none" strike="noStrike">
              <a:solidFill>
                <a:schemeClr val="accent3"/>
              </a:solidFill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769158" y="4697835"/>
            <a:ext cx="1249028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1 - Specificity</a:t>
            </a:r>
            <a:endParaRPr b="0" i="0" sz="1600" u="none" cap="none" strike="noStrike"/>
          </a:p>
        </p:txBody>
      </p:sp>
      <p:sp>
        <p:nvSpPr>
          <p:cNvPr id="294" name="Google Shape;294;p9"/>
          <p:cNvSpPr/>
          <p:nvPr/>
        </p:nvSpPr>
        <p:spPr>
          <a:xfrm>
            <a:off x="6219213" y="5191853"/>
            <a:ext cx="5592661" cy="1286312"/>
          </a:xfrm>
          <a:custGeom>
            <a:rect b="b" l="l" r="r" t="t"/>
            <a:pathLst>
              <a:path extrusionOk="0" h="1286312" w="5592661">
                <a:moveTo>
                  <a:pt x="111858" y="0"/>
                </a:moveTo>
                <a:lnTo>
                  <a:pt x="5480803" y="0"/>
                </a:lnTo>
                <a:cubicBezTo>
                  <a:pt x="5542580" y="0"/>
                  <a:pt x="5592661" y="50080"/>
                  <a:pt x="5592661" y="111858"/>
                </a:cubicBezTo>
                <a:lnTo>
                  <a:pt x="5592661" y="1174454"/>
                </a:lnTo>
                <a:cubicBezTo>
                  <a:pt x="5592661" y="1236232"/>
                  <a:pt x="5542580" y="1286312"/>
                  <a:pt x="5480803" y="1286312"/>
                </a:cubicBezTo>
                <a:lnTo>
                  <a:pt x="111858" y="1286312"/>
                </a:lnTo>
                <a:cubicBezTo>
                  <a:pt x="50080" y="1286312"/>
                  <a:pt x="0" y="1236232"/>
                  <a:pt x="0" y="1174454"/>
                </a:cubicBezTo>
                <a:lnTo>
                  <a:pt x="0" y="111858"/>
                </a:lnTo>
                <a:cubicBezTo>
                  <a:pt x="0" y="50122"/>
                  <a:pt x="50122" y="0"/>
                  <a:pt x="111858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400975" y="5387596"/>
            <a:ext cx="186422" cy="186422"/>
          </a:xfrm>
          <a:custGeom>
            <a:rect b="b" l="l" r="r" t="t"/>
            <a:pathLst>
              <a:path extrusionOk="0" h="186422" w="186422">
                <a:moveTo>
                  <a:pt x="23303" y="23303"/>
                </a:moveTo>
                <a:cubicBezTo>
                  <a:pt x="23303" y="16858"/>
                  <a:pt x="18096" y="11651"/>
                  <a:pt x="11651" y="11651"/>
                </a:cubicBezTo>
                <a:cubicBezTo>
                  <a:pt x="5207" y="11651"/>
                  <a:pt x="0" y="16858"/>
                  <a:pt x="0" y="23303"/>
                </a:cubicBezTo>
                <a:lnTo>
                  <a:pt x="0" y="145642"/>
                </a:lnTo>
                <a:cubicBezTo>
                  <a:pt x="0" y="161736"/>
                  <a:pt x="13035" y="174771"/>
                  <a:pt x="29128" y="174771"/>
                </a:cubicBezTo>
                <a:lnTo>
                  <a:pt x="174771" y="174771"/>
                </a:lnTo>
                <a:cubicBezTo>
                  <a:pt x="181215" y="174771"/>
                  <a:pt x="186422" y="169564"/>
                  <a:pt x="186422" y="163119"/>
                </a:cubicBezTo>
                <a:cubicBezTo>
                  <a:pt x="186422" y="156675"/>
                  <a:pt x="181215" y="151468"/>
                  <a:pt x="174771" y="151468"/>
                </a:cubicBezTo>
                <a:lnTo>
                  <a:pt x="29128" y="151468"/>
                </a:lnTo>
                <a:cubicBezTo>
                  <a:pt x="25924" y="151468"/>
                  <a:pt x="23303" y="148846"/>
                  <a:pt x="23303" y="145642"/>
                </a:cubicBezTo>
                <a:lnTo>
                  <a:pt x="23303" y="23303"/>
                </a:lnTo>
                <a:close/>
                <a:moveTo>
                  <a:pt x="171348" y="54834"/>
                </a:moveTo>
                <a:cubicBezTo>
                  <a:pt x="175899" y="50283"/>
                  <a:pt x="175899" y="42892"/>
                  <a:pt x="171348" y="38340"/>
                </a:cubicBezTo>
                <a:cubicBezTo>
                  <a:pt x="166797" y="33789"/>
                  <a:pt x="159405" y="33789"/>
                  <a:pt x="154854" y="38340"/>
                </a:cubicBezTo>
                <a:lnTo>
                  <a:pt x="116514" y="76717"/>
                </a:lnTo>
                <a:lnTo>
                  <a:pt x="95614" y="55854"/>
                </a:lnTo>
                <a:cubicBezTo>
                  <a:pt x="91063" y="51302"/>
                  <a:pt x="83671" y="51302"/>
                  <a:pt x="79120" y="55854"/>
                </a:cubicBezTo>
                <a:lnTo>
                  <a:pt x="44166" y="90808"/>
                </a:lnTo>
                <a:cubicBezTo>
                  <a:pt x="39615" y="95359"/>
                  <a:pt x="39615" y="102751"/>
                  <a:pt x="44166" y="107302"/>
                </a:cubicBezTo>
                <a:cubicBezTo>
                  <a:pt x="48717" y="111853"/>
                  <a:pt x="56109" y="111853"/>
                  <a:pt x="60660" y="107302"/>
                </a:cubicBezTo>
                <a:lnTo>
                  <a:pt x="87385" y="80577"/>
                </a:lnTo>
                <a:lnTo>
                  <a:pt x="108285" y="101476"/>
                </a:lnTo>
                <a:cubicBezTo>
                  <a:pt x="112836" y="106028"/>
                  <a:pt x="120228" y="106028"/>
                  <a:pt x="124779" y="101476"/>
                </a:cubicBezTo>
                <a:lnTo>
                  <a:pt x="171384" y="54871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722553" y="5350312"/>
            <a:ext cx="1705761" cy="26099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1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Interpreting the Curve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377672" y="5685872"/>
            <a:ext cx="111853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298" name="Google Shape;298;p9"/>
          <p:cNvSpPr/>
          <p:nvPr/>
        </p:nvSpPr>
        <p:spPr>
          <a:xfrm>
            <a:off x="6498846" y="5685872"/>
            <a:ext cx="2022679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Perfect model:</a:t>
            </a:r>
            <a:r>
              <a:rPr b="0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Hugs top-left corner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6377672" y="5909578"/>
            <a:ext cx="111853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00" name="Google Shape;300;p9"/>
          <p:cNvSpPr/>
          <p:nvPr/>
        </p:nvSpPr>
        <p:spPr>
          <a:xfrm>
            <a:off x="6498846" y="5909578"/>
            <a:ext cx="1696440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model:</a:t>
            </a:r>
            <a:r>
              <a:rPr b="0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Diagonal line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6377672" y="6133284"/>
            <a:ext cx="111853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28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02" name="Google Shape;302;p9"/>
          <p:cNvSpPr/>
          <p:nvPr/>
        </p:nvSpPr>
        <p:spPr>
          <a:xfrm>
            <a:off x="6498846" y="6133284"/>
            <a:ext cx="1966752" cy="1864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Good model:</a:t>
            </a:r>
            <a:r>
              <a:rPr b="0" i="0" lang="en-US" sz="1028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Curve bows upward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"/>
          <p:cNvSpPr/>
          <p:nvPr/>
        </p:nvSpPr>
        <p:spPr>
          <a:xfrm>
            <a:off x="374850" y="402964"/>
            <a:ext cx="1158375" cy="168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 Analysis</a:t>
            </a:r>
            <a:endParaRPr b="0" i="0" sz="1600" u="none" cap="none" strike="noStrike"/>
          </a:p>
        </p:txBody>
      </p:sp>
      <p:sp>
        <p:nvSpPr>
          <p:cNvPr id="309" name="Google Shape;309;p10"/>
          <p:cNvSpPr/>
          <p:nvPr/>
        </p:nvSpPr>
        <p:spPr>
          <a:xfrm>
            <a:off x="374850" y="674730"/>
            <a:ext cx="11610982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AUC: A Single Number Summary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84221" y="1208892"/>
            <a:ext cx="5594638" cy="2586466"/>
          </a:xfrm>
          <a:custGeom>
            <a:rect b="b" l="l" r="r" t="t"/>
            <a:pathLst>
              <a:path extrusionOk="0" h="2586466" w="5594638">
                <a:moveTo>
                  <a:pt x="112460" y="0"/>
                </a:moveTo>
                <a:lnTo>
                  <a:pt x="5482178" y="0"/>
                </a:lnTo>
                <a:cubicBezTo>
                  <a:pt x="5544288" y="0"/>
                  <a:pt x="5594638" y="50350"/>
                  <a:pt x="5594638" y="112460"/>
                </a:cubicBezTo>
                <a:lnTo>
                  <a:pt x="5594638" y="2474006"/>
                </a:lnTo>
                <a:cubicBezTo>
                  <a:pt x="5594638" y="2536116"/>
                  <a:pt x="5544288" y="2586466"/>
                  <a:pt x="5482178" y="2586466"/>
                </a:cubicBezTo>
                <a:lnTo>
                  <a:pt x="112460" y="2586466"/>
                </a:lnTo>
                <a:cubicBezTo>
                  <a:pt x="50350" y="2586466"/>
                  <a:pt x="0" y="2536116"/>
                  <a:pt x="0" y="2474006"/>
                </a:cubicBezTo>
                <a:lnTo>
                  <a:pt x="0" y="112460"/>
                </a:lnTo>
                <a:cubicBezTo>
                  <a:pt x="0" y="50391"/>
                  <a:pt x="50391" y="0"/>
                  <a:pt x="11246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581018" y="1405688"/>
            <a:ext cx="5313500" cy="299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70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What is AUC?</a:t>
            </a:r>
            <a:endParaRPr b="0" i="0" sz="1600" u="none" cap="none" strike="noStrike"/>
          </a:p>
        </p:txBody>
      </p:sp>
      <p:sp>
        <p:nvSpPr>
          <p:cNvPr id="312" name="Google Shape;312;p10"/>
          <p:cNvSpPr/>
          <p:nvPr/>
        </p:nvSpPr>
        <p:spPr>
          <a:xfrm>
            <a:off x="581018" y="1818023"/>
            <a:ext cx="5276015" cy="7309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 stands for </a:t>
            </a:r>
            <a:r>
              <a:rPr b="1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Area Under the Curve</a:t>
            </a: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It measures the entire two-dimensional area underneath the ROC curve, providing a single value that summarizes model performance.</a:t>
            </a:r>
            <a:endParaRPr b="0" i="0" sz="1600" u="none" cap="none" strike="noStrike"/>
          </a:p>
        </p:txBody>
      </p:sp>
      <p:sp>
        <p:nvSpPr>
          <p:cNvPr id="313" name="Google Shape;313;p10"/>
          <p:cNvSpPr/>
          <p:nvPr/>
        </p:nvSpPr>
        <p:spPr>
          <a:xfrm>
            <a:off x="581018" y="2661436"/>
            <a:ext cx="5201045" cy="937125"/>
          </a:xfrm>
          <a:custGeom>
            <a:rect b="b" l="l" r="r" t="t"/>
            <a:pathLst>
              <a:path extrusionOk="0" h="937125" w="5201045">
                <a:moveTo>
                  <a:pt x="74970" y="0"/>
                </a:moveTo>
                <a:lnTo>
                  <a:pt x="5126075" y="0"/>
                </a:lnTo>
                <a:cubicBezTo>
                  <a:pt x="5167480" y="0"/>
                  <a:pt x="5201045" y="33565"/>
                  <a:pt x="5201045" y="74970"/>
                </a:cubicBezTo>
                <a:lnTo>
                  <a:pt x="5201045" y="862155"/>
                </a:lnTo>
                <a:cubicBezTo>
                  <a:pt x="5201045" y="903560"/>
                  <a:pt x="5167480" y="937125"/>
                  <a:pt x="5126075" y="937125"/>
                </a:cubicBezTo>
                <a:lnTo>
                  <a:pt x="74970" y="937125"/>
                </a:lnTo>
                <a:cubicBezTo>
                  <a:pt x="33565" y="937125"/>
                  <a:pt x="0" y="903560"/>
                  <a:pt x="0" y="862155"/>
                </a:cubicBezTo>
                <a:lnTo>
                  <a:pt x="0" y="74970"/>
                </a:lnTo>
                <a:cubicBezTo>
                  <a:pt x="0" y="33565"/>
                  <a:pt x="33565" y="0"/>
                  <a:pt x="74970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0"/>
          <p:cNvSpPr/>
          <p:nvPr/>
        </p:nvSpPr>
        <p:spPr>
          <a:xfrm>
            <a:off x="693473" y="2811376"/>
            <a:ext cx="4976135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AUC Range</a:t>
            </a:r>
            <a:endParaRPr b="0" i="0" sz="1600" u="none" cap="none" strike="noStrike"/>
          </a:p>
        </p:txBody>
      </p:sp>
      <p:sp>
        <p:nvSpPr>
          <p:cNvPr id="315" name="Google Shape;315;p10"/>
          <p:cNvSpPr/>
          <p:nvPr/>
        </p:nvSpPr>
        <p:spPr>
          <a:xfrm>
            <a:off x="646616" y="3073771"/>
            <a:ext cx="5069848" cy="374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5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 to 1.0</a:t>
            </a:r>
            <a:endParaRPr b="0" i="0" sz="1600" u="none" cap="none" strike="noStrike"/>
          </a:p>
        </p:txBody>
      </p:sp>
      <p:sp>
        <p:nvSpPr>
          <p:cNvPr id="316" name="Google Shape;316;p10"/>
          <p:cNvSpPr/>
          <p:nvPr/>
        </p:nvSpPr>
        <p:spPr>
          <a:xfrm>
            <a:off x="374850" y="3954669"/>
            <a:ext cx="5613380" cy="2530238"/>
          </a:xfrm>
          <a:custGeom>
            <a:rect b="b" l="l" r="r" t="t"/>
            <a:pathLst>
              <a:path extrusionOk="0" h="2530238" w="5613380">
                <a:moveTo>
                  <a:pt x="112444" y="0"/>
                </a:moveTo>
                <a:lnTo>
                  <a:pt x="5500937" y="0"/>
                </a:lnTo>
                <a:cubicBezTo>
                  <a:pt x="5563038" y="0"/>
                  <a:pt x="5613380" y="50343"/>
                  <a:pt x="5613380" y="112444"/>
                </a:cubicBezTo>
                <a:lnTo>
                  <a:pt x="5613380" y="2417794"/>
                </a:lnTo>
                <a:cubicBezTo>
                  <a:pt x="5613380" y="2479895"/>
                  <a:pt x="5563038" y="2530238"/>
                  <a:pt x="5500937" y="2530238"/>
                </a:cubicBezTo>
                <a:lnTo>
                  <a:pt x="112444" y="2530238"/>
                </a:lnTo>
                <a:cubicBezTo>
                  <a:pt x="50343" y="2530238"/>
                  <a:pt x="0" y="2479895"/>
                  <a:pt x="0" y="2417794"/>
                </a:cubicBezTo>
                <a:lnTo>
                  <a:pt x="0" y="112444"/>
                </a:lnTo>
                <a:cubicBezTo>
                  <a:pt x="0" y="50384"/>
                  <a:pt x="50384" y="0"/>
                  <a:pt x="112444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524790" y="4104609"/>
            <a:ext cx="539784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8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AUC Interpretation Guide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524790" y="4479459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0"/>
          <p:cNvSpPr/>
          <p:nvPr/>
        </p:nvSpPr>
        <p:spPr>
          <a:xfrm>
            <a:off x="491991" y="4479459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1.0</a:t>
            </a:r>
            <a:endParaRPr b="0" i="0" sz="1600" u="none" cap="none" strike="noStrike"/>
          </a:p>
        </p:txBody>
      </p:sp>
      <p:sp>
        <p:nvSpPr>
          <p:cNvPr id="320" name="Google Shape;320;p10"/>
          <p:cNvSpPr/>
          <p:nvPr/>
        </p:nvSpPr>
        <p:spPr>
          <a:xfrm>
            <a:off x="1237005" y="4498201"/>
            <a:ext cx="112455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Perfect classifier</a:t>
            </a:r>
            <a:endParaRPr b="0" i="0" sz="1600" u="none" cap="none" strike="noStrike"/>
          </a:p>
        </p:txBody>
      </p:sp>
      <p:sp>
        <p:nvSpPr>
          <p:cNvPr id="321" name="Google Shape;321;p10"/>
          <p:cNvSpPr/>
          <p:nvPr/>
        </p:nvSpPr>
        <p:spPr>
          <a:xfrm>
            <a:off x="524790" y="4798081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491991" y="4798081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0.9-1.0</a:t>
            </a:r>
            <a:endParaRPr b="0" i="0" sz="1600" u="none" cap="none" strike="noStrike"/>
          </a:p>
        </p:txBody>
      </p:sp>
      <p:sp>
        <p:nvSpPr>
          <p:cNvPr id="323" name="Google Shape;323;p10"/>
          <p:cNvSpPr/>
          <p:nvPr/>
        </p:nvSpPr>
        <p:spPr>
          <a:xfrm>
            <a:off x="1237005" y="4816824"/>
            <a:ext cx="1536885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Excellent performance</a:t>
            </a:r>
            <a:endParaRPr b="0" i="0" sz="1600" u="none" cap="none" strike="noStrike"/>
          </a:p>
        </p:txBody>
      </p:sp>
      <p:sp>
        <p:nvSpPr>
          <p:cNvPr id="324" name="Google Shape;324;p10"/>
          <p:cNvSpPr/>
          <p:nvPr/>
        </p:nvSpPr>
        <p:spPr>
          <a:xfrm>
            <a:off x="524790" y="5116704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0"/>
          <p:cNvSpPr/>
          <p:nvPr/>
        </p:nvSpPr>
        <p:spPr>
          <a:xfrm>
            <a:off x="491991" y="5116704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0.8-0.9</a:t>
            </a:r>
            <a:endParaRPr b="0" i="0" sz="1600" u="none" cap="none" strike="noStrike"/>
          </a:p>
        </p:txBody>
      </p:sp>
      <p:sp>
        <p:nvSpPr>
          <p:cNvPr id="326" name="Google Shape;326;p10"/>
          <p:cNvSpPr/>
          <p:nvPr/>
        </p:nvSpPr>
        <p:spPr>
          <a:xfrm>
            <a:off x="1237005" y="5135447"/>
            <a:ext cx="1311975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Good performance</a:t>
            </a:r>
            <a:endParaRPr b="0" i="0" sz="1600" u="none" cap="none" strike="noStrike"/>
          </a:p>
        </p:txBody>
      </p:sp>
      <p:sp>
        <p:nvSpPr>
          <p:cNvPr id="327" name="Google Shape;327;p10"/>
          <p:cNvSpPr/>
          <p:nvPr/>
        </p:nvSpPr>
        <p:spPr>
          <a:xfrm>
            <a:off x="524790" y="5435327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8A9BA8">
              <a:alpha val="6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91991" y="5435327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0.7-0.8</a:t>
            </a:r>
            <a:endParaRPr b="0" i="0" sz="1600" u="none" cap="none" strike="noStrike"/>
          </a:p>
        </p:txBody>
      </p:sp>
      <p:sp>
        <p:nvSpPr>
          <p:cNvPr id="329" name="Google Shape;329;p10"/>
          <p:cNvSpPr/>
          <p:nvPr/>
        </p:nvSpPr>
        <p:spPr>
          <a:xfrm>
            <a:off x="1237005" y="5454069"/>
            <a:ext cx="119952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Fair performance</a:t>
            </a:r>
            <a:endParaRPr b="0" i="0" sz="1600" u="none" cap="none" strike="noStrike"/>
          </a:p>
        </p:txBody>
      </p:sp>
      <p:sp>
        <p:nvSpPr>
          <p:cNvPr id="330" name="Google Shape;330;p10"/>
          <p:cNvSpPr/>
          <p:nvPr/>
        </p:nvSpPr>
        <p:spPr>
          <a:xfrm>
            <a:off x="524790" y="5753949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8A9BA8">
              <a:alpha val="4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0"/>
          <p:cNvSpPr/>
          <p:nvPr/>
        </p:nvSpPr>
        <p:spPr>
          <a:xfrm>
            <a:off x="491991" y="5753949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0.6-0.7</a:t>
            </a:r>
            <a:endParaRPr b="0" i="0" sz="1600" u="none" cap="none" strike="noStrike"/>
          </a:p>
        </p:txBody>
      </p:sp>
      <p:sp>
        <p:nvSpPr>
          <p:cNvPr id="332" name="Google Shape;332;p10"/>
          <p:cNvSpPr/>
          <p:nvPr/>
        </p:nvSpPr>
        <p:spPr>
          <a:xfrm>
            <a:off x="1237005" y="5772692"/>
            <a:ext cx="1255748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Poor performance</a:t>
            </a:r>
            <a:endParaRPr b="0" i="0" sz="1600" u="none" cap="none" strike="noStrike"/>
          </a:p>
        </p:txBody>
      </p:sp>
      <p:sp>
        <p:nvSpPr>
          <p:cNvPr id="333" name="Google Shape;333;p10"/>
          <p:cNvSpPr/>
          <p:nvPr/>
        </p:nvSpPr>
        <p:spPr>
          <a:xfrm>
            <a:off x="524790" y="6072572"/>
            <a:ext cx="599760" cy="262395"/>
          </a:xfrm>
          <a:custGeom>
            <a:rect b="b" l="l" r="r" t="t"/>
            <a:pathLst>
              <a:path extrusionOk="0" h="262395" w="599760">
                <a:moveTo>
                  <a:pt x="37486" y="0"/>
                </a:moveTo>
                <a:lnTo>
                  <a:pt x="562274" y="0"/>
                </a:lnTo>
                <a:cubicBezTo>
                  <a:pt x="582977" y="0"/>
                  <a:pt x="599760" y="16783"/>
                  <a:pt x="599760" y="37486"/>
                </a:cubicBezTo>
                <a:lnTo>
                  <a:pt x="599760" y="224909"/>
                </a:lnTo>
                <a:cubicBezTo>
                  <a:pt x="599760" y="245612"/>
                  <a:pt x="582977" y="262395"/>
                  <a:pt x="562274" y="262395"/>
                </a:cubicBezTo>
                <a:lnTo>
                  <a:pt x="37486" y="262395"/>
                </a:lnTo>
                <a:cubicBezTo>
                  <a:pt x="16797" y="262395"/>
                  <a:pt x="0" y="245598"/>
                  <a:pt x="0" y="224909"/>
                </a:cubicBezTo>
                <a:lnTo>
                  <a:pt x="0" y="37486"/>
                </a:lnTo>
                <a:cubicBezTo>
                  <a:pt x="0" y="16783"/>
                  <a:pt x="16783" y="0"/>
                  <a:pt x="37486" y="0"/>
                </a:cubicBezTo>
                <a:close/>
              </a:path>
            </a:pathLst>
          </a:custGeom>
          <a:solidFill>
            <a:srgbClr val="8A9BA8">
              <a:alpha val="2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0"/>
          <p:cNvSpPr/>
          <p:nvPr/>
        </p:nvSpPr>
        <p:spPr>
          <a:xfrm>
            <a:off x="491991" y="6072572"/>
            <a:ext cx="665359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475" lIns="0" spcFirstLastPara="1" rIns="0" wrap="square" tIns="37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33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0.5</a:t>
            </a:r>
            <a:endParaRPr b="0" i="0" sz="1600" u="none" cap="none" strike="noStrike"/>
          </a:p>
        </p:txBody>
      </p:sp>
      <p:sp>
        <p:nvSpPr>
          <p:cNvPr id="335" name="Google Shape;335;p10"/>
          <p:cNvSpPr/>
          <p:nvPr/>
        </p:nvSpPr>
        <p:spPr>
          <a:xfrm>
            <a:off x="1237005" y="6091314"/>
            <a:ext cx="1227634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guessing</a:t>
            </a:r>
            <a:endParaRPr b="0" i="0" sz="1600" u="none" cap="none" strike="noStrike"/>
          </a:p>
        </p:txBody>
      </p:sp>
      <p:sp>
        <p:nvSpPr>
          <p:cNvPr id="336" name="Google Shape;336;p10"/>
          <p:cNvSpPr/>
          <p:nvPr/>
        </p:nvSpPr>
        <p:spPr>
          <a:xfrm>
            <a:off x="6209919" y="1358832"/>
            <a:ext cx="5613380" cy="1799281"/>
          </a:xfrm>
          <a:custGeom>
            <a:rect b="b" l="l" r="r" t="t"/>
            <a:pathLst>
              <a:path extrusionOk="0" h="1799281" w="5613380">
                <a:moveTo>
                  <a:pt x="112455" y="0"/>
                </a:moveTo>
                <a:lnTo>
                  <a:pt x="5500925" y="0"/>
                </a:lnTo>
                <a:cubicBezTo>
                  <a:pt x="5563033" y="0"/>
                  <a:pt x="5613380" y="50348"/>
                  <a:pt x="5613380" y="112455"/>
                </a:cubicBezTo>
                <a:lnTo>
                  <a:pt x="5613380" y="1686826"/>
                </a:lnTo>
                <a:cubicBezTo>
                  <a:pt x="5613380" y="1748933"/>
                  <a:pt x="5563033" y="1799281"/>
                  <a:pt x="5500925" y="1799281"/>
                </a:cubicBezTo>
                <a:lnTo>
                  <a:pt x="112455" y="1799281"/>
                </a:lnTo>
                <a:cubicBezTo>
                  <a:pt x="50348" y="1799281"/>
                  <a:pt x="0" y="1748933"/>
                  <a:pt x="0" y="1686826"/>
                </a:cubicBezTo>
                <a:lnTo>
                  <a:pt x="0" y="112455"/>
                </a:lnTo>
                <a:cubicBezTo>
                  <a:pt x="0" y="50348"/>
                  <a:pt x="50348" y="0"/>
                  <a:pt x="112455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6359859" y="1508772"/>
            <a:ext cx="539784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8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When to Use AUC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38" name="Google Shape;338;p10"/>
          <p:cNvSpPr/>
          <p:nvPr/>
        </p:nvSpPr>
        <p:spPr>
          <a:xfrm>
            <a:off x="6359859" y="1883622"/>
            <a:ext cx="121826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39" name="Google Shape;339;p10"/>
          <p:cNvSpPr/>
          <p:nvPr/>
        </p:nvSpPr>
        <p:spPr>
          <a:xfrm>
            <a:off x="6481686" y="1883622"/>
            <a:ext cx="328931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Imbalanced datasets:</a:t>
            </a:r>
            <a:r>
              <a:rPr b="0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More reliable than accuracy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6359859" y="2183502"/>
            <a:ext cx="121826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41" name="Google Shape;341;p10"/>
          <p:cNvSpPr/>
          <p:nvPr/>
        </p:nvSpPr>
        <p:spPr>
          <a:xfrm>
            <a:off x="6481686" y="2183502"/>
            <a:ext cx="3233082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comparison:</a:t>
            </a:r>
            <a:r>
              <a:rPr b="0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Single metric to rank models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6359859" y="2483382"/>
            <a:ext cx="121826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43" name="Google Shape;343;p10"/>
          <p:cNvSpPr/>
          <p:nvPr/>
        </p:nvSpPr>
        <p:spPr>
          <a:xfrm>
            <a:off x="6481686" y="2483382"/>
            <a:ext cx="3214340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Threshold-independent:</a:t>
            </a:r>
            <a:r>
              <a:rPr b="0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Evaluates all thresholds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6359859" y="2783262"/>
            <a:ext cx="121826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1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</a:t>
            </a:r>
            <a:endParaRPr b="0" i="0" sz="1600" u="none" cap="none" strike="noStrike"/>
          </a:p>
        </p:txBody>
      </p:sp>
      <p:sp>
        <p:nvSpPr>
          <p:cNvPr id="345" name="Google Shape;345;p10"/>
          <p:cNvSpPr/>
          <p:nvPr/>
        </p:nvSpPr>
        <p:spPr>
          <a:xfrm>
            <a:off x="6481686" y="2783262"/>
            <a:ext cx="3607932" cy="22491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Probability outputs:</a:t>
            </a:r>
            <a:r>
              <a:rPr b="0" i="0" lang="en-US" sz="1181" u="none" cap="none" strike="noStrike">
                <a:solidFill>
                  <a:schemeClr val="accent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When model outputs probabilities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6209919" y="3308052"/>
            <a:ext cx="5613380" cy="3017543"/>
          </a:xfrm>
          <a:custGeom>
            <a:rect b="b" l="l" r="r" t="t"/>
            <a:pathLst>
              <a:path extrusionOk="0" h="3017543" w="5613380">
                <a:moveTo>
                  <a:pt x="112464" y="0"/>
                </a:moveTo>
                <a:lnTo>
                  <a:pt x="5500917" y="0"/>
                </a:lnTo>
                <a:cubicBezTo>
                  <a:pt x="5563029" y="0"/>
                  <a:pt x="5613380" y="50352"/>
                  <a:pt x="5613380" y="112464"/>
                </a:cubicBezTo>
                <a:lnTo>
                  <a:pt x="5613380" y="2905080"/>
                </a:lnTo>
                <a:cubicBezTo>
                  <a:pt x="5613380" y="2967192"/>
                  <a:pt x="5563029" y="3017543"/>
                  <a:pt x="5500917" y="3017543"/>
                </a:cubicBezTo>
                <a:lnTo>
                  <a:pt x="112464" y="3017543"/>
                </a:lnTo>
                <a:cubicBezTo>
                  <a:pt x="50352" y="3017543"/>
                  <a:pt x="0" y="2967192"/>
                  <a:pt x="0" y="2905080"/>
                </a:cubicBezTo>
                <a:lnTo>
                  <a:pt x="0" y="112464"/>
                </a:lnTo>
                <a:cubicBezTo>
                  <a:pt x="0" y="50393"/>
                  <a:pt x="50393" y="0"/>
                  <a:pt x="112464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0"/>
          <p:cNvSpPr/>
          <p:nvPr/>
        </p:nvSpPr>
        <p:spPr>
          <a:xfrm>
            <a:off x="6317689" y="3457992"/>
            <a:ext cx="5397842" cy="26239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28" u="none" cap="none" strike="noStrike">
                <a:solidFill>
                  <a:schemeClr val="accent6"/>
                </a:solidFill>
                <a:latin typeface="Liter"/>
                <a:ea typeface="Liter"/>
                <a:cs typeface="Liter"/>
                <a:sym typeface="Liter"/>
              </a:rPr>
              <a:t>Model Comparison Example</a:t>
            </a:r>
            <a:endParaRPr b="0" i="0" sz="1600" u="none" cap="none" strike="noStrike">
              <a:solidFill>
                <a:schemeClr val="accent6"/>
              </a:solidFill>
            </a:endParaRPr>
          </a:p>
        </p:txBody>
      </p:sp>
      <p:pic>
        <p:nvPicPr>
          <p:cNvPr descr="https://kimi-img.moonshot.cn/pub/slides/26-01-26-13:42:16-d5rfte2j4egnforid740.png" id="348" name="Google Shape;34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9859" y="3832842"/>
            <a:ext cx="5210417" cy="2342813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4a52f6cefa3b1349ac4e3b61c59b1141c10c1682.jpg" id="354" name="Google Shape;354;p11"/>
          <p:cNvPicPr preferRelativeResize="0"/>
          <p:nvPr/>
        </p:nvPicPr>
        <p:blipFill rotWithShape="1">
          <a:blip r:embed="rId3">
            <a:alphaModFix amt="30000"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355" name="Google Shape;355;p11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356" name="Google Shape;356;p11"/>
          <p:cNvSpPr/>
          <p:nvPr/>
        </p:nvSpPr>
        <p:spPr>
          <a:xfrm>
            <a:off x="390525" y="1078706"/>
            <a:ext cx="1543050" cy="514350"/>
          </a:xfrm>
          <a:custGeom>
            <a:rect b="b" l="l" r="r" t="t"/>
            <a:pathLst>
              <a:path extrusionOk="0" h="514350" w="1543050">
                <a:moveTo>
                  <a:pt x="257175" y="0"/>
                </a:moveTo>
                <a:lnTo>
                  <a:pt x="1285875" y="0"/>
                </a:lnTo>
                <a:cubicBezTo>
                  <a:pt x="1427814" y="0"/>
                  <a:pt x="1543050" y="115236"/>
                  <a:pt x="1543050" y="257175"/>
                </a:cubicBezTo>
                <a:lnTo>
                  <a:pt x="1543050" y="257175"/>
                </a:lnTo>
                <a:cubicBezTo>
                  <a:pt x="1543050" y="399114"/>
                  <a:pt x="1427814" y="514350"/>
                  <a:pt x="1285875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5C7A9E">
              <a:alpha val="20000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381000" y="1069181"/>
            <a:ext cx="1609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228600" spcFirstLastPara="1" rIns="228600" wrap="square" tIns="1143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03</a:t>
            </a:r>
            <a:endParaRPr b="0" i="0" sz="1600" u="none" cap="none" strike="noStrike"/>
          </a:p>
        </p:txBody>
      </p:sp>
      <p:sp>
        <p:nvSpPr>
          <p:cNvPr id="358" name="Google Shape;358;p11"/>
          <p:cNvSpPr/>
          <p:nvPr/>
        </p:nvSpPr>
        <p:spPr>
          <a:xfrm>
            <a:off x="381000" y="1907381"/>
            <a:ext cx="7772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Hyperparameter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Tuning</a:t>
            </a:r>
            <a:endParaRPr b="0" i="0" sz="1600" u="none" cap="none" strike="noStrike"/>
          </a:p>
        </p:txBody>
      </p:sp>
      <p:sp>
        <p:nvSpPr>
          <p:cNvPr id="359" name="Google Shape;359;p11"/>
          <p:cNvSpPr/>
          <p:nvPr/>
        </p:nvSpPr>
        <p:spPr>
          <a:xfrm>
            <a:off x="381000" y="4498181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</p:sp>
      <p:sp>
        <p:nvSpPr>
          <p:cNvPr id="360" name="Google Shape;360;p11"/>
          <p:cNvSpPr/>
          <p:nvPr/>
        </p:nvSpPr>
        <p:spPr>
          <a:xfrm>
            <a:off x="381000" y="4860131"/>
            <a:ext cx="7458075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Finding the optimal settings for your machine learning models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2"/>
          <p:cNvSpPr/>
          <p:nvPr/>
        </p:nvSpPr>
        <p:spPr>
          <a:xfrm>
            <a:off x="381000" y="409575"/>
            <a:ext cx="2710904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 Fundamentals</a:t>
            </a:r>
            <a:endParaRPr b="0" i="0" sz="1600" u="none" cap="none" strike="noStrike"/>
          </a:p>
        </p:txBody>
      </p:sp>
      <p:sp>
        <p:nvSpPr>
          <p:cNvPr id="367" name="Google Shape;367;p12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What Are Hyperparameters?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390525" y="1526381"/>
            <a:ext cx="5581650" cy="2266950"/>
          </a:xfrm>
          <a:custGeom>
            <a:rect b="b" l="l" r="r" t="t"/>
            <a:pathLst>
              <a:path extrusionOk="0" h="2266950" w="5581650">
                <a:moveTo>
                  <a:pt x="114300" y="0"/>
                </a:moveTo>
                <a:lnTo>
                  <a:pt x="5467350" y="0"/>
                </a:lnTo>
                <a:cubicBezTo>
                  <a:pt x="5530476" y="0"/>
                  <a:pt x="5581650" y="51174"/>
                  <a:pt x="5581650" y="114300"/>
                </a:cubicBezTo>
                <a:lnTo>
                  <a:pt x="5581650" y="2152650"/>
                </a:lnTo>
                <a:cubicBezTo>
                  <a:pt x="5581650" y="2215776"/>
                  <a:pt x="5530476" y="2266950"/>
                  <a:pt x="5467350" y="2266950"/>
                </a:cubicBezTo>
                <a:lnTo>
                  <a:pt x="114300" y="2266950"/>
                </a:lnTo>
                <a:cubicBezTo>
                  <a:pt x="51174" y="2266950"/>
                  <a:pt x="0" y="2215776"/>
                  <a:pt x="0" y="215265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2"/>
          <p:cNvSpPr/>
          <p:nvPr/>
        </p:nvSpPr>
        <p:spPr>
          <a:xfrm>
            <a:off x="590550" y="1726406"/>
            <a:ext cx="527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Parameters vs Hyperparameters</a:t>
            </a:r>
            <a:endParaRPr b="0" i="0" sz="1600" u="none" cap="none" strike="noStrike"/>
          </a:p>
        </p:txBody>
      </p:sp>
      <p:sp>
        <p:nvSpPr>
          <p:cNvPr id="370" name="Google Shape;370;p12"/>
          <p:cNvSpPr/>
          <p:nvPr/>
        </p:nvSpPr>
        <p:spPr>
          <a:xfrm>
            <a:off x="590550" y="2107406"/>
            <a:ext cx="5181600" cy="685800"/>
          </a:xfrm>
          <a:custGeom>
            <a:rect b="b" l="l" r="r" t="t"/>
            <a:pathLst>
              <a:path extrusionOk="0" h="685800" w="5181600">
                <a:moveTo>
                  <a:pt x="76199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2"/>
          <p:cNvSpPr/>
          <p:nvPr/>
        </p:nvSpPr>
        <p:spPr>
          <a:xfrm>
            <a:off x="704850" y="222170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Parameters</a:t>
            </a:r>
            <a:endParaRPr b="0" i="0" sz="1600" u="none" cap="none" strike="noStrike"/>
          </a:p>
        </p:txBody>
      </p:sp>
      <p:sp>
        <p:nvSpPr>
          <p:cNvPr id="372" name="Google Shape;372;p12"/>
          <p:cNvSpPr/>
          <p:nvPr/>
        </p:nvSpPr>
        <p:spPr>
          <a:xfrm>
            <a:off x="704850" y="2488406"/>
            <a:ext cx="5019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Learned during training (weights, coefficients)</a:t>
            </a:r>
            <a:endParaRPr b="0" i="0" sz="1600" u="none" cap="none" strike="noStrike"/>
          </a:p>
        </p:txBody>
      </p:sp>
      <p:sp>
        <p:nvSpPr>
          <p:cNvPr id="373" name="Google Shape;373;p12"/>
          <p:cNvSpPr/>
          <p:nvPr/>
        </p:nvSpPr>
        <p:spPr>
          <a:xfrm>
            <a:off x="590550" y="2907506"/>
            <a:ext cx="5181600" cy="685800"/>
          </a:xfrm>
          <a:custGeom>
            <a:rect b="b" l="l" r="r" t="t"/>
            <a:pathLst>
              <a:path extrusionOk="0" h="685800" w="5181600">
                <a:moveTo>
                  <a:pt x="76199" y="0"/>
                </a:moveTo>
                <a:lnTo>
                  <a:pt x="5105401" y="0"/>
                </a:lnTo>
                <a:cubicBezTo>
                  <a:pt x="5147484" y="0"/>
                  <a:pt x="5181600" y="34116"/>
                  <a:pt x="5181600" y="76199"/>
                </a:cubicBezTo>
                <a:lnTo>
                  <a:pt x="5181600" y="609601"/>
                </a:lnTo>
                <a:cubicBezTo>
                  <a:pt x="5181600" y="651684"/>
                  <a:pt x="5147484" y="685800"/>
                  <a:pt x="51054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2"/>
          <p:cNvSpPr/>
          <p:nvPr/>
        </p:nvSpPr>
        <p:spPr>
          <a:xfrm>
            <a:off x="704850" y="3021806"/>
            <a:ext cx="5029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Hyperparameters</a:t>
            </a:r>
            <a:endParaRPr b="0" i="0" sz="1600" u="none" cap="none" strike="noStrike"/>
          </a:p>
        </p:txBody>
      </p:sp>
      <p:sp>
        <p:nvSpPr>
          <p:cNvPr id="375" name="Google Shape;375;p12"/>
          <p:cNvSpPr/>
          <p:nvPr/>
        </p:nvSpPr>
        <p:spPr>
          <a:xfrm>
            <a:off x="704850" y="3288506"/>
            <a:ext cx="50196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Set before training (model configuration)</a:t>
            </a:r>
            <a:endParaRPr b="0" i="0" sz="1600" u="none" cap="none" strike="noStrike"/>
          </a:p>
        </p:txBody>
      </p:sp>
      <p:sp>
        <p:nvSpPr>
          <p:cNvPr id="376" name="Google Shape;376;p12"/>
          <p:cNvSpPr/>
          <p:nvPr/>
        </p:nvSpPr>
        <p:spPr>
          <a:xfrm>
            <a:off x="381000" y="3955256"/>
            <a:ext cx="5600700" cy="2000250"/>
          </a:xfrm>
          <a:custGeom>
            <a:rect b="b" l="l" r="r" t="t"/>
            <a:pathLst>
              <a:path extrusionOk="0" h="2000250" w="5600700">
                <a:moveTo>
                  <a:pt x="114294" y="0"/>
                </a:moveTo>
                <a:lnTo>
                  <a:pt x="5486406" y="0"/>
                </a:lnTo>
                <a:cubicBezTo>
                  <a:pt x="5549486" y="0"/>
                  <a:pt x="5600700" y="51214"/>
                  <a:pt x="5600700" y="114294"/>
                </a:cubicBezTo>
                <a:lnTo>
                  <a:pt x="5600700" y="1885956"/>
                </a:lnTo>
                <a:cubicBezTo>
                  <a:pt x="5600700" y="1949036"/>
                  <a:pt x="5549486" y="2000250"/>
                  <a:pt x="5486406" y="2000250"/>
                </a:cubicBezTo>
                <a:lnTo>
                  <a:pt x="114294" y="2000250"/>
                </a:lnTo>
                <a:cubicBezTo>
                  <a:pt x="51214" y="2000250"/>
                  <a:pt x="0" y="1949036"/>
                  <a:pt x="0" y="1885956"/>
                </a:cubicBezTo>
                <a:lnTo>
                  <a:pt x="0" y="114294"/>
                </a:lnTo>
                <a:cubicBezTo>
                  <a:pt x="0" y="51214"/>
                  <a:pt x="51214" y="0"/>
                  <a:pt x="114294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2"/>
          <p:cNvSpPr/>
          <p:nvPr/>
        </p:nvSpPr>
        <p:spPr>
          <a:xfrm>
            <a:off x="533400" y="4107656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Why Tuning Matters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78" name="Google Shape;378;p12"/>
          <p:cNvSpPr/>
          <p:nvPr/>
        </p:nvSpPr>
        <p:spPr>
          <a:xfrm>
            <a:off x="533400" y="4450556"/>
            <a:ext cx="53721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 tuning can be the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difference between a poor model and an excellent one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Same algorithm, different settings, dramatically different results.</a:t>
            </a:r>
            <a:endParaRPr b="0" i="0" sz="1600" u="none" cap="none" strike="noStrike"/>
          </a:p>
        </p:txBody>
      </p:sp>
      <p:sp>
        <p:nvSpPr>
          <p:cNvPr id="379" name="Google Shape;379;p12"/>
          <p:cNvSpPr/>
          <p:nvPr/>
        </p:nvSpPr>
        <p:spPr>
          <a:xfrm>
            <a:off x="538163" y="5026819"/>
            <a:ext cx="5286375" cy="771525"/>
          </a:xfrm>
          <a:custGeom>
            <a:rect b="b" l="l" r="r" t="t"/>
            <a:pathLst>
              <a:path extrusionOk="0" h="771525" w="5286375">
                <a:moveTo>
                  <a:pt x="76204" y="0"/>
                </a:moveTo>
                <a:lnTo>
                  <a:pt x="5210171" y="0"/>
                </a:lnTo>
                <a:cubicBezTo>
                  <a:pt x="5252258" y="0"/>
                  <a:pt x="5286375" y="34117"/>
                  <a:pt x="5286375" y="76204"/>
                </a:cubicBezTo>
                <a:lnTo>
                  <a:pt x="5286375" y="695321"/>
                </a:lnTo>
                <a:cubicBezTo>
                  <a:pt x="5286375" y="737408"/>
                  <a:pt x="5252258" y="771525"/>
                  <a:pt x="5210171" y="771525"/>
                </a:cubicBezTo>
                <a:lnTo>
                  <a:pt x="76204" y="771525"/>
                </a:lnTo>
                <a:cubicBezTo>
                  <a:pt x="34117" y="771525"/>
                  <a:pt x="0" y="737408"/>
                  <a:pt x="0" y="69532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127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2"/>
          <p:cNvSpPr/>
          <p:nvPr/>
        </p:nvSpPr>
        <p:spPr>
          <a:xfrm>
            <a:off x="623888" y="5145881"/>
            <a:ext cx="5114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Typical Improvement</a:t>
            </a:r>
            <a:endParaRPr b="0" i="0" sz="1600" u="none" cap="none" strike="noStrike"/>
          </a:p>
        </p:txBody>
      </p:sp>
      <p:sp>
        <p:nvSpPr>
          <p:cNvPr id="381" name="Google Shape;381;p12"/>
          <p:cNvSpPr/>
          <p:nvPr/>
        </p:nvSpPr>
        <p:spPr>
          <a:xfrm>
            <a:off x="585788" y="5336381"/>
            <a:ext cx="5191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5-30%</a:t>
            </a:r>
            <a:endParaRPr b="0" i="0" sz="1600" u="none" cap="none" strike="noStrike"/>
          </a:p>
        </p:txBody>
      </p:sp>
      <p:sp>
        <p:nvSpPr>
          <p:cNvPr id="382" name="Google Shape;382;p12"/>
          <p:cNvSpPr/>
          <p:nvPr/>
        </p:nvSpPr>
        <p:spPr>
          <a:xfrm>
            <a:off x="6162675" y="1219200"/>
            <a:ext cx="5695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Random Forest Key Parameters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83" name="Google Shape;383;p12"/>
          <p:cNvSpPr/>
          <p:nvPr/>
        </p:nvSpPr>
        <p:spPr>
          <a:xfrm>
            <a:off x="6229350" y="1600200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2"/>
          <p:cNvSpPr/>
          <p:nvPr/>
        </p:nvSpPr>
        <p:spPr>
          <a:xfrm>
            <a:off x="6229350" y="1600200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2"/>
          <p:cNvSpPr/>
          <p:nvPr/>
        </p:nvSpPr>
        <p:spPr>
          <a:xfrm>
            <a:off x="6397228" y="1743075"/>
            <a:ext cx="150019" cy="171450"/>
          </a:xfrm>
          <a:custGeom>
            <a:rect b="b" l="l" r="r" t="t"/>
            <a:pathLst>
              <a:path extrusionOk="0" h="171450" w="150019">
                <a:moveTo>
                  <a:pt x="75009" y="-10716"/>
                </a:moveTo>
                <a:cubicBezTo>
                  <a:pt x="77353" y="-10716"/>
                  <a:pt x="79597" y="-9678"/>
                  <a:pt x="81137" y="-7869"/>
                </a:cubicBezTo>
                <a:lnTo>
                  <a:pt x="126679" y="45709"/>
                </a:lnTo>
                <a:cubicBezTo>
                  <a:pt x="128721" y="48086"/>
                  <a:pt x="129157" y="51435"/>
                  <a:pt x="127851" y="54281"/>
                </a:cubicBezTo>
                <a:cubicBezTo>
                  <a:pt x="126545" y="57128"/>
                  <a:pt x="123698" y="58936"/>
                  <a:pt x="120551" y="58936"/>
                </a:cubicBezTo>
                <a:lnTo>
                  <a:pt x="112213" y="58936"/>
                </a:lnTo>
                <a:lnTo>
                  <a:pt x="137394" y="88571"/>
                </a:lnTo>
                <a:cubicBezTo>
                  <a:pt x="139437" y="90949"/>
                  <a:pt x="139872" y="94298"/>
                  <a:pt x="138566" y="97144"/>
                </a:cubicBezTo>
                <a:cubicBezTo>
                  <a:pt x="137260" y="99990"/>
                  <a:pt x="134414" y="101798"/>
                  <a:pt x="131266" y="101798"/>
                </a:cubicBezTo>
                <a:lnTo>
                  <a:pt x="118374" y="101798"/>
                </a:lnTo>
                <a:lnTo>
                  <a:pt x="148110" y="136792"/>
                </a:lnTo>
                <a:cubicBezTo>
                  <a:pt x="150153" y="139169"/>
                  <a:pt x="150588" y="142518"/>
                  <a:pt x="149282" y="145364"/>
                </a:cubicBezTo>
                <a:cubicBezTo>
                  <a:pt x="147976" y="148210"/>
                  <a:pt x="145130" y="150019"/>
                  <a:pt x="141982" y="150019"/>
                </a:cubicBezTo>
                <a:lnTo>
                  <a:pt x="85725" y="150019"/>
                </a:lnTo>
                <a:lnTo>
                  <a:pt x="85725" y="171450"/>
                </a:lnTo>
                <a:cubicBezTo>
                  <a:pt x="85725" y="177377"/>
                  <a:pt x="80936" y="182166"/>
                  <a:pt x="75009" y="182166"/>
                </a:cubicBezTo>
                <a:cubicBezTo>
                  <a:pt x="69082" y="182166"/>
                  <a:pt x="64294" y="177377"/>
                  <a:pt x="64294" y="171450"/>
                </a:cubicBezTo>
                <a:lnTo>
                  <a:pt x="64294" y="150019"/>
                </a:lnTo>
                <a:lnTo>
                  <a:pt x="8037" y="150019"/>
                </a:lnTo>
                <a:cubicBezTo>
                  <a:pt x="4889" y="150019"/>
                  <a:pt x="2043" y="148210"/>
                  <a:pt x="737" y="145364"/>
                </a:cubicBezTo>
                <a:cubicBezTo>
                  <a:pt x="-569" y="142518"/>
                  <a:pt x="-134" y="139169"/>
                  <a:pt x="1909" y="136792"/>
                </a:cubicBezTo>
                <a:lnTo>
                  <a:pt x="31645" y="101798"/>
                </a:lnTo>
                <a:lnTo>
                  <a:pt x="18752" y="101798"/>
                </a:lnTo>
                <a:cubicBezTo>
                  <a:pt x="15605" y="101798"/>
                  <a:pt x="12758" y="99990"/>
                  <a:pt x="11452" y="97144"/>
                </a:cubicBezTo>
                <a:cubicBezTo>
                  <a:pt x="10146" y="94298"/>
                  <a:pt x="10582" y="90949"/>
                  <a:pt x="12624" y="88571"/>
                </a:cubicBezTo>
                <a:lnTo>
                  <a:pt x="37806" y="58936"/>
                </a:lnTo>
                <a:lnTo>
                  <a:pt x="29468" y="58936"/>
                </a:lnTo>
                <a:cubicBezTo>
                  <a:pt x="26320" y="58936"/>
                  <a:pt x="23474" y="57128"/>
                  <a:pt x="22168" y="54281"/>
                </a:cubicBezTo>
                <a:cubicBezTo>
                  <a:pt x="20862" y="51435"/>
                  <a:pt x="21297" y="48086"/>
                  <a:pt x="23340" y="45709"/>
                </a:cubicBezTo>
                <a:lnTo>
                  <a:pt x="68881" y="-7869"/>
                </a:lnTo>
                <a:cubicBezTo>
                  <a:pt x="70422" y="-9678"/>
                  <a:pt x="72665" y="-10716"/>
                  <a:pt x="75009" y="-10716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2"/>
          <p:cNvSpPr/>
          <p:nvPr/>
        </p:nvSpPr>
        <p:spPr>
          <a:xfrm>
            <a:off x="6653213" y="1714500"/>
            <a:ext cx="952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n_estimators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87" name="Google Shape;387;p12"/>
          <p:cNvSpPr/>
          <p:nvPr/>
        </p:nvSpPr>
        <p:spPr>
          <a:xfrm>
            <a:off x="6362700" y="1981200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Number of trees.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More trees = better performance but slower. Range: 100-500.</a:t>
            </a:r>
            <a:endParaRPr b="0" i="0" sz="1600" u="none" cap="none" strike="noStrike"/>
          </a:p>
        </p:txBody>
      </p:sp>
      <p:sp>
        <p:nvSpPr>
          <p:cNvPr id="388" name="Google Shape;388;p12"/>
          <p:cNvSpPr/>
          <p:nvPr/>
        </p:nvSpPr>
        <p:spPr>
          <a:xfrm>
            <a:off x="6229350" y="2388394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2"/>
          <p:cNvSpPr/>
          <p:nvPr/>
        </p:nvSpPr>
        <p:spPr>
          <a:xfrm>
            <a:off x="6229350" y="2388394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"/>
          <p:cNvSpPr/>
          <p:nvPr/>
        </p:nvSpPr>
        <p:spPr>
          <a:xfrm>
            <a:off x="6386513" y="2531269"/>
            <a:ext cx="171450" cy="171450"/>
          </a:xfrm>
          <a:custGeom>
            <a:rect b="b" l="l" r="r" t="t"/>
            <a:pathLst>
              <a:path extrusionOk="0" h="171450" w="171450">
                <a:moveTo>
                  <a:pt x="77856" y="1741"/>
                </a:moveTo>
                <a:cubicBezTo>
                  <a:pt x="82845" y="-569"/>
                  <a:pt x="88605" y="-569"/>
                  <a:pt x="93594" y="1741"/>
                </a:cubicBezTo>
                <a:lnTo>
                  <a:pt x="166795" y="35562"/>
                </a:lnTo>
                <a:cubicBezTo>
                  <a:pt x="169642" y="36868"/>
                  <a:pt x="171450" y="39715"/>
                  <a:pt x="171450" y="42863"/>
                </a:cubicBezTo>
                <a:cubicBezTo>
                  <a:pt x="171450" y="46010"/>
                  <a:pt x="169642" y="48857"/>
                  <a:pt x="166795" y="50163"/>
                </a:cubicBezTo>
                <a:lnTo>
                  <a:pt x="93594" y="83984"/>
                </a:lnTo>
                <a:cubicBezTo>
                  <a:pt x="88605" y="86294"/>
                  <a:pt x="82845" y="86294"/>
                  <a:pt x="77856" y="83984"/>
                </a:cubicBezTo>
                <a:lnTo>
                  <a:pt x="4655" y="50163"/>
                </a:lnTo>
                <a:cubicBezTo>
                  <a:pt x="1808" y="48823"/>
                  <a:pt x="0" y="45977"/>
                  <a:pt x="0" y="42863"/>
                </a:cubicBezTo>
                <a:cubicBezTo>
                  <a:pt x="0" y="39748"/>
                  <a:pt x="1808" y="36868"/>
                  <a:pt x="4655" y="35562"/>
                </a:cubicBezTo>
                <a:lnTo>
                  <a:pt x="77856" y="1741"/>
                </a:lnTo>
                <a:close/>
                <a:moveTo>
                  <a:pt x="16107" y="73134"/>
                </a:moveTo>
                <a:lnTo>
                  <a:pt x="71125" y="98550"/>
                </a:lnTo>
                <a:cubicBezTo>
                  <a:pt x="80401" y="102837"/>
                  <a:pt x="91083" y="102837"/>
                  <a:pt x="100359" y="98550"/>
                </a:cubicBezTo>
                <a:lnTo>
                  <a:pt x="155377" y="73134"/>
                </a:lnTo>
                <a:lnTo>
                  <a:pt x="166795" y="78425"/>
                </a:lnTo>
                <a:cubicBezTo>
                  <a:pt x="169642" y="79731"/>
                  <a:pt x="171450" y="82577"/>
                  <a:pt x="171450" y="85725"/>
                </a:cubicBezTo>
                <a:cubicBezTo>
                  <a:pt x="171450" y="88873"/>
                  <a:pt x="169642" y="91719"/>
                  <a:pt x="166795" y="93025"/>
                </a:cubicBezTo>
                <a:lnTo>
                  <a:pt x="93594" y="126846"/>
                </a:lnTo>
                <a:cubicBezTo>
                  <a:pt x="88605" y="129157"/>
                  <a:pt x="82845" y="129157"/>
                  <a:pt x="77856" y="126846"/>
                </a:cubicBezTo>
                <a:lnTo>
                  <a:pt x="4655" y="93025"/>
                </a:lnTo>
                <a:cubicBezTo>
                  <a:pt x="1808" y="91686"/>
                  <a:pt x="0" y="88839"/>
                  <a:pt x="0" y="85725"/>
                </a:cubicBezTo>
                <a:cubicBezTo>
                  <a:pt x="0" y="82611"/>
                  <a:pt x="1808" y="79731"/>
                  <a:pt x="4655" y="78425"/>
                </a:cubicBezTo>
                <a:lnTo>
                  <a:pt x="16073" y="73134"/>
                </a:lnTo>
                <a:close/>
                <a:moveTo>
                  <a:pt x="4655" y="121287"/>
                </a:moveTo>
                <a:lnTo>
                  <a:pt x="16073" y="115997"/>
                </a:lnTo>
                <a:lnTo>
                  <a:pt x="71091" y="141413"/>
                </a:lnTo>
                <a:cubicBezTo>
                  <a:pt x="80367" y="145699"/>
                  <a:pt x="91049" y="145699"/>
                  <a:pt x="100325" y="141413"/>
                </a:cubicBezTo>
                <a:lnTo>
                  <a:pt x="155343" y="115997"/>
                </a:lnTo>
                <a:lnTo>
                  <a:pt x="166762" y="121287"/>
                </a:lnTo>
                <a:cubicBezTo>
                  <a:pt x="169608" y="122593"/>
                  <a:pt x="171417" y="125440"/>
                  <a:pt x="171417" y="128588"/>
                </a:cubicBezTo>
                <a:cubicBezTo>
                  <a:pt x="171417" y="131735"/>
                  <a:pt x="169608" y="134582"/>
                  <a:pt x="166762" y="135888"/>
                </a:cubicBezTo>
                <a:lnTo>
                  <a:pt x="93561" y="169709"/>
                </a:lnTo>
                <a:cubicBezTo>
                  <a:pt x="88571" y="172019"/>
                  <a:pt x="82812" y="172019"/>
                  <a:pt x="77822" y="169709"/>
                </a:cubicBezTo>
                <a:lnTo>
                  <a:pt x="4655" y="135888"/>
                </a:lnTo>
                <a:cubicBezTo>
                  <a:pt x="1808" y="134548"/>
                  <a:pt x="0" y="131702"/>
                  <a:pt x="0" y="128588"/>
                </a:cubicBezTo>
                <a:cubicBezTo>
                  <a:pt x="0" y="125473"/>
                  <a:pt x="1808" y="122593"/>
                  <a:pt x="4655" y="121287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6653213" y="2502694"/>
            <a:ext cx="8286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max_depth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92" name="Google Shape;392;p12"/>
          <p:cNvSpPr/>
          <p:nvPr/>
        </p:nvSpPr>
        <p:spPr>
          <a:xfrm>
            <a:off x="6362700" y="2769394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Maximum tree depth.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Controls overfitting. Deeper trees memorize more. Range: 5-15.</a:t>
            </a:r>
            <a:endParaRPr b="0" i="0" sz="1600" u="none" cap="none" strike="noStrike"/>
          </a:p>
        </p:txBody>
      </p:sp>
      <p:sp>
        <p:nvSpPr>
          <p:cNvPr id="393" name="Google Shape;393;p12"/>
          <p:cNvSpPr/>
          <p:nvPr/>
        </p:nvSpPr>
        <p:spPr>
          <a:xfrm>
            <a:off x="6229350" y="3176588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2"/>
          <p:cNvSpPr/>
          <p:nvPr/>
        </p:nvSpPr>
        <p:spPr>
          <a:xfrm>
            <a:off x="6229350" y="3176588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6386513" y="3319463"/>
            <a:ext cx="171450" cy="171450"/>
          </a:xfrm>
          <a:custGeom>
            <a:rect b="b" l="l" r="r" t="t"/>
            <a:pathLst>
              <a:path extrusionOk="0" h="171450" w="171450">
                <a:moveTo>
                  <a:pt x="64294" y="85725"/>
                </a:moveTo>
                <a:lnTo>
                  <a:pt x="51067" y="98952"/>
                </a:lnTo>
                <a:cubicBezTo>
                  <a:pt x="46847" y="97311"/>
                  <a:pt x="42293" y="96441"/>
                  <a:pt x="37505" y="96441"/>
                </a:cubicBezTo>
                <a:cubicBezTo>
                  <a:pt x="16777" y="96441"/>
                  <a:pt x="0" y="113217"/>
                  <a:pt x="0" y="133945"/>
                </a:cubicBezTo>
                <a:cubicBezTo>
                  <a:pt x="0" y="154673"/>
                  <a:pt x="16777" y="171450"/>
                  <a:pt x="37505" y="171450"/>
                </a:cubicBezTo>
                <a:cubicBezTo>
                  <a:pt x="58233" y="171450"/>
                  <a:pt x="75009" y="154673"/>
                  <a:pt x="75009" y="133945"/>
                </a:cubicBezTo>
                <a:cubicBezTo>
                  <a:pt x="75009" y="129157"/>
                  <a:pt x="74105" y="124603"/>
                  <a:pt x="72498" y="120383"/>
                </a:cubicBezTo>
                <a:lnTo>
                  <a:pt x="167164" y="25718"/>
                </a:lnTo>
                <a:cubicBezTo>
                  <a:pt x="169541" y="23340"/>
                  <a:pt x="169541" y="19523"/>
                  <a:pt x="167164" y="17145"/>
                </a:cubicBezTo>
                <a:cubicBezTo>
                  <a:pt x="157687" y="7668"/>
                  <a:pt x="142350" y="7668"/>
                  <a:pt x="132874" y="17145"/>
                </a:cubicBezTo>
                <a:lnTo>
                  <a:pt x="85725" y="64294"/>
                </a:lnTo>
                <a:lnTo>
                  <a:pt x="72498" y="51067"/>
                </a:lnTo>
                <a:cubicBezTo>
                  <a:pt x="74139" y="46847"/>
                  <a:pt x="75009" y="42293"/>
                  <a:pt x="75009" y="37505"/>
                </a:cubicBezTo>
                <a:cubicBezTo>
                  <a:pt x="75009" y="16777"/>
                  <a:pt x="58233" y="0"/>
                  <a:pt x="37505" y="0"/>
                </a:cubicBezTo>
                <a:cubicBezTo>
                  <a:pt x="16777" y="0"/>
                  <a:pt x="0" y="16777"/>
                  <a:pt x="0" y="37505"/>
                </a:cubicBezTo>
                <a:cubicBezTo>
                  <a:pt x="0" y="58233"/>
                  <a:pt x="16777" y="75009"/>
                  <a:pt x="37505" y="75009"/>
                </a:cubicBezTo>
                <a:cubicBezTo>
                  <a:pt x="42293" y="75009"/>
                  <a:pt x="46847" y="74105"/>
                  <a:pt x="51067" y="72498"/>
                </a:cubicBezTo>
                <a:lnTo>
                  <a:pt x="64294" y="85725"/>
                </a:lnTo>
                <a:close/>
                <a:moveTo>
                  <a:pt x="97077" y="118508"/>
                </a:moveTo>
                <a:lnTo>
                  <a:pt x="132874" y="154305"/>
                </a:lnTo>
                <a:cubicBezTo>
                  <a:pt x="142350" y="163782"/>
                  <a:pt x="157687" y="163782"/>
                  <a:pt x="167164" y="154305"/>
                </a:cubicBezTo>
                <a:cubicBezTo>
                  <a:pt x="169541" y="151927"/>
                  <a:pt x="169541" y="148110"/>
                  <a:pt x="167164" y="145733"/>
                </a:cubicBezTo>
                <a:lnTo>
                  <a:pt x="118508" y="97077"/>
                </a:lnTo>
                <a:lnTo>
                  <a:pt x="97077" y="118508"/>
                </a:lnTo>
                <a:close/>
                <a:moveTo>
                  <a:pt x="21431" y="37505"/>
                </a:moveTo>
                <a:cubicBezTo>
                  <a:pt x="21431" y="28634"/>
                  <a:pt x="28634" y="21431"/>
                  <a:pt x="37505" y="21431"/>
                </a:cubicBezTo>
                <a:cubicBezTo>
                  <a:pt x="46376" y="21431"/>
                  <a:pt x="53578" y="28634"/>
                  <a:pt x="53578" y="37505"/>
                </a:cubicBezTo>
                <a:cubicBezTo>
                  <a:pt x="53578" y="46376"/>
                  <a:pt x="46376" y="53578"/>
                  <a:pt x="37505" y="53578"/>
                </a:cubicBezTo>
                <a:cubicBezTo>
                  <a:pt x="28634" y="53578"/>
                  <a:pt x="21431" y="46376"/>
                  <a:pt x="21431" y="37505"/>
                </a:cubicBezTo>
                <a:close/>
                <a:moveTo>
                  <a:pt x="37505" y="117872"/>
                </a:moveTo>
                <a:cubicBezTo>
                  <a:pt x="46376" y="117872"/>
                  <a:pt x="53578" y="125074"/>
                  <a:pt x="53578" y="133945"/>
                </a:cubicBezTo>
                <a:cubicBezTo>
                  <a:pt x="53578" y="142816"/>
                  <a:pt x="46376" y="150019"/>
                  <a:pt x="37505" y="150019"/>
                </a:cubicBezTo>
                <a:cubicBezTo>
                  <a:pt x="28634" y="150019"/>
                  <a:pt x="21431" y="142816"/>
                  <a:pt x="21431" y="133945"/>
                </a:cubicBezTo>
                <a:cubicBezTo>
                  <a:pt x="21431" y="125074"/>
                  <a:pt x="28634" y="117872"/>
                  <a:pt x="37505" y="117872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2"/>
          <p:cNvSpPr/>
          <p:nvPr/>
        </p:nvSpPr>
        <p:spPr>
          <a:xfrm>
            <a:off x="6653213" y="3290888"/>
            <a:ext cx="13430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min_samples_split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397" name="Google Shape;397;p12"/>
          <p:cNvSpPr/>
          <p:nvPr/>
        </p:nvSpPr>
        <p:spPr>
          <a:xfrm>
            <a:off x="6362700" y="3557588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 samples to split a node.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Prevents over-splitting. Higher values = simpler trees.</a:t>
            </a:r>
            <a:endParaRPr b="0" i="0" sz="1600" u="none" cap="none" strike="noStrike"/>
          </a:p>
        </p:txBody>
      </p:sp>
      <p:sp>
        <p:nvSpPr>
          <p:cNvPr id="398" name="Google Shape;398;p12"/>
          <p:cNvSpPr/>
          <p:nvPr/>
        </p:nvSpPr>
        <p:spPr>
          <a:xfrm>
            <a:off x="6229350" y="3964781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229350" y="3964781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2"/>
          <p:cNvSpPr/>
          <p:nvPr/>
        </p:nvSpPr>
        <p:spPr>
          <a:xfrm>
            <a:off x="6386513" y="4107656"/>
            <a:ext cx="171450" cy="171450"/>
          </a:xfrm>
          <a:custGeom>
            <a:rect b="b" l="l" r="r" t="t"/>
            <a:pathLst>
              <a:path extrusionOk="0" h="171450" w="171450">
                <a:moveTo>
                  <a:pt x="157821" y="2244"/>
                </a:moveTo>
                <a:cubicBezTo>
                  <a:pt x="159964" y="201"/>
                  <a:pt x="163078" y="-536"/>
                  <a:pt x="165958" y="402"/>
                </a:cubicBezTo>
                <a:cubicBezTo>
                  <a:pt x="169240" y="1507"/>
                  <a:pt x="171450" y="4588"/>
                  <a:pt x="171450" y="8037"/>
                </a:cubicBezTo>
                <a:lnTo>
                  <a:pt x="171450" y="70623"/>
                </a:lnTo>
                <a:cubicBezTo>
                  <a:pt x="171450" y="114557"/>
                  <a:pt x="135251" y="150019"/>
                  <a:pt x="91485" y="150019"/>
                </a:cubicBezTo>
                <a:cubicBezTo>
                  <a:pt x="65700" y="150019"/>
                  <a:pt x="43465" y="133443"/>
                  <a:pt x="35395" y="110270"/>
                </a:cubicBezTo>
                <a:cubicBezTo>
                  <a:pt x="23541" y="120584"/>
                  <a:pt x="16073" y="135754"/>
                  <a:pt x="16073" y="152698"/>
                </a:cubicBezTo>
                <a:cubicBezTo>
                  <a:pt x="16073" y="157151"/>
                  <a:pt x="12490" y="160734"/>
                  <a:pt x="8037" y="160734"/>
                </a:cubicBezTo>
                <a:cubicBezTo>
                  <a:pt x="3583" y="160734"/>
                  <a:pt x="0" y="157151"/>
                  <a:pt x="0" y="152698"/>
                </a:cubicBezTo>
                <a:cubicBezTo>
                  <a:pt x="0" y="127616"/>
                  <a:pt x="12792" y="105515"/>
                  <a:pt x="32180" y="92523"/>
                </a:cubicBezTo>
                <a:cubicBezTo>
                  <a:pt x="44001" y="84620"/>
                  <a:pt x="58099" y="80367"/>
                  <a:pt x="72330" y="80367"/>
                </a:cubicBezTo>
                <a:lnTo>
                  <a:pt x="99120" y="80367"/>
                </a:lnTo>
                <a:cubicBezTo>
                  <a:pt x="103573" y="80367"/>
                  <a:pt x="107156" y="76784"/>
                  <a:pt x="107156" y="72330"/>
                </a:cubicBezTo>
                <a:cubicBezTo>
                  <a:pt x="107156" y="67877"/>
                  <a:pt x="103573" y="64294"/>
                  <a:pt x="99120" y="64294"/>
                </a:cubicBezTo>
                <a:lnTo>
                  <a:pt x="72330" y="64294"/>
                </a:lnTo>
                <a:cubicBezTo>
                  <a:pt x="59036" y="64294"/>
                  <a:pt x="46446" y="67241"/>
                  <a:pt x="35161" y="72498"/>
                </a:cubicBezTo>
                <a:cubicBezTo>
                  <a:pt x="42963" y="49057"/>
                  <a:pt x="65030" y="32147"/>
                  <a:pt x="91083" y="32147"/>
                </a:cubicBezTo>
                <a:cubicBezTo>
                  <a:pt x="113318" y="32147"/>
                  <a:pt x="129860" y="24746"/>
                  <a:pt x="140877" y="17413"/>
                </a:cubicBezTo>
                <a:cubicBezTo>
                  <a:pt x="147306" y="13127"/>
                  <a:pt x="152765" y="8003"/>
                  <a:pt x="157855" y="2244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653213" y="4079081"/>
            <a:ext cx="1314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min_samples_leaf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6362700" y="4345781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 samples per leaf.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Ensures leaves have enough data. Range: 1-5.</a:t>
            </a:r>
            <a:endParaRPr b="0" i="0" sz="1600" u="none" cap="none" strike="noStrike"/>
          </a:p>
        </p:txBody>
      </p:sp>
      <p:sp>
        <p:nvSpPr>
          <p:cNvPr id="403" name="Google Shape;403;p12"/>
          <p:cNvSpPr/>
          <p:nvPr/>
        </p:nvSpPr>
        <p:spPr>
          <a:xfrm>
            <a:off x="6229350" y="4752975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2"/>
          <p:cNvSpPr/>
          <p:nvPr/>
        </p:nvSpPr>
        <p:spPr>
          <a:xfrm>
            <a:off x="6229350" y="4752975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386513" y="4895850"/>
            <a:ext cx="171450" cy="171450"/>
          </a:xfrm>
          <a:custGeom>
            <a:rect b="b" l="l" r="r" t="t"/>
            <a:pathLst>
              <a:path extrusionOk="0" h="171450" w="171450">
                <a:moveTo>
                  <a:pt x="135218" y="11519"/>
                </a:moveTo>
                <a:cubicBezTo>
                  <a:pt x="139236" y="9845"/>
                  <a:pt x="143824" y="10783"/>
                  <a:pt x="146905" y="13830"/>
                </a:cubicBezTo>
                <a:lnTo>
                  <a:pt x="168336" y="35261"/>
                </a:lnTo>
                <a:cubicBezTo>
                  <a:pt x="170345" y="37270"/>
                  <a:pt x="171483" y="39983"/>
                  <a:pt x="171483" y="42829"/>
                </a:cubicBezTo>
                <a:cubicBezTo>
                  <a:pt x="171483" y="45675"/>
                  <a:pt x="170345" y="48388"/>
                  <a:pt x="168336" y="50397"/>
                </a:cubicBezTo>
                <a:lnTo>
                  <a:pt x="146905" y="71828"/>
                </a:lnTo>
                <a:cubicBezTo>
                  <a:pt x="143824" y="74909"/>
                  <a:pt x="139236" y="75813"/>
                  <a:pt x="135218" y="74139"/>
                </a:cubicBezTo>
                <a:cubicBezTo>
                  <a:pt x="131199" y="72464"/>
                  <a:pt x="128588" y="68613"/>
                  <a:pt x="128588" y="64294"/>
                </a:cubicBezTo>
                <a:lnTo>
                  <a:pt x="128588" y="53578"/>
                </a:lnTo>
                <a:lnTo>
                  <a:pt x="117872" y="53578"/>
                </a:lnTo>
                <a:cubicBezTo>
                  <a:pt x="114490" y="53578"/>
                  <a:pt x="111309" y="55152"/>
                  <a:pt x="109299" y="57864"/>
                </a:cubicBezTo>
                <a:lnTo>
                  <a:pt x="98450" y="72330"/>
                </a:lnTo>
                <a:lnTo>
                  <a:pt x="85055" y="54482"/>
                </a:lnTo>
                <a:lnTo>
                  <a:pt x="92154" y="45006"/>
                </a:lnTo>
                <a:cubicBezTo>
                  <a:pt x="98215" y="36902"/>
                  <a:pt x="107759" y="32147"/>
                  <a:pt x="117872" y="32147"/>
                </a:cubicBezTo>
                <a:lnTo>
                  <a:pt x="128588" y="32147"/>
                </a:lnTo>
                <a:lnTo>
                  <a:pt x="128588" y="21431"/>
                </a:lnTo>
                <a:cubicBezTo>
                  <a:pt x="128588" y="17112"/>
                  <a:pt x="131199" y="13194"/>
                  <a:pt x="135218" y="11519"/>
                </a:cubicBezTo>
                <a:close/>
                <a:moveTo>
                  <a:pt x="51569" y="99120"/>
                </a:moveTo>
                <a:lnTo>
                  <a:pt x="64963" y="116968"/>
                </a:lnTo>
                <a:lnTo>
                  <a:pt x="57864" y="126444"/>
                </a:lnTo>
                <a:cubicBezTo>
                  <a:pt x="51803" y="134548"/>
                  <a:pt x="42260" y="139303"/>
                  <a:pt x="32147" y="139303"/>
                </a:cubicBezTo>
                <a:lnTo>
                  <a:pt x="10716" y="139303"/>
                </a:lnTo>
                <a:cubicBezTo>
                  <a:pt x="4789" y="139303"/>
                  <a:pt x="0" y="134515"/>
                  <a:pt x="0" y="128588"/>
                </a:cubicBezTo>
                <a:cubicBezTo>
                  <a:pt x="0" y="122660"/>
                  <a:pt x="4789" y="117872"/>
                  <a:pt x="10716" y="117872"/>
                </a:cubicBezTo>
                <a:lnTo>
                  <a:pt x="32147" y="117872"/>
                </a:lnTo>
                <a:cubicBezTo>
                  <a:pt x="35529" y="117872"/>
                  <a:pt x="38710" y="116298"/>
                  <a:pt x="40719" y="113586"/>
                </a:cubicBezTo>
                <a:lnTo>
                  <a:pt x="51569" y="99120"/>
                </a:lnTo>
                <a:close/>
                <a:moveTo>
                  <a:pt x="146871" y="157587"/>
                </a:moveTo>
                <a:cubicBezTo>
                  <a:pt x="143790" y="160667"/>
                  <a:pt x="139203" y="161572"/>
                  <a:pt x="135184" y="159897"/>
                </a:cubicBezTo>
                <a:cubicBezTo>
                  <a:pt x="131166" y="158223"/>
                  <a:pt x="128588" y="154338"/>
                  <a:pt x="128588" y="150019"/>
                </a:cubicBezTo>
                <a:lnTo>
                  <a:pt x="128588" y="139303"/>
                </a:lnTo>
                <a:lnTo>
                  <a:pt x="117872" y="139303"/>
                </a:lnTo>
                <a:cubicBezTo>
                  <a:pt x="107759" y="139303"/>
                  <a:pt x="98215" y="134548"/>
                  <a:pt x="92154" y="126444"/>
                </a:cubicBezTo>
                <a:lnTo>
                  <a:pt x="40719" y="57864"/>
                </a:lnTo>
                <a:cubicBezTo>
                  <a:pt x="38710" y="55152"/>
                  <a:pt x="35529" y="53578"/>
                  <a:pt x="32147" y="53578"/>
                </a:cubicBezTo>
                <a:lnTo>
                  <a:pt x="10716" y="53578"/>
                </a:lnTo>
                <a:cubicBezTo>
                  <a:pt x="4789" y="53578"/>
                  <a:pt x="0" y="48790"/>
                  <a:pt x="0" y="42863"/>
                </a:cubicBezTo>
                <a:cubicBezTo>
                  <a:pt x="0" y="36935"/>
                  <a:pt x="4789" y="32147"/>
                  <a:pt x="10716" y="32147"/>
                </a:cubicBezTo>
                <a:lnTo>
                  <a:pt x="32147" y="32147"/>
                </a:lnTo>
                <a:cubicBezTo>
                  <a:pt x="42260" y="32147"/>
                  <a:pt x="51803" y="36902"/>
                  <a:pt x="57864" y="45006"/>
                </a:cubicBezTo>
                <a:lnTo>
                  <a:pt x="109299" y="113586"/>
                </a:lnTo>
                <a:cubicBezTo>
                  <a:pt x="111309" y="116298"/>
                  <a:pt x="114490" y="117872"/>
                  <a:pt x="117872" y="117872"/>
                </a:cubicBezTo>
                <a:lnTo>
                  <a:pt x="128588" y="117872"/>
                </a:lnTo>
                <a:lnTo>
                  <a:pt x="128588" y="107156"/>
                </a:lnTo>
                <a:cubicBezTo>
                  <a:pt x="128588" y="102837"/>
                  <a:pt x="131199" y="98919"/>
                  <a:pt x="135218" y="97244"/>
                </a:cubicBezTo>
                <a:cubicBezTo>
                  <a:pt x="139236" y="95570"/>
                  <a:pt x="143824" y="96508"/>
                  <a:pt x="146905" y="99555"/>
                </a:cubicBezTo>
                <a:lnTo>
                  <a:pt x="168336" y="120986"/>
                </a:lnTo>
                <a:cubicBezTo>
                  <a:pt x="170345" y="122995"/>
                  <a:pt x="171483" y="125708"/>
                  <a:pt x="171483" y="128554"/>
                </a:cubicBezTo>
                <a:cubicBezTo>
                  <a:pt x="171483" y="131400"/>
                  <a:pt x="170345" y="134113"/>
                  <a:pt x="168336" y="136122"/>
                </a:cubicBezTo>
                <a:lnTo>
                  <a:pt x="146905" y="157553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2"/>
          <p:cNvSpPr/>
          <p:nvPr/>
        </p:nvSpPr>
        <p:spPr>
          <a:xfrm>
            <a:off x="6653213" y="4867275"/>
            <a:ext cx="1000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max_features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07" name="Google Shape;407;p12"/>
          <p:cNvSpPr/>
          <p:nvPr/>
        </p:nvSpPr>
        <p:spPr>
          <a:xfrm>
            <a:off x="6362700" y="5133975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 per split.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'sqrt' (default) usually optimal.</a:t>
            </a:r>
            <a:endParaRPr b="0" i="0" sz="1600" u="none" cap="none" strike="noStrike"/>
          </a:p>
        </p:txBody>
      </p:sp>
      <p:sp>
        <p:nvSpPr>
          <p:cNvPr id="408" name="Google Shape;408;p12"/>
          <p:cNvSpPr/>
          <p:nvPr/>
        </p:nvSpPr>
        <p:spPr>
          <a:xfrm>
            <a:off x="6229350" y="5541169"/>
            <a:ext cx="5581650" cy="714375"/>
          </a:xfrm>
          <a:custGeom>
            <a:rect b="b" l="l" r="r" t="t"/>
            <a:pathLst>
              <a:path extrusionOk="0" h="714375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600075"/>
                </a:lnTo>
                <a:cubicBezTo>
                  <a:pt x="5581650" y="663159"/>
                  <a:pt x="5530434" y="714375"/>
                  <a:pt x="5467350" y="714375"/>
                </a:cubicBezTo>
                <a:lnTo>
                  <a:pt x="38100" y="714375"/>
                </a:lnTo>
                <a:cubicBezTo>
                  <a:pt x="17058" y="714375"/>
                  <a:pt x="0" y="697317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6229350" y="5541169"/>
            <a:ext cx="38100" cy="714375"/>
          </a:xfrm>
          <a:custGeom>
            <a:rect b="b" l="l" r="r" t="t"/>
            <a:pathLst>
              <a:path extrusionOk="0" h="714375" w="38100">
                <a:moveTo>
                  <a:pt x="38100" y="0"/>
                </a:moveTo>
                <a:lnTo>
                  <a:pt x="38100" y="0"/>
                </a:lnTo>
                <a:lnTo>
                  <a:pt x="38100" y="714375"/>
                </a:lnTo>
                <a:lnTo>
                  <a:pt x="38100" y="714375"/>
                </a:lnTo>
                <a:cubicBezTo>
                  <a:pt x="17072" y="714375"/>
                  <a:pt x="0" y="697303"/>
                  <a:pt x="0" y="6762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2"/>
          <p:cNvSpPr/>
          <p:nvPr/>
        </p:nvSpPr>
        <p:spPr>
          <a:xfrm>
            <a:off x="6386513" y="5684044"/>
            <a:ext cx="171450" cy="171450"/>
          </a:xfrm>
          <a:custGeom>
            <a:rect b="b" l="l" r="r" t="t"/>
            <a:pathLst>
              <a:path extrusionOk="0" h="171450" w="171450">
                <a:moveTo>
                  <a:pt x="22067" y="76516"/>
                </a:moveTo>
                <a:cubicBezTo>
                  <a:pt x="26521" y="45374"/>
                  <a:pt x="53344" y="21431"/>
                  <a:pt x="85725" y="21431"/>
                </a:cubicBezTo>
                <a:cubicBezTo>
                  <a:pt x="103473" y="21431"/>
                  <a:pt x="119546" y="28631"/>
                  <a:pt x="131199" y="40251"/>
                </a:cubicBezTo>
                <a:cubicBezTo>
                  <a:pt x="131266" y="40318"/>
                  <a:pt x="131333" y="40385"/>
                  <a:pt x="131400" y="40451"/>
                </a:cubicBezTo>
                <a:lnTo>
                  <a:pt x="133945" y="42863"/>
                </a:lnTo>
                <a:lnTo>
                  <a:pt x="117905" y="42863"/>
                </a:lnTo>
                <a:cubicBezTo>
                  <a:pt x="111978" y="42863"/>
                  <a:pt x="107190" y="47651"/>
                  <a:pt x="107190" y="53578"/>
                </a:cubicBezTo>
                <a:cubicBezTo>
                  <a:pt x="107190" y="59505"/>
                  <a:pt x="111978" y="64294"/>
                  <a:pt x="117905" y="64294"/>
                </a:cubicBezTo>
                <a:lnTo>
                  <a:pt x="160768" y="64294"/>
                </a:lnTo>
                <a:cubicBezTo>
                  <a:pt x="166695" y="64294"/>
                  <a:pt x="171483" y="59505"/>
                  <a:pt x="171483" y="53578"/>
                </a:cubicBezTo>
                <a:lnTo>
                  <a:pt x="171483" y="10716"/>
                </a:lnTo>
                <a:cubicBezTo>
                  <a:pt x="171483" y="4789"/>
                  <a:pt x="166695" y="0"/>
                  <a:pt x="160768" y="0"/>
                </a:cubicBezTo>
                <a:cubicBezTo>
                  <a:pt x="154841" y="0"/>
                  <a:pt x="150052" y="4789"/>
                  <a:pt x="150052" y="10716"/>
                </a:cubicBezTo>
                <a:lnTo>
                  <a:pt x="150052" y="28597"/>
                </a:lnTo>
                <a:lnTo>
                  <a:pt x="146268" y="25014"/>
                </a:lnTo>
                <a:cubicBezTo>
                  <a:pt x="130764" y="9577"/>
                  <a:pt x="109333" y="0"/>
                  <a:pt x="85725" y="0"/>
                </a:cubicBezTo>
                <a:cubicBezTo>
                  <a:pt x="42528" y="0"/>
                  <a:pt x="6798" y="31946"/>
                  <a:pt x="871" y="73502"/>
                </a:cubicBezTo>
                <a:cubicBezTo>
                  <a:pt x="33" y="79363"/>
                  <a:pt x="4085" y="84787"/>
                  <a:pt x="9945" y="85625"/>
                </a:cubicBezTo>
                <a:cubicBezTo>
                  <a:pt x="15806" y="86462"/>
                  <a:pt x="21230" y="82376"/>
                  <a:pt x="22067" y="76550"/>
                </a:cubicBezTo>
                <a:close/>
                <a:moveTo>
                  <a:pt x="170579" y="97948"/>
                </a:moveTo>
                <a:cubicBezTo>
                  <a:pt x="171417" y="92087"/>
                  <a:pt x="167331" y="86663"/>
                  <a:pt x="161505" y="85825"/>
                </a:cubicBezTo>
                <a:cubicBezTo>
                  <a:pt x="155678" y="84988"/>
                  <a:pt x="150220" y="89074"/>
                  <a:pt x="149383" y="94900"/>
                </a:cubicBezTo>
                <a:cubicBezTo>
                  <a:pt x="144929" y="126043"/>
                  <a:pt x="118106" y="149985"/>
                  <a:pt x="85725" y="149985"/>
                </a:cubicBezTo>
                <a:cubicBezTo>
                  <a:pt x="67977" y="149985"/>
                  <a:pt x="51904" y="142786"/>
                  <a:pt x="40251" y="131166"/>
                </a:cubicBezTo>
                <a:cubicBezTo>
                  <a:pt x="40184" y="131099"/>
                  <a:pt x="40117" y="131032"/>
                  <a:pt x="40050" y="130965"/>
                </a:cubicBezTo>
                <a:lnTo>
                  <a:pt x="37505" y="128554"/>
                </a:lnTo>
                <a:lnTo>
                  <a:pt x="53545" y="128554"/>
                </a:lnTo>
                <a:cubicBezTo>
                  <a:pt x="59472" y="128554"/>
                  <a:pt x="64260" y="123765"/>
                  <a:pt x="64260" y="117838"/>
                </a:cubicBezTo>
                <a:cubicBezTo>
                  <a:pt x="64260" y="111911"/>
                  <a:pt x="59472" y="107123"/>
                  <a:pt x="53545" y="107123"/>
                </a:cubicBezTo>
                <a:lnTo>
                  <a:pt x="10716" y="107156"/>
                </a:lnTo>
                <a:cubicBezTo>
                  <a:pt x="7869" y="107156"/>
                  <a:pt x="5123" y="108295"/>
                  <a:pt x="3114" y="110337"/>
                </a:cubicBezTo>
                <a:cubicBezTo>
                  <a:pt x="1105" y="112380"/>
                  <a:pt x="-33" y="115093"/>
                  <a:pt x="0" y="117972"/>
                </a:cubicBezTo>
                <a:lnTo>
                  <a:pt x="335" y="160500"/>
                </a:lnTo>
                <a:cubicBezTo>
                  <a:pt x="368" y="166427"/>
                  <a:pt x="5224" y="171182"/>
                  <a:pt x="11151" y="171115"/>
                </a:cubicBezTo>
                <a:cubicBezTo>
                  <a:pt x="17078" y="171048"/>
                  <a:pt x="21833" y="166226"/>
                  <a:pt x="21766" y="160299"/>
                </a:cubicBezTo>
                <a:lnTo>
                  <a:pt x="21632" y="143054"/>
                </a:lnTo>
                <a:lnTo>
                  <a:pt x="25215" y="146436"/>
                </a:lnTo>
                <a:cubicBezTo>
                  <a:pt x="40719" y="161873"/>
                  <a:pt x="62117" y="171450"/>
                  <a:pt x="85725" y="171450"/>
                </a:cubicBezTo>
                <a:cubicBezTo>
                  <a:pt x="128922" y="171450"/>
                  <a:pt x="164652" y="139504"/>
                  <a:pt x="170579" y="97948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2"/>
          <p:cNvSpPr/>
          <p:nvPr/>
        </p:nvSpPr>
        <p:spPr>
          <a:xfrm>
            <a:off x="6653213" y="5655469"/>
            <a:ext cx="714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bootstrap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12" name="Google Shape;412;p12"/>
          <p:cNvSpPr/>
          <p:nvPr/>
        </p:nvSpPr>
        <p:spPr>
          <a:xfrm>
            <a:off x="6362700" y="5922169"/>
            <a:ext cx="54006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with replacement.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True (default) creates diversity, reduces variance.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"/>
          <p:cNvSpPr/>
          <p:nvPr/>
        </p:nvSpPr>
        <p:spPr>
          <a:xfrm>
            <a:off x="381000" y="409575"/>
            <a:ext cx="2868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 Tuning Methods</a:t>
            </a:r>
            <a:endParaRPr b="0" i="0" sz="1600" u="none" cap="none" strike="noStrike"/>
          </a:p>
        </p:txBody>
      </p:sp>
      <p:sp>
        <p:nvSpPr>
          <p:cNvPr id="419" name="Google Shape;419;p13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Grid Search: Exhaustive Exploration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20" name="Google Shape;420;p13"/>
          <p:cNvSpPr/>
          <p:nvPr/>
        </p:nvSpPr>
        <p:spPr>
          <a:xfrm>
            <a:off x="390525" y="1228725"/>
            <a:ext cx="5581650" cy="2686050"/>
          </a:xfrm>
          <a:custGeom>
            <a:rect b="b" l="l" r="r" t="t"/>
            <a:pathLst>
              <a:path extrusionOk="0" h="2686050" w="5581650">
                <a:moveTo>
                  <a:pt x="114291" y="0"/>
                </a:moveTo>
                <a:lnTo>
                  <a:pt x="5467359" y="0"/>
                </a:lnTo>
                <a:cubicBezTo>
                  <a:pt x="5530480" y="0"/>
                  <a:pt x="5581650" y="51170"/>
                  <a:pt x="5581650" y="114291"/>
                </a:cubicBezTo>
                <a:lnTo>
                  <a:pt x="5581650" y="2571759"/>
                </a:lnTo>
                <a:cubicBezTo>
                  <a:pt x="5581650" y="2634880"/>
                  <a:pt x="5530480" y="2686050"/>
                  <a:pt x="546735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3"/>
          <p:cNvSpPr/>
          <p:nvPr/>
        </p:nvSpPr>
        <p:spPr>
          <a:xfrm>
            <a:off x="590550" y="1428750"/>
            <a:ext cx="527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How Grid Search Works</a:t>
            </a:r>
            <a:endParaRPr b="0" i="0" sz="1600" u="none" cap="none" strike="noStrike"/>
          </a:p>
        </p:txBody>
      </p:sp>
      <p:sp>
        <p:nvSpPr>
          <p:cNvPr id="422" name="Google Shape;422;p13"/>
          <p:cNvSpPr/>
          <p:nvPr/>
        </p:nvSpPr>
        <p:spPr>
          <a:xfrm>
            <a:off x="590550" y="1809750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3"/>
          <p:cNvSpPr/>
          <p:nvPr/>
        </p:nvSpPr>
        <p:spPr>
          <a:xfrm>
            <a:off x="557213" y="180975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424" name="Google Shape;424;p13"/>
          <p:cNvSpPr/>
          <p:nvPr/>
        </p:nvSpPr>
        <p:spPr>
          <a:xfrm>
            <a:off x="971550" y="1809750"/>
            <a:ext cx="2809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Parameter Grid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25" name="Google Shape;425;p13"/>
          <p:cNvSpPr/>
          <p:nvPr/>
        </p:nvSpPr>
        <p:spPr>
          <a:xfrm>
            <a:off x="971550" y="2038350"/>
            <a:ext cx="28003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Specify discrete values for each hyperparameter</a:t>
            </a:r>
            <a:endParaRPr b="0" i="0" sz="1600" u="none" cap="none" strike="noStrike"/>
          </a:p>
        </p:txBody>
      </p:sp>
      <p:sp>
        <p:nvSpPr>
          <p:cNvPr id="426" name="Google Shape;426;p13"/>
          <p:cNvSpPr/>
          <p:nvPr/>
        </p:nvSpPr>
        <p:spPr>
          <a:xfrm>
            <a:off x="590550" y="2305050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3"/>
          <p:cNvSpPr/>
          <p:nvPr/>
        </p:nvSpPr>
        <p:spPr>
          <a:xfrm>
            <a:off x="557213" y="230505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428" name="Google Shape;428;p13"/>
          <p:cNvSpPr/>
          <p:nvPr/>
        </p:nvSpPr>
        <p:spPr>
          <a:xfrm>
            <a:off x="971550" y="2305050"/>
            <a:ext cx="1905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Generate Combinations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29" name="Google Shape;429;p13"/>
          <p:cNvSpPr/>
          <p:nvPr/>
        </p:nvSpPr>
        <p:spPr>
          <a:xfrm>
            <a:off x="971550" y="2533650"/>
            <a:ext cx="18954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Create all possible combinations</a:t>
            </a:r>
            <a:endParaRPr b="0" i="0" sz="1600" u="none" cap="none" strike="noStrike"/>
          </a:p>
        </p:txBody>
      </p:sp>
      <p:sp>
        <p:nvSpPr>
          <p:cNvPr id="430" name="Google Shape;430;p13"/>
          <p:cNvSpPr/>
          <p:nvPr/>
        </p:nvSpPr>
        <p:spPr>
          <a:xfrm>
            <a:off x="590550" y="2800350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3"/>
          <p:cNvSpPr/>
          <p:nvPr/>
        </p:nvSpPr>
        <p:spPr>
          <a:xfrm>
            <a:off x="557213" y="280035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432" name="Google Shape;432;p13"/>
          <p:cNvSpPr/>
          <p:nvPr/>
        </p:nvSpPr>
        <p:spPr>
          <a:xfrm>
            <a:off x="971550" y="2800350"/>
            <a:ext cx="32861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&amp; Evaluate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33" name="Google Shape;433;p13"/>
          <p:cNvSpPr/>
          <p:nvPr/>
        </p:nvSpPr>
        <p:spPr>
          <a:xfrm>
            <a:off x="971550" y="3028950"/>
            <a:ext cx="32766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model for each combination using cross-validation</a:t>
            </a:r>
            <a:endParaRPr b="0" i="0" sz="1600" u="none" cap="none" strike="noStrike"/>
          </a:p>
        </p:txBody>
      </p:sp>
      <p:sp>
        <p:nvSpPr>
          <p:cNvPr id="434" name="Google Shape;434;p13"/>
          <p:cNvSpPr/>
          <p:nvPr/>
        </p:nvSpPr>
        <p:spPr>
          <a:xfrm>
            <a:off x="590550" y="3295650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3"/>
          <p:cNvSpPr/>
          <p:nvPr/>
        </p:nvSpPr>
        <p:spPr>
          <a:xfrm>
            <a:off x="557213" y="3295650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436" name="Google Shape;436;p13"/>
          <p:cNvSpPr/>
          <p:nvPr/>
        </p:nvSpPr>
        <p:spPr>
          <a:xfrm>
            <a:off x="971550" y="3295650"/>
            <a:ext cx="259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Best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37" name="Google Shape;437;p13"/>
          <p:cNvSpPr/>
          <p:nvPr/>
        </p:nvSpPr>
        <p:spPr>
          <a:xfrm>
            <a:off x="971550" y="3524250"/>
            <a:ext cx="25812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Choose combination with best performance</a:t>
            </a:r>
            <a:endParaRPr b="0" i="0" sz="1600" u="none" cap="none" strike="noStrike"/>
          </a:p>
        </p:txBody>
      </p:sp>
      <p:sp>
        <p:nvSpPr>
          <p:cNvPr id="438" name="Google Shape;438;p13"/>
          <p:cNvSpPr/>
          <p:nvPr/>
        </p:nvSpPr>
        <p:spPr>
          <a:xfrm>
            <a:off x="390525" y="4086225"/>
            <a:ext cx="2724150" cy="1504950"/>
          </a:xfrm>
          <a:custGeom>
            <a:rect b="b" l="l" r="r" t="t"/>
            <a:pathLst>
              <a:path extrusionOk="0" h="1504950" w="2724150">
                <a:moveTo>
                  <a:pt x="114301" y="0"/>
                </a:moveTo>
                <a:lnTo>
                  <a:pt x="2609849" y="0"/>
                </a:lnTo>
                <a:cubicBezTo>
                  <a:pt x="2672976" y="0"/>
                  <a:pt x="2724150" y="51174"/>
                  <a:pt x="2724150" y="114301"/>
                </a:cubicBezTo>
                <a:lnTo>
                  <a:pt x="2724150" y="1390649"/>
                </a:lnTo>
                <a:cubicBezTo>
                  <a:pt x="2724150" y="1453776"/>
                  <a:pt x="2672976" y="1504950"/>
                  <a:pt x="26098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3"/>
          <p:cNvSpPr/>
          <p:nvPr/>
        </p:nvSpPr>
        <p:spPr>
          <a:xfrm>
            <a:off x="576263" y="4276725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3"/>
          <p:cNvSpPr/>
          <p:nvPr/>
        </p:nvSpPr>
        <p:spPr>
          <a:xfrm>
            <a:off x="842963" y="4248150"/>
            <a:ext cx="87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41" name="Google Shape;441;p13"/>
          <p:cNvSpPr/>
          <p:nvPr/>
        </p:nvSpPr>
        <p:spPr>
          <a:xfrm>
            <a:off x="552450" y="45529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Guaranteed to find best combination</a:t>
            </a:r>
            <a:endParaRPr b="0" i="0" sz="1600" u="none" cap="none" strike="noStrike"/>
          </a:p>
        </p:txBody>
      </p:sp>
      <p:sp>
        <p:nvSpPr>
          <p:cNvPr id="442" name="Google Shape;442;p13"/>
          <p:cNvSpPr/>
          <p:nvPr/>
        </p:nvSpPr>
        <p:spPr>
          <a:xfrm>
            <a:off x="552450" y="47815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Thorough and systematic</a:t>
            </a:r>
            <a:endParaRPr b="0" i="0" sz="1600" u="none" cap="none" strike="noStrike"/>
          </a:p>
        </p:txBody>
      </p:sp>
      <p:sp>
        <p:nvSpPr>
          <p:cNvPr id="443" name="Google Shape;443;p13"/>
          <p:cNvSpPr/>
          <p:nvPr/>
        </p:nvSpPr>
        <p:spPr>
          <a:xfrm>
            <a:off x="552450" y="50101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Easy to understand &amp; implement</a:t>
            </a:r>
            <a:endParaRPr b="0" i="0" sz="1600" u="none" cap="none" strike="noStrike"/>
          </a:p>
        </p:txBody>
      </p:sp>
      <p:sp>
        <p:nvSpPr>
          <p:cNvPr id="444" name="Google Shape;444;p13"/>
          <p:cNvSpPr/>
          <p:nvPr/>
        </p:nvSpPr>
        <p:spPr>
          <a:xfrm>
            <a:off x="552450" y="52387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Parallelizable</a:t>
            </a:r>
            <a:endParaRPr b="0" i="0" sz="1600" u="none" cap="none" strike="noStrike"/>
          </a:p>
        </p:txBody>
      </p:sp>
      <p:sp>
        <p:nvSpPr>
          <p:cNvPr id="445" name="Google Shape;445;p13"/>
          <p:cNvSpPr/>
          <p:nvPr/>
        </p:nvSpPr>
        <p:spPr>
          <a:xfrm>
            <a:off x="3248025" y="4086225"/>
            <a:ext cx="2724150" cy="1504950"/>
          </a:xfrm>
          <a:custGeom>
            <a:rect b="b" l="l" r="r" t="t"/>
            <a:pathLst>
              <a:path extrusionOk="0" h="1504950" w="2724150">
                <a:moveTo>
                  <a:pt x="114301" y="0"/>
                </a:moveTo>
                <a:lnTo>
                  <a:pt x="2609849" y="0"/>
                </a:lnTo>
                <a:cubicBezTo>
                  <a:pt x="2672976" y="0"/>
                  <a:pt x="2724150" y="51174"/>
                  <a:pt x="2724150" y="114301"/>
                </a:cubicBezTo>
                <a:lnTo>
                  <a:pt x="2724150" y="1390649"/>
                </a:lnTo>
                <a:cubicBezTo>
                  <a:pt x="2724150" y="1453776"/>
                  <a:pt x="2672976" y="1504950"/>
                  <a:pt x="26098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A9BA8">
              <a:alpha val="9803"/>
            </a:srgbClr>
          </a:solidFill>
          <a:ln cap="flat" cmpd="sng" w="25400">
            <a:solidFill>
              <a:srgbClr val="8A9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3"/>
          <p:cNvSpPr/>
          <p:nvPr/>
        </p:nvSpPr>
        <p:spPr>
          <a:xfrm>
            <a:off x="3433763" y="4276725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3"/>
          <p:cNvSpPr/>
          <p:nvPr/>
        </p:nvSpPr>
        <p:spPr>
          <a:xfrm>
            <a:off x="3700463" y="4248150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Disadvantages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48" name="Google Shape;448;p13"/>
          <p:cNvSpPr/>
          <p:nvPr/>
        </p:nvSpPr>
        <p:spPr>
          <a:xfrm>
            <a:off x="3409950" y="45529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Computationally expensive</a:t>
            </a:r>
            <a:endParaRPr b="0" i="0" sz="1600" u="none" cap="none" strike="noStrike"/>
          </a:p>
        </p:txBody>
      </p:sp>
      <p:sp>
        <p:nvSpPr>
          <p:cNvPr id="449" name="Google Shape;449;p13"/>
          <p:cNvSpPr/>
          <p:nvPr/>
        </p:nvSpPr>
        <p:spPr>
          <a:xfrm>
            <a:off x="3409950" y="47815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Curse of dimensionality</a:t>
            </a:r>
            <a:endParaRPr b="0" i="0" sz="1600" u="none" cap="none" strike="noStrike"/>
          </a:p>
        </p:txBody>
      </p:sp>
      <p:sp>
        <p:nvSpPr>
          <p:cNvPr id="450" name="Google Shape;450;p13"/>
          <p:cNvSpPr/>
          <p:nvPr/>
        </p:nvSpPr>
        <p:spPr>
          <a:xfrm>
            <a:off x="3409950" y="50101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May waste time on poor combinations</a:t>
            </a:r>
            <a:endParaRPr b="0" i="0" sz="1600" u="none" cap="none" strike="noStrike"/>
          </a:p>
        </p:txBody>
      </p:sp>
      <p:sp>
        <p:nvSpPr>
          <p:cNvPr id="451" name="Google Shape;451;p13"/>
          <p:cNvSpPr/>
          <p:nvPr/>
        </p:nvSpPr>
        <p:spPr>
          <a:xfrm>
            <a:off x="3409950" y="5238750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Requires discrete values</a:t>
            </a:r>
            <a:endParaRPr b="0" i="0" sz="1600" u="none" cap="none" strike="noStrike"/>
          </a:p>
        </p:txBody>
      </p:sp>
      <p:sp>
        <p:nvSpPr>
          <p:cNvPr id="452" name="Google Shape;452;p13"/>
          <p:cNvSpPr/>
          <p:nvPr/>
        </p:nvSpPr>
        <p:spPr>
          <a:xfrm>
            <a:off x="6210300" y="1678781"/>
            <a:ext cx="5600700" cy="3467100"/>
          </a:xfrm>
          <a:custGeom>
            <a:rect b="b" l="l" r="r" t="t"/>
            <a:pathLst>
              <a:path extrusionOk="0" h="3467100" w="5600700">
                <a:moveTo>
                  <a:pt x="114310" y="0"/>
                </a:moveTo>
                <a:lnTo>
                  <a:pt x="5486390" y="0"/>
                </a:lnTo>
                <a:cubicBezTo>
                  <a:pt x="5549522" y="0"/>
                  <a:pt x="5600700" y="51178"/>
                  <a:pt x="5600700" y="114310"/>
                </a:cubicBezTo>
                <a:lnTo>
                  <a:pt x="5600700" y="3352790"/>
                </a:lnTo>
                <a:cubicBezTo>
                  <a:pt x="5600700" y="3415922"/>
                  <a:pt x="5549522" y="3467100"/>
                  <a:pt x="5486390" y="3467100"/>
                </a:cubicBezTo>
                <a:lnTo>
                  <a:pt x="114310" y="3467100"/>
                </a:lnTo>
                <a:cubicBezTo>
                  <a:pt x="51178" y="3467100"/>
                  <a:pt x="0" y="3415922"/>
                  <a:pt x="0" y="3352790"/>
                </a:cubicBezTo>
                <a:lnTo>
                  <a:pt x="0" y="114310"/>
                </a:lnTo>
                <a:cubicBezTo>
                  <a:pt x="0" y="51221"/>
                  <a:pt x="51221" y="0"/>
                  <a:pt x="114310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3"/>
          <p:cNvSpPr/>
          <p:nvPr/>
        </p:nvSpPr>
        <p:spPr>
          <a:xfrm>
            <a:off x="6319838" y="1831181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5"/>
                </a:solidFill>
                <a:latin typeface="Liter"/>
                <a:ea typeface="Liter"/>
                <a:cs typeface="Liter"/>
                <a:sym typeface="Liter"/>
              </a:rPr>
              <a:t>Example: Grid Search Grid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54" name="Google Shape;454;p13"/>
          <p:cNvSpPr/>
          <p:nvPr/>
        </p:nvSpPr>
        <p:spPr>
          <a:xfrm>
            <a:off x="6362700" y="2212181"/>
            <a:ext cx="5295900" cy="1504950"/>
          </a:xfrm>
          <a:custGeom>
            <a:rect b="b" l="l" r="r" t="t"/>
            <a:pathLst>
              <a:path extrusionOk="0" h="1504950" w="5295900">
                <a:moveTo>
                  <a:pt x="76196" y="0"/>
                </a:moveTo>
                <a:lnTo>
                  <a:pt x="5219704" y="0"/>
                </a:lnTo>
                <a:cubicBezTo>
                  <a:pt x="5261786" y="0"/>
                  <a:pt x="5295900" y="34114"/>
                  <a:pt x="5295900" y="76196"/>
                </a:cubicBezTo>
                <a:lnTo>
                  <a:pt x="5295900" y="1428754"/>
                </a:lnTo>
                <a:cubicBezTo>
                  <a:pt x="5295900" y="1470836"/>
                  <a:pt x="5261786" y="1504950"/>
                  <a:pt x="5219704" y="1504950"/>
                </a:cubicBezTo>
                <a:lnTo>
                  <a:pt x="76196" y="1504950"/>
                </a:lnTo>
                <a:cubicBezTo>
                  <a:pt x="34114" y="1504950"/>
                  <a:pt x="0" y="1470836"/>
                  <a:pt x="0" y="1428754"/>
                </a:cubicBezTo>
                <a:lnTo>
                  <a:pt x="0" y="76196"/>
                </a:lnTo>
                <a:cubicBezTo>
                  <a:pt x="0" y="34142"/>
                  <a:pt x="34142" y="0"/>
                  <a:pt x="76196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13"/>
          <p:cNvSpPr/>
          <p:nvPr/>
        </p:nvSpPr>
        <p:spPr>
          <a:xfrm>
            <a:off x="6481763" y="2364581"/>
            <a:ext cx="50577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Parameter Grid Definition</a:t>
            </a:r>
            <a:endParaRPr b="0" i="0" sz="1600" u="none" cap="none" strike="noStrike"/>
          </a:p>
        </p:txBody>
      </p:sp>
      <p:sp>
        <p:nvSpPr>
          <p:cNvPr id="456" name="Google Shape;456;p13"/>
          <p:cNvSpPr/>
          <p:nvPr/>
        </p:nvSpPr>
        <p:spPr>
          <a:xfrm>
            <a:off x="6515100" y="2631281"/>
            <a:ext cx="5048250" cy="933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'n_estimators': [50, 100, 200],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'max_depth': [5, 10, 15, None],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'min_samples_split': [2, 5, 10]</a:t>
            </a:r>
            <a:endParaRPr b="0" i="0" sz="1600" u="none" cap="none" strike="noStrike">
              <a:solidFill>
                <a:schemeClr val="accent5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b="0" i="0" sz="1600" u="none" cap="none" strike="noStrike">
              <a:solidFill>
                <a:schemeClr val="accent5"/>
              </a:solidFill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6329363" y="3826669"/>
            <a:ext cx="53625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Combinations</a:t>
            </a:r>
            <a:endParaRPr b="0" i="0" sz="1600" u="none" cap="none" strike="noStrike"/>
          </a:p>
        </p:txBody>
      </p:sp>
      <p:sp>
        <p:nvSpPr>
          <p:cNvPr id="458" name="Google Shape;458;p13"/>
          <p:cNvSpPr/>
          <p:nvPr/>
        </p:nvSpPr>
        <p:spPr>
          <a:xfrm>
            <a:off x="6276975" y="4055269"/>
            <a:ext cx="54673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 × 4 × 3 = 36</a:t>
            </a:r>
            <a:endParaRPr b="0" i="0" sz="1600" u="none" cap="none" strike="noStrike"/>
          </a:p>
        </p:txBody>
      </p:sp>
      <p:sp>
        <p:nvSpPr>
          <p:cNvPr id="459" name="Google Shape;459;p13"/>
          <p:cNvSpPr/>
          <p:nvPr/>
        </p:nvSpPr>
        <p:spPr>
          <a:xfrm>
            <a:off x="6367463" y="4555331"/>
            <a:ext cx="5286375" cy="428625"/>
          </a:xfrm>
          <a:custGeom>
            <a:rect b="b" l="l" r="r" t="t"/>
            <a:pathLst>
              <a:path extrusionOk="0" h="428625" w="5286375">
                <a:moveTo>
                  <a:pt x="76201" y="0"/>
                </a:moveTo>
                <a:lnTo>
                  <a:pt x="5210174" y="0"/>
                </a:lnTo>
                <a:cubicBezTo>
                  <a:pt x="5252259" y="0"/>
                  <a:pt x="5286375" y="34116"/>
                  <a:pt x="5286375" y="76201"/>
                </a:cubicBezTo>
                <a:lnTo>
                  <a:pt x="5286375" y="352424"/>
                </a:lnTo>
                <a:cubicBezTo>
                  <a:pt x="5286375" y="394509"/>
                  <a:pt x="5252259" y="428625"/>
                  <a:pt x="52101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127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3"/>
          <p:cNvSpPr/>
          <p:nvPr/>
        </p:nvSpPr>
        <p:spPr>
          <a:xfrm>
            <a:off x="6453188" y="4674394"/>
            <a:ext cx="5114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With 5-fold CV: </a:t>
            </a:r>
            <a:r>
              <a:rPr b="1" i="0" lang="en-US" sz="10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36 × 5 = 180 models</a:t>
            </a: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train!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4"/>
          <p:cNvSpPr/>
          <p:nvPr/>
        </p:nvSpPr>
        <p:spPr>
          <a:xfrm>
            <a:off x="381000" y="409575"/>
            <a:ext cx="286896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Hyperparameter Tuning Methods</a:t>
            </a:r>
            <a:endParaRPr b="0" i="0" sz="1600" u="none" cap="none" strike="noStrike"/>
          </a:p>
        </p:txBody>
      </p:sp>
      <p:sp>
        <p:nvSpPr>
          <p:cNvPr id="467" name="Google Shape;467;p14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Random Search: Efficient Exploration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68" name="Google Shape;468;p14"/>
          <p:cNvSpPr/>
          <p:nvPr/>
        </p:nvSpPr>
        <p:spPr>
          <a:xfrm>
            <a:off x="390525" y="1504950"/>
            <a:ext cx="5581650" cy="2686050"/>
          </a:xfrm>
          <a:custGeom>
            <a:rect b="b" l="l" r="r" t="t"/>
            <a:pathLst>
              <a:path extrusionOk="0" h="2686050" w="5581650">
                <a:moveTo>
                  <a:pt x="114291" y="0"/>
                </a:moveTo>
                <a:lnTo>
                  <a:pt x="5467359" y="0"/>
                </a:lnTo>
                <a:cubicBezTo>
                  <a:pt x="5530480" y="0"/>
                  <a:pt x="5581650" y="51170"/>
                  <a:pt x="5581650" y="114291"/>
                </a:cubicBezTo>
                <a:lnTo>
                  <a:pt x="5581650" y="2571759"/>
                </a:lnTo>
                <a:cubicBezTo>
                  <a:pt x="5581650" y="2634880"/>
                  <a:pt x="5530480" y="2686050"/>
                  <a:pt x="5467359" y="2686050"/>
                </a:cubicBezTo>
                <a:lnTo>
                  <a:pt x="114291" y="2686050"/>
                </a:lnTo>
                <a:cubicBezTo>
                  <a:pt x="51170" y="2686050"/>
                  <a:pt x="0" y="2634880"/>
                  <a:pt x="0" y="2571759"/>
                </a:cubicBezTo>
                <a:lnTo>
                  <a:pt x="0" y="114291"/>
                </a:lnTo>
                <a:cubicBezTo>
                  <a:pt x="0" y="51212"/>
                  <a:pt x="51212" y="0"/>
                  <a:pt x="114291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9" name="Google Shape;469;p14"/>
          <p:cNvSpPr/>
          <p:nvPr/>
        </p:nvSpPr>
        <p:spPr>
          <a:xfrm>
            <a:off x="590550" y="1704975"/>
            <a:ext cx="52768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443"/>
                </a:solidFill>
                <a:latin typeface="Liter"/>
                <a:ea typeface="Liter"/>
                <a:cs typeface="Liter"/>
                <a:sym typeface="Liter"/>
              </a:rPr>
              <a:t>How Random Search Works</a:t>
            </a:r>
            <a:endParaRPr b="0" i="0" sz="1600" u="none" cap="none" strike="noStrike"/>
          </a:p>
        </p:txBody>
      </p:sp>
      <p:sp>
        <p:nvSpPr>
          <p:cNvPr id="470" name="Google Shape;470;p14"/>
          <p:cNvSpPr/>
          <p:nvPr/>
        </p:nvSpPr>
        <p:spPr>
          <a:xfrm>
            <a:off x="590550" y="2085975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14"/>
          <p:cNvSpPr/>
          <p:nvPr/>
        </p:nvSpPr>
        <p:spPr>
          <a:xfrm>
            <a:off x="557213" y="20859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472" name="Google Shape;472;p14"/>
          <p:cNvSpPr/>
          <p:nvPr/>
        </p:nvSpPr>
        <p:spPr>
          <a:xfrm>
            <a:off x="971550" y="2085975"/>
            <a:ext cx="33147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Define Distributions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73" name="Google Shape;473;p14"/>
          <p:cNvSpPr/>
          <p:nvPr/>
        </p:nvSpPr>
        <p:spPr>
          <a:xfrm>
            <a:off x="971550" y="2314575"/>
            <a:ext cx="3305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Specify probability distributions for each hyperparameter</a:t>
            </a:r>
            <a:endParaRPr b="0" i="0" sz="1600" u="none" cap="none" strike="noStrike"/>
          </a:p>
        </p:txBody>
      </p:sp>
      <p:sp>
        <p:nvSpPr>
          <p:cNvPr id="474" name="Google Shape;474;p14"/>
          <p:cNvSpPr/>
          <p:nvPr/>
        </p:nvSpPr>
        <p:spPr>
          <a:xfrm>
            <a:off x="590550" y="2581275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4"/>
          <p:cNvSpPr/>
          <p:nvPr/>
        </p:nvSpPr>
        <p:spPr>
          <a:xfrm>
            <a:off x="557213" y="25812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476" name="Google Shape;476;p14"/>
          <p:cNvSpPr/>
          <p:nvPr/>
        </p:nvSpPr>
        <p:spPr>
          <a:xfrm>
            <a:off x="971550" y="2581275"/>
            <a:ext cx="2838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Sampling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77" name="Google Shape;477;p14"/>
          <p:cNvSpPr/>
          <p:nvPr/>
        </p:nvSpPr>
        <p:spPr>
          <a:xfrm>
            <a:off x="971550" y="2809875"/>
            <a:ext cx="28289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Randomly sample fixed number of combinations</a:t>
            </a:r>
            <a:endParaRPr b="0" i="0" sz="1600" u="none" cap="none" strike="noStrike"/>
          </a:p>
        </p:txBody>
      </p:sp>
      <p:sp>
        <p:nvSpPr>
          <p:cNvPr id="478" name="Google Shape;478;p14"/>
          <p:cNvSpPr/>
          <p:nvPr/>
        </p:nvSpPr>
        <p:spPr>
          <a:xfrm>
            <a:off x="590550" y="3076575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4"/>
          <p:cNvSpPr/>
          <p:nvPr/>
        </p:nvSpPr>
        <p:spPr>
          <a:xfrm>
            <a:off x="557213" y="30765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480" name="Google Shape;480;p14"/>
          <p:cNvSpPr/>
          <p:nvPr/>
        </p:nvSpPr>
        <p:spPr>
          <a:xfrm>
            <a:off x="971550" y="3076575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&amp; Evaluate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81" name="Google Shape;481;p14"/>
          <p:cNvSpPr/>
          <p:nvPr/>
        </p:nvSpPr>
        <p:spPr>
          <a:xfrm>
            <a:off x="971550" y="3305175"/>
            <a:ext cx="25050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model for each sampled combination</a:t>
            </a:r>
            <a:endParaRPr b="0" i="0" sz="1600" u="none" cap="none" strike="noStrike"/>
          </a:p>
        </p:txBody>
      </p:sp>
      <p:sp>
        <p:nvSpPr>
          <p:cNvPr id="482" name="Google Shape;482;p14"/>
          <p:cNvSpPr/>
          <p:nvPr/>
        </p:nvSpPr>
        <p:spPr>
          <a:xfrm>
            <a:off x="590550" y="3571875"/>
            <a:ext cx="266700" cy="266700"/>
          </a:xfrm>
          <a:custGeom>
            <a:rect b="b" l="l" r="r" t="t"/>
            <a:pathLst>
              <a:path extrusionOk="0" h="266700" w="266700">
                <a:moveTo>
                  <a:pt x="133350" y="0"/>
                </a:moveTo>
                <a:lnTo>
                  <a:pt x="133350" y="0"/>
                </a:lnTo>
                <a:cubicBezTo>
                  <a:pt x="206948" y="0"/>
                  <a:pt x="266700" y="59752"/>
                  <a:pt x="266700" y="133350"/>
                </a:cubicBezTo>
                <a:lnTo>
                  <a:pt x="266700" y="133350"/>
                </a:lnTo>
                <a:cubicBezTo>
                  <a:pt x="266700" y="206948"/>
                  <a:pt x="206948" y="266700"/>
                  <a:pt x="1333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14"/>
          <p:cNvSpPr/>
          <p:nvPr/>
        </p:nvSpPr>
        <p:spPr>
          <a:xfrm>
            <a:off x="557213" y="3571875"/>
            <a:ext cx="333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484" name="Google Shape;484;p14"/>
          <p:cNvSpPr/>
          <p:nvPr/>
        </p:nvSpPr>
        <p:spPr>
          <a:xfrm>
            <a:off x="971550" y="3571875"/>
            <a:ext cx="22002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Select Best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85" name="Google Shape;485;p14"/>
          <p:cNvSpPr/>
          <p:nvPr/>
        </p:nvSpPr>
        <p:spPr>
          <a:xfrm>
            <a:off x="971550" y="3800475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Choose best performing combination</a:t>
            </a:r>
            <a:endParaRPr b="0" i="0" sz="1600" u="none" cap="none" strike="noStrike"/>
          </a:p>
        </p:txBody>
      </p:sp>
      <p:sp>
        <p:nvSpPr>
          <p:cNvPr id="486" name="Google Shape;486;p14"/>
          <p:cNvSpPr/>
          <p:nvPr/>
        </p:nvSpPr>
        <p:spPr>
          <a:xfrm>
            <a:off x="390525" y="4362450"/>
            <a:ext cx="2724150" cy="1504950"/>
          </a:xfrm>
          <a:custGeom>
            <a:rect b="b" l="l" r="r" t="t"/>
            <a:pathLst>
              <a:path extrusionOk="0" h="1504950" w="2724150">
                <a:moveTo>
                  <a:pt x="114301" y="0"/>
                </a:moveTo>
                <a:lnTo>
                  <a:pt x="2609849" y="0"/>
                </a:lnTo>
                <a:cubicBezTo>
                  <a:pt x="2672976" y="0"/>
                  <a:pt x="2724150" y="51174"/>
                  <a:pt x="2724150" y="114301"/>
                </a:cubicBezTo>
                <a:lnTo>
                  <a:pt x="2724150" y="1390649"/>
                </a:lnTo>
                <a:cubicBezTo>
                  <a:pt x="2724150" y="1453776"/>
                  <a:pt x="2672976" y="1504950"/>
                  <a:pt x="26098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4"/>
          <p:cNvSpPr/>
          <p:nvPr/>
        </p:nvSpPr>
        <p:spPr>
          <a:xfrm>
            <a:off x="576263" y="45529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14"/>
          <p:cNvSpPr/>
          <p:nvPr/>
        </p:nvSpPr>
        <p:spPr>
          <a:xfrm>
            <a:off x="842963" y="4524375"/>
            <a:ext cx="876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Advantages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89" name="Google Shape;489;p14"/>
          <p:cNvSpPr/>
          <p:nvPr/>
        </p:nvSpPr>
        <p:spPr>
          <a:xfrm>
            <a:off x="552450" y="48291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Much faster than Grid Search</a:t>
            </a:r>
            <a:endParaRPr b="0" i="0" sz="1600" u="none" cap="none" strike="noStrike"/>
          </a:p>
        </p:txBody>
      </p:sp>
      <p:sp>
        <p:nvSpPr>
          <p:cNvPr id="490" name="Google Shape;490;p14"/>
          <p:cNvSpPr/>
          <p:nvPr/>
        </p:nvSpPr>
        <p:spPr>
          <a:xfrm>
            <a:off x="552450" y="50577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Better for high-dimensional spaces</a:t>
            </a:r>
            <a:endParaRPr b="0" i="0" sz="1600" u="none" cap="none" strike="noStrike"/>
          </a:p>
        </p:txBody>
      </p:sp>
      <p:sp>
        <p:nvSpPr>
          <p:cNvPr id="491" name="Google Shape;491;p14"/>
          <p:cNvSpPr/>
          <p:nvPr/>
        </p:nvSpPr>
        <p:spPr>
          <a:xfrm>
            <a:off x="552450" y="52863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Often finds good solutions quickly</a:t>
            </a:r>
            <a:endParaRPr b="0" i="0" sz="1600" u="none" cap="none" strike="noStrike"/>
          </a:p>
        </p:txBody>
      </p:sp>
      <p:sp>
        <p:nvSpPr>
          <p:cNvPr id="492" name="Google Shape;492;p14"/>
          <p:cNvSpPr/>
          <p:nvPr/>
        </p:nvSpPr>
        <p:spPr>
          <a:xfrm>
            <a:off x="552450" y="55149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Can use continuous distributions</a:t>
            </a:r>
            <a:endParaRPr b="0" i="0" sz="1600" u="none" cap="none" strike="noStrike"/>
          </a:p>
        </p:txBody>
      </p:sp>
      <p:sp>
        <p:nvSpPr>
          <p:cNvPr id="493" name="Google Shape;493;p14"/>
          <p:cNvSpPr/>
          <p:nvPr/>
        </p:nvSpPr>
        <p:spPr>
          <a:xfrm>
            <a:off x="3248025" y="4362450"/>
            <a:ext cx="2724150" cy="1504950"/>
          </a:xfrm>
          <a:custGeom>
            <a:rect b="b" l="l" r="r" t="t"/>
            <a:pathLst>
              <a:path extrusionOk="0" h="1504950" w="2724150">
                <a:moveTo>
                  <a:pt x="114301" y="0"/>
                </a:moveTo>
                <a:lnTo>
                  <a:pt x="2609849" y="0"/>
                </a:lnTo>
                <a:cubicBezTo>
                  <a:pt x="2672976" y="0"/>
                  <a:pt x="2724150" y="51174"/>
                  <a:pt x="2724150" y="114301"/>
                </a:cubicBezTo>
                <a:lnTo>
                  <a:pt x="2724150" y="1390649"/>
                </a:lnTo>
                <a:cubicBezTo>
                  <a:pt x="2724150" y="1453776"/>
                  <a:pt x="2672976" y="1504950"/>
                  <a:pt x="2609849" y="1504950"/>
                </a:cubicBezTo>
                <a:lnTo>
                  <a:pt x="114301" y="1504950"/>
                </a:lnTo>
                <a:cubicBezTo>
                  <a:pt x="51174" y="1504950"/>
                  <a:pt x="0" y="1453776"/>
                  <a:pt x="0" y="13906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8A9BA8">
              <a:alpha val="9803"/>
            </a:srgbClr>
          </a:solidFill>
          <a:ln cap="flat" cmpd="sng" w="25400">
            <a:solidFill>
              <a:srgbClr val="8A9B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14"/>
          <p:cNvSpPr/>
          <p:nvPr/>
        </p:nvSpPr>
        <p:spPr>
          <a:xfrm>
            <a:off x="3433763" y="4552950"/>
            <a:ext cx="171450" cy="171450"/>
          </a:xfrm>
          <a:custGeom>
            <a:rect b="b" l="l" r="r" t="t"/>
            <a:pathLst>
              <a:path extrusionOk="0" h="171450" w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8A9BA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4"/>
          <p:cNvSpPr/>
          <p:nvPr/>
        </p:nvSpPr>
        <p:spPr>
          <a:xfrm>
            <a:off x="3700463" y="4524375"/>
            <a:ext cx="1066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Disadvantages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496" name="Google Shape;496;p14"/>
          <p:cNvSpPr/>
          <p:nvPr/>
        </p:nvSpPr>
        <p:spPr>
          <a:xfrm>
            <a:off x="3409950" y="48291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Might miss optimal combination</a:t>
            </a:r>
            <a:endParaRPr b="0" i="0" sz="1600" u="none" cap="none" strike="noStrike"/>
          </a:p>
        </p:txBody>
      </p:sp>
      <p:sp>
        <p:nvSpPr>
          <p:cNvPr id="497" name="Google Shape;497;p14"/>
          <p:cNvSpPr/>
          <p:nvPr/>
        </p:nvSpPr>
        <p:spPr>
          <a:xfrm>
            <a:off x="3409950" y="50577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Requires specifying distributions</a:t>
            </a:r>
            <a:endParaRPr b="0" i="0" sz="1600" u="none" cap="none" strike="noStrike"/>
          </a:p>
        </p:txBody>
      </p:sp>
      <p:sp>
        <p:nvSpPr>
          <p:cNvPr id="498" name="Google Shape;498;p14"/>
          <p:cNvSpPr/>
          <p:nvPr/>
        </p:nvSpPr>
        <p:spPr>
          <a:xfrm>
            <a:off x="3409950" y="52863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Less systematic than Grid Search</a:t>
            </a:r>
            <a:endParaRPr b="0" i="0" sz="1600" u="none" cap="none" strike="noStrike"/>
          </a:p>
        </p:txBody>
      </p:sp>
      <p:sp>
        <p:nvSpPr>
          <p:cNvPr id="499" name="Google Shape;499;p14"/>
          <p:cNvSpPr/>
          <p:nvPr/>
        </p:nvSpPr>
        <p:spPr>
          <a:xfrm>
            <a:off x="3409950" y="5514975"/>
            <a:ext cx="2466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Results vary between runs</a:t>
            </a:r>
            <a:endParaRPr b="0" i="0" sz="1600" u="none" cap="none" strike="noStrike"/>
          </a:p>
        </p:txBody>
      </p:sp>
      <p:sp>
        <p:nvSpPr>
          <p:cNvPr id="500" name="Google Shape;500;p14"/>
          <p:cNvSpPr/>
          <p:nvPr/>
        </p:nvSpPr>
        <p:spPr>
          <a:xfrm>
            <a:off x="6210300" y="1219200"/>
            <a:ext cx="5600700" cy="3352800"/>
          </a:xfrm>
          <a:custGeom>
            <a:rect b="b" l="l" r="r" t="t"/>
            <a:pathLst>
              <a:path extrusionOk="0" h="3352800" w="5600700">
                <a:moveTo>
                  <a:pt x="114297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3238503"/>
                </a:lnTo>
                <a:cubicBezTo>
                  <a:pt x="5600700" y="3301628"/>
                  <a:pt x="5549528" y="3352800"/>
                  <a:pt x="5486403" y="3352800"/>
                </a:cubicBezTo>
                <a:lnTo>
                  <a:pt x="114297" y="3352800"/>
                </a:lnTo>
                <a:cubicBezTo>
                  <a:pt x="51172" y="3352800"/>
                  <a:pt x="0" y="3301628"/>
                  <a:pt x="0" y="3238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4"/>
          <p:cNvSpPr/>
          <p:nvPr/>
        </p:nvSpPr>
        <p:spPr>
          <a:xfrm>
            <a:off x="6319838" y="1371600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Grid Search vs Random Search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pic>
        <p:nvPicPr>
          <p:cNvPr descr="https://kimi-img.moonshot.cn/pub/slides/26-01-26-13:42:16-d5rfte5kbg75dlj0l76g.png" id="502" name="Google Shape;50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0" y="1752600"/>
            <a:ext cx="5295900" cy="26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03" name="Google Shape;503;p14"/>
          <p:cNvSpPr/>
          <p:nvPr/>
        </p:nvSpPr>
        <p:spPr>
          <a:xfrm>
            <a:off x="6219825" y="4733925"/>
            <a:ext cx="5581650" cy="1409700"/>
          </a:xfrm>
          <a:custGeom>
            <a:rect b="b" l="l" r="r" t="t"/>
            <a:pathLst>
              <a:path extrusionOk="0" h="1409700" w="5581650">
                <a:moveTo>
                  <a:pt x="114298" y="0"/>
                </a:moveTo>
                <a:lnTo>
                  <a:pt x="5467352" y="0"/>
                </a:lnTo>
                <a:cubicBezTo>
                  <a:pt x="5530477" y="0"/>
                  <a:pt x="5581650" y="51173"/>
                  <a:pt x="5581650" y="114298"/>
                </a:cubicBezTo>
                <a:lnTo>
                  <a:pt x="5581650" y="1295402"/>
                </a:lnTo>
                <a:cubicBezTo>
                  <a:pt x="5581650" y="1358527"/>
                  <a:pt x="5530477" y="1409700"/>
                  <a:pt x="5467352" y="1409700"/>
                </a:cubicBezTo>
                <a:lnTo>
                  <a:pt x="114298" y="1409700"/>
                </a:lnTo>
                <a:cubicBezTo>
                  <a:pt x="51173" y="1409700"/>
                  <a:pt x="0" y="1358527"/>
                  <a:pt x="0" y="1295402"/>
                </a:cubicBezTo>
                <a:lnTo>
                  <a:pt x="0" y="114298"/>
                </a:lnTo>
                <a:cubicBezTo>
                  <a:pt x="0" y="51173"/>
                  <a:pt x="51173" y="0"/>
                  <a:pt x="114298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4"/>
          <p:cNvSpPr/>
          <p:nvPr/>
        </p:nvSpPr>
        <p:spPr>
          <a:xfrm>
            <a:off x="6429375" y="4933950"/>
            <a:ext cx="142875" cy="190500"/>
          </a:xfrm>
          <a:custGeom>
            <a:rect b="b" l="l" r="r" t="t"/>
            <a:pathLst>
              <a:path extrusionOk="0" h="190500" w="142875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4"/>
          <p:cNvSpPr/>
          <p:nvPr/>
        </p:nvSpPr>
        <p:spPr>
          <a:xfrm>
            <a:off x="6734175" y="4895850"/>
            <a:ext cx="1714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Key Research Finding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06" name="Google Shape;506;p14"/>
          <p:cNvSpPr/>
          <p:nvPr/>
        </p:nvSpPr>
        <p:spPr>
          <a:xfrm>
            <a:off x="6381750" y="5238750"/>
            <a:ext cx="53340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Studies show that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Search often finds optimal or near-optimal solutions much faster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than Grid Search, especially when some hyperparameters are more important than others.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15"/>
          <p:cNvSpPr/>
          <p:nvPr/>
        </p:nvSpPr>
        <p:spPr>
          <a:xfrm>
            <a:off x="363940" y="391236"/>
            <a:ext cx="1508646" cy="16377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Validation</a:t>
            </a:r>
            <a:endParaRPr b="0" i="0" sz="1600" u="none" cap="none" strike="noStrike"/>
          </a:p>
        </p:txBody>
      </p:sp>
      <p:sp>
        <p:nvSpPr>
          <p:cNvPr id="513" name="Google Shape;513;p15"/>
          <p:cNvSpPr/>
          <p:nvPr/>
        </p:nvSpPr>
        <p:spPr>
          <a:xfrm>
            <a:off x="363940" y="655093"/>
            <a:ext cx="11627893" cy="3639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79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Cross-Validation: Your Safety Net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14" name="Google Shape;514;p15"/>
          <p:cNvSpPr/>
          <p:nvPr/>
        </p:nvSpPr>
        <p:spPr>
          <a:xfrm>
            <a:off x="373039" y="1173707"/>
            <a:ext cx="5604681" cy="2693158"/>
          </a:xfrm>
          <a:custGeom>
            <a:rect b="b" l="l" r="r" t="t"/>
            <a:pathLst>
              <a:path extrusionOk="0" h="2693158" w="5604681">
                <a:moveTo>
                  <a:pt x="109181" y="0"/>
                </a:moveTo>
                <a:lnTo>
                  <a:pt x="5495500" y="0"/>
                </a:lnTo>
                <a:cubicBezTo>
                  <a:pt x="5555799" y="0"/>
                  <a:pt x="5604681" y="48882"/>
                  <a:pt x="5604681" y="109181"/>
                </a:cubicBezTo>
                <a:lnTo>
                  <a:pt x="5604681" y="2583978"/>
                </a:lnTo>
                <a:cubicBezTo>
                  <a:pt x="5604681" y="2644276"/>
                  <a:pt x="5555799" y="2693158"/>
                  <a:pt x="5495500" y="2693158"/>
                </a:cubicBezTo>
                <a:lnTo>
                  <a:pt x="109181" y="2693158"/>
                </a:lnTo>
                <a:cubicBezTo>
                  <a:pt x="48882" y="2693158"/>
                  <a:pt x="0" y="2644276"/>
                  <a:pt x="0" y="2583978"/>
                </a:cubicBezTo>
                <a:lnTo>
                  <a:pt x="0" y="109181"/>
                </a:lnTo>
                <a:cubicBezTo>
                  <a:pt x="0" y="48922"/>
                  <a:pt x="48922" y="0"/>
                  <a:pt x="109181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564107" y="1364776"/>
            <a:ext cx="531352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33" u="none" cap="none" strike="noStrike">
                <a:solidFill>
                  <a:srgbClr val="5C7A9E"/>
                </a:solidFill>
                <a:latin typeface="Liter"/>
                <a:ea typeface="Liter"/>
                <a:cs typeface="Liter"/>
                <a:sym typeface="Liter"/>
              </a:rPr>
              <a:t>What is Cross-Validation?</a:t>
            </a:r>
            <a:endParaRPr b="0" i="0" sz="1600" u="none" cap="none" strike="noStrike"/>
          </a:p>
        </p:txBody>
      </p:sp>
      <p:sp>
        <p:nvSpPr>
          <p:cNvPr id="516" name="Google Shape;516;p15"/>
          <p:cNvSpPr/>
          <p:nvPr/>
        </p:nvSpPr>
        <p:spPr>
          <a:xfrm>
            <a:off x="564107" y="1728716"/>
            <a:ext cx="5295331" cy="7096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Cross-validation is a technique that </a:t>
            </a:r>
            <a:r>
              <a:rPr b="1" i="0" lang="en-US" sz="1146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splits data into multiple folds</a:t>
            </a:r>
            <a:r>
              <a:rPr b="0" i="0" lang="en-US" sz="11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and systematically trains/test the model on different subsets to ensure robust performance estimates.</a:t>
            </a:r>
            <a:endParaRPr b="0" i="0" sz="1600" u="none" cap="none" strike="noStrike"/>
          </a:p>
        </p:txBody>
      </p:sp>
      <p:sp>
        <p:nvSpPr>
          <p:cNvPr id="517" name="Google Shape;517;p15"/>
          <p:cNvSpPr/>
          <p:nvPr/>
        </p:nvSpPr>
        <p:spPr>
          <a:xfrm>
            <a:off x="564107" y="2547582"/>
            <a:ext cx="5295331" cy="21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Why Use CV?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18" name="Google Shape;518;p15"/>
          <p:cNvSpPr/>
          <p:nvPr/>
        </p:nvSpPr>
        <p:spPr>
          <a:xfrm>
            <a:off x="564107" y="2838734"/>
            <a:ext cx="5286233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More reliable than single train/test split</a:t>
            </a:r>
            <a:endParaRPr b="0" i="0" sz="1600" u="none" cap="none" strike="noStrike"/>
          </a:p>
        </p:txBody>
      </p:sp>
      <p:sp>
        <p:nvSpPr>
          <p:cNvPr id="519" name="Google Shape;519;p15"/>
          <p:cNvSpPr/>
          <p:nvPr/>
        </p:nvSpPr>
        <p:spPr>
          <a:xfrm>
            <a:off x="564107" y="3057099"/>
            <a:ext cx="5286233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Prevents overfitting during tuning</a:t>
            </a:r>
            <a:endParaRPr b="0" i="0" sz="1600" u="none" cap="none" strike="noStrike"/>
          </a:p>
        </p:txBody>
      </p:sp>
      <p:sp>
        <p:nvSpPr>
          <p:cNvPr id="520" name="Google Shape;520;p15"/>
          <p:cNvSpPr/>
          <p:nvPr/>
        </p:nvSpPr>
        <p:spPr>
          <a:xfrm>
            <a:off x="564107" y="3275463"/>
            <a:ext cx="5286233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Uses data more efficiently</a:t>
            </a:r>
            <a:endParaRPr b="0" i="0" sz="1600" u="none" cap="none" strike="noStrike"/>
          </a:p>
        </p:txBody>
      </p:sp>
      <p:sp>
        <p:nvSpPr>
          <p:cNvPr id="521" name="Google Shape;521;p15"/>
          <p:cNvSpPr/>
          <p:nvPr/>
        </p:nvSpPr>
        <p:spPr>
          <a:xfrm>
            <a:off x="564107" y="3493827"/>
            <a:ext cx="5286233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Provides confidence intervals</a:t>
            </a:r>
            <a:endParaRPr b="0" i="0" sz="1600" u="none" cap="none" strike="noStrike"/>
          </a:p>
        </p:txBody>
      </p:sp>
      <p:sp>
        <p:nvSpPr>
          <p:cNvPr id="522" name="Google Shape;522;p15"/>
          <p:cNvSpPr/>
          <p:nvPr/>
        </p:nvSpPr>
        <p:spPr>
          <a:xfrm>
            <a:off x="363940" y="4021540"/>
            <a:ext cx="5622878" cy="2474794"/>
          </a:xfrm>
          <a:custGeom>
            <a:rect b="b" l="l" r="r" t="t"/>
            <a:pathLst>
              <a:path extrusionOk="0" h="2474794" w="5622878">
                <a:moveTo>
                  <a:pt x="109188" y="0"/>
                </a:moveTo>
                <a:lnTo>
                  <a:pt x="5513690" y="0"/>
                </a:lnTo>
                <a:cubicBezTo>
                  <a:pt x="5573993" y="0"/>
                  <a:pt x="5622878" y="48885"/>
                  <a:pt x="5622878" y="109188"/>
                </a:cubicBezTo>
                <a:lnTo>
                  <a:pt x="5622878" y="2365606"/>
                </a:lnTo>
                <a:cubicBezTo>
                  <a:pt x="5622878" y="2425909"/>
                  <a:pt x="5573993" y="2474794"/>
                  <a:pt x="5513690" y="2474794"/>
                </a:cubicBezTo>
                <a:lnTo>
                  <a:pt x="109188" y="2474794"/>
                </a:lnTo>
                <a:cubicBezTo>
                  <a:pt x="48885" y="2474794"/>
                  <a:pt x="0" y="2425909"/>
                  <a:pt x="0" y="2365606"/>
                </a:cubicBezTo>
                <a:lnTo>
                  <a:pt x="0" y="109188"/>
                </a:lnTo>
                <a:cubicBezTo>
                  <a:pt x="0" y="48925"/>
                  <a:pt x="48925" y="0"/>
                  <a:pt x="109188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509516" y="4167116"/>
            <a:ext cx="5413612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K-Fold CV Process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24" name="Google Shape;524;p15"/>
          <p:cNvSpPr/>
          <p:nvPr/>
        </p:nvSpPr>
        <p:spPr>
          <a:xfrm>
            <a:off x="509516" y="4531057"/>
            <a:ext cx="254758" cy="254758"/>
          </a:xfrm>
          <a:custGeom>
            <a:rect b="b" l="l" r="r" t="t"/>
            <a:pathLst>
              <a:path extrusionOk="0" h="254758" w="254758">
                <a:moveTo>
                  <a:pt x="127379" y="0"/>
                </a:moveTo>
                <a:lnTo>
                  <a:pt x="127379" y="0"/>
                </a:lnTo>
                <a:cubicBezTo>
                  <a:pt x="197729" y="0"/>
                  <a:pt x="254758" y="57030"/>
                  <a:pt x="254758" y="127379"/>
                </a:cubicBezTo>
                <a:lnTo>
                  <a:pt x="254758" y="127379"/>
                </a:lnTo>
                <a:cubicBezTo>
                  <a:pt x="254758" y="197729"/>
                  <a:pt x="197729" y="254758"/>
                  <a:pt x="127379" y="254758"/>
                </a:cubicBezTo>
                <a:lnTo>
                  <a:pt x="127379" y="254758"/>
                </a:lnTo>
                <a:cubicBezTo>
                  <a:pt x="57030" y="254758"/>
                  <a:pt x="0" y="197729"/>
                  <a:pt x="0" y="127379"/>
                </a:cubicBezTo>
                <a:lnTo>
                  <a:pt x="0" y="127379"/>
                </a:lnTo>
                <a:cubicBezTo>
                  <a:pt x="0" y="57030"/>
                  <a:pt x="57030" y="0"/>
                  <a:pt x="127379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477672" y="4531057"/>
            <a:ext cx="31844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600" u="none" cap="none" strike="noStrike"/>
          </a:p>
        </p:txBody>
      </p:sp>
      <p:sp>
        <p:nvSpPr>
          <p:cNvPr id="526" name="Google Shape;526;p15"/>
          <p:cNvSpPr/>
          <p:nvPr/>
        </p:nvSpPr>
        <p:spPr>
          <a:xfrm>
            <a:off x="873457" y="4531057"/>
            <a:ext cx="1364776" cy="21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Split Data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27" name="Google Shape;527;p15"/>
          <p:cNvSpPr/>
          <p:nvPr/>
        </p:nvSpPr>
        <p:spPr>
          <a:xfrm>
            <a:off x="873457" y="4749421"/>
            <a:ext cx="1355678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Divide into k equal folds</a:t>
            </a:r>
            <a:endParaRPr b="0" i="0" sz="1600" u="none" cap="none" strike="noStrike"/>
          </a:p>
        </p:txBody>
      </p:sp>
      <p:sp>
        <p:nvSpPr>
          <p:cNvPr id="528" name="Google Shape;528;p15"/>
          <p:cNvSpPr/>
          <p:nvPr/>
        </p:nvSpPr>
        <p:spPr>
          <a:xfrm>
            <a:off x="509516" y="5004179"/>
            <a:ext cx="254758" cy="254758"/>
          </a:xfrm>
          <a:custGeom>
            <a:rect b="b" l="l" r="r" t="t"/>
            <a:pathLst>
              <a:path extrusionOk="0" h="254758" w="254758">
                <a:moveTo>
                  <a:pt x="127379" y="0"/>
                </a:moveTo>
                <a:lnTo>
                  <a:pt x="127379" y="0"/>
                </a:lnTo>
                <a:cubicBezTo>
                  <a:pt x="197729" y="0"/>
                  <a:pt x="254758" y="57030"/>
                  <a:pt x="254758" y="127379"/>
                </a:cubicBezTo>
                <a:lnTo>
                  <a:pt x="254758" y="127379"/>
                </a:lnTo>
                <a:cubicBezTo>
                  <a:pt x="254758" y="197729"/>
                  <a:pt x="197729" y="254758"/>
                  <a:pt x="127379" y="254758"/>
                </a:cubicBezTo>
                <a:lnTo>
                  <a:pt x="127379" y="254758"/>
                </a:lnTo>
                <a:cubicBezTo>
                  <a:pt x="57030" y="254758"/>
                  <a:pt x="0" y="197729"/>
                  <a:pt x="0" y="127379"/>
                </a:cubicBezTo>
                <a:lnTo>
                  <a:pt x="0" y="127379"/>
                </a:lnTo>
                <a:cubicBezTo>
                  <a:pt x="0" y="57030"/>
                  <a:pt x="57030" y="0"/>
                  <a:pt x="127379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477672" y="5004179"/>
            <a:ext cx="31844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600" u="none" cap="none" strike="noStrike"/>
          </a:p>
        </p:txBody>
      </p:sp>
      <p:sp>
        <p:nvSpPr>
          <p:cNvPr id="530" name="Google Shape;530;p15"/>
          <p:cNvSpPr/>
          <p:nvPr/>
        </p:nvSpPr>
        <p:spPr>
          <a:xfrm>
            <a:off x="873457" y="5004179"/>
            <a:ext cx="2220036" cy="21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&amp; Validate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31" name="Google Shape;531;p15"/>
          <p:cNvSpPr/>
          <p:nvPr/>
        </p:nvSpPr>
        <p:spPr>
          <a:xfrm>
            <a:off x="873457" y="5222543"/>
            <a:ext cx="2210937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Train on k-1 folds, validate on remaining</a:t>
            </a:r>
            <a:endParaRPr b="0" i="0" sz="1600" u="none" cap="none" strike="noStrike"/>
          </a:p>
        </p:txBody>
      </p:sp>
      <p:sp>
        <p:nvSpPr>
          <p:cNvPr id="532" name="Google Shape;532;p15"/>
          <p:cNvSpPr/>
          <p:nvPr/>
        </p:nvSpPr>
        <p:spPr>
          <a:xfrm>
            <a:off x="509516" y="5477301"/>
            <a:ext cx="254758" cy="254758"/>
          </a:xfrm>
          <a:custGeom>
            <a:rect b="b" l="l" r="r" t="t"/>
            <a:pathLst>
              <a:path extrusionOk="0" h="254758" w="254758">
                <a:moveTo>
                  <a:pt x="127379" y="0"/>
                </a:moveTo>
                <a:lnTo>
                  <a:pt x="127379" y="0"/>
                </a:lnTo>
                <a:cubicBezTo>
                  <a:pt x="197729" y="0"/>
                  <a:pt x="254758" y="57030"/>
                  <a:pt x="254758" y="127379"/>
                </a:cubicBezTo>
                <a:lnTo>
                  <a:pt x="254758" y="127379"/>
                </a:lnTo>
                <a:cubicBezTo>
                  <a:pt x="254758" y="197729"/>
                  <a:pt x="197729" y="254758"/>
                  <a:pt x="127379" y="254758"/>
                </a:cubicBezTo>
                <a:lnTo>
                  <a:pt x="127379" y="254758"/>
                </a:lnTo>
                <a:cubicBezTo>
                  <a:pt x="57030" y="254758"/>
                  <a:pt x="0" y="197729"/>
                  <a:pt x="0" y="127379"/>
                </a:cubicBezTo>
                <a:lnTo>
                  <a:pt x="0" y="127379"/>
                </a:lnTo>
                <a:cubicBezTo>
                  <a:pt x="0" y="57030"/>
                  <a:pt x="57030" y="0"/>
                  <a:pt x="127379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477672" y="5477301"/>
            <a:ext cx="31844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600" u="none" cap="none" strike="noStrike"/>
          </a:p>
        </p:txBody>
      </p:sp>
      <p:sp>
        <p:nvSpPr>
          <p:cNvPr id="534" name="Google Shape;534;p15"/>
          <p:cNvSpPr/>
          <p:nvPr/>
        </p:nvSpPr>
        <p:spPr>
          <a:xfrm>
            <a:off x="873457" y="5477301"/>
            <a:ext cx="1947081" cy="21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Repeat K Times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35" name="Google Shape;535;p15"/>
          <p:cNvSpPr/>
          <p:nvPr/>
        </p:nvSpPr>
        <p:spPr>
          <a:xfrm>
            <a:off x="873457" y="5695666"/>
            <a:ext cx="1937982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Each fold serves as validation once</a:t>
            </a:r>
            <a:endParaRPr b="0" i="0" sz="1600" u="none" cap="none" strike="noStrike"/>
          </a:p>
        </p:txBody>
      </p:sp>
      <p:sp>
        <p:nvSpPr>
          <p:cNvPr id="536" name="Google Shape;536;p15"/>
          <p:cNvSpPr/>
          <p:nvPr/>
        </p:nvSpPr>
        <p:spPr>
          <a:xfrm>
            <a:off x="509516" y="5950424"/>
            <a:ext cx="254758" cy="254758"/>
          </a:xfrm>
          <a:custGeom>
            <a:rect b="b" l="l" r="r" t="t"/>
            <a:pathLst>
              <a:path extrusionOk="0" h="254758" w="254758">
                <a:moveTo>
                  <a:pt x="127379" y="0"/>
                </a:moveTo>
                <a:lnTo>
                  <a:pt x="127379" y="0"/>
                </a:lnTo>
                <a:cubicBezTo>
                  <a:pt x="197729" y="0"/>
                  <a:pt x="254758" y="57030"/>
                  <a:pt x="254758" y="127379"/>
                </a:cubicBezTo>
                <a:lnTo>
                  <a:pt x="254758" y="127379"/>
                </a:lnTo>
                <a:cubicBezTo>
                  <a:pt x="254758" y="197729"/>
                  <a:pt x="197729" y="254758"/>
                  <a:pt x="127379" y="254758"/>
                </a:cubicBezTo>
                <a:lnTo>
                  <a:pt x="127379" y="254758"/>
                </a:lnTo>
                <a:cubicBezTo>
                  <a:pt x="57030" y="254758"/>
                  <a:pt x="0" y="197729"/>
                  <a:pt x="0" y="127379"/>
                </a:cubicBezTo>
                <a:lnTo>
                  <a:pt x="0" y="127379"/>
                </a:lnTo>
                <a:cubicBezTo>
                  <a:pt x="0" y="57030"/>
                  <a:pt x="57030" y="0"/>
                  <a:pt x="127379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477672" y="5950424"/>
            <a:ext cx="31844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3" u="none" cap="none" strike="noStrike">
                <a:solidFill>
                  <a:srgbClr val="1A1D2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600" u="none" cap="none" strike="noStrike"/>
          </a:p>
        </p:txBody>
      </p:sp>
      <p:sp>
        <p:nvSpPr>
          <p:cNvPr id="538" name="Google Shape;538;p15"/>
          <p:cNvSpPr/>
          <p:nvPr/>
        </p:nvSpPr>
        <p:spPr>
          <a:xfrm>
            <a:off x="873457" y="5950424"/>
            <a:ext cx="2329218" cy="2183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46" u="none" cap="none" strike="noStrike">
                <a:solidFill>
                  <a:schemeClr val="accent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Average Results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39" name="Google Shape;539;p15"/>
          <p:cNvSpPr/>
          <p:nvPr/>
        </p:nvSpPr>
        <p:spPr>
          <a:xfrm>
            <a:off x="873457" y="6168788"/>
            <a:ext cx="2320119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Compute mean performance across folds</a:t>
            </a:r>
            <a:endParaRPr b="0" i="0" sz="1600" u="none" cap="none" strike="noStrike"/>
          </a:p>
        </p:txBody>
      </p:sp>
      <p:sp>
        <p:nvSpPr>
          <p:cNvPr id="540" name="Google Shape;540;p15"/>
          <p:cNvSpPr/>
          <p:nvPr/>
        </p:nvSpPr>
        <p:spPr>
          <a:xfrm>
            <a:off x="6207172" y="1574042"/>
            <a:ext cx="5622878" cy="2474794"/>
          </a:xfrm>
          <a:custGeom>
            <a:rect b="b" l="l" r="r" t="t"/>
            <a:pathLst>
              <a:path extrusionOk="0" h="2474794" w="5622878">
                <a:moveTo>
                  <a:pt x="109188" y="0"/>
                </a:moveTo>
                <a:lnTo>
                  <a:pt x="5513690" y="0"/>
                </a:lnTo>
                <a:cubicBezTo>
                  <a:pt x="5573993" y="0"/>
                  <a:pt x="5622878" y="48885"/>
                  <a:pt x="5622878" y="109188"/>
                </a:cubicBezTo>
                <a:lnTo>
                  <a:pt x="5622878" y="2365606"/>
                </a:lnTo>
                <a:cubicBezTo>
                  <a:pt x="5622878" y="2425909"/>
                  <a:pt x="5573993" y="2474794"/>
                  <a:pt x="5513690" y="2474794"/>
                </a:cubicBezTo>
                <a:lnTo>
                  <a:pt x="109188" y="2474794"/>
                </a:lnTo>
                <a:cubicBezTo>
                  <a:pt x="48885" y="2474794"/>
                  <a:pt x="0" y="2425909"/>
                  <a:pt x="0" y="2365606"/>
                </a:cubicBezTo>
                <a:lnTo>
                  <a:pt x="0" y="109188"/>
                </a:lnTo>
                <a:cubicBezTo>
                  <a:pt x="0" y="48925"/>
                  <a:pt x="48925" y="0"/>
                  <a:pt x="109188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6311805" y="1719618"/>
            <a:ext cx="5413612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5-Fold Cross-Validation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pic>
        <p:nvPicPr>
          <p:cNvPr descr="https://kimi-img.moonshot.cn/pub/slides/26-01-26-13:42:16-d5rfte4omnmet96e1urg.png" id="542" name="Google Shape;54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2749" y="2083558"/>
            <a:ext cx="5058770" cy="1819701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43" name="Google Shape;543;p15"/>
          <p:cNvSpPr/>
          <p:nvPr/>
        </p:nvSpPr>
        <p:spPr>
          <a:xfrm>
            <a:off x="6216271" y="4203510"/>
            <a:ext cx="5604681" cy="1874293"/>
          </a:xfrm>
          <a:custGeom>
            <a:rect b="b" l="l" r="r" t="t"/>
            <a:pathLst>
              <a:path extrusionOk="0" h="1874293" w="5604681">
                <a:moveTo>
                  <a:pt x="109178" y="0"/>
                </a:moveTo>
                <a:lnTo>
                  <a:pt x="5495503" y="0"/>
                </a:lnTo>
                <a:cubicBezTo>
                  <a:pt x="5555800" y="0"/>
                  <a:pt x="5604681" y="48880"/>
                  <a:pt x="5604681" y="109178"/>
                </a:cubicBezTo>
                <a:lnTo>
                  <a:pt x="5604681" y="1765115"/>
                </a:lnTo>
                <a:cubicBezTo>
                  <a:pt x="5604681" y="1825412"/>
                  <a:pt x="5555800" y="1874293"/>
                  <a:pt x="5495503" y="1874293"/>
                </a:cubicBezTo>
                <a:lnTo>
                  <a:pt x="109178" y="1874293"/>
                </a:lnTo>
                <a:cubicBezTo>
                  <a:pt x="48880" y="1874293"/>
                  <a:pt x="0" y="1825412"/>
                  <a:pt x="0" y="1765115"/>
                </a:cubicBezTo>
                <a:lnTo>
                  <a:pt x="0" y="109178"/>
                </a:lnTo>
                <a:cubicBezTo>
                  <a:pt x="0" y="48921"/>
                  <a:pt x="48921" y="0"/>
                  <a:pt x="109178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6370946" y="4394579"/>
            <a:ext cx="227463" cy="181970"/>
          </a:xfrm>
          <a:custGeom>
            <a:rect b="b" l="l" r="r" t="t"/>
            <a:pathLst>
              <a:path extrusionOk="0" h="181970" w="227463">
                <a:moveTo>
                  <a:pt x="136478" y="11373"/>
                </a:moveTo>
                <a:lnTo>
                  <a:pt x="181970" y="11373"/>
                </a:lnTo>
                <a:cubicBezTo>
                  <a:pt x="188261" y="11373"/>
                  <a:pt x="193343" y="16456"/>
                  <a:pt x="193343" y="22746"/>
                </a:cubicBezTo>
                <a:cubicBezTo>
                  <a:pt x="193343" y="29037"/>
                  <a:pt x="188261" y="34119"/>
                  <a:pt x="181970" y="34119"/>
                </a:cubicBezTo>
                <a:lnTo>
                  <a:pt x="141596" y="34119"/>
                </a:lnTo>
                <a:cubicBezTo>
                  <a:pt x="139747" y="43289"/>
                  <a:pt x="133457" y="50859"/>
                  <a:pt x="125104" y="54484"/>
                </a:cubicBezTo>
                <a:lnTo>
                  <a:pt x="125104" y="159224"/>
                </a:lnTo>
                <a:lnTo>
                  <a:pt x="181970" y="159224"/>
                </a:lnTo>
                <a:cubicBezTo>
                  <a:pt x="188261" y="159224"/>
                  <a:pt x="193343" y="164306"/>
                  <a:pt x="193343" y="170597"/>
                </a:cubicBezTo>
                <a:cubicBezTo>
                  <a:pt x="193343" y="176888"/>
                  <a:pt x="188261" y="181970"/>
                  <a:pt x="181970" y="181970"/>
                </a:cubicBezTo>
                <a:lnTo>
                  <a:pt x="45493" y="181970"/>
                </a:lnTo>
                <a:cubicBezTo>
                  <a:pt x="39202" y="181970"/>
                  <a:pt x="34119" y="176888"/>
                  <a:pt x="34119" y="170597"/>
                </a:cubicBezTo>
                <a:cubicBezTo>
                  <a:pt x="34119" y="164306"/>
                  <a:pt x="39202" y="159224"/>
                  <a:pt x="45493" y="159224"/>
                </a:cubicBezTo>
                <a:lnTo>
                  <a:pt x="102358" y="159224"/>
                </a:lnTo>
                <a:lnTo>
                  <a:pt x="102358" y="54484"/>
                </a:lnTo>
                <a:cubicBezTo>
                  <a:pt x="94006" y="50824"/>
                  <a:pt x="87715" y="43253"/>
                  <a:pt x="85867" y="34119"/>
                </a:cubicBezTo>
                <a:lnTo>
                  <a:pt x="45493" y="34119"/>
                </a:lnTo>
                <a:cubicBezTo>
                  <a:pt x="39202" y="34119"/>
                  <a:pt x="34119" y="29037"/>
                  <a:pt x="34119" y="22746"/>
                </a:cubicBezTo>
                <a:cubicBezTo>
                  <a:pt x="34119" y="16456"/>
                  <a:pt x="39202" y="11373"/>
                  <a:pt x="45493" y="11373"/>
                </a:cubicBezTo>
                <a:lnTo>
                  <a:pt x="90985" y="11373"/>
                </a:lnTo>
                <a:cubicBezTo>
                  <a:pt x="96174" y="4478"/>
                  <a:pt x="104420" y="0"/>
                  <a:pt x="113731" y="0"/>
                </a:cubicBezTo>
                <a:cubicBezTo>
                  <a:pt x="123043" y="0"/>
                  <a:pt x="131289" y="4478"/>
                  <a:pt x="136478" y="11373"/>
                </a:cubicBezTo>
                <a:close/>
                <a:moveTo>
                  <a:pt x="156238" y="113731"/>
                </a:moveTo>
                <a:lnTo>
                  <a:pt x="207702" y="113731"/>
                </a:lnTo>
                <a:lnTo>
                  <a:pt x="181970" y="69589"/>
                </a:lnTo>
                <a:lnTo>
                  <a:pt x="156238" y="113731"/>
                </a:lnTo>
                <a:close/>
                <a:moveTo>
                  <a:pt x="181970" y="147851"/>
                </a:moveTo>
                <a:cubicBezTo>
                  <a:pt x="159615" y="147851"/>
                  <a:pt x="141027" y="135767"/>
                  <a:pt x="137188" y="119809"/>
                </a:cubicBezTo>
                <a:cubicBezTo>
                  <a:pt x="136264" y="115899"/>
                  <a:pt x="137544" y="111883"/>
                  <a:pt x="139570" y="108400"/>
                </a:cubicBezTo>
                <a:lnTo>
                  <a:pt x="173405" y="50397"/>
                </a:lnTo>
                <a:cubicBezTo>
                  <a:pt x="175182" y="47341"/>
                  <a:pt x="178452" y="45493"/>
                  <a:pt x="181970" y="45493"/>
                </a:cubicBezTo>
                <a:cubicBezTo>
                  <a:pt x="185489" y="45493"/>
                  <a:pt x="188758" y="47376"/>
                  <a:pt x="190536" y="50397"/>
                </a:cubicBezTo>
                <a:lnTo>
                  <a:pt x="224371" y="108400"/>
                </a:lnTo>
                <a:cubicBezTo>
                  <a:pt x="226396" y="111883"/>
                  <a:pt x="227676" y="115899"/>
                  <a:pt x="226752" y="119809"/>
                </a:cubicBezTo>
                <a:cubicBezTo>
                  <a:pt x="222913" y="135731"/>
                  <a:pt x="204325" y="147851"/>
                  <a:pt x="181970" y="147851"/>
                </a:cubicBezTo>
                <a:close/>
                <a:moveTo>
                  <a:pt x="45066" y="69589"/>
                </a:moveTo>
                <a:lnTo>
                  <a:pt x="19334" y="113731"/>
                </a:lnTo>
                <a:lnTo>
                  <a:pt x="70833" y="113731"/>
                </a:lnTo>
                <a:lnTo>
                  <a:pt x="45066" y="69589"/>
                </a:lnTo>
                <a:close/>
                <a:moveTo>
                  <a:pt x="320" y="119809"/>
                </a:moveTo>
                <a:cubicBezTo>
                  <a:pt x="-604" y="115899"/>
                  <a:pt x="675" y="111883"/>
                  <a:pt x="2701" y="108400"/>
                </a:cubicBezTo>
                <a:lnTo>
                  <a:pt x="36536" y="50397"/>
                </a:lnTo>
                <a:cubicBezTo>
                  <a:pt x="38313" y="47341"/>
                  <a:pt x="41583" y="45493"/>
                  <a:pt x="45102" y="45493"/>
                </a:cubicBezTo>
                <a:cubicBezTo>
                  <a:pt x="48620" y="45493"/>
                  <a:pt x="51890" y="47376"/>
                  <a:pt x="53667" y="50397"/>
                </a:cubicBezTo>
                <a:lnTo>
                  <a:pt x="87502" y="108400"/>
                </a:lnTo>
                <a:cubicBezTo>
                  <a:pt x="89528" y="111883"/>
                  <a:pt x="90807" y="115899"/>
                  <a:pt x="89883" y="119809"/>
                </a:cubicBezTo>
                <a:cubicBezTo>
                  <a:pt x="86045" y="135731"/>
                  <a:pt x="67457" y="147851"/>
                  <a:pt x="45102" y="147851"/>
                </a:cubicBezTo>
                <a:cubicBezTo>
                  <a:pt x="22746" y="147851"/>
                  <a:pt x="4158" y="135767"/>
                  <a:pt x="320" y="119809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6707590" y="4358185"/>
            <a:ext cx="1965278" cy="25475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9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Stratified Cross-Validation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546" name="Google Shape;546;p15"/>
          <p:cNvSpPr/>
          <p:nvPr/>
        </p:nvSpPr>
        <p:spPr>
          <a:xfrm>
            <a:off x="6370946" y="4722125"/>
            <a:ext cx="5368119" cy="473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For imbalanced datasets, use </a:t>
            </a:r>
            <a:r>
              <a:rPr b="1" i="0" lang="en-US" sz="1146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StratifiedKFold</a:t>
            </a:r>
            <a:r>
              <a:rPr b="0" i="0" lang="en-US" sz="1146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maintain the same class distribution in each fold.</a:t>
            </a:r>
            <a:endParaRPr b="0" i="0" sz="1600" u="none" cap="none" strike="noStrike"/>
          </a:p>
        </p:txBody>
      </p:sp>
      <p:sp>
        <p:nvSpPr>
          <p:cNvPr id="547" name="Google Shape;547;p15"/>
          <p:cNvSpPr/>
          <p:nvPr/>
        </p:nvSpPr>
        <p:spPr>
          <a:xfrm>
            <a:off x="6370946" y="5268036"/>
            <a:ext cx="5295331" cy="655093"/>
          </a:xfrm>
          <a:custGeom>
            <a:rect b="b" l="l" r="r" t="t"/>
            <a:pathLst>
              <a:path extrusionOk="0" h="655093" w="5295331">
                <a:moveTo>
                  <a:pt x="36397" y="0"/>
                </a:moveTo>
                <a:lnTo>
                  <a:pt x="5258934" y="0"/>
                </a:lnTo>
                <a:cubicBezTo>
                  <a:pt x="5279036" y="0"/>
                  <a:pt x="5295331" y="16295"/>
                  <a:pt x="5295331" y="36397"/>
                </a:cubicBezTo>
                <a:lnTo>
                  <a:pt x="5295331" y="618696"/>
                </a:lnTo>
                <a:cubicBezTo>
                  <a:pt x="5295331" y="638797"/>
                  <a:pt x="5279036" y="655093"/>
                  <a:pt x="5258934" y="655093"/>
                </a:cubicBezTo>
                <a:lnTo>
                  <a:pt x="36397" y="655093"/>
                </a:lnTo>
                <a:cubicBezTo>
                  <a:pt x="16295" y="655093"/>
                  <a:pt x="0" y="638797"/>
                  <a:pt x="0" y="618696"/>
                </a:cubicBezTo>
                <a:lnTo>
                  <a:pt x="0" y="36397"/>
                </a:lnTo>
                <a:cubicBezTo>
                  <a:pt x="0" y="16309"/>
                  <a:pt x="16309" y="0"/>
                  <a:pt x="36397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6411889" y="5340824"/>
            <a:ext cx="5213445" cy="1819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3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 K value</a:t>
            </a:r>
            <a:endParaRPr b="0" i="0" sz="1600" u="none" cap="none" strike="noStrike"/>
          </a:p>
        </p:txBody>
      </p:sp>
      <p:sp>
        <p:nvSpPr>
          <p:cNvPr id="549" name="Google Shape;549;p15"/>
          <p:cNvSpPr/>
          <p:nvPr/>
        </p:nvSpPr>
        <p:spPr>
          <a:xfrm>
            <a:off x="6375495" y="5522794"/>
            <a:ext cx="5286233" cy="32754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49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K = 5 or 10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img.freepik.com/590e20a9efbf98e9773a27925ee4ffb9ee71f775.jpg" id="555" name="Google Shape;555;p16"/>
          <p:cNvPicPr preferRelativeResize="0"/>
          <p:nvPr/>
        </p:nvPicPr>
        <p:blipFill rotWithShape="1">
          <a:blip r:embed="rId3">
            <a:alphaModFix amt="30000"/>
          </a:blip>
          <a:srcRect b="7779" l="0" r="0" t="7779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556" name="Google Shape;556;p1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</a:gradFill>
          <a:ln>
            <a:noFill/>
          </a:ln>
        </p:spPr>
      </p:sp>
      <p:sp>
        <p:nvSpPr>
          <p:cNvPr id="557" name="Google Shape;557;p16"/>
          <p:cNvSpPr/>
          <p:nvPr/>
        </p:nvSpPr>
        <p:spPr>
          <a:xfrm>
            <a:off x="390525" y="1310878"/>
            <a:ext cx="1533525" cy="514350"/>
          </a:xfrm>
          <a:custGeom>
            <a:rect b="b" l="l" r="r" t="t"/>
            <a:pathLst>
              <a:path extrusionOk="0" h="514350" w="1533525">
                <a:moveTo>
                  <a:pt x="257175" y="0"/>
                </a:moveTo>
                <a:lnTo>
                  <a:pt x="1276350" y="0"/>
                </a:lnTo>
                <a:cubicBezTo>
                  <a:pt x="1418289" y="0"/>
                  <a:pt x="1533525" y="115236"/>
                  <a:pt x="1533525" y="257175"/>
                </a:cubicBezTo>
                <a:lnTo>
                  <a:pt x="1533525" y="257175"/>
                </a:lnTo>
                <a:cubicBezTo>
                  <a:pt x="1533525" y="399114"/>
                  <a:pt x="1418289" y="514350"/>
                  <a:pt x="1276350" y="514350"/>
                </a:cubicBezTo>
                <a:lnTo>
                  <a:pt x="257175" y="514350"/>
                </a:lnTo>
                <a:cubicBezTo>
                  <a:pt x="115236" y="514350"/>
                  <a:pt x="0" y="399114"/>
                  <a:pt x="0" y="257175"/>
                </a:cubicBezTo>
                <a:lnTo>
                  <a:pt x="0" y="257175"/>
                </a:lnTo>
                <a:cubicBezTo>
                  <a:pt x="0" y="115236"/>
                  <a:pt x="115236" y="0"/>
                  <a:pt x="257175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6"/>
          <p:cNvSpPr/>
          <p:nvPr/>
        </p:nvSpPr>
        <p:spPr>
          <a:xfrm>
            <a:off x="381000" y="1301353"/>
            <a:ext cx="1600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14300" lIns="228600" spcFirstLastPara="1" rIns="228600" wrap="square" tIns="1143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CHAPTER 04</a:t>
            </a:r>
            <a:endParaRPr b="0" i="0" sz="1600" u="none" cap="none" strike="noStrike"/>
          </a:p>
        </p:txBody>
      </p:sp>
      <p:sp>
        <p:nvSpPr>
          <p:cNvPr id="559" name="Google Shape;559;p16"/>
          <p:cNvSpPr/>
          <p:nvPr/>
        </p:nvSpPr>
        <p:spPr>
          <a:xfrm>
            <a:off x="381000" y="2139553"/>
            <a:ext cx="6934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Practical</a:t>
            </a:r>
            <a:endParaRPr b="0" i="0" sz="1600" u="none" cap="none" strike="noStrike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Lab</a:t>
            </a:r>
            <a:endParaRPr b="0" i="0" sz="1600" u="none" cap="none" strike="noStrike"/>
          </a:p>
        </p:txBody>
      </p:sp>
      <p:sp>
        <p:nvSpPr>
          <p:cNvPr id="560" name="Google Shape;560;p16"/>
          <p:cNvSpPr/>
          <p:nvPr/>
        </p:nvSpPr>
        <p:spPr>
          <a:xfrm>
            <a:off x="381000" y="4730353"/>
            <a:ext cx="1219200" cy="57150"/>
          </a:xfrm>
          <a:custGeom>
            <a:rect b="b" l="l" r="r" t="t"/>
            <a:pathLst>
              <a:path extrusionOk="0" h="57150" w="1219200">
                <a:moveTo>
                  <a:pt x="0" y="0"/>
                </a:moveTo>
                <a:lnTo>
                  <a:pt x="1219200" y="0"/>
                </a:lnTo>
                <a:lnTo>
                  <a:pt x="12192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5C7A9E"/>
          </a:solidFill>
          <a:ln>
            <a:noFill/>
          </a:ln>
        </p:spPr>
      </p:sp>
      <p:sp>
        <p:nvSpPr>
          <p:cNvPr id="561" name="Google Shape;561;p16"/>
          <p:cNvSpPr/>
          <p:nvPr/>
        </p:nvSpPr>
        <p:spPr>
          <a:xfrm>
            <a:off x="381000" y="5092303"/>
            <a:ext cx="66198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Fine-tuning a Random Forest for maximum accuracy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17"/>
          <p:cNvSpPr/>
          <p:nvPr/>
        </p:nvSpPr>
        <p:spPr>
          <a:xfrm>
            <a:off x="381000" y="409575"/>
            <a:ext cx="1223070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Lab</a:t>
            </a:r>
            <a:endParaRPr b="0" i="0" sz="1600" u="none" cap="none" strike="noStrike"/>
          </a:p>
        </p:txBody>
      </p:sp>
      <p:sp>
        <p:nvSpPr>
          <p:cNvPr id="568" name="Google Shape;568;p17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Random Forest Key Parameters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569" name="Google Shape;569;p17"/>
          <p:cNvSpPr/>
          <p:nvPr/>
        </p:nvSpPr>
        <p:spPr>
          <a:xfrm>
            <a:off x="390525" y="1228725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7"/>
          <p:cNvSpPr/>
          <p:nvPr/>
        </p:nvSpPr>
        <p:spPr>
          <a:xfrm>
            <a:off x="552450" y="13906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17"/>
          <p:cNvSpPr/>
          <p:nvPr/>
        </p:nvSpPr>
        <p:spPr>
          <a:xfrm>
            <a:off x="681038" y="1504950"/>
            <a:ext cx="200025" cy="228600"/>
          </a:xfrm>
          <a:custGeom>
            <a:rect b="b" l="l" r="r" t="t"/>
            <a:pathLst>
              <a:path extrusionOk="0" h="228600" w="200025">
                <a:moveTo>
                  <a:pt x="100013" y="-14287"/>
                </a:moveTo>
                <a:cubicBezTo>
                  <a:pt x="103138" y="-14287"/>
                  <a:pt x="106129" y="-12903"/>
                  <a:pt x="108183" y="-10492"/>
                </a:cubicBezTo>
                <a:lnTo>
                  <a:pt x="168905" y="60945"/>
                </a:lnTo>
                <a:cubicBezTo>
                  <a:pt x="171629" y="64115"/>
                  <a:pt x="172209" y="68580"/>
                  <a:pt x="170468" y="72375"/>
                </a:cubicBezTo>
                <a:cubicBezTo>
                  <a:pt x="168726" y="76170"/>
                  <a:pt x="164931" y="78581"/>
                  <a:pt x="160734" y="78581"/>
                </a:cubicBezTo>
                <a:lnTo>
                  <a:pt x="149617" y="78581"/>
                </a:lnTo>
                <a:lnTo>
                  <a:pt x="183193" y="118095"/>
                </a:lnTo>
                <a:cubicBezTo>
                  <a:pt x="185916" y="121265"/>
                  <a:pt x="186497" y="125730"/>
                  <a:pt x="184755" y="129525"/>
                </a:cubicBezTo>
                <a:cubicBezTo>
                  <a:pt x="183014" y="133320"/>
                  <a:pt x="179219" y="135731"/>
                  <a:pt x="175022" y="135731"/>
                </a:cubicBezTo>
                <a:lnTo>
                  <a:pt x="157832" y="135731"/>
                </a:lnTo>
                <a:lnTo>
                  <a:pt x="197480" y="182389"/>
                </a:lnTo>
                <a:cubicBezTo>
                  <a:pt x="200204" y="185559"/>
                  <a:pt x="200784" y="190024"/>
                  <a:pt x="199043" y="193819"/>
                </a:cubicBezTo>
                <a:cubicBezTo>
                  <a:pt x="197301" y="197614"/>
                  <a:pt x="193506" y="200025"/>
                  <a:pt x="189309" y="200025"/>
                </a:cubicBezTo>
                <a:lnTo>
                  <a:pt x="114300" y="200025"/>
                </a:lnTo>
                <a:lnTo>
                  <a:pt x="114300" y="228600"/>
                </a:lnTo>
                <a:cubicBezTo>
                  <a:pt x="114300" y="236503"/>
                  <a:pt x="107915" y="242888"/>
                  <a:pt x="100013" y="242888"/>
                </a:cubicBezTo>
                <a:cubicBezTo>
                  <a:pt x="92110" y="242888"/>
                  <a:pt x="85725" y="236503"/>
                  <a:pt x="85725" y="228600"/>
                </a:cubicBezTo>
                <a:lnTo>
                  <a:pt x="85725" y="200025"/>
                </a:lnTo>
                <a:lnTo>
                  <a:pt x="10716" y="200025"/>
                </a:lnTo>
                <a:cubicBezTo>
                  <a:pt x="6519" y="200025"/>
                  <a:pt x="2724" y="197614"/>
                  <a:pt x="982" y="193819"/>
                </a:cubicBezTo>
                <a:cubicBezTo>
                  <a:pt x="-759" y="190024"/>
                  <a:pt x="-179" y="185559"/>
                  <a:pt x="2545" y="182389"/>
                </a:cubicBezTo>
                <a:lnTo>
                  <a:pt x="42193" y="135731"/>
                </a:lnTo>
                <a:lnTo>
                  <a:pt x="25003" y="135731"/>
                </a:lnTo>
                <a:cubicBezTo>
                  <a:pt x="20806" y="135731"/>
                  <a:pt x="17011" y="133320"/>
                  <a:pt x="15270" y="129525"/>
                </a:cubicBezTo>
                <a:cubicBezTo>
                  <a:pt x="13528" y="125730"/>
                  <a:pt x="14109" y="121265"/>
                  <a:pt x="16832" y="118095"/>
                </a:cubicBezTo>
                <a:lnTo>
                  <a:pt x="50408" y="78581"/>
                </a:lnTo>
                <a:lnTo>
                  <a:pt x="39291" y="78581"/>
                </a:lnTo>
                <a:cubicBezTo>
                  <a:pt x="35094" y="78581"/>
                  <a:pt x="31299" y="76170"/>
                  <a:pt x="29557" y="72375"/>
                </a:cubicBezTo>
                <a:cubicBezTo>
                  <a:pt x="27816" y="68580"/>
                  <a:pt x="28396" y="64115"/>
                  <a:pt x="31120" y="60945"/>
                </a:cubicBezTo>
                <a:lnTo>
                  <a:pt x="91842" y="-10492"/>
                </a:lnTo>
                <a:cubicBezTo>
                  <a:pt x="93896" y="-12903"/>
                  <a:pt x="96887" y="-14287"/>
                  <a:pt x="100013" y="-14287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2" name="Google Shape;572;p17"/>
          <p:cNvSpPr/>
          <p:nvPr/>
        </p:nvSpPr>
        <p:spPr>
          <a:xfrm>
            <a:off x="1123950" y="1485900"/>
            <a:ext cx="12001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n_estimators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573" name="Google Shape;573;p17"/>
          <p:cNvSpPr/>
          <p:nvPr/>
        </p:nvSpPr>
        <p:spPr>
          <a:xfrm>
            <a:off x="552450" y="1962150"/>
            <a:ext cx="3438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Number of trees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the forest.</a:t>
            </a:r>
            <a:endParaRPr b="0" i="0" sz="1600" u="none" cap="none" strike="noStrike"/>
          </a:p>
        </p:txBody>
      </p:sp>
      <p:sp>
        <p:nvSpPr>
          <p:cNvPr id="574" name="Google Shape;574;p17"/>
          <p:cNvSpPr/>
          <p:nvPr/>
        </p:nvSpPr>
        <p:spPr>
          <a:xfrm>
            <a:off x="552450" y="2286000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7"/>
          <p:cNvSpPr/>
          <p:nvPr/>
        </p:nvSpPr>
        <p:spPr>
          <a:xfrm>
            <a:off x="666750" y="240030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 Range</a:t>
            </a:r>
            <a:endParaRPr b="0" i="0" sz="1600" u="none" cap="none" strike="noStrike"/>
          </a:p>
        </p:txBody>
      </p:sp>
      <p:sp>
        <p:nvSpPr>
          <p:cNvPr id="576" name="Google Shape;576;p17"/>
          <p:cNvSpPr/>
          <p:nvPr/>
        </p:nvSpPr>
        <p:spPr>
          <a:xfrm>
            <a:off x="666750" y="2628900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100 - 500</a:t>
            </a:r>
            <a:endParaRPr b="0" i="0" sz="1600" u="none" cap="none" strike="noStrike"/>
          </a:p>
        </p:txBody>
      </p:sp>
      <p:sp>
        <p:nvSpPr>
          <p:cNvPr id="577" name="Google Shape;577;p17"/>
          <p:cNvSpPr/>
          <p:nvPr/>
        </p:nvSpPr>
        <p:spPr>
          <a:xfrm>
            <a:off x="552450" y="3086100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More trees = better performance but slower training. Diminishing returns after 300.</a:t>
            </a:r>
            <a:endParaRPr b="0" i="0" sz="1600" u="none" cap="none" strike="noStrike"/>
          </a:p>
        </p:txBody>
      </p:sp>
      <p:sp>
        <p:nvSpPr>
          <p:cNvPr id="578" name="Google Shape;578;p17"/>
          <p:cNvSpPr/>
          <p:nvPr/>
        </p:nvSpPr>
        <p:spPr>
          <a:xfrm>
            <a:off x="4251275" y="1228725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17"/>
          <p:cNvSpPr/>
          <p:nvPr/>
        </p:nvSpPr>
        <p:spPr>
          <a:xfrm>
            <a:off x="4413200" y="13906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17"/>
          <p:cNvSpPr/>
          <p:nvPr/>
        </p:nvSpPr>
        <p:spPr>
          <a:xfrm>
            <a:off x="4527500" y="1504950"/>
            <a:ext cx="228600" cy="228600"/>
          </a:xfrm>
          <a:custGeom>
            <a:rect b="b" l="l" r="r" t="t"/>
            <a:pathLst>
              <a:path extrusionOk="0" h="228600" w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7"/>
          <p:cNvSpPr/>
          <p:nvPr/>
        </p:nvSpPr>
        <p:spPr>
          <a:xfrm>
            <a:off x="4984700" y="1485900"/>
            <a:ext cx="1047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max_depth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582" name="Google Shape;582;p17"/>
          <p:cNvSpPr/>
          <p:nvPr/>
        </p:nvSpPr>
        <p:spPr>
          <a:xfrm>
            <a:off x="4413200" y="1962150"/>
            <a:ext cx="3438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Maximum depth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of each tree.</a:t>
            </a:r>
            <a:endParaRPr b="0" i="0" sz="1600" u="none" cap="none" strike="noStrike"/>
          </a:p>
        </p:txBody>
      </p:sp>
      <p:sp>
        <p:nvSpPr>
          <p:cNvPr id="583" name="Google Shape;583;p17"/>
          <p:cNvSpPr/>
          <p:nvPr/>
        </p:nvSpPr>
        <p:spPr>
          <a:xfrm>
            <a:off x="4413200" y="2286000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7"/>
          <p:cNvSpPr/>
          <p:nvPr/>
        </p:nvSpPr>
        <p:spPr>
          <a:xfrm>
            <a:off x="4527500" y="240030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 Range</a:t>
            </a:r>
            <a:endParaRPr b="0" i="0" sz="1600" u="none" cap="none" strike="noStrike"/>
          </a:p>
        </p:txBody>
      </p:sp>
      <p:sp>
        <p:nvSpPr>
          <p:cNvPr id="585" name="Google Shape;585;p17"/>
          <p:cNvSpPr/>
          <p:nvPr/>
        </p:nvSpPr>
        <p:spPr>
          <a:xfrm>
            <a:off x="4527500" y="2628900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5 - 15</a:t>
            </a:r>
            <a:endParaRPr b="0" i="0" sz="1600" u="none" cap="none" strike="noStrike"/>
          </a:p>
        </p:txBody>
      </p:sp>
      <p:sp>
        <p:nvSpPr>
          <p:cNvPr id="586" name="Google Shape;586;p17"/>
          <p:cNvSpPr/>
          <p:nvPr/>
        </p:nvSpPr>
        <p:spPr>
          <a:xfrm>
            <a:off x="4413200" y="3086100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Controls overfitting. Deeper trees memorize training data. None = unlimited depth.</a:t>
            </a:r>
            <a:endParaRPr b="0" i="0" sz="1600" u="none" cap="none" strike="noStrike"/>
          </a:p>
        </p:txBody>
      </p:sp>
      <p:sp>
        <p:nvSpPr>
          <p:cNvPr id="587" name="Google Shape;587;p17"/>
          <p:cNvSpPr/>
          <p:nvPr/>
        </p:nvSpPr>
        <p:spPr>
          <a:xfrm>
            <a:off x="8112026" y="1228725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17"/>
          <p:cNvSpPr/>
          <p:nvPr/>
        </p:nvSpPr>
        <p:spPr>
          <a:xfrm>
            <a:off x="8273951" y="1390650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7"/>
          <p:cNvSpPr/>
          <p:nvPr/>
        </p:nvSpPr>
        <p:spPr>
          <a:xfrm>
            <a:off x="8388251" y="1504950"/>
            <a:ext cx="228600" cy="228600"/>
          </a:xfrm>
          <a:custGeom>
            <a:rect b="b" l="l" r="r" t="t"/>
            <a:pathLst>
              <a:path extrusionOk="0" h="228600" w="228600">
                <a:moveTo>
                  <a:pt x="85725" y="114300"/>
                </a:moveTo>
                <a:lnTo>
                  <a:pt x="68089" y="131936"/>
                </a:lnTo>
                <a:cubicBezTo>
                  <a:pt x="62463" y="129748"/>
                  <a:pt x="56391" y="128588"/>
                  <a:pt x="50006" y="128588"/>
                </a:cubicBezTo>
                <a:cubicBezTo>
                  <a:pt x="22369" y="128588"/>
                  <a:pt x="0" y="150956"/>
                  <a:pt x="0" y="178594"/>
                </a:cubicBezTo>
                <a:cubicBezTo>
                  <a:pt x="0" y="206231"/>
                  <a:pt x="22369" y="228600"/>
                  <a:pt x="50006" y="228600"/>
                </a:cubicBezTo>
                <a:cubicBezTo>
                  <a:pt x="77644" y="228600"/>
                  <a:pt x="100013" y="206231"/>
                  <a:pt x="100013" y="178594"/>
                </a:cubicBezTo>
                <a:cubicBezTo>
                  <a:pt x="100013" y="172209"/>
                  <a:pt x="98807" y="166137"/>
                  <a:pt x="96664" y="160511"/>
                </a:cubicBezTo>
                <a:lnTo>
                  <a:pt x="222885" y="34290"/>
                </a:lnTo>
                <a:cubicBezTo>
                  <a:pt x="226055" y="31120"/>
                  <a:pt x="226055" y="26030"/>
                  <a:pt x="222885" y="22860"/>
                </a:cubicBezTo>
                <a:cubicBezTo>
                  <a:pt x="210249" y="10224"/>
                  <a:pt x="189801" y="10224"/>
                  <a:pt x="177165" y="22860"/>
                </a:cubicBezTo>
                <a:lnTo>
                  <a:pt x="114300" y="85725"/>
                </a:lnTo>
                <a:lnTo>
                  <a:pt x="96664" y="68089"/>
                </a:lnTo>
                <a:cubicBezTo>
                  <a:pt x="98852" y="62463"/>
                  <a:pt x="100013" y="56391"/>
                  <a:pt x="100013" y="50006"/>
                </a:cubicBezTo>
                <a:cubicBezTo>
                  <a:pt x="100013" y="22369"/>
                  <a:pt x="77644" y="0"/>
                  <a:pt x="50006" y="0"/>
                </a:cubicBezTo>
                <a:cubicBezTo>
                  <a:pt x="22369" y="0"/>
                  <a:pt x="0" y="22369"/>
                  <a:pt x="0" y="50006"/>
                </a:cubicBezTo>
                <a:cubicBezTo>
                  <a:pt x="0" y="77644"/>
                  <a:pt x="22369" y="100013"/>
                  <a:pt x="50006" y="100013"/>
                </a:cubicBezTo>
                <a:cubicBezTo>
                  <a:pt x="56391" y="100013"/>
                  <a:pt x="62463" y="98807"/>
                  <a:pt x="68089" y="96664"/>
                </a:cubicBezTo>
                <a:lnTo>
                  <a:pt x="85725" y="114300"/>
                </a:lnTo>
                <a:close/>
                <a:moveTo>
                  <a:pt x="129436" y="158011"/>
                </a:moveTo>
                <a:lnTo>
                  <a:pt x="177165" y="205740"/>
                </a:lnTo>
                <a:cubicBezTo>
                  <a:pt x="189801" y="218376"/>
                  <a:pt x="210249" y="218376"/>
                  <a:pt x="222885" y="205740"/>
                </a:cubicBezTo>
                <a:cubicBezTo>
                  <a:pt x="226055" y="202570"/>
                  <a:pt x="226055" y="197480"/>
                  <a:pt x="222885" y="194310"/>
                </a:cubicBezTo>
                <a:lnTo>
                  <a:pt x="158011" y="129436"/>
                </a:lnTo>
                <a:lnTo>
                  <a:pt x="129436" y="158011"/>
                </a:lnTo>
                <a:close/>
                <a:moveTo>
                  <a:pt x="28575" y="50006"/>
                </a:moveTo>
                <a:cubicBezTo>
                  <a:pt x="28575" y="38178"/>
                  <a:pt x="38178" y="28575"/>
                  <a:pt x="50006" y="28575"/>
                </a:cubicBezTo>
                <a:cubicBezTo>
                  <a:pt x="61834" y="28575"/>
                  <a:pt x="71438" y="38178"/>
                  <a:pt x="71438" y="50006"/>
                </a:cubicBezTo>
                <a:cubicBezTo>
                  <a:pt x="71438" y="61834"/>
                  <a:pt x="61834" y="71438"/>
                  <a:pt x="50006" y="71438"/>
                </a:cubicBezTo>
                <a:cubicBezTo>
                  <a:pt x="38178" y="71438"/>
                  <a:pt x="28575" y="61834"/>
                  <a:pt x="28575" y="50006"/>
                </a:cubicBezTo>
                <a:close/>
                <a:moveTo>
                  <a:pt x="50006" y="157163"/>
                </a:moveTo>
                <a:cubicBezTo>
                  <a:pt x="61834" y="157163"/>
                  <a:pt x="71438" y="166766"/>
                  <a:pt x="71438" y="178594"/>
                </a:cubicBezTo>
                <a:cubicBezTo>
                  <a:pt x="71438" y="190422"/>
                  <a:pt x="61834" y="200025"/>
                  <a:pt x="50006" y="200025"/>
                </a:cubicBezTo>
                <a:cubicBezTo>
                  <a:pt x="38178" y="200025"/>
                  <a:pt x="28575" y="190422"/>
                  <a:pt x="28575" y="178594"/>
                </a:cubicBezTo>
                <a:cubicBezTo>
                  <a:pt x="28575" y="166766"/>
                  <a:pt x="38178" y="157163"/>
                  <a:pt x="50006" y="157163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17"/>
          <p:cNvSpPr/>
          <p:nvPr/>
        </p:nvSpPr>
        <p:spPr>
          <a:xfrm>
            <a:off x="8845451" y="148590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min_samples_split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591" name="Google Shape;591;p17"/>
          <p:cNvSpPr/>
          <p:nvPr/>
        </p:nvSpPr>
        <p:spPr>
          <a:xfrm>
            <a:off x="8273951" y="1962150"/>
            <a:ext cx="3438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Minimum samples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required to split a node.</a:t>
            </a:r>
            <a:endParaRPr b="0" i="0" sz="1600" u="none" cap="none" strike="noStrike"/>
          </a:p>
        </p:txBody>
      </p:sp>
      <p:sp>
        <p:nvSpPr>
          <p:cNvPr id="592" name="Google Shape;592;p17"/>
          <p:cNvSpPr/>
          <p:nvPr/>
        </p:nvSpPr>
        <p:spPr>
          <a:xfrm>
            <a:off x="8273951" y="2286000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7"/>
          <p:cNvSpPr/>
          <p:nvPr/>
        </p:nvSpPr>
        <p:spPr>
          <a:xfrm>
            <a:off x="8388251" y="2400300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 Range</a:t>
            </a:r>
            <a:endParaRPr b="0" i="0" sz="1600" u="none" cap="none" strike="noStrike"/>
          </a:p>
        </p:txBody>
      </p:sp>
      <p:sp>
        <p:nvSpPr>
          <p:cNvPr id="594" name="Google Shape;594;p17"/>
          <p:cNvSpPr/>
          <p:nvPr/>
        </p:nvSpPr>
        <p:spPr>
          <a:xfrm>
            <a:off x="8388251" y="2628900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2 - 10</a:t>
            </a:r>
            <a:endParaRPr b="0" i="0" sz="1600" u="none" cap="none" strike="noStrike"/>
          </a:p>
        </p:txBody>
      </p:sp>
      <p:sp>
        <p:nvSpPr>
          <p:cNvPr id="595" name="Google Shape;595;p17"/>
          <p:cNvSpPr/>
          <p:nvPr/>
        </p:nvSpPr>
        <p:spPr>
          <a:xfrm>
            <a:off x="8273951" y="3086100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Prevents over-splitting. Higher values create simpler trees and reduce overfitting.</a:t>
            </a:r>
            <a:endParaRPr b="0" i="0" sz="1600" u="none" cap="none" strike="noStrike"/>
          </a:p>
        </p:txBody>
      </p:sp>
      <p:sp>
        <p:nvSpPr>
          <p:cNvPr id="596" name="Google Shape;596;p17"/>
          <p:cNvSpPr/>
          <p:nvPr/>
        </p:nvSpPr>
        <p:spPr>
          <a:xfrm>
            <a:off x="390525" y="3852863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7"/>
          <p:cNvSpPr/>
          <p:nvPr/>
        </p:nvSpPr>
        <p:spPr>
          <a:xfrm>
            <a:off x="552450" y="4014788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17"/>
          <p:cNvSpPr/>
          <p:nvPr/>
        </p:nvSpPr>
        <p:spPr>
          <a:xfrm>
            <a:off x="666750" y="4129088"/>
            <a:ext cx="228600" cy="228600"/>
          </a:xfrm>
          <a:custGeom>
            <a:rect b="b" l="l" r="r" t="t"/>
            <a:pathLst>
              <a:path extrusionOk="0" h="228600" w="228600">
                <a:moveTo>
                  <a:pt x="210428" y="2991"/>
                </a:moveTo>
                <a:cubicBezTo>
                  <a:pt x="213286" y="268"/>
                  <a:pt x="217438" y="-714"/>
                  <a:pt x="221278" y="536"/>
                </a:cubicBezTo>
                <a:cubicBezTo>
                  <a:pt x="225653" y="2009"/>
                  <a:pt x="228600" y="6117"/>
                  <a:pt x="228600" y="10716"/>
                </a:cubicBezTo>
                <a:lnTo>
                  <a:pt x="228600" y="94164"/>
                </a:lnTo>
                <a:cubicBezTo>
                  <a:pt x="228600" y="152742"/>
                  <a:pt x="180335" y="200025"/>
                  <a:pt x="121980" y="200025"/>
                </a:cubicBezTo>
                <a:cubicBezTo>
                  <a:pt x="87600" y="200025"/>
                  <a:pt x="57954" y="177924"/>
                  <a:pt x="47193" y="147027"/>
                </a:cubicBezTo>
                <a:cubicBezTo>
                  <a:pt x="31388" y="160779"/>
                  <a:pt x="21431" y="181005"/>
                  <a:pt x="21431" y="203597"/>
                </a:cubicBezTo>
                <a:cubicBezTo>
                  <a:pt x="21431" y="209535"/>
                  <a:pt x="16654" y="214313"/>
                  <a:pt x="10716" y="214313"/>
                </a:cubicBezTo>
                <a:cubicBezTo>
                  <a:pt x="4777" y="214313"/>
                  <a:pt x="0" y="209535"/>
                  <a:pt x="0" y="203597"/>
                </a:cubicBezTo>
                <a:cubicBezTo>
                  <a:pt x="0" y="170155"/>
                  <a:pt x="17056" y="140687"/>
                  <a:pt x="42907" y="123364"/>
                </a:cubicBezTo>
                <a:cubicBezTo>
                  <a:pt x="58668" y="112827"/>
                  <a:pt x="77465" y="107156"/>
                  <a:pt x="96441" y="107156"/>
                </a:cubicBezTo>
                <a:lnTo>
                  <a:pt x="132159" y="107156"/>
                </a:lnTo>
                <a:cubicBezTo>
                  <a:pt x="138098" y="107156"/>
                  <a:pt x="142875" y="102379"/>
                  <a:pt x="142875" y="96441"/>
                </a:cubicBezTo>
                <a:cubicBezTo>
                  <a:pt x="142875" y="90502"/>
                  <a:pt x="138098" y="85725"/>
                  <a:pt x="132159" y="85725"/>
                </a:cubicBezTo>
                <a:lnTo>
                  <a:pt x="96441" y="85725"/>
                </a:lnTo>
                <a:cubicBezTo>
                  <a:pt x="78715" y="85725"/>
                  <a:pt x="61927" y="89654"/>
                  <a:pt x="46881" y="96664"/>
                </a:cubicBezTo>
                <a:cubicBezTo>
                  <a:pt x="57284" y="65410"/>
                  <a:pt x="86707" y="42863"/>
                  <a:pt x="121444" y="42863"/>
                </a:cubicBezTo>
                <a:cubicBezTo>
                  <a:pt x="151090" y="42863"/>
                  <a:pt x="173147" y="32995"/>
                  <a:pt x="187836" y="23217"/>
                </a:cubicBezTo>
                <a:cubicBezTo>
                  <a:pt x="196408" y="17502"/>
                  <a:pt x="203686" y="10671"/>
                  <a:pt x="210473" y="2991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7"/>
          <p:cNvSpPr/>
          <p:nvPr/>
        </p:nvSpPr>
        <p:spPr>
          <a:xfrm>
            <a:off x="1123950" y="4110038"/>
            <a:ext cx="1628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min_samples_leaf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600" name="Google Shape;600;p17"/>
          <p:cNvSpPr/>
          <p:nvPr/>
        </p:nvSpPr>
        <p:spPr>
          <a:xfrm>
            <a:off x="552450" y="4586288"/>
            <a:ext cx="3438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Minimum samples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required at a leaf node.</a:t>
            </a:r>
            <a:endParaRPr b="0" i="0" sz="1600" u="none" cap="none" strike="noStrike"/>
          </a:p>
        </p:txBody>
      </p:sp>
      <p:sp>
        <p:nvSpPr>
          <p:cNvPr id="601" name="Google Shape;601;p17"/>
          <p:cNvSpPr/>
          <p:nvPr/>
        </p:nvSpPr>
        <p:spPr>
          <a:xfrm>
            <a:off x="552450" y="4910138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7"/>
          <p:cNvSpPr/>
          <p:nvPr/>
        </p:nvSpPr>
        <p:spPr>
          <a:xfrm>
            <a:off x="666750" y="5024438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 Range</a:t>
            </a:r>
            <a:endParaRPr b="0" i="0" sz="1600" u="none" cap="none" strike="noStrike"/>
          </a:p>
        </p:txBody>
      </p:sp>
      <p:sp>
        <p:nvSpPr>
          <p:cNvPr id="603" name="Google Shape;603;p17"/>
          <p:cNvSpPr/>
          <p:nvPr/>
        </p:nvSpPr>
        <p:spPr>
          <a:xfrm>
            <a:off x="666750" y="5253038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1 - 5</a:t>
            </a:r>
            <a:endParaRPr b="0" i="0" sz="1600" u="none" cap="none" strike="noStrike"/>
          </a:p>
        </p:txBody>
      </p:sp>
      <p:sp>
        <p:nvSpPr>
          <p:cNvPr id="604" name="Google Shape;604;p17"/>
          <p:cNvSpPr/>
          <p:nvPr/>
        </p:nvSpPr>
        <p:spPr>
          <a:xfrm>
            <a:off x="552450" y="5710238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Ensures leaf nodes have enough data. Higher values smooth the model and reduce variance.</a:t>
            </a:r>
            <a:endParaRPr b="0" i="0" sz="1600" u="none" cap="none" strike="noStrike"/>
          </a:p>
        </p:txBody>
      </p:sp>
      <p:sp>
        <p:nvSpPr>
          <p:cNvPr id="605" name="Google Shape;605;p17"/>
          <p:cNvSpPr/>
          <p:nvPr/>
        </p:nvSpPr>
        <p:spPr>
          <a:xfrm>
            <a:off x="4251275" y="3852863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17"/>
          <p:cNvSpPr/>
          <p:nvPr/>
        </p:nvSpPr>
        <p:spPr>
          <a:xfrm>
            <a:off x="4413200" y="4014788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7"/>
          <p:cNvSpPr/>
          <p:nvPr/>
        </p:nvSpPr>
        <p:spPr>
          <a:xfrm>
            <a:off x="4527500" y="4129088"/>
            <a:ext cx="228600" cy="228600"/>
          </a:xfrm>
          <a:custGeom>
            <a:rect b="b" l="l" r="r" t="t"/>
            <a:pathLst>
              <a:path extrusionOk="0" h="228600" w="228600">
                <a:moveTo>
                  <a:pt x="180290" y="15359"/>
                </a:moveTo>
                <a:cubicBezTo>
                  <a:pt x="185648" y="13127"/>
                  <a:pt x="191765" y="14377"/>
                  <a:pt x="195873" y="18440"/>
                </a:cubicBezTo>
                <a:lnTo>
                  <a:pt x="224448" y="47015"/>
                </a:lnTo>
                <a:cubicBezTo>
                  <a:pt x="227127" y="49694"/>
                  <a:pt x="228645" y="53310"/>
                  <a:pt x="228645" y="57105"/>
                </a:cubicBezTo>
                <a:cubicBezTo>
                  <a:pt x="228645" y="60900"/>
                  <a:pt x="227127" y="64517"/>
                  <a:pt x="224448" y="67196"/>
                </a:cubicBezTo>
                <a:lnTo>
                  <a:pt x="195873" y="95771"/>
                </a:lnTo>
                <a:cubicBezTo>
                  <a:pt x="191765" y="99879"/>
                  <a:pt x="185648" y="101084"/>
                  <a:pt x="180290" y="98852"/>
                </a:cubicBezTo>
                <a:cubicBezTo>
                  <a:pt x="174933" y="96619"/>
                  <a:pt x="171450" y="91485"/>
                  <a:pt x="171450" y="85725"/>
                </a:cubicBezTo>
                <a:lnTo>
                  <a:pt x="171450" y="71438"/>
                </a:lnTo>
                <a:lnTo>
                  <a:pt x="157163" y="71438"/>
                </a:lnTo>
                <a:cubicBezTo>
                  <a:pt x="152653" y="71438"/>
                  <a:pt x="148411" y="73536"/>
                  <a:pt x="145733" y="77153"/>
                </a:cubicBezTo>
                <a:lnTo>
                  <a:pt x="131266" y="96441"/>
                </a:lnTo>
                <a:lnTo>
                  <a:pt x="113407" y="72643"/>
                </a:lnTo>
                <a:lnTo>
                  <a:pt x="122873" y="60007"/>
                </a:lnTo>
                <a:cubicBezTo>
                  <a:pt x="130954" y="49203"/>
                  <a:pt x="143679" y="42863"/>
                  <a:pt x="157163" y="42863"/>
                </a:cubicBezTo>
                <a:lnTo>
                  <a:pt x="171450" y="42863"/>
                </a:lnTo>
                <a:lnTo>
                  <a:pt x="171450" y="28575"/>
                </a:lnTo>
                <a:cubicBezTo>
                  <a:pt x="171450" y="22815"/>
                  <a:pt x="174933" y="17591"/>
                  <a:pt x="180290" y="15359"/>
                </a:cubicBezTo>
                <a:close/>
                <a:moveTo>
                  <a:pt x="68759" y="132159"/>
                </a:moveTo>
                <a:lnTo>
                  <a:pt x="86618" y="155957"/>
                </a:lnTo>
                <a:lnTo>
                  <a:pt x="77153" y="168593"/>
                </a:lnTo>
                <a:cubicBezTo>
                  <a:pt x="69071" y="179397"/>
                  <a:pt x="56346" y="185738"/>
                  <a:pt x="42863" y="185738"/>
                </a:cubicBezTo>
                <a:lnTo>
                  <a:pt x="14288" y="185738"/>
                </a:lnTo>
                <a:cubicBezTo>
                  <a:pt x="6385" y="185738"/>
                  <a:pt x="0" y="179353"/>
                  <a:pt x="0" y="171450"/>
                </a:cubicBezTo>
                <a:cubicBezTo>
                  <a:pt x="0" y="163547"/>
                  <a:pt x="6385" y="157163"/>
                  <a:pt x="14288" y="157163"/>
                </a:cubicBezTo>
                <a:lnTo>
                  <a:pt x="42863" y="157163"/>
                </a:lnTo>
                <a:cubicBezTo>
                  <a:pt x="47372" y="157163"/>
                  <a:pt x="51614" y="155064"/>
                  <a:pt x="54293" y="151448"/>
                </a:cubicBezTo>
                <a:lnTo>
                  <a:pt x="68759" y="132159"/>
                </a:lnTo>
                <a:close/>
                <a:moveTo>
                  <a:pt x="195828" y="210116"/>
                </a:moveTo>
                <a:cubicBezTo>
                  <a:pt x="191720" y="214223"/>
                  <a:pt x="185604" y="215429"/>
                  <a:pt x="180246" y="213196"/>
                </a:cubicBezTo>
                <a:cubicBezTo>
                  <a:pt x="174888" y="210964"/>
                  <a:pt x="171450" y="205785"/>
                  <a:pt x="171450" y="200025"/>
                </a:cubicBezTo>
                <a:lnTo>
                  <a:pt x="171450" y="185738"/>
                </a:lnTo>
                <a:lnTo>
                  <a:pt x="157163" y="185738"/>
                </a:lnTo>
                <a:cubicBezTo>
                  <a:pt x="143679" y="185738"/>
                  <a:pt x="130954" y="179397"/>
                  <a:pt x="122873" y="168593"/>
                </a:cubicBezTo>
                <a:lnTo>
                  <a:pt x="54293" y="77153"/>
                </a:lnTo>
                <a:cubicBezTo>
                  <a:pt x="51614" y="73536"/>
                  <a:pt x="47372" y="71438"/>
                  <a:pt x="42863" y="71438"/>
                </a:cubicBezTo>
                <a:lnTo>
                  <a:pt x="14288" y="71438"/>
                </a:lnTo>
                <a:cubicBezTo>
                  <a:pt x="6385" y="71438"/>
                  <a:pt x="0" y="65053"/>
                  <a:pt x="0" y="57150"/>
                </a:cubicBezTo>
                <a:cubicBezTo>
                  <a:pt x="0" y="49247"/>
                  <a:pt x="6385" y="42863"/>
                  <a:pt x="14288" y="42863"/>
                </a:cubicBezTo>
                <a:lnTo>
                  <a:pt x="42863" y="42863"/>
                </a:lnTo>
                <a:cubicBezTo>
                  <a:pt x="56346" y="42863"/>
                  <a:pt x="69071" y="49203"/>
                  <a:pt x="77153" y="60008"/>
                </a:cubicBezTo>
                <a:lnTo>
                  <a:pt x="145733" y="151448"/>
                </a:lnTo>
                <a:cubicBezTo>
                  <a:pt x="148411" y="155064"/>
                  <a:pt x="152653" y="157163"/>
                  <a:pt x="157163" y="157163"/>
                </a:cubicBezTo>
                <a:lnTo>
                  <a:pt x="171450" y="157163"/>
                </a:lnTo>
                <a:lnTo>
                  <a:pt x="171450" y="142875"/>
                </a:lnTo>
                <a:cubicBezTo>
                  <a:pt x="171450" y="137115"/>
                  <a:pt x="174933" y="131891"/>
                  <a:pt x="180290" y="129659"/>
                </a:cubicBezTo>
                <a:cubicBezTo>
                  <a:pt x="185648" y="127427"/>
                  <a:pt x="191765" y="128677"/>
                  <a:pt x="195873" y="132740"/>
                </a:cubicBezTo>
                <a:lnTo>
                  <a:pt x="224448" y="161315"/>
                </a:lnTo>
                <a:cubicBezTo>
                  <a:pt x="227127" y="163994"/>
                  <a:pt x="228645" y="167610"/>
                  <a:pt x="228645" y="171405"/>
                </a:cubicBezTo>
                <a:cubicBezTo>
                  <a:pt x="228645" y="175200"/>
                  <a:pt x="227127" y="178817"/>
                  <a:pt x="224448" y="181496"/>
                </a:cubicBezTo>
                <a:lnTo>
                  <a:pt x="195873" y="210071"/>
                </a:ln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7"/>
          <p:cNvSpPr/>
          <p:nvPr/>
        </p:nvSpPr>
        <p:spPr>
          <a:xfrm>
            <a:off x="4984700" y="4110038"/>
            <a:ext cx="12477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max_features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609" name="Google Shape;609;p17"/>
          <p:cNvSpPr/>
          <p:nvPr/>
        </p:nvSpPr>
        <p:spPr>
          <a:xfrm>
            <a:off x="4413200" y="4586288"/>
            <a:ext cx="3438525" cy="2476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Features considered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at each split.</a:t>
            </a:r>
            <a:endParaRPr b="0" i="0" sz="1600" u="none" cap="none" strike="noStrike"/>
          </a:p>
        </p:txBody>
      </p:sp>
      <p:sp>
        <p:nvSpPr>
          <p:cNvPr id="610" name="Google Shape;610;p17"/>
          <p:cNvSpPr/>
          <p:nvPr/>
        </p:nvSpPr>
        <p:spPr>
          <a:xfrm>
            <a:off x="4413200" y="4910138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7"/>
          <p:cNvSpPr/>
          <p:nvPr/>
        </p:nvSpPr>
        <p:spPr>
          <a:xfrm>
            <a:off x="4527500" y="5024438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</a:t>
            </a:r>
            <a:endParaRPr b="0" i="0" sz="1600" u="none" cap="none" strike="noStrike"/>
          </a:p>
        </p:txBody>
      </p:sp>
      <p:sp>
        <p:nvSpPr>
          <p:cNvPr id="612" name="Google Shape;612;p17"/>
          <p:cNvSpPr/>
          <p:nvPr/>
        </p:nvSpPr>
        <p:spPr>
          <a:xfrm>
            <a:off x="4527500" y="5253038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'sqrt'</a:t>
            </a:r>
            <a:endParaRPr b="0" i="0" sz="1600" u="none" cap="none" strike="noStrike"/>
          </a:p>
        </p:txBody>
      </p:sp>
      <p:sp>
        <p:nvSpPr>
          <p:cNvPr id="613" name="Google Shape;613;p17"/>
          <p:cNvSpPr/>
          <p:nvPr/>
        </p:nvSpPr>
        <p:spPr>
          <a:xfrm>
            <a:off x="4413200" y="5710238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Introduces randomness. Fewer features = more diversity. 'sqrt' usually optimal for classification.</a:t>
            </a:r>
            <a:endParaRPr b="0" i="0" sz="1600" u="none" cap="none" strike="noStrike"/>
          </a:p>
        </p:txBody>
      </p:sp>
      <p:sp>
        <p:nvSpPr>
          <p:cNvPr id="614" name="Google Shape;614;p17"/>
          <p:cNvSpPr/>
          <p:nvPr/>
        </p:nvSpPr>
        <p:spPr>
          <a:xfrm>
            <a:off x="8112026" y="3852863"/>
            <a:ext cx="3686175" cy="2457450"/>
          </a:xfrm>
          <a:custGeom>
            <a:rect b="b" l="l" r="r" t="t"/>
            <a:pathLst>
              <a:path extrusionOk="0" h="2457450" w="3686175">
                <a:moveTo>
                  <a:pt x="114296" y="0"/>
                </a:moveTo>
                <a:lnTo>
                  <a:pt x="3571879" y="0"/>
                </a:lnTo>
                <a:cubicBezTo>
                  <a:pt x="3635003" y="0"/>
                  <a:pt x="3686175" y="51172"/>
                  <a:pt x="3686175" y="114296"/>
                </a:cubicBezTo>
                <a:lnTo>
                  <a:pt x="3686175" y="2343154"/>
                </a:lnTo>
                <a:cubicBezTo>
                  <a:pt x="3686175" y="2406278"/>
                  <a:pt x="3635003" y="2457450"/>
                  <a:pt x="3571879" y="2457450"/>
                </a:cubicBezTo>
                <a:lnTo>
                  <a:pt x="114296" y="2457450"/>
                </a:lnTo>
                <a:cubicBezTo>
                  <a:pt x="51172" y="2457450"/>
                  <a:pt x="0" y="2406278"/>
                  <a:pt x="0" y="2343154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17"/>
          <p:cNvSpPr/>
          <p:nvPr/>
        </p:nvSpPr>
        <p:spPr>
          <a:xfrm>
            <a:off x="8273951" y="4014788"/>
            <a:ext cx="457200" cy="457200"/>
          </a:xfrm>
          <a:custGeom>
            <a:rect b="b" l="l" r="r" t="t"/>
            <a:pathLst>
              <a:path extrusionOk="0" h="457200" w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17"/>
          <p:cNvSpPr/>
          <p:nvPr/>
        </p:nvSpPr>
        <p:spPr>
          <a:xfrm>
            <a:off x="8388251" y="4129088"/>
            <a:ext cx="228600" cy="228600"/>
          </a:xfrm>
          <a:custGeom>
            <a:rect b="b" l="l" r="r" t="t"/>
            <a:pathLst>
              <a:path extrusionOk="0" h="228600" w="228600">
                <a:moveTo>
                  <a:pt x="29423" y="102022"/>
                </a:moveTo>
                <a:cubicBezTo>
                  <a:pt x="35362" y="60499"/>
                  <a:pt x="71125" y="28575"/>
                  <a:pt x="114300" y="28575"/>
                </a:cubicBezTo>
                <a:cubicBezTo>
                  <a:pt x="137964" y="28575"/>
                  <a:pt x="159395" y="38174"/>
                  <a:pt x="174933" y="53667"/>
                </a:cubicBezTo>
                <a:cubicBezTo>
                  <a:pt x="175022" y="53757"/>
                  <a:pt x="175111" y="53846"/>
                  <a:pt x="175200" y="53935"/>
                </a:cubicBezTo>
                <a:lnTo>
                  <a:pt x="178594" y="57150"/>
                </a:lnTo>
                <a:lnTo>
                  <a:pt x="157207" y="57150"/>
                </a:lnTo>
                <a:cubicBezTo>
                  <a:pt x="149304" y="57150"/>
                  <a:pt x="142920" y="63535"/>
                  <a:pt x="142920" y="71438"/>
                </a:cubicBezTo>
                <a:cubicBezTo>
                  <a:pt x="142920" y="79340"/>
                  <a:pt x="149304" y="85725"/>
                  <a:pt x="157207" y="85725"/>
                </a:cubicBezTo>
                <a:lnTo>
                  <a:pt x="214357" y="85725"/>
                </a:lnTo>
                <a:cubicBezTo>
                  <a:pt x="222260" y="85725"/>
                  <a:pt x="228645" y="79340"/>
                  <a:pt x="228645" y="71438"/>
                </a:cubicBezTo>
                <a:lnTo>
                  <a:pt x="228645" y="14288"/>
                </a:lnTo>
                <a:cubicBezTo>
                  <a:pt x="228645" y="6385"/>
                  <a:pt x="222260" y="0"/>
                  <a:pt x="214357" y="0"/>
                </a:cubicBezTo>
                <a:cubicBezTo>
                  <a:pt x="206454" y="0"/>
                  <a:pt x="200070" y="6385"/>
                  <a:pt x="200070" y="14288"/>
                </a:cubicBezTo>
                <a:lnTo>
                  <a:pt x="200070" y="38130"/>
                </a:lnTo>
                <a:lnTo>
                  <a:pt x="195024" y="33352"/>
                </a:lnTo>
                <a:cubicBezTo>
                  <a:pt x="174352" y="12769"/>
                  <a:pt x="145777" y="0"/>
                  <a:pt x="114300" y="0"/>
                </a:cubicBezTo>
                <a:cubicBezTo>
                  <a:pt x="56704" y="0"/>
                  <a:pt x="9064" y="42595"/>
                  <a:pt x="1161" y="98003"/>
                </a:cubicBezTo>
                <a:cubicBezTo>
                  <a:pt x="45" y="105817"/>
                  <a:pt x="5447" y="113050"/>
                  <a:pt x="13261" y="114166"/>
                </a:cubicBezTo>
                <a:cubicBezTo>
                  <a:pt x="21074" y="115282"/>
                  <a:pt x="28307" y="109835"/>
                  <a:pt x="29423" y="102066"/>
                </a:cubicBezTo>
                <a:close/>
                <a:moveTo>
                  <a:pt x="227439" y="130597"/>
                </a:moveTo>
                <a:cubicBezTo>
                  <a:pt x="228555" y="122783"/>
                  <a:pt x="223108" y="115550"/>
                  <a:pt x="215339" y="114434"/>
                </a:cubicBezTo>
                <a:cubicBezTo>
                  <a:pt x="207571" y="113318"/>
                  <a:pt x="200293" y="118765"/>
                  <a:pt x="199177" y="126534"/>
                </a:cubicBezTo>
                <a:cubicBezTo>
                  <a:pt x="193238" y="168057"/>
                  <a:pt x="157475" y="199980"/>
                  <a:pt x="114300" y="199980"/>
                </a:cubicBezTo>
                <a:cubicBezTo>
                  <a:pt x="90636" y="199980"/>
                  <a:pt x="69205" y="190381"/>
                  <a:pt x="53667" y="174888"/>
                </a:cubicBezTo>
                <a:cubicBezTo>
                  <a:pt x="53578" y="174799"/>
                  <a:pt x="53489" y="174709"/>
                  <a:pt x="53400" y="174620"/>
                </a:cubicBezTo>
                <a:lnTo>
                  <a:pt x="50006" y="171405"/>
                </a:lnTo>
                <a:lnTo>
                  <a:pt x="71393" y="171405"/>
                </a:lnTo>
                <a:cubicBezTo>
                  <a:pt x="79296" y="171405"/>
                  <a:pt x="85680" y="165021"/>
                  <a:pt x="85680" y="157118"/>
                </a:cubicBezTo>
                <a:cubicBezTo>
                  <a:pt x="85680" y="149215"/>
                  <a:pt x="79296" y="142830"/>
                  <a:pt x="71393" y="142830"/>
                </a:cubicBezTo>
                <a:lnTo>
                  <a:pt x="14288" y="142875"/>
                </a:lnTo>
                <a:cubicBezTo>
                  <a:pt x="10492" y="142875"/>
                  <a:pt x="6831" y="144393"/>
                  <a:pt x="4152" y="147117"/>
                </a:cubicBezTo>
                <a:cubicBezTo>
                  <a:pt x="1473" y="149840"/>
                  <a:pt x="-45" y="153457"/>
                  <a:pt x="0" y="157296"/>
                </a:cubicBezTo>
                <a:lnTo>
                  <a:pt x="446" y="214000"/>
                </a:lnTo>
                <a:cubicBezTo>
                  <a:pt x="491" y="221903"/>
                  <a:pt x="6965" y="228243"/>
                  <a:pt x="14868" y="228154"/>
                </a:cubicBezTo>
                <a:cubicBezTo>
                  <a:pt x="22771" y="228064"/>
                  <a:pt x="29111" y="221635"/>
                  <a:pt x="29021" y="213732"/>
                </a:cubicBezTo>
                <a:lnTo>
                  <a:pt x="28843" y="190738"/>
                </a:lnTo>
                <a:lnTo>
                  <a:pt x="33620" y="195248"/>
                </a:lnTo>
                <a:cubicBezTo>
                  <a:pt x="54293" y="215831"/>
                  <a:pt x="82823" y="228600"/>
                  <a:pt x="114300" y="228600"/>
                </a:cubicBezTo>
                <a:cubicBezTo>
                  <a:pt x="171896" y="228600"/>
                  <a:pt x="219536" y="186005"/>
                  <a:pt x="227439" y="130597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7"/>
          <p:cNvSpPr/>
          <p:nvPr/>
        </p:nvSpPr>
        <p:spPr>
          <a:xfrm>
            <a:off x="8845451" y="4110038"/>
            <a:ext cx="923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4"/>
                </a:solidFill>
                <a:latin typeface="Liter"/>
                <a:ea typeface="Liter"/>
                <a:cs typeface="Liter"/>
                <a:sym typeface="Liter"/>
              </a:rPr>
              <a:t>bootstrap</a:t>
            </a:r>
            <a:endParaRPr b="0" i="0" sz="1600" u="none" cap="none" strike="noStrike">
              <a:solidFill>
                <a:schemeClr val="accent4"/>
              </a:solidFill>
            </a:endParaRPr>
          </a:p>
        </p:txBody>
      </p:sp>
      <p:sp>
        <p:nvSpPr>
          <p:cNvPr id="618" name="Google Shape;618;p17"/>
          <p:cNvSpPr/>
          <p:nvPr/>
        </p:nvSpPr>
        <p:spPr>
          <a:xfrm>
            <a:off x="8273951" y="4624388"/>
            <a:ext cx="19335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Sampling with replacement.</a:t>
            </a:r>
            <a:endParaRPr b="0" i="0" sz="1600" u="none" cap="none" strike="noStrike"/>
          </a:p>
        </p:txBody>
      </p:sp>
      <p:sp>
        <p:nvSpPr>
          <p:cNvPr id="619" name="Google Shape;619;p17"/>
          <p:cNvSpPr/>
          <p:nvPr/>
        </p:nvSpPr>
        <p:spPr>
          <a:xfrm>
            <a:off x="8273951" y="4910138"/>
            <a:ext cx="3362325" cy="723900"/>
          </a:xfrm>
          <a:custGeom>
            <a:rect b="b" l="l" r="r" t="t"/>
            <a:pathLst>
              <a:path extrusionOk="0" h="723900" w="3362325">
                <a:moveTo>
                  <a:pt x="76198" y="0"/>
                </a:moveTo>
                <a:lnTo>
                  <a:pt x="3286127" y="0"/>
                </a:lnTo>
                <a:cubicBezTo>
                  <a:pt x="3328182" y="0"/>
                  <a:pt x="3362325" y="34143"/>
                  <a:pt x="3362325" y="76198"/>
                </a:cubicBezTo>
                <a:lnTo>
                  <a:pt x="3362325" y="647702"/>
                </a:lnTo>
                <a:cubicBezTo>
                  <a:pt x="3362325" y="689757"/>
                  <a:pt x="3328182" y="723900"/>
                  <a:pt x="3286127" y="723900"/>
                </a:cubicBezTo>
                <a:lnTo>
                  <a:pt x="76198" y="723900"/>
                </a:lnTo>
                <a:cubicBezTo>
                  <a:pt x="34143" y="723900"/>
                  <a:pt x="0" y="689757"/>
                  <a:pt x="0" y="647702"/>
                </a:cubicBezTo>
                <a:lnTo>
                  <a:pt x="0" y="76198"/>
                </a:lnTo>
                <a:cubicBezTo>
                  <a:pt x="0" y="34143"/>
                  <a:pt x="34143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17"/>
          <p:cNvSpPr/>
          <p:nvPr/>
        </p:nvSpPr>
        <p:spPr>
          <a:xfrm>
            <a:off x="8388251" y="5024438"/>
            <a:ext cx="32004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Recommended</a:t>
            </a:r>
            <a:endParaRPr b="0" i="0" sz="1600" u="none" cap="none" strike="noStrike"/>
          </a:p>
        </p:txBody>
      </p:sp>
      <p:sp>
        <p:nvSpPr>
          <p:cNvPr id="621" name="Google Shape;621;p17"/>
          <p:cNvSpPr/>
          <p:nvPr/>
        </p:nvSpPr>
        <p:spPr>
          <a:xfrm>
            <a:off x="8388251" y="5253038"/>
            <a:ext cx="32289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</a:t>
            </a:r>
            <a:endParaRPr b="0" i="0" sz="1600" u="none" cap="none" strike="noStrike"/>
          </a:p>
        </p:txBody>
      </p:sp>
      <p:sp>
        <p:nvSpPr>
          <p:cNvPr id="622" name="Google Shape;622;p17"/>
          <p:cNvSpPr/>
          <p:nvPr/>
        </p:nvSpPr>
        <p:spPr>
          <a:xfrm>
            <a:off x="8273951" y="5710238"/>
            <a:ext cx="3429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True = each tree trained on bootstrap sample. Creates diversity, reduces overfitting.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9"/>
          <p:cNvSpPr/>
          <p:nvPr/>
        </p:nvSpPr>
        <p:spPr>
          <a:xfrm>
            <a:off x="381000" y="409575"/>
            <a:ext cx="1931789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Practical Lab Results</a:t>
            </a:r>
            <a:endParaRPr b="0" i="0" sz="1600" u="none" cap="none" strike="noStrike"/>
          </a:p>
        </p:txBody>
      </p:sp>
      <p:sp>
        <p:nvSpPr>
          <p:cNvPr id="629" name="Google Shape;629;p19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Performance Comparison &amp; Results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630" name="Google Shape;630;p19"/>
          <p:cNvSpPr/>
          <p:nvPr/>
        </p:nvSpPr>
        <p:spPr>
          <a:xfrm>
            <a:off x="381000" y="1785938"/>
            <a:ext cx="5600700" cy="2752725"/>
          </a:xfrm>
          <a:custGeom>
            <a:rect b="b" l="l" r="r" t="t"/>
            <a:pathLst>
              <a:path extrusionOk="0" h="2752725" w="5600700">
                <a:moveTo>
                  <a:pt x="114293" y="0"/>
                </a:moveTo>
                <a:lnTo>
                  <a:pt x="5486407" y="0"/>
                </a:lnTo>
                <a:cubicBezTo>
                  <a:pt x="5549487" y="0"/>
                  <a:pt x="5600700" y="51213"/>
                  <a:pt x="5600700" y="114293"/>
                </a:cubicBezTo>
                <a:lnTo>
                  <a:pt x="5600700" y="2638432"/>
                </a:lnTo>
                <a:cubicBezTo>
                  <a:pt x="5600700" y="2701512"/>
                  <a:pt x="5549487" y="2752725"/>
                  <a:pt x="5486407" y="2752725"/>
                </a:cubicBezTo>
                <a:lnTo>
                  <a:pt x="114293" y="2752725"/>
                </a:lnTo>
                <a:cubicBezTo>
                  <a:pt x="51213" y="2752725"/>
                  <a:pt x="0" y="2701512"/>
                  <a:pt x="0" y="2638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9"/>
          <p:cNvSpPr/>
          <p:nvPr/>
        </p:nvSpPr>
        <p:spPr>
          <a:xfrm>
            <a:off x="523875" y="1976438"/>
            <a:ext cx="53149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Typical Tuning Results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graphicFrame>
        <p:nvGraphicFramePr>
          <p:cNvPr id="632" name="Google Shape;632;p19"/>
          <p:cNvGraphicFramePr/>
          <p:nvPr/>
        </p:nvGraphicFramePr>
        <p:xfrm>
          <a:off x="571500" y="2395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{AC4F299C-ED9F-4CA2-ABEC-2788B87996FE}</a:tableStyleId>
              </a:tblPr>
              <a:tblGrid>
                <a:gridCol w="1297775"/>
                <a:gridCol w="1145100"/>
                <a:gridCol w="896975"/>
                <a:gridCol w="1879850"/>
              </a:tblGrid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Metric</a:t>
                      </a:r>
                      <a:endParaRPr sz="1200" u="none" cap="none" strike="noStrike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Baseline</a:t>
                      </a:r>
                      <a:endParaRPr sz="1200" u="none" cap="none" strike="noStrike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Tuned</a:t>
                      </a:r>
                      <a:endParaRPr sz="1200" u="none" cap="none" strike="noStrike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 cap="none" strike="noStrik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Improvement</a:t>
                      </a:r>
                      <a:endParaRPr sz="1200" u="none" cap="none" strike="noStrike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 cap="none" strike="noStrik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Accuracy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84.2%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91.7%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+7.5%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5400">
                      <a:solidFill>
                        <a:srgbClr val="5C7A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Precision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82.1%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90.3%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+8.2%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Recall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86.4%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93.1%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+6.7%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90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F1 Score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84.2%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91.6%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 u="none">
                          <a:solidFill>
                            <a:schemeClr val="accent2"/>
                          </a:solidFill>
                          <a:latin typeface="Microsoft Yahei"/>
                          <a:ea typeface="Microsoft Yahei"/>
                          <a:cs typeface="Microsoft Yahei"/>
                          <a:sym typeface="Microsoft Yahei"/>
                        </a:rPr>
                        <a:t>+7.4%</a:t>
                      </a:r>
                      <a:endParaRPr sz="1200">
                        <a:solidFill>
                          <a:schemeClr val="accent2"/>
                        </a:solidFill>
                        <a:latin typeface="Microsoft Yahei"/>
                        <a:ea typeface="Microsoft Yahei"/>
                        <a:cs typeface="Microsoft Yahei"/>
                        <a:sym typeface="Microsoft Yahei"/>
                      </a:endParaRPr>
                    </a:p>
                  </a:txBody>
                  <a:tcPr marT="76200" marB="76200" marR="0" marL="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C3036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33" name="Google Shape;633;p19"/>
          <p:cNvSpPr/>
          <p:nvPr/>
        </p:nvSpPr>
        <p:spPr>
          <a:xfrm>
            <a:off x="390525" y="4700588"/>
            <a:ext cx="5581650" cy="1162050"/>
          </a:xfrm>
          <a:custGeom>
            <a:rect b="b" l="l" r="r" t="t"/>
            <a:pathLst>
              <a:path extrusionOk="0" h="1162050" w="5581650">
                <a:moveTo>
                  <a:pt x="114299" y="0"/>
                </a:moveTo>
                <a:lnTo>
                  <a:pt x="5467351" y="0"/>
                </a:lnTo>
                <a:cubicBezTo>
                  <a:pt x="5530476" y="0"/>
                  <a:pt x="5581650" y="51174"/>
                  <a:pt x="5581650" y="114299"/>
                </a:cubicBezTo>
                <a:lnTo>
                  <a:pt x="5581650" y="1047751"/>
                </a:lnTo>
                <a:cubicBezTo>
                  <a:pt x="5581650" y="1110876"/>
                  <a:pt x="5530476" y="1162050"/>
                  <a:pt x="5467351" y="1162050"/>
                </a:cubicBezTo>
                <a:lnTo>
                  <a:pt x="114299" y="1162050"/>
                </a:lnTo>
                <a:cubicBezTo>
                  <a:pt x="51174" y="1162050"/>
                  <a:pt x="0" y="1110876"/>
                  <a:pt x="0" y="1047751"/>
                </a:cubicBezTo>
                <a:lnTo>
                  <a:pt x="0" y="114299"/>
                </a:lnTo>
                <a:cubicBezTo>
                  <a:pt x="0" y="51174"/>
                  <a:pt x="51174" y="0"/>
                  <a:pt x="114299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9"/>
          <p:cNvSpPr/>
          <p:nvPr/>
        </p:nvSpPr>
        <p:spPr>
          <a:xfrm>
            <a:off x="576263" y="4900613"/>
            <a:ext cx="190500" cy="190500"/>
          </a:xfrm>
          <a:custGeom>
            <a:rect b="b" l="l" r="r" t="t"/>
            <a:pathLst>
              <a:path extrusionOk="0" h="190500" w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5" name="Google Shape;635;p19"/>
          <p:cNvSpPr/>
          <p:nvPr/>
        </p:nvSpPr>
        <p:spPr>
          <a:xfrm>
            <a:off x="904875" y="4862513"/>
            <a:ext cx="18573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Expected Improvement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636" name="Google Shape;636;p19"/>
          <p:cNvSpPr/>
          <p:nvPr/>
        </p:nvSpPr>
        <p:spPr>
          <a:xfrm>
            <a:off x="552450" y="5205413"/>
            <a:ext cx="5334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Typical improvement from hyperparameter tuning ranges from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5-15%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, depending on the dataset and baseline performance.</a:t>
            </a:r>
            <a:endParaRPr b="0" i="0" sz="1600" u="none" cap="none" strike="noStrike"/>
          </a:p>
        </p:txBody>
      </p:sp>
      <p:sp>
        <p:nvSpPr>
          <p:cNvPr id="637" name="Google Shape;637;p19"/>
          <p:cNvSpPr/>
          <p:nvPr/>
        </p:nvSpPr>
        <p:spPr>
          <a:xfrm>
            <a:off x="6210300" y="1219200"/>
            <a:ext cx="5600700" cy="3352800"/>
          </a:xfrm>
          <a:custGeom>
            <a:rect b="b" l="l" r="r" t="t"/>
            <a:pathLst>
              <a:path extrusionOk="0" h="3352800" w="5600700">
                <a:moveTo>
                  <a:pt x="114297" y="0"/>
                </a:moveTo>
                <a:lnTo>
                  <a:pt x="5486403" y="0"/>
                </a:lnTo>
                <a:cubicBezTo>
                  <a:pt x="5549528" y="0"/>
                  <a:pt x="5600700" y="51172"/>
                  <a:pt x="5600700" y="114297"/>
                </a:cubicBezTo>
                <a:lnTo>
                  <a:pt x="5600700" y="3238503"/>
                </a:lnTo>
                <a:cubicBezTo>
                  <a:pt x="5600700" y="3301628"/>
                  <a:pt x="5549528" y="3352800"/>
                  <a:pt x="5486403" y="3352800"/>
                </a:cubicBezTo>
                <a:lnTo>
                  <a:pt x="114297" y="3352800"/>
                </a:lnTo>
                <a:cubicBezTo>
                  <a:pt x="51172" y="3352800"/>
                  <a:pt x="0" y="3301628"/>
                  <a:pt x="0" y="3238503"/>
                </a:cubicBezTo>
                <a:lnTo>
                  <a:pt x="0" y="114297"/>
                </a:lnTo>
                <a:cubicBezTo>
                  <a:pt x="0" y="51172"/>
                  <a:pt x="51172" y="0"/>
                  <a:pt x="114297" y="0"/>
                </a:cubicBezTo>
                <a:close/>
              </a:path>
            </a:pathLst>
          </a:custGeom>
          <a:solidFill>
            <a:srgbClr val="2C303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19"/>
          <p:cNvSpPr/>
          <p:nvPr/>
        </p:nvSpPr>
        <p:spPr>
          <a:xfrm>
            <a:off x="6319838" y="1371600"/>
            <a:ext cx="53816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Performance Improvement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pic>
        <p:nvPicPr>
          <p:cNvPr descr="https://kimi-img.moonshot.cn/pub/slides/26-01-26-13:42:17-d5rftecbr5jiu3jj56c0.png" id="639" name="Google Shape;63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2700" y="1752600"/>
            <a:ext cx="5295900" cy="2667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40" name="Google Shape;640;p19"/>
          <p:cNvSpPr/>
          <p:nvPr/>
        </p:nvSpPr>
        <p:spPr>
          <a:xfrm>
            <a:off x="6219825" y="4733925"/>
            <a:ext cx="5581650" cy="1695450"/>
          </a:xfrm>
          <a:custGeom>
            <a:rect b="b" l="l" r="r" t="t"/>
            <a:pathLst>
              <a:path extrusionOk="0" h="1695450" w="5581650">
                <a:moveTo>
                  <a:pt x="114307" y="0"/>
                </a:moveTo>
                <a:lnTo>
                  <a:pt x="5467343" y="0"/>
                </a:lnTo>
                <a:cubicBezTo>
                  <a:pt x="5530473" y="0"/>
                  <a:pt x="5581650" y="51177"/>
                  <a:pt x="5581650" y="114307"/>
                </a:cubicBezTo>
                <a:lnTo>
                  <a:pt x="5581650" y="1581143"/>
                </a:lnTo>
                <a:cubicBezTo>
                  <a:pt x="5581650" y="1644273"/>
                  <a:pt x="5530473" y="1695450"/>
                  <a:pt x="5467343" y="1695450"/>
                </a:cubicBezTo>
                <a:lnTo>
                  <a:pt x="114307" y="1695450"/>
                </a:lnTo>
                <a:cubicBezTo>
                  <a:pt x="51177" y="1695450"/>
                  <a:pt x="0" y="1644273"/>
                  <a:pt x="0" y="1581143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 cap="flat" cmpd="sng" w="25400">
            <a:solidFill>
              <a:srgbClr val="5C7A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19"/>
          <p:cNvSpPr/>
          <p:nvPr/>
        </p:nvSpPr>
        <p:spPr>
          <a:xfrm>
            <a:off x="6405563" y="4933950"/>
            <a:ext cx="190500" cy="190500"/>
          </a:xfrm>
          <a:custGeom>
            <a:rect b="b" l="l" r="r" t="t"/>
            <a:pathLst>
              <a:path extrusionOk="0" h="190500" w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95250" y="50602"/>
                </a:moveTo>
                <a:cubicBezTo>
                  <a:pt x="100199" y="50602"/>
                  <a:pt x="104180" y="54583"/>
                  <a:pt x="104180" y="59531"/>
                </a:cubicBezTo>
                <a:lnTo>
                  <a:pt x="104180" y="101203"/>
                </a:lnTo>
                <a:cubicBezTo>
                  <a:pt x="104180" y="106152"/>
                  <a:pt x="100199" y="110133"/>
                  <a:pt x="95250" y="110133"/>
                </a:cubicBezTo>
                <a:cubicBezTo>
                  <a:pt x="90301" y="110133"/>
                  <a:pt x="86320" y="106152"/>
                  <a:pt x="86320" y="101203"/>
                </a:cubicBezTo>
                <a:lnTo>
                  <a:pt x="86320" y="59531"/>
                </a:lnTo>
                <a:cubicBezTo>
                  <a:pt x="86320" y="54583"/>
                  <a:pt x="90301" y="50602"/>
                  <a:pt x="95250" y="50602"/>
                </a:cubicBezTo>
                <a:close/>
                <a:moveTo>
                  <a:pt x="85316" y="130969"/>
                </a:moveTo>
                <a:cubicBezTo>
                  <a:pt x="85090" y="127281"/>
                  <a:pt x="86929" y="123773"/>
                  <a:pt x="90090" y="121861"/>
                </a:cubicBezTo>
                <a:cubicBezTo>
                  <a:pt x="93251" y="119949"/>
                  <a:pt x="97212" y="119949"/>
                  <a:pt x="100373" y="121861"/>
                </a:cubicBezTo>
                <a:cubicBezTo>
                  <a:pt x="103534" y="123773"/>
                  <a:pt x="105373" y="127281"/>
                  <a:pt x="105147" y="130969"/>
                </a:cubicBezTo>
                <a:cubicBezTo>
                  <a:pt x="105373" y="134656"/>
                  <a:pt x="103534" y="138165"/>
                  <a:pt x="100373" y="140077"/>
                </a:cubicBezTo>
                <a:cubicBezTo>
                  <a:pt x="97212" y="141989"/>
                  <a:pt x="93251" y="141989"/>
                  <a:pt x="90090" y="140077"/>
                </a:cubicBezTo>
                <a:cubicBezTo>
                  <a:pt x="86929" y="138165"/>
                  <a:pt x="85090" y="134656"/>
                  <a:pt x="85316" y="130969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9"/>
          <p:cNvSpPr/>
          <p:nvPr/>
        </p:nvSpPr>
        <p:spPr>
          <a:xfrm>
            <a:off x="6734175" y="4895850"/>
            <a:ext cx="16859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chemeClr val="accent2"/>
                </a:solidFill>
                <a:latin typeface="Liter"/>
                <a:ea typeface="Liter"/>
                <a:cs typeface="Liter"/>
                <a:sym typeface="Liter"/>
              </a:rPr>
              <a:t>When to Stop Tuning</a:t>
            </a:r>
            <a:endParaRPr b="0" i="0" sz="1600" u="none" cap="none" strike="noStrike">
              <a:solidFill>
                <a:schemeClr val="accent2"/>
              </a:solidFill>
            </a:endParaRPr>
          </a:p>
        </p:txBody>
      </p:sp>
      <p:sp>
        <p:nvSpPr>
          <p:cNvPr id="643" name="Google Shape;643;p19"/>
          <p:cNvSpPr/>
          <p:nvPr/>
        </p:nvSpPr>
        <p:spPr>
          <a:xfrm>
            <a:off x="6381750" y="52387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Performance improvement &lt; 1% between iterations</a:t>
            </a:r>
            <a:endParaRPr b="0" i="0" sz="1600" u="none" cap="none" strike="noStrike"/>
          </a:p>
        </p:txBody>
      </p:sp>
      <p:sp>
        <p:nvSpPr>
          <p:cNvPr id="644" name="Google Shape;644;p19"/>
          <p:cNvSpPr/>
          <p:nvPr/>
        </p:nvSpPr>
        <p:spPr>
          <a:xfrm>
            <a:off x="6381750" y="55054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Validation performance starts to decrease</a:t>
            </a:r>
            <a:endParaRPr b="0" i="0" sz="1600" u="none" cap="none" strike="noStrike"/>
          </a:p>
        </p:txBody>
      </p:sp>
      <p:sp>
        <p:nvSpPr>
          <p:cNvPr id="645" name="Google Shape;645;p19"/>
          <p:cNvSpPr/>
          <p:nvPr/>
        </p:nvSpPr>
        <p:spPr>
          <a:xfrm>
            <a:off x="6381750" y="57721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Computational cost outweighs benefits</a:t>
            </a:r>
            <a:endParaRPr b="0" i="0" sz="1600" u="none" cap="none" strike="noStrike"/>
          </a:p>
        </p:txBody>
      </p:sp>
      <p:sp>
        <p:nvSpPr>
          <p:cNvPr id="646" name="Google Shape;646;p19"/>
          <p:cNvSpPr/>
          <p:nvPr/>
        </p:nvSpPr>
        <p:spPr>
          <a:xfrm>
            <a:off x="6381750" y="603885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Performance is good enough for your use case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tatic.vecteezy.com/1fc7d04be3d5c27d4a9fe7b15a7d9b3bdd457991.jpg" id="652" name="Google Shape;652;p20"/>
          <p:cNvPicPr preferRelativeResize="0"/>
          <p:nvPr/>
        </p:nvPicPr>
        <p:blipFill rotWithShape="1">
          <a:blip r:embed="rId3">
            <a:alphaModFix amt="30000"/>
          </a:blip>
          <a:srcRect b="0" l="26065" r="26065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53" name="Google Shape;653;p2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0"/>
          </a:gradFill>
          <a:ln>
            <a:noFill/>
          </a:ln>
        </p:spPr>
      </p:sp>
      <p:sp>
        <p:nvSpPr>
          <p:cNvPr id="654" name="Google Shape;654;p20"/>
          <p:cNvSpPr/>
          <p:nvPr/>
        </p:nvSpPr>
        <p:spPr>
          <a:xfrm>
            <a:off x="381000" y="357188"/>
            <a:ext cx="11715750" cy="714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E0E2E5"/>
                </a:solidFill>
                <a:latin typeface="Hedvig Letters Sans"/>
                <a:ea typeface="Hedvig Letters Sans"/>
                <a:cs typeface="Hedvig Letters Sans"/>
                <a:sym typeface="Hedvig Letters Sans"/>
              </a:rPr>
              <a:t>Key Takeaways</a:t>
            </a:r>
            <a:endParaRPr b="0" i="0" sz="1600" u="none" cap="none" strike="noStrike"/>
          </a:p>
        </p:txBody>
      </p:sp>
      <p:sp>
        <p:nvSpPr>
          <p:cNvPr id="655" name="Google Shape;655;p20"/>
          <p:cNvSpPr/>
          <p:nvPr/>
        </p:nvSpPr>
        <p:spPr>
          <a:xfrm>
            <a:off x="381000" y="1223963"/>
            <a:ext cx="914400" cy="57150"/>
          </a:xfrm>
          <a:custGeom>
            <a:rect b="b" l="l" r="r" t="t"/>
            <a:pathLst>
              <a:path extrusionOk="0" h="57150" w="914400">
                <a:moveTo>
                  <a:pt x="0" y="0"/>
                </a:moveTo>
                <a:lnTo>
                  <a:pt x="914400" y="0"/>
                </a:lnTo>
                <a:lnTo>
                  <a:pt x="9144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D9A443"/>
          </a:solidFill>
          <a:ln>
            <a:noFill/>
          </a:ln>
        </p:spPr>
      </p:sp>
      <p:sp>
        <p:nvSpPr>
          <p:cNvPr id="656" name="Google Shape;656;p20"/>
          <p:cNvSpPr/>
          <p:nvPr/>
        </p:nvSpPr>
        <p:spPr>
          <a:xfrm>
            <a:off x="400050" y="1509713"/>
            <a:ext cx="5581650" cy="1905000"/>
          </a:xfrm>
          <a:custGeom>
            <a:rect b="b" l="l" r="r" t="t"/>
            <a:pathLst>
              <a:path extrusionOk="0" h="1905000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90700"/>
                </a:lnTo>
                <a:cubicBezTo>
                  <a:pt x="5581650" y="1853784"/>
                  <a:pt x="5530434" y="1905000"/>
                  <a:pt x="54673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20"/>
          <p:cNvSpPr/>
          <p:nvPr/>
        </p:nvSpPr>
        <p:spPr>
          <a:xfrm>
            <a:off x="400050" y="1509713"/>
            <a:ext cx="38100" cy="1905000"/>
          </a:xfrm>
          <a:custGeom>
            <a:rect b="b" l="l" r="r" t="t"/>
            <a:pathLst>
              <a:path extrusionOk="0" h="1905000" w="381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20"/>
          <p:cNvSpPr/>
          <p:nvPr/>
        </p:nvSpPr>
        <p:spPr>
          <a:xfrm>
            <a:off x="609600" y="1700213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20"/>
          <p:cNvSpPr/>
          <p:nvPr/>
        </p:nvSpPr>
        <p:spPr>
          <a:xfrm>
            <a:off x="704850" y="1795463"/>
            <a:ext cx="190500" cy="190500"/>
          </a:xfrm>
          <a:custGeom>
            <a:rect b="b" l="l" r="r" t="t"/>
            <a:pathLst>
              <a:path extrusionOk="0" h="190500" w="190500">
                <a:moveTo>
                  <a:pt x="11906" y="11906"/>
                </a:moveTo>
                <a:cubicBezTo>
                  <a:pt x="18492" y="11906"/>
                  <a:pt x="23812" y="17227"/>
                  <a:pt x="23812" y="23812"/>
                </a:cubicBezTo>
                <a:lnTo>
                  <a:pt x="23812" y="148828"/>
                </a:lnTo>
                <a:cubicBezTo>
                  <a:pt x="23812" y="152102"/>
                  <a:pt x="26491" y="154781"/>
                  <a:pt x="29766" y="154781"/>
                </a:cubicBezTo>
                <a:lnTo>
                  <a:pt x="178594" y="154781"/>
                </a:lnTo>
                <a:cubicBezTo>
                  <a:pt x="185179" y="154781"/>
                  <a:pt x="190500" y="160102"/>
                  <a:pt x="190500" y="166688"/>
                </a:cubicBezTo>
                <a:cubicBezTo>
                  <a:pt x="190500" y="173273"/>
                  <a:pt x="185179" y="178594"/>
                  <a:pt x="178594" y="178594"/>
                </a:cubicBezTo>
                <a:lnTo>
                  <a:pt x="29766" y="178594"/>
                </a:lnTo>
                <a:cubicBezTo>
                  <a:pt x="13320" y="178594"/>
                  <a:pt x="0" y="165274"/>
                  <a:pt x="0" y="148828"/>
                </a:cubicBezTo>
                <a:lnTo>
                  <a:pt x="0" y="23812"/>
                </a:lnTo>
                <a:cubicBezTo>
                  <a:pt x="0" y="17227"/>
                  <a:pt x="5321" y="11906"/>
                  <a:pt x="11906" y="11906"/>
                </a:cubicBezTo>
                <a:close/>
                <a:moveTo>
                  <a:pt x="47625" y="35719"/>
                </a:moveTo>
                <a:cubicBezTo>
                  <a:pt x="47625" y="29133"/>
                  <a:pt x="52946" y="23812"/>
                  <a:pt x="59531" y="23812"/>
                </a:cubicBezTo>
                <a:lnTo>
                  <a:pt x="130969" y="23812"/>
                </a:lnTo>
                <a:cubicBezTo>
                  <a:pt x="137554" y="23812"/>
                  <a:pt x="142875" y="29133"/>
                  <a:pt x="142875" y="35719"/>
                </a:cubicBezTo>
                <a:cubicBezTo>
                  <a:pt x="142875" y="42304"/>
                  <a:pt x="137554" y="47625"/>
                  <a:pt x="130969" y="47625"/>
                </a:cubicBezTo>
                <a:lnTo>
                  <a:pt x="59531" y="47625"/>
                </a:lnTo>
                <a:cubicBezTo>
                  <a:pt x="52946" y="47625"/>
                  <a:pt x="47625" y="42304"/>
                  <a:pt x="47625" y="35719"/>
                </a:cubicBezTo>
                <a:close/>
                <a:moveTo>
                  <a:pt x="59531" y="65484"/>
                </a:moveTo>
                <a:lnTo>
                  <a:pt x="107156" y="65484"/>
                </a:lnTo>
                <a:cubicBezTo>
                  <a:pt x="113742" y="65484"/>
                  <a:pt x="119063" y="70805"/>
                  <a:pt x="119063" y="77391"/>
                </a:cubicBezTo>
                <a:cubicBezTo>
                  <a:pt x="119063" y="83976"/>
                  <a:pt x="113742" y="89297"/>
                  <a:pt x="107156" y="89297"/>
                </a:cubicBezTo>
                <a:lnTo>
                  <a:pt x="59531" y="89297"/>
                </a:lnTo>
                <a:cubicBezTo>
                  <a:pt x="52946" y="89297"/>
                  <a:pt x="47625" y="83976"/>
                  <a:pt x="47625" y="77391"/>
                </a:cubicBezTo>
                <a:cubicBezTo>
                  <a:pt x="47625" y="70805"/>
                  <a:pt x="52946" y="65484"/>
                  <a:pt x="59531" y="65484"/>
                </a:cubicBezTo>
                <a:close/>
                <a:moveTo>
                  <a:pt x="59531" y="107156"/>
                </a:move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59531" y="130969"/>
                </a:lnTo>
                <a:cubicBezTo>
                  <a:pt x="52946" y="130969"/>
                  <a:pt x="47625" y="125648"/>
                  <a:pt x="47625" y="119063"/>
                </a:cubicBezTo>
                <a:cubicBezTo>
                  <a:pt x="47625" y="112477"/>
                  <a:pt x="52946" y="107156"/>
                  <a:pt x="59531" y="10715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20"/>
          <p:cNvSpPr/>
          <p:nvPr/>
        </p:nvSpPr>
        <p:spPr>
          <a:xfrm>
            <a:off x="1104900" y="1757363"/>
            <a:ext cx="21431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Choose the Right Metric</a:t>
            </a:r>
            <a:endParaRPr b="0" i="0" sz="1600" u="none" cap="none" strike="noStrike"/>
          </a:p>
        </p:txBody>
      </p:sp>
      <p:sp>
        <p:nvSpPr>
          <p:cNvPr id="661" name="Google Shape;661;p20"/>
          <p:cNvSpPr/>
          <p:nvPr/>
        </p:nvSpPr>
        <p:spPr>
          <a:xfrm>
            <a:off x="609600" y="21955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Precision: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When false positives are costly</a:t>
            </a:r>
            <a:endParaRPr b="0" i="0" sz="1600" u="none" cap="none" strike="noStrike"/>
          </a:p>
        </p:txBody>
      </p:sp>
      <p:sp>
        <p:nvSpPr>
          <p:cNvPr id="662" name="Google Shape;662;p20"/>
          <p:cNvSpPr/>
          <p:nvPr/>
        </p:nvSpPr>
        <p:spPr>
          <a:xfrm>
            <a:off x="609600" y="24622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Recall: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When false negatives matter</a:t>
            </a:r>
            <a:endParaRPr b="0" i="0" sz="1600" u="none" cap="none" strike="noStrike"/>
          </a:p>
        </p:txBody>
      </p:sp>
      <p:sp>
        <p:nvSpPr>
          <p:cNvPr id="663" name="Google Shape;663;p20"/>
          <p:cNvSpPr/>
          <p:nvPr/>
        </p:nvSpPr>
        <p:spPr>
          <a:xfrm>
            <a:off x="609600" y="27289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F1: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balanced performance</a:t>
            </a:r>
            <a:endParaRPr b="0" i="0" sz="1600" u="none" cap="none" strike="noStrike"/>
          </a:p>
        </p:txBody>
      </p:sp>
      <p:sp>
        <p:nvSpPr>
          <p:cNvPr id="664" name="Google Shape;664;p20"/>
          <p:cNvSpPr/>
          <p:nvPr/>
        </p:nvSpPr>
        <p:spPr>
          <a:xfrm>
            <a:off x="609600" y="29956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ROC-AUC: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imbalanced data</a:t>
            </a:r>
            <a:endParaRPr b="0" i="0" sz="1600" u="none" cap="none" strike="noStrike"/>
          </a:p>
        </p:txBody>
      </p:sp>
      <p:sp>
        <p:nvSpPr>
          <p:cNvPr id="665" name="Google Shape;665;p20"/>
          <p:cNvSpPr/>
          <p:nvPr/>
        </p:nvSpPr>
        <p:spPr>
          <a:xfrm>
            <a:off x="6229350" y="1509713"/>
            <a:ext cx="5581650" cy="1905000"/>
          </a:xfrm>
          <a:custGeom>
            <a:rect b="b" l="l" r="r" t="t"/>
            <a:pathLst>
              <a:path extrusionOk="0" h="1905000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90700"/>
                </a:lnTo>
                <a:cubicBezTo>
                  <a:pt x="5581650" y="1853784"/>
                  <a:pt x="5530434" y="1905000"/>
                  <a:pt x="54673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20"/>
          <p:cNvSpPr/>
          <p:nvPr/>
        </p:nvSpPr>
        <p:spPr>
          <a:xfrm>
            <a:off x="6229350" y="1509713"/>
            <a:ext cx="38100" cy="1905000"/>
          </a:xfrm>
          <a:custGeom>
            <a:rect b="b" l="l" r="r" t="t"/>
            <a:pathLst>
              <a:path extrusionOk="0" h="1905000" w="381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20"/>
          <p:cNvSpPr/>
          <p:nvPr/>
        </p:nvSpPr>
        <p:spPr>
          <a:xfrm>
            <a:off x="6438900" y="1700213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20"/>
          <p:cNvSpPr/>
          <p:nvPr/>
        </p:nvSpPr>
        <p:spPr>
          <a:xfrm>
            <a:off x="6534150" y="1795463"/>
            <a:ext cx="190500" cy="190500"/>
          </a:xfrm>
          <a:custGeom>
            <a:rect b="b" l="l" r="r" t="t"/>
            <a:pathLst>
              <a:path extrusionOk="0" h="190500" w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20"/>
          <p:cNvSpPr/>
          <p:nvPr/>
        </p:nvSpPr>
        <p:spPr>
          <a:xfrm>
            <a:off x="6934200" y="1757363"/>
            <a:ext cx="311467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Hyperparameter Tuning is Essential</a:t>
            </a:r>
            <a:endParaRPr b="0" i="0" sz="1600" u="none" cap="none" strike="noStrike"/>
          </a:p>
        </p:txBody>
      </p:sp>
      <p:sp>
        <p:nvSpPr>
          <p:cNvPr id="670" name="Google Shape;670;p20"/>
          <p:cNvSpPr/>
          <p:nvPr/>
        </p:nvSpPr>
        <p:spPr>
          <a:xfrm>
            <a:off x="6438900" y="21955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Can yield </a:t>
            </a:r>
            <a:r>
              <a:rPr b="1" i="0" lang="en-US" sz="1200" u="none" cap="none" strike="noStrike">
                <a:solidFill>
                  <a:srgbClr val="5C7A9E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5-30% improvement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in performance</a:t>
            </a:r>
            <a:endParaRPr b="0" i="0" sz="1600" u="none" cap="none" strike="noStrike"/>
          </a:p>
        </p:txBody>
      </p:sp>
      <p:sp>
        <p:nvSpPr>
          <p:cNvPr id="671" name="Google Shape;671;p20"/>
          <p:cNvSpPr/>
          <p:nvPr/>
        </p:nvSpPr>
        <p:spPr>
          <a:xfrm>
            <a:off x="6438900" y="24622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Start with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Random Search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efficiency</a:t>
            </a:r>
            <a:endParaRPr b="0" i="0" sz="1600" u="none" cap="none" strike="noStrike"/>
          </a:p>
        </p:txBody>
      </p:sp>
      <p:sp>
        <p:nvSpPr>
          <p:cNvPr id="672" name="Google Shape;672;p20"/>
          <p:cNvSpPr/>
          <p:nvPr/>
        </p:nvSpPr>
        <p:spPr>
          <a:xfrm>
            <a:off x="6438900" y="27289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Use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Grid Search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for final refinement</a:t>
            </a:r>
            <a:endParaRPr b="0" i="0" sz="1600" u="none" cap="none" strike="noStrike"/>
          </a:p>
        </p:txBody>
      </p:sp>
      <p:sp>
        <p:nvSpPr>
          <p:cNvPr id="673" name="Google Shape;673;p20"/>
          <p:cNvSpPr/>
          <p:nvPr/>
        </p:nvSpPr>
        <p:spPr>
          <a:xfrm>
            <a:off x="6438900" y="29956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Always use </a:t>
            </a:r>
            <a:r>
              <a:rPr b="1" i="0" lang="en-US" sz="1200" u="none" cap="none" strike="noStrike">
                <a:solidFill>
                  <a:srgbClr val="E0E2E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cross-validation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to prevent overfitting</a:t>
            </a:r>
            <a:endParaRPr b="0" i="0" sz="1600" u="none" cap="none" strike="noStrike"/>
          </a:p>
        </p:txBody>
      </p:sp>
      <p:sp>
        <p:nvSpPr>
          <p:cNvPr id="674" name="Google Shape;674;p20"/>
          <p:cNvSpPr/>
          <p:nvPr/>
        </p:nvSpPr>
        <p:spPr>
          <a:xfrm>
            <a:off x="400050" y="3643313"/>
            <a:ext cx="5581650" cy="1905000"/>
          </a:xfrm>
          <a:custGeom>
            <a:rect b="b" l="l" r="r" t="t"/>
            <a:pathLst>
              <a:path extrusionOk="0" h="1905000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90700"/>
                </a:lnTo>
                <a:cubicBezTo>
                  <a:pt x="5581650" y="1853784"/>
                  <a:pt x="5530434" y="1905000"/>
                  <a:pt x="54673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20"/>
          <p:cNvSpPr/>
          <p:nvPr/>
        </p:nvSpPr>
        <p:spPr>
          <a:xfrm>
            <a:off x="400050" y="3643313"/>
            <a:ext cx="38100" cy="1905000"/>
          </a:xfrm>
          <a:custGeom>
            <a:rect b="b" l="l" r="r" t="t"/>
            <a:pathLst>
              <a:path extrusionOk="0" h="1905000" w="381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0"/>
          <p:cNvSpPr/>
          <p:nvPr/>
        </p:nvSpPr>
        <p:spPr>
          <a:xfrm>
            <a:off x="609600" y="3833812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C7A9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20"/>
          <p:cNvSpPr/>
          <p:nvPr/>
        </p:nvSpPr>
        <p:spPr>
          <a:xfrm>
            <a:off x="692944" y="3929063"/>
            <a:ext cx="214313" cy="190500"/>
          </a:xfrm>
          <a:custGeom>
            <a:rect b="b" l="l" r="r" t="t"/>
            <a:pathLst>
              <a:path extrusionOk="0" h="190500" w="214313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E0E2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20"/>
          <p:cNvSpPr/>
          <p:nvPr/>
        </p:nvSpPr>
        <p:spPr>
          <a:xfrm>
            <a:off x="1104900" y="3890962"/>
            <a:ext cx="1876425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Practice on Real Data</a:t>
            </a:r>
            <a:endParaRPr b="0" i="0" sz="1600" u="none" cap="none" strike="noStrike"/>
          </a:p>
        </p:txBody>
      </p:sp>
      <p:sp>
        <p:nvSpPr>
          <p:cNvPr id="679" name="Google Shape;679;p20"/>
          <p:cNvSpPr/>
          <p:nvPr/>
        </p:nvSpPr>
        <p:spPr>
          <a:xfrm>
            <a:off x="609600" y="43291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Build intuition through hands-on experience</a:t>
            </a:r>
            <a:endParaRPr b="0" i="0" sz="1600" u="none" cap="none" strike="noStrike"/>
          </a:p>
        </p:txBody>
      </p:sp>
      <p:sp>
        <p:nvSpPr>
          <p:cNvPr id="680" name="Google Shape;680;p20"/>
          <p:cNvSpPr/>
          <p:nvPr/>
        </p:nvSpPr>
        <p:spPr>
          <a:xfrm>
            <a:off x="609600" y="45958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Experiment with different datasets</a:t>
            </a:r>
            <a:endParaRPr b="0" i="0" sz="1600" u="none" cap="none" strike="noStrike"/>
          </a:p>
        </p:txBody>
      </p:sp>
      <p:sp>
        <p:nvSpPr>
          <p:cNvPr id="681" name="Google Shape;681;p20"/>
          <p:cNvSpPr/>
          <p:nvPr/>
        </p:nvSpPr>
        <p:spPr>
          <a:xfrm>
            <a:off x="609600" y="48625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Track how different metrics behave</a:t>
            </a:r>
            <a:endParaRPr b="0" i="0" sz="1600" u="none" cap="none" strike="noStrike"/>
          </a:p>
        </p:txBody>
      </p:sp>
      <p:sp>
        <p:nvSpPr>
          <p:cNvPr id="682" name="Google Shape;682;p20"/>
          <p:cNvSpPr/>
          <p:nvPr/>
        </p:nvSpPr>
        <p:spPr>
          <a:xfrm>
            <a:off x="609600" y="5129213"/>
            <a:ext cx="5257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Learn to recognize overfitting patterns</a:t>
            </a:r>
            <a:endParaRPr b="0" i="0" sz="1600" u="none" cap="none" strike="noStrike"/>
          </a:p>
        </p:txBody>
      </p:sp>
      <p:sp>
        <p:nvSpPr>
          <p:cNvPr id="683" name="Google Shape;683;p20"/>
          <p:cNvSpPr/>
          <p:nvPr/>
        </p:nvSpPr>
        <p:spPr>
          <a:xfrm>
            <a:off x="6229350" y="3643313"/>
            <a:ext cx="5581650" cy="1905000"/>
          </a:xfrm>
          <a:custGeom>
            <a:rect b="b" l="l" r="r" t="t"/>
            <a:pathLst>
              <a:path extrusionOk="0" h="1905000" w="558165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790700"/>
                </a:lnTo>
                <a:cubicBezTo>
                  <a:pt x="5581650" y="1853784"/>
                  <a:pt x="5530434" y="1905000"/>
                  <a:pt x="5467350" y="1905000"/>
                </a:cubicBez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>
              <a:alpha val="980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0"/>
          <p:cNvSpPr/>
          <p:nvPr/>
        </p:nvSpPr>
        <p:spPr>
          <a:xfrm>
            <a:off x="6229350" y="3643313"/>
            <a:ext cx="38100" cy="1905000"/>
          </a:xfrm>
          <a:custGeom>
            <a:rect b="b" l="l" r="r" t="t"/>
            <a:pathLst>
              <a:path extrusionOk="0" h="1905000" w="38100">
                <a:moveTo>
                  <a:pt x="38100" y="0"/>
                </a:moveTo>
                <a:lnTo>
                  <a:pt x="38100" y="0"/>
                </a:lnTo>
                <a:lnTo>
                  <a:pt x="38100" y="1905000"/>
                </a:lnTo>
                <a:lnTo>
                  <a:pt x="38100" y="1905000"/>
                </a:lnTo>
                <a:cubicBezTo>
                  <a:pt x="17072" y="1905000"/>
                  <a:pt x="0" y="1887928"/>
                  <a:pt x="0" y="1866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0"/>
          <p:cNvSpPr/>
          <p:nvPr/>
        </p:nvSpPr>
        <p:spPr>
          <a:xfrm>
            <a:off x="6438900" y="3833812"/>
            <a:ext cx="381000" cy="381000"/>
          </a:xfrm>
          <a:custGeom>
            <a:rect b="b" l="l" r="r" t="t"/>
            <a:pathLst>
              <a:path extrusionOk="0" h="381000" w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9A4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20"/>
          <p:cNvSpPr/>
          <p:nvPr/>
        </p:nvSpPr>
        <p:spPr>
          <a:xfrm>
            <a:off x="6534150" y="3929063"/>
            <a:ext cx="190500" cy="190500"/>
          </a:xfrm>
          <a:custGeom>
            <a:rect b="b" l="l" r="r" t="t"/>
            <a:pathLst>
              <a:path extrusionOk="0" h="190500" w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1A1D2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20"/>
          <p:cNvSpPr/>
          <p:nvPr/>
        </p:nvSpPr>
        <p:spPr>
          <a:xfrm>
            <a:off x="6934200" y="3890962"/>
            <a:ext cx="1905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0E2E5"/>
                </a:solidFill>
                <a:latin typeface="Liter"/>
                <a:ea typeface="Liter"/>
                <a:cs typeface="Liter"/>
                <a:sym typeface="Liter"/>
              </a:rPr>
              <a:t>Context is Everything</a:t>
            </a:r>
            <a:endParaRPr b="0" i="0" sz="1600" u="none" cap="none" strike="noStrike"/>
          </a:p>
        </p:txBody>
      </p:sp>
      <p:sp>
        <p:nvSpPr>
          <p:cNvPr id="688" name="Google Shape;688;p20"/>
          <p:cNvSpPr/>
          <p:nvPr/>
        </p:nvSpPr>
        <p:spPr>
          <a:xfrm>
            <a:off x="6438900" y="4329113"/>
            <a:ext cx="52578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Model evaluation is both </a:t>
            </a:r>
            <a:r>
              <a:rPr b="1" i="0" lang="en-US" sz="12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art and science</a:t>
            </a:r>
            <a:r>
              <a:rPr b="0" i="0" lang="en-US" sz="1200" u="none" cap="none" strike="noStrike">
                <a:solidFill>
                  <a:srgbClr val="8A9BA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. Understand your problem context, know the cost of different errors, and choose metrics that align with your business goals.</a:t>
            </a:r>
            <a:endParaRPr b="0" i="0" sz="1600" u="none" cap="none" strike="noStrike"/>
          </a:p>
        </p:txBody>
      </p:sp>
      <p:sp>
        <p:nvSpPr>
          <p:cNvPr id="689" name="Google Shape;689;p20"/>
          <p:cNvSpPr/>
          <p:nvPr/>
        </p:nvSpPr>
        <p:spPr>
          <a:xfrm>
            <a:off x="2671763" y="5862638"/>
            <a:ext cx="6848475" cy="628650"/>
          </a:xfrm>
          <a:custGeom>
            <a:rect b="b" l="l" r="r" t="t"/>
            <a:pathLst>
              <a:path extrusionOk="0" h="628650" w="6848475">
                <a:moveTo>
                  <a:pt x="114301" y="0"/>
                </a:moveTo>
                <a:lnTo>
                  <a:pt x="6734174" y="0"/>
                </a:lnTo>
                <a:cubicBezTo>
                  <a:pt x="6797258" y="0"/>
                  <a:pt x="6848475" y="51217"/>
                  <a:pt x="6848475" y="114301"/>
                </a:cubicBezTo>
                <a:lnTo>
                  <a:pt x="6848475" y="514349"/>
                </a:lnTo>
                <a:cubicBezTo>
                  <a:pt x="6848475" y="577433"/>
                  <a:pt x="6797258" y="628650"/>
                  <a:pt x="6734174" y="628650"/>
                </a:cubicBezTo>
                <a:lnTo>
                  <a:pt x="114301" y="628650"/>
                </a:lnTo>
                <a:cubicBezTo>
                  <a:pt x="51217" y="628650"/>
                  <a:pt x="0" y="577433"/>
                  <a:pt x="0" y="51434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D9A443">
              <a:alpha val="20000"/>
            </a:srgbClr>
          </a:solidFill>
          <a:ln cap="flat" cmpd="sng" w="25400">
            <a:solidFill>
              <a:srgbClr val="D9A4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0"/>
          <p:cNvSpPr/>
          <p:nvPr/>
        </p:nvSpPr>
        <p:spPr>
          <a:xfrm>
            <a:off x="2928938" y="6024563"/>
            <a:ext cx="63341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D9A443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"The right metric for the right problem makes all the difference"</a:t>
            </a:r>
            <a:endParaRPr b="0" i="0" sz="1600" u="none" cap="none" strike="noStrike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D21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ttps://kimi-web-img.moonshot.cn/img/static.vecteezy.com/1fc7d04be3d5c27d4a9fe7b15a7d9b3bdd457991.jpg" id="696" name="Google Shape;696;g3bfbcadccfe_0_0"/>
          <p:cNvPicPr preferRelativeResize="0"/>
          <p:nvPr/>
        </p:nvPicPr>
        <p:blipFill rotWithShape="1">
          <a:blip r:embed="rId3">
            <a:alphaModFix amt="30000"/>
          </a:blip>
          <a:srcRect b="0" l="26065" r="26065" t="0"/>
          <a:stretch/>
        </p:blipFill>
        <p:spPr>
          <a:xfrm>
            <a:off x="0" y="0"/>
            <a:ext cx="12192000" cy="6858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pic>
      <p:sp>
        <p:nvSpPr>
          <p:cNvPr id="697" name="Google Shape;697;g3bfbcadccfe_0_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1A1D21">
                  <a:alpha val="97647"/>
                </a:srgbClr>
              </a:gs>
              <a:gs pos="50000">
                <a:srgbClr val="1A1D21">
                  <a:alpha val="89803"/>
                </a:srgbClr>
              </a:gs>
              <a:gs pos="100000">
                <a:srgbClr val="000000">
                  <a:alpha val="0"/>
                </a:srgbClr>
              </a:gs>
            </a:gsLst>
            <a:lin ang="2700006" scaled="0"/>
          </a:gradFill>
          <a:ln>
            <a:noFill/>
          </a:ln>
        </p:spPr>
      </p:sp>
      <p:sp>
        <p:nvSpPr>
          <p:cNvPr id="698" name="Google Shape;698;g3bfbcadccfe_0_0"/>
          <p:cNvSpPr txBox="1"/>
          <p:nvPr/>
        </p:nvSpPr>
        <p:spPr>
          <a:xfrm>
            <a:off x="2324100" y="762000"/>
            <a:ext cx="72849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/>
              <a:t>Important Links</a:t>
            </a:r>
            <a:endParaRPr b="1" sz="3700"/>
          </a:p>
        </p:txBody>
      </p:sp>
      <p:sp>
        <p:nvSpPr>
          <p:cNvPr id="699" name="Google Shape;699;g3bfbcadccfe_0_0"/>
          <p:cNvSpPr txBox="1"/>
          <p:nvPr/>
        </p:nvSpPr>
        <p:spPr>
          <a:xfrm>
            <a:off x="2453550" y="1981200"/>
            <a:ext cx="7284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/>
              <a:t>Notebook: </a:t>
            </a:r>
            <a:r>
              <a:rPr lang="en-US" sz="2100" u="sng">
                <a:solidFill>
                  <a:schemeClr val="hlink"/>
                </a:solidFill>
                <a:hlinkClick r:id="rId4"/>
              </a:rPr>
              <a:t>Click Here</a:t>
            </a:r>
            <a:endParaRPr sz="210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2026-01-26T05:47:58Z</dcterms:created>
  <dc:creator>Kimi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{"Label":"Model Evaluation &amp; Optimization","ContentProducer":"001191110108MACG2KBH8F10000","ProduceID":"19bf8cc6-5242-88bd-8000-000086da068a","ReservedCode1":"","ContentPropagator":"001191110108MACG2KBH8F20000","PropagateID":"19bf8cc6-5242-88bd-8000-000086da068a","ReservedCode2":""}</vt:lpwstr>
  </property>
</Properties>
</file>
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283" r:id="rId16"/>
    <p:sldId id="284" r:id="rId17"/>
    <p:sldId id="288" r:id="rId18"/>
    <p:sldId id="287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Introduction &amp; Python </a:t>
            </a:r>
            <a:r>
              <a:rPr lang="en-US" dirty="0" smtClean="0"/>
              <a:t>Foundations</a:t>
            </a:r>
          </a:p>
          <a:p>
            <a:r>
              <a:rPr lang="en-US" dirty="0" smtClean="0"/>
              <a:t>Dr. Tariq </a:t>
            </a:r>
            <a:r>
              <a:rPr lang="en-US" dirty="0" err="1" smtClean="0"/>
              <a:t>Sadad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 &amp;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3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</a:t>
            </a:r>
            <a:r>
              <a:rPr lang="en-US" b="1" dirty="0"/>
              <a:t>Core Concepts for </a:t>
            </a:r>
            <a:r>
              <a:rPr lang="en-US" b="1" dirty="0" smtClean="0"/>
              <a:t>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Python </a:t>
            </a:r>
            <a:r>
              <a:rPr lang="en-US" dirty="0"/>
              <a:t>is the foundation of AI and ML</a:t>
            </a:r>
          </a:p>
          <a:p>
            <a:r>
              <a:rPr lang="en-US" dirty="0"/>
              <a:t>Before models, we must understand data and logic</a:t>
            </a:r>
          </a:p>
          <a:p>
            <a:r>
              <a:rPr lang="en-US" dirty="0"/>
              <a:t>Today we cover essential Python concepts used in AI</a:t>
            </a:r>
          </a:p>
          <a:p>
            <a:r>
              <a:rPr lang="en-US" dirty="0" smtClean="0"/>
              <a:t> </a:t>
            </a:r>
            <a:r>
              <a:rPr lang="en-US" i="1" dirty="0"/>
              <a:t>Strong Python → Easy AI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76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– Storing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Variables store data in </a:t>
            </a:r>
            <a:r>
              <a:rPr lang="en-US" dirty="0" smtClean="0"/>
              <a:t>memory</a:t>
            </a:r>
          </a:p>
          <a:p>
            <a:pPr lvl="1"/>
            <a:r>
              <a:rPr lang="en-US" dirty="0"/>
              <a:t>name = "Ali"</a:t>
            </a:r>
          </a:p>
          <a:p>
            <a:pPr lvl="1"/>
            <a:r>
              <a:rPr lang="en-US" dirty="0"/>
              <a:t>age = 21</a:t>
            </a:r>
          </a:p>
          <a:p>
            <a:pPr lvl="1"/>
            <a:r>
              <a:rPr lang="en-US" dirty="0" err="1"/>
              <a:t>cgpa</a:t>
            </a:r>
            <a:r>
              <a:rPr lang="en-US" dirty="0"/>
              <a:t> = 3.5</a:t>
            </a:r>
          </a:p>
          <a:p>
            <a:r>
              <a:rPr lang="en-US" dirty="0"/>
              <a:t>String → text</a:t>
            </a:r>
          </a:p>
          <a:p>
            <a:r>
              <a:rPr lang="en-US" dirty="0"/>
              <a:t>Integer → whole number</a:t>
            </a:r>
          </a:p>
          <a:p>
            <a:r>
              <a:rPr lang="en-US" dirty="0"/>
              <a:t>Float → decimal number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3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Updating </a:t>
            </a:r>
            <a:r>
              <a:rPr lang="en-US" dirty="0" smtClean="0"/>
              <a:t>Variables</a:t>
            </a:r>
          </a:p>
          <a:p>
            <a:pPr lvl="1"/>
            <a:r>
              <a:rPr lang="en-US" dirty="0"/>
              <a:t>age = 22</a:t>
            </a:r>
          </a:p>
          <a:p>
            <a:pPr lvl="1"/>
            <a:r>
              <a:rPr lang="en-US" dirty="0"/>
              <a:t>print(age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/>
              <a:t>Variables are called </a:t>
            </a:r>
            <a:r>
              <a:rPr lang="en-US" i="1" dirty="0"/>
              <a:t>variables</a:t>
            </a:r>
            <a:r>
              <a:rPr lang="en-US" dirty="0"/>
              <a:t> because their values vary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0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– Multiple Values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Lists – Multiple Values </a:t>
            </a:r>
            <a:r>
              <a:rPr lang="en-US" dirty="0" smtClean="0"/>
              <a:t>Together</a:t>
            </a:r>
          </a:p>
          <a:p>
            <a:pPr lvl="1"/>
            <a:r>
              <a:rPr lang="en-US" dirty="0"/>
              <a:t>subjects = ["Math", "Physics", "Computer", "English", "AI</a:t>
            </a:r>
            <a:r>
              <a:rPr lang="en-US" dirty="0" smtClean="0"/>
              <a:t>"]</a:t>
            </a:r>
          </a:p>
          <a:p>
            <a:r>
              <a:rPr lang="en-US" dirty="0"/>
              <a:t>Index starts from </a:t>
            </a:r>
            <a:r>
              <a:rPr lang="en-US" b="1" dirty="0"/>
              <a:t>0</a:t>
            </a:r>
            <a:endParaRPr lang="en-US" dirty="0"/>
          </a:p>
          <a:p>
            <a:r>
              <a:rPr lang="en-US" dirty="0"/>
              <a:t>Ordered collection</a:t>
            </a:r>
          </a:p>
          <a:p>
            <a:r>
              <a:rPr lang="en-US" dirty="0"/>
              <a:t>Access, add, and remove </a:t>
            </a:r>
            <a:r>
              <a:rPr lang="en-US" dirty="0" smtClean="0"/>
              <a:t>elements from list</a:t>
            </a:r>
          </a:p>
          <a:p>
            <a:pPr lvl="1"/>
            <a:r>
              <a:rPr lang="en-US" dirty="0"/>
              <a:t>subjects[0]        # First item</a:t>
            </a:r>
          </a:p>
          <a:p>
            <a:pPr lvl="1"/>
            <a:r>
              <a:rPr lang="en-US" dirty="0"/>
              <a:t>subjects[-1]       # Last item</a:t>
            </a:r>
          </a:p>
          <a:p>
            <a:pPr lvl="1"/>
            <a:r>
              <a:rPr lang="en-US" dirty="0" err="1"/>
              <a:t>subjects.append</a:t>
            </a:r>
            <a:r>
              <a:rPr lang="en-US" dirty="0"/>
              <a:t>("ML")</a:t>
            </a:r>
          </a:p>
          <a:p>
            <a:pPr lvl="1"/>
            <a:r>
              <a:rPr lang="en-US" dirty="0" err="1"/>
              <a:t>subjects.remove</a:t>
            </a:r>
            <a:r>
              <a:rPr lang="en-US" dirty="0"/>
              <a:t>("English</a:t>
            </a:r>
            <a:r>
              <a:rPr lang="en-US" dirty="0" smtClean="0"/>
              <a:t>")</a:t>
            </a:r>
          </a:p>
          <a:p>
            <a:r>
              <a:rPr lang="en-US" dirty="0" smtClean="0"/>
              <a:t>Lists </a:t>
            </a:r>
            <a:r>
              <a:rPr lang="en-US" dirty="0"/>
              <a:t>are flexible and dynamic</a:t>
            </a:r>
          </a:p>
          <a:p>
            <a:pPr marL="27432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99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Dictionaries </a:t>
            </a:r>
            <a:r>
              <a:rPr lang="en-US" b="1" dirty="0"/>
              <a:t>(Maps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Key–Value data structure</a:t>
            </a:r>
            <a:endParaRPr lang="en-US" dirty="0"/>
          </a:p>
          <a:p>
            <a:pPr lvl="1"/>
            <a:r>
              <a:rPr lang="en-US" dirty="0"/>
              <a:t>student = {</a:t>
            </a:r>
          </a:p>
          <a:p>
            <a:pPr lvl="1"/>
            <a:r>
              <a:rPr lang="en-US" dirty="0"/>
              <a:t>    "name": "Sara",</a:t>
            </a:r>
          </a:p>
          <a:p>
            <a:pPr lvl="1"/>
            <a:r>
              <a:rPr lang="en-US" dirty="0"/>
              <a:t>    "</a:t>
            </a:r>
            <a:r>
              <a:rPr lang="en-US" dirty="0" err="1"/>
              <a:t>roll_no</a:t>
            </a:r>
            <a:r>
              <a:rPr lang="en-US" dirty="0"/>
              <a:t>": 101,</a:t>
            </a:r>
          </a:p>
          <a:p>
            <a:pPr lvl="1"/>
            <a:r>
              <a:rPr lang="en-US" dirty="0"/>
              <a:t>    "marks": 85</a:t>
            </a:r>
          </a:p>
          <a:p>
            <a:pPr lvl="1"/>
            <a:r>
              <a:rPr lang="en-US" dirty="0" smtClean="0"/>
              <a:t>}</a:t>
            </a:r>
          </a:p>
          <a:p>
            <a:r>
              <a:rPr lang="en-US" dirty="0"/>
              <a:t>Key → Meaning</a:t>
            </a:r>
          </a:p>
          <a:p>
            <a:r>
              <a:rPr lang="en-US" dirty="0"/>
              <a:t>Value → Data</a:t>
            </a:r>
          </a:p>
          <a:p>
            <a:r>
              <a:rPr lang="en-US" dirty="0" smtClean="0"/>
              <a:t>Used </a:t>
            </a:r>
            <a:r>
              <a:rPr lang="en-US" dirty="0"/>
              <a:t>for real-world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212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Updating Dictionary </a:t>
            </a:r>
            <a:r>
              <a:rPr lang="en-US" b="1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/>
              <a:t>student["marks"] = 90</a:t>
            </a:r>
          </a:p>
          <a:p>
            <a:pPr lvl="1"/>
            <a:r>
              <a:rPr lang="en-US" dirty="0"/>
              <a:t>student["grade"] = "</a:t>
            </a:r>
            <a:r>
              <a:rPr lang="en-US" dirty="0" smtClean="0"/>
              <a:t>A“</a:t>
            </a:r>
          </a:p>
          <a:p>
            <a:r>
              <a:rPr lang="en-US" dirty="0"/>
              <a:t>Values can be updated</a:t>
            </a:r>
          </a:p>
          <a:p>
            <a:r>
              <a:rPr lang="en-US" dirty="0"/>
              <a:t>New keys can be added</a:t>
            </a:r>
          </a:p>
          <a:p>
            <a:r>
              <a:rPr lang="en-US" dirty="0" smtClean="0"/>
              <a:t>Dictionaries </a:t>
            </a:r>
            <a:r>
              <a:rPr lang="en-US" dirty="0"/>
              <a:t>grow with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 – Fixed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Tuples are immutable (cannot change)</a:t>
            </a:r>
            <a:endParaRPr lang="en-US" dirty="0"/>
          </a:p>
          <a:p>
            <a:pPr lvl="1"/>
            <a:r>
              <a:rPr lang="en-US" dirty="0"/>
              <a:t>cities = ("</a:t>
            </a:r>
            <a:r>
              <a:rPr lang="en-US" dirty="0" err="1"/>
              <a:t>Mardan</a:t>
            </a:r>
            <a:r>
              <a:rPr lang="en-US" dirty="0"/>
              <a:t>", "Peshawar", "Swat")</a:t>
            </a:r>
          </a:p>
          <a:p>
            <a:r>
              <a:rPr lang="en-US" dirty="0"/>
              <a:t>Similar to list</a:t>
            </a:r>
          </a:p>
          <a:p>
            <a:r>
              <a:rPr lang="en-US" dirty="0"/>
              <a:t>Used for constant data</a:t>
            </a:r>
          </a:p>
          <a:p>
            <a:r>
              <a:rPr lang="en-US" dirty="0" smtClean="0"/>
              <a:t>Safe </a:t>
            </a:r>
            <a:r>
              <a:rPr lang="en-US" dirty="0"/>
              <a:t>and fixed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14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Unique Values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Sets – Unique Values </a:t>
            </a:r>
            <a:r>
              <a:rPr lang="en-US" dirty="0" smtClean="0"/>
              <a:t>Only</a:t>
            </a:r>
          </a:p>
          <a:p>
            <a:pPr lvl="1"/>
            <a:r>
              <a:rPr lang="en-US" dirty="0"/>
              <a:t>numbers = {1, 2, 3, 3, 4</a:t>
            </a:r>
            <a:r>
              <a:rPr lang="en-US" dirty="0" smtClean="0"/>
              <a:t>}</a:t>
            </a:r>
          </a:p>
          <a:p>
            <a:r>
              <a:rPr lang="en-US" dirty="0"/>
              <a:t>No duplicates</a:t>
            </a:r>
          </a:p>
          <a:p>
            <a:r>
              <a:rPr lang="en-US" dirty="0"/>
              <a:t>Unordered collection</a:t>
            </a:r>
          </a:p>
          <a:p>
            <a:r>
              <a:rPr lang="en-US" dirty="0" smtClean="0"/>
              <a:t>Best </a:t>
            </a:r>
            <a:r>
              <a:rPr lang="en-US" dirty="0"/>
              <a:t>for unique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79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Control Flow – </a:t>
            </a:r>
            <a:r>
              <a:rPr lang="en-US" b="1" dirty="0" smtClean="0"/>
              <a:t>if–else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Programs </a:t>
            </a:r>
            <a:r>
              <a:rPr lang="en-US" b="1" dirty="0"/>
              <a:t>make decisions using </a:t>
            </a:r>
            <a:r>
              <a:rPr lang="en-US" b="1" dirty="0" smtClean="0"/>
              <a:t>conditions</a:t>
            </a:r>
          </a:p>
          <a:p>
            <a:pPr lvl="1"/>
            <a:r>
              <a:rPr lang="en-US" dirty="0"/>
              <a:t>if marks &gt;= 80:</a:t>
            </a:r>
          </a:p>
          <a:p>
            <a:pPr lvl="1"/>
            <a:r>
              <a:rPr lang="en-US" dirty="0"/>
              <a:t>    print("Pass")</a:t>
            </a:r>
          </a:p>
          <a:p>
            <a:pPr lvl="1"/>
            <a:r>
              <a:rPr lang="en-US" dirty="0"/>
              <a:t>else:</a:t>
            </a:r>
          </a:p>
          <a:p>
            <a:pPr lvl="1"/>
            <a:r>
              <a:rPr lang="en-US" dirty="0"/>
              <a:t>    print("Fail")</a:t>
            </a:r>
          </a:p>
          <a:p>
            <a:r>
              <a:rPr lang="en-US" dirty="0" smtClean="0"/>
              <a:t>Decision-making </a:t>
            </a:r>
            <a:r>
              <a:rPr lang="en-US" dirty="0"/>
              <a:t>is intelligence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8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with if–</a:t>
            </a:r>
            <a:r>
              <a:rPr lang="en-US" dirty="0" err="1"/>
              <a:t>elif</a:t>
            </a:r>
            <a:r>
              <a:rPr lang="en-US" dirty="0"/>
              <a:t>–else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/>
              <a:t>if marks &gt;= 90:</a:t>
            </a:r>
          </a:p>
          <a:p>
            <a:pPr lvl="1"/>
            <a:r>
              <a:rPr lang="en-US" dirty="0"/>
              <a:t>    grade = "A"</a:t>
            </a:r>
          </a:p>
          <a:p>
            <a:pPr lvl="1"/>
            <a:r>
              <a:rPr lang="en-US" dirty="0" err="1"/>
              <a:t>elif</a:t>
            </a:r>
            <a:r>
              <a:rPr lang="en-US" dirty="0"/>
              <a:t> marks &gt;= 80:</a:t>
            </a:r>
          </a:p>
          <a:p>
            <a:pPr lvl="1"/>
            <a:r>
              <a:rPr lang="en-US" dirty="0"/>
              <a:t>    grade = "B"</a:t>
            </a:r>
          </a:p>
          <a:p>
            <a:pPr lvl="1"/>
            <a:r>
              <a:rPr lang="en-US" dirty="0" err="1"/>
              <a:t>elif</a:t>
            </a:r>
            <a:r>
              <a:rPr lang="en-US" dirty="0"/>
              <a:t> marks &gt;= 70:</a:t>
            </a:r>
          </a:p>
          <a:p>
            <a:pPr lvl="1"/>
            <a:r>
              <a:rPr lang="en-US" dirty="0"/>
              <a:t>    grade = "C"</a:t>
            </a:r>
          </a:p>
          <a:p>
            <a:pPr lvl="1"/>
            <a:r>
              <a:rPr lang="en-US" dirty="0"/>
              <a:t>else:</a:t>
            </a:r>
          </a:p>
          <a:p>
            <a:pPr lvl="1"/>
            <a:r>
              <a:rPr lang="en-US" dirty="0"/>
              <a:t>    </a:t>
            </a:r>
            <a:r>
              <a:rPr lang="en-US" dirty="0" smtClean="0"/>
              <a:t>grade </a:t>
            </a:r>
            <a:r>
              <a:rPr lang="en-US" dirty="0"/>
              <a:t>= "</a:t>
            </a:r>
            <a:r>
              <a:rPr lang="en-US" dirty="0" smtClean="0"/>
              <a:t>F“</a:t>
            </a:r>
          </a:p>
          <a:p>
            <a:r>
              <a:rPr lang="en-US" dirty="0"/>
              <a:t>Multiple conditions handled logically</a:t>
            </a:r>
          </a:p>
        </p:txBody>
      </p:sp>
    </p:spTree>
    <p:extLst>
      <p:ext uri="{BB962C8B-B14F-4D97-AF65-F5344CB8AC3E}">
        <p14:creationId xmlns:p14="http://schemas.microsoft.com/office/powerpoint/2010/main" val="287012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– Repeating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Loops – Repeating </a:t>
            </a:r>
            <a:r>
              <a:rPr lang="en-US" dirty="0" smtClean="0"/>
              <a:t>Tasks</a:t>
            </a:r>
          </a:p>
          <a:p>
            <a:pPr lvl="1"/>
            <a:r>
              <a:rPr lang="en-US" dirty="0"/>
              <a:t>for i in range(1, 6):</a:t>
            </a:r>
          </a:p>
          <a:p>
            <a:pPr lvl="1"/>
            <a:r>
              <a:rPr lang="en-US" dirty="0"/>
              <a:t>    </a:t>
            </a:r>
            <a:r>
              <a:rPr lang="en-US" dirty="0" smtClean="0"/>
              <a:t>print(i)</a:t>
            </a:r>
          </a:p>
          <a:p>
            <a:r>
              <a:rPr lang="en-US" dirty="0"/>
              <a:t>Repeats code</a:t>
            </a:r>
          </a:p>
          <a:p>
            <a:r>
              <a:rPr lang="en-US" dirty="0"/>
              <a:t>Saves time</a:t>
            </a:r>
          </a:p>
          <a:p>
            <a:r>
              <a:rPr lang="en-US" dirty="0" smtClean="0"/>
              <a:t>Used </a:t>
            </a:r>
            <a:r>
              <a:rPr lang="en-US" dirty="0"/>
              <a:t>for large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11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/>
              <a:t>count = 5</a:t>
            </a:r>
          </a:p>
          <a:p>
            <a:pPr lvl="1"/>
            <a:r>
              <a:rPr lang="en-US" dirty="0"/>
              <a:t>while count &gt; 0:</a:t>
            </a:r>
          </a:p>
          <a:p>
            <a:pPr lvl="1"/>
            <a:r>
              <a:rPr lang="en-US" dirty="0"/>
              <a:t>    print(count)</a:t>
            </a:r>
          </a:p>
          <a:p>
            <a:pPr lvl="1"/>
            <a:r>
              <a:rPr lang="en-US" dirty="0"/>
              <a:t>    count -= </a:t>
            </a:r>
            <a:r>
              <a:rPr lang="en-US" dirty="0" smtClean="0"/>
              <a:t>1</a:t>
            </a:r>
          </a:p>
          <a:p>
            <a:r>
              <a:rPr lang="en-US" dirty="0"/>
              <a:t>Runs until condition becomes false</a:t>
            </a:r>
          </a:p>
          <a:p>
            <a:r>
              <a:rPr lang="en-US" dirty="0" smtClean="0"/>
              <a:t> </a:t>
            </a:r>
            <a:r>
              <a:rPr lang="en-US" dirty="0"/>
              <a:t>Controlled repetition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8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Imports – Python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/>
              <a:t>import math</a:t>
            </a:r>
          </a:p>
          <a:p>
            <a:pPr lvl="1"/>
            <a:r>
              <a:rPr lang="en-US" dirty="0"/>
              <a:t>import </a:t>
            </a:r>
            <a:r>
              <a:rPr lang="en-US" dirty="0" err="1" smtClean="0"/>
              <a:t>datetime</a:t>
            </a:r>
            <a:endParaRPr lang="en-US" dirty="0" smtClean="0"/>
          </a:p>
          <a:p>
            <a:r>
              <a:rPr lang="en-US" dirty="0"/>
              <a:t>Libraries extend Python capabilities</a:t>
            </a:r>
          </a:p>
          <a:p>
            <a:r>
              <a:rPr lang="en-US" dirty="0" smtClean="0"/>
              <a:t> </a:t>
            </a:r>
            <a:r>
              <a:rPr lang="en-US" dirty="0"/>
              <a:t>AI depends on libraries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18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1: </a:t>
            </a:r>
            <a:r>
              <a:rPr lang="en-US" b="1" dirty="0" err="1"/>
              <a:t>NumPy</a:t>
            </a:r>
            <a:r>
              <a:rPr lang="en-US" b="1" dirty="0"/>
              <a:t> Arrays (Numbers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371600"/>
            <a:ext cx="850392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Objective</a:t>
            </a:r>
            <a:endParaRPr lang="en-US" b="1" dirty="0"/>
          </a:p>
          <a:p>
            <a:pPr lvl="1"/>
            <a:r>
              <a:rPr lang="en-US" dirty="0"/>
              <a:t>Understand how AI works with </a:t>
            </a:r>
            <a:r>
              <a:rPr lang="en-US" b="1" dirty="0"/>
              <a:t>numerical data</a:t>
            </a:r>
            <a:r>
              <a:rPr lang="en-US" dirty="0"/>
              <a:t> using </a:t>
            </a:r>
            <a:r>
              <a:rPr lang="en-US" dirty="0" err="1"/>
              <a:t>NumPy</a:t>
            </a:r>
            <a:r>
              <a:rPr lang="en-US" dirty="0"/>
              <a:t> arrays.</a:t>
            </a:r>
          </a:p>
          <a:p>
            <a:r>
              <a:rPr lang="en-US" b="1" dirty="0" smtClean="0"/>
              <a:t>Task</a:t>
            </a:r>
            <a:endParaRPr lang="en-US" b="1" dirty="0"/>
          </a:p>
          <a:p>
            <a:pPr lvl="1"/>
            <a:r>
              <a:rPr lang="en-US" dirty="0"/>
              <a:t>Create a </a:t>
            </a:r>
            <a:r>
              <a:rPr lang="en-US" dirty="0" err="1"/>
              <a:t>NumPy</a:t>
            </a:r>
            <a:r>
              <a:rPr lang="en-US" dirty="0"/>
              <a:t> array with the values</a:t>
            </a:r>
            <a:r>
              <a:rPr lang="en-US" dirty="0" smtClean="0"/>
              <a:t>: 5</a:t>
            </a:r>
            <a:r>
              <a:rPr lang="en-US" dirty="0"/>
              <a:t>, 10, 15, 20, 25</a:t>
            </a:r>
          </a:p>
          <a:p>
            <a:pPr lvl="1"/>
            <a:r>
              <a:rPr lang="en-US" dirty="0"/>
              <a:t>Print the array</a:t>
            </a:r>
          </a:p>
          <a:p>
            <a:r>
              <a:rPr lang="en-US" dirty="0"/>
              <a:t>Find:</a:t>
            </a:r>
          </a:p>
          <a:p>
            <a:pPr lvl="1"/>
            <a:r>
              <a:rPr lang="en-US" dirty="0"/>
              <a:t>Sum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Maximum value</a:t>
            </a:r>
          </a:p>
          <a:p>
            <a:r>
              <a:rPr lang="en-US" b="1" dirty="0" smtClean="0"/>
              <a:t>Starter </a:t>
            </a:r>
            <a:r>
              <a:rPr lang="en-US" b="1" dirty="0"/>
              <a:t>Code</a:t>
            </a:r>
          </a:p>
          <a:p>
            <a:pPr marL="274320" lvl="1" indent="0">
              <a:buNone/>
            </a:pPr>
            <a:r>
              <a:rPr lang="en-US" dirty="0" smtClean="0"/>
              <a:t>	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r>
              <a:rPr lang="en-US" dirty="0"/>
              <a:t>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np.array</a:t>
            </a:r>
            <a:r>
              <a:rPr lang="en-US" dirty="0"/>
              <a:t>([5, 10, 15, 20, 25])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/>
              <a:t>	</a:t>
            </a:r>
            <a:r>
              <a:rPr lang="en-US" dirty="0" smtClean="0"/>
              <a:t>print(</a:t>
            </a:r>
            <a:r>
              <a:rPr lang="en-US" dirty="0" err="1" smtClean="0"/>
              <a:t>arr</a:t>
            </a:r>
            <a:r>
              <a:rPr lang="en-US" dirty="0"/>
              <a:t>) </a:t>
            </a:r>
          </a:p>
          <a:p>
            <a:r>
              <a:rPr lang="en-US" b="1" dirty="0" smtClean="0"/>
              <a:t>Expected </a:t>
            </a:r>
            <a:r>
              <a:rPr lang="en-US" b="1" dirty="0"/>
              <a:t>Output (Example)</a:t>
            </a:r>
          </a:p>
          <a:p>
            <a:pPr lvl="1"/>
            <a:r>
              <a:rPr lang="en-US" dirty="0"/>
              <a:t>[ 5 10 15 20 25 ] Sum: 75 Mean: 15.0 Max: 25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26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2: Pandas </a:t>
            </a:r>
            <a:r>
              <a:rPr lang="en-US" b="1" dirty="0" err="1"/>
              <a:t>DataFrame</a:t>
            </a:r>
            <a:r>
              <a:rPr lang="en-US" b="1" dirty="0"/>
              <a:t> (Tables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0392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Objective</a:t>
            </a:r>
            <a:endParaRPr lang="en-US" b="1" dirty="0"/>
          </a:p>
          <a:p>
            <a:pPr lvl="1"/>
            <a:r>
              <a:rPr lang="en-US" dirty="0"/>
              <a:t>Work with </a:t>
            </a:r>
            <a:r>
              <a:rPr lang="en-US" b="1" dirty="0"/>
              <a:t>tabular data</a:t>
            </a:r>
            <a:r>
              <a:rPr lang="en-US" dirty="0"/>
              <a:t> (rows &amp; columns) like Excel.</a:t>
            </a:r>
          </a:p>
          <a:p>
            <a:r>
              <a:rPr lang="en-US" b="1" dirty="0" smtClean="0"/>
              <a:t>Task</a:t>
            </a:r>
            <a:endParaRPr lang="en-US" b="1" dirty="0"/>
          </a:p>
          <a:p>
            <a:pPr lvl="1"/>
            <a:r>
              <a:rPr lang="en-US" dirty="0"/>
              <a:t>Create a </a:t>
            </a:r>
            <a:r>
              <a:rPr lang="en-US" dirty="0" err="1"/>
              <a:t>DataFrame</a:t>
            </a:r>
            <a:r>
              <a:rPr lang="en-US" dirty="0"/>
              <a:t> with:</a:t>
            </a:r>
          </a:p>
          <a:p>
            <a:pPr lvl="2"/>
            <a:r>
              <a:rPr lang="en-US" dirty="0"/>
              <a:t>Student Name</a:t>
            </a:r>
          </a:p>
          <a:p>
            <a:pPr lvl="2"/>
            <a:r>
              <a:rPr lang="en-US" dirty="0"/>
              <a:t>Age</a:t>
            </a:r>
          </a:p>
          <a:p>
            <a:pPr lvl="2"/>
            <a:r>
              <a:rPr lang="en-US" dirty="0"/>
              <a:t>Marks</a:t>
            </a:r>
          </a:p>
          <a:p>
            <a:pPr lvl="1"/>
            <a:r>
              <a:rPr lang="en-US" dirty="0"/>
              <a:t>Print the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Display only the </a:t>
            </a:r>
            <a:r>
              <a:rPr lang="en-US" b="1" dirty="0"/>
              <a:t>Marks</a:t>
            </a:r>
            <a:r>
              <a:rPr lang="en-US" dirty="0"/>
              <a:t> column</a:t>
            </a:r>
          </a:p>
          <a:p>
            <a:r>
              <a:rPr lang="en-US" b="1" dirty="0" smtClean="0"/>
              <a:t>Starter </a:t>
            </a:r>
            <a:r>
              <a:rPr lang="en-US" b="1" dirty="0"/>
              <a:t>Code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import </a:t>
            </a:r>
            <a:r>
              <a:rPr lang="en-US" dirty="0"/>
              <a:t>pandas as </a:t>
            </a:r>
            <a:r>
              <a:rPr lang="en-US" dirty="0" err="1"/>
              <a:t>pd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data </a:t>
            </a:r>
            <a:r>
              <a:rPr lang="en-US" dirty="0"/>
              <a:t>= </a:t>
            </a:r>
          </a:p>
          <a:p>
            <a:pPr marL="0" indent="0">
              <a:buNone/>
            </a:pPr>
            <a:r>
              <a:rPr lang="en-US" dirty="0" smtClean="0"/>
              <a:t>		{ </a:t>
            </a:r>
            <a:r>
              <a:rPr lang="en-US" dirty="0"/>
              <a:t>"Name": ["Ali", "Sara", "Ahmed"], "Age": [20, </a:t>
            </a:r>
            <a:r>
              <a:rPr lang="en-US" dirty="0" smtClean="0"/>
              <a:t>			21</a:t>
            </a:r>
            <a:r>
              <a:rPr lang="en-US" dirty="0"/>
              <a:t>, 22],  </a:t>
            </a:r>
            <a:r>
              <a:rPr lang="en-US" dirty="0" smtClean="0"/>
              <a:t>"</a:t>
            </a:r>
            <a:r>
              <a:rPr lang="en-US" dirty="0"/>
              <a:t>Marks": [85, 90, 78] }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	</a:t>
            </a:r>
            <a:r>
              <a:rPr lang="en-US" dirty="0" err="1" smtClean="0"/>
              <a:t>df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pd.DataFrame</a:t>
            </a:r>
            <a:r>
              <a:rPr lang="en-US" dirty="0"/>
              <a:t>(data)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 of Real-World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Real Data Is NOT Clean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Wrong formats</a:t>
            </a:r>
          </a:p>
          <a:p>
            <a:pPr lvl="1"/>
            <a:r>
              <a:rPr lang="en-US" dirty="0"/>
              <a:t>Duplicate rows</a:t>
            </a:r>
          </a:p>
          <a:p>
            <a:pPr lvl="1"/>
            <a:r>
              <a:rPr lang="en-US" dirty="0"/>
              <a:t>Inconsistent labels</a:t>
            </a:r>
          </a:p>
          <a:p>
            <a:r>
              <a:rPr lang="en-US" dirty="0"/>
              <a:t> </a:t>
            </a:r>
            <a:r>
              <a:rPr lang="en-US" i="1" dirty="0"/>
              <a:t>AI models fail because of bad data, not bad algorithms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21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Real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Code	</a:t>
            </a:r>
          </a:p>
          <a:p>
            <a:pPr marL="0" indent="0">
              <a:buNone/>
            </a:pPr>
            <a:r>
              <a:rPr lang="en-US" dirty="0" smtClean="0"/>
              <a:t>	import </a:t>
            </a:r>
            <a:r>
              <a:rPr lang="en-US" dirty="0"/>
              <a:t>pandas as </a:t>
            </a:r>
            <a:r>
              <a:rPr lang="en-US" dirty="0" err="1"/>
              <a:t>pd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df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pd.read_csv</a:t>
            </a:r>
            <a:r>
              <a:rPr lang="en-US" dirty="0"/>
              <a:t>("StudentsPerformance.csv")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df.head</a:t>
            </a:r>
            <a:r>
              <a:rPr lang="en-US" dirty="0" smtClean="0"/>
              <a:t>()</a:t>
            </a:r>
          </a:p>
          <a:p>
            <a:r>
              <a:rPr lang="en-US" b="1" dirty="0"/>
              <a:t>Explain</a:t>
            </a:r>
          </a:p>
          <a:p>
            <a:r>
              <a:rPr lang="en-US" dirty="0"/>
              <a:t>CSV → real-world dataset</a:t>
            </a:r>
          </a:p>
          <a:p>
            <a:r>
              <a:rPr lang="en-US" dirty="0"/>
              <a:t>head() → quick inspection</a:t>
            </a:r>
          </a:p>
          <a:p>
            <a:r>
              <a:rPr lang="en-US" b="1" dirty="0" smtClean="0"/>
              <a:t>Teaching </a:t>
            </a:r>
            <a:r>
              <a:rPr lang="en-US" b="1" dirty="0"/>
              <a:t>line</a:t>
            </a:r>
            <a:endParaRPr lang="en-US" dirty="0"/>
          </a:p>
          <a:p>
            <a:r>
              <a:rPr lang="en-US" dirty="0"/>
              <a:t>“Never trust data before seeing it.”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5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dirty="0" err="1"/>
              <a:t>df.shape</a:t>
            </a:r>
            <a:endParaRPr lang="en-US" dirty="0"/>
          </a:p>
          <a:p>
            <a:pPr marL="274320" lvl="1" indent="0">
              <a:buNone/>
            </a:pPr>
            <a:r>
              <a:rPr lang="en-US" dirty="0" err="1"/>
              <a:t>df.columns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df.info()</a:t>
            </a:r>
          </a:p>
          <a:p>
            <a:pPr marL="274320" lvl="1" indent="0">
              <a:buNone/>
            </a:pPr>
            <a:r>
              <a:rPr lang="en-US" dirty="0" err="1"/>
              <a:t>df.describe</a:t>
            </a:r>
            <a:r>
              <a:rPr lang="en-US" dirty="0"/>
              <a:t>()</a:t>
            </a:r>
          </a:p>
          <a:p>
            <a:r>
              <a:rPr lang="en-US" b="1" dirty="0"/>
              <a:t>Explain Simply</a:t>
            </a:r>
          </a:p>
          <a:p>
            <a:r>
              <a:rPr lang="en-US" dirty="0"/>
              <a:t>shape → size of data</a:t>
            </a:r>
          </a:p>
          <a:p>
            <a:r>
              <a:rPr lang="en-US" dirty="0"/>
              <a:t>columns → features</a:t>
            </a:r>
          </a:p>
          <a:p>
            <a:r>
              <a:rPr lang="en-US" dirty="0"/>
              <a:t>info() → data types &amp; missing values</a:t>
            </a:r>
          </a:p>
          <a:p>
            <a:r>
              <a:rPr lang="en-US" dirty="0"/>
              <a:t>describe() → statistics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871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“If you can clean and visualize data, AI becomes easy.</a:t>
            </a:r>
            <a:endParaRPr lang="en-US" b="1" dirty="0" smtClean="0"/>
          </a:p>
          <a:p>
            <a:r>
              <a:rPr lang="en-US" b="1" dirty="0" smtClean="0"/>
              <a:t>Common </a:t>
            </a:r>
            <a:r>
              <a:rPr lang="en-US" b="1" dirty="0"/>
              <a:t>Cleaning Tasks</a:t>
            </a:r>
          </a:p>
          <a:p>
            <a:pPr lvl="1"/>
            <a:r>
              <a:rPr lang="en-US" dirty="0" err="1"/>
              <a:t>df.isnull</a:t>
            </a:r>
            <a:r>
              <a:rPr lang="en-US" dirty="0"/>
              <a:t>().sum() </a:t>
            </a:r>
            <a:r>
              <a:rPr lang="en-US" dirty="0" smtClean="0"/>
              <a:t>	%</a:t>
            </a:r>
            <a:r>
              <a:rPr lang="en-US" sz="1600" dirty="0" smtClean="0"/>
              <a:t> </a:t>
            </a:r>
            <a:r>
              <a:rPr lang="en-US" sz="1600" dirty="0"/>
              <a:t>Finds </a:t>
            </a:r>
            <a:r>
              <a:rPr lang="en-US" sz="1600" b="1" dirty="0"/>
              <a:t>missing values</a:t>
            </a:r>
            <a:r>
              <a:rPr lang="en-US" sz="1600" dirty="0"/>
              <a:t> in the dataset.</a:t>
            </a:r>
          </a:p>
          <a:p>
            <a:pPr lvl="1"/>
            <a:r>
              <a:rPr lang="en-US" dirty="0" err="1"/>
              <a:t>df.dropna</a:t>
            </a:r>
            <a:r>
              <a:rPr lang="en-US" dirty="0" smtClean="0"/>
              <a:t>() 	% </a:t>
            </a:r>
            <a:r>
              <a:rPr lang="en-US" sz="1600" dirty="0"/>
              <a:t>Removes rows that contain missing values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df.fillna</a:t>
            </a:r>
            <a:r>
              <a:rPr lang="en-US" dirty="0"/>
              <a:t>(0)	%Replaces missing values with </a:t>
            </a:r>
            <a:r>
              <a:rPr lang="en-US" b="1" dirty="0"/>
              <a:t>0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df.duplicated</a:t>
            </a:r>
            <a:r>
              <a:rPr lang="en-US" dirty="0"/>
              <a:t>().sum() % Counts </a:t>
            </a:r>
            <a:r>
              <a:rPr lang="en-US" b="1" dirty="0"/>
              <a:t>duplicate rows</a:t>
            </a:r>
            <a:r>
              <a:rPr lang="en-US" dirty="0"/>
              <a:t>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69889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Numbers Are Not Enough</a:t>
            </a:r>
          </a:p>
          <a:p>
            <a:pPr lvl="1"/>
            <a:r>
              <a:rPr lang="en-US" dirty="0"/>
              <a:t>Tables are boring</a:t>
            </a:r>
          </a:p>
          <a:p>
            <a:pPr lvl="1"/>
            <a:r>
              <a:rPr lang="en-US" dirty="0"/>
              <a:t>Humans understand </a:t>
            </a:r>
            <a:r>
              <a:rPr lang="en-US" b="1" dirty="0"/>
              <a:t>pictures</a:t>
            </a:r>
            <a:endParaRPr lang="en-US" dirty="0"/>
          </a:p>
          <a:p>
            <a:pPr lvl="1"/>
            <a:r>
              <a:rPr lang="en-US" dirty="0"/>
              <a:t>Patterns are easier to see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Visualization turns data into insight.”</a:t>
            </a:r>
          </a:p>
          <a:p>
            <a:endParaRPr lang="en-US" dirty="0"/>
          </a:p>
        </p:txBody>
      </p:sp>
      <p:pic>
        <p:nvPicPr>
          <p:cNvPr id="1026" name="Picture 2" descr="The Power of Data Visualization: Best Practices for Storytelling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191000"/>
            <a:ext cx="4850524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977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Tools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b="1" dirty="0" err="1" smtClean="0"/>
              <a:t>Matplotlib</a:t>
            </a:r>
            <a:r>
              <a:rPr lang="en-US" dirty="0" smtClean="0"/>
              <a:t> </a:t>
            </a:r>
            <a:r>
              <a:rPr lang="en-US" dirty="0"/>
              <a:t>→ basic plots</a:t>
            </a:r>
          </a:p>
          <a:p>
            <a:pPr lvl="1"/>
            <a:r>
              <a:rPr lang="en-US" b="1" dirty="0" err="1" smtClean="0"/>
              <a:t>Seaborn</a:t>
            </a:r>
            <a:r>
              <a:rPr lang="en-US" dirty="0" smtClean="0"/>
              <a:t> </a:t>
            </a:r>
            <a:r>
              <a:rPr lang="en-US" dirty="0"/>
              <a:t>→ beautiful plots</a:t>
            </a:r>
          </a:p>
          <a:p>
            <a:r>
              <a:rPr lang="en-US" i="1" dirty="0" smtClean="0"/>
              <a:t>Both </a:t>
            </a:r>
            <a:r>
              <a:rPr lang="en-US" i="1" dirty="0"/>
              <a:t>are used together</a:t>
            </a:r>
            <a:endParaRPr lang="en-US" dirty="0"/>
          </a:p>
          <a:p>
            <a:r>
              <a:rPr lang="en-US" b="1" dirty="0" smtClean="0"/>
              <a:t>Memory </a:t>
            </a:r>
            <a:r>
              <a:rPr lang="en-US" b="1" dirty="0"/>
              <a:t>Line</a:t>
            </a:r>
            <a:endParaRPr lang="en-US" dirty="0"/>
          </a:p>
          <a:p>
            <a:pPr lvl="1"/>
            <a:r>
              <a:rPr lang="en-US" dirty="0" err="1"/>
              <a:t>Matplotlib</a:t>
            </a:r>
            <a:r>
              <a:rPr lang="en-US" dirty="0"/>
              <a:t> = </a:t>
            </a:r>
            <a:r>
              <a:rPr lang="en-US" dirty="0" smtClean="0"/>
              <a:t>control</a:t>
            </a:r>
          </a:p>
          <a:p>
            <a:pPr lvl="1"/>
            <a:r>
              <a:rPr lang="en-US" dirty="0" err="1" smtClean="0"/>
              <a:t>Seaborn</a:t>
            </a:r>
            <a:r>
              <a:rPr lang="en-US" dirty="0" smtClean="0"/>
              <a:t> </a:t>
            </a:r>
            <a:r>
              <a:rPr lang="en-US" dirty="0"/>
              <a:t>= beauty</a:t>
            </a:r>
          </a:p>
          <a:p>
            <a:endParaRPr lang="en-US" dirty="0"/>
          </a:p>
        </p:txBody>
      </p:sp>
      <p:pic>
        <p:nvPicPr>
          <p:cNvPr id="2050" name="Picture 2" descr="Seaborn vs. Matplotlib. Which Should You Use and When? | b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971800"/>
            <a:ext cx="4648200" cy="302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808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Plot (</a:t>
            </a:r>
            <a:r>
              <a:rPr lang="en-US" dirty="0" err="1"/>
              <a:t>Matplotlib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 err="1" smtClean="0"/>
              <a:t>df</a:t>
            </a:r>
            <a:r>
              <a:rPr lang="en-US" dirty="0"/>
              <a:t>['math score'].plot(kind='</a:t>
            </a:r>
            <a:r>
              <a:rPr lang="en-US" dirty="0" err="1"/>
              <a:t>hist</a:t>
            </a:r>
            <a:r>
              <a:rPr lang="en-US" dirty="0"/>
              <a:t>')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</a:p>
          <a:p>
            <a:r>
              <a:rPr lang="en-US" b="1" dirty="0"/>
              <a:t>Explain</a:t>
            </a:r>
          </a:p>
          <a:p>
            <a:pPr lvl="1"/>
            <a:r>
              <a:rPr lang="en-US" dirty="0"/>
              <a:t>Distribution of scores</a:t>
            </a:r>
          </a:p>
          <a:p>
            <a:pPr lvl="1"/>
            <a:r>
              <a:rPr lang="en-US" dirty="0"/>
              <a:t>Where most students lie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16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Seaborn</a:t>
            </a:r>
            <a:r>
              <a:rPr lang="en-US" dirty="0"/>
              <a:t> for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seaborn</a:t>
            </a:r>
            <a:r>
              <a:rPr lang="en-US" dirty="0"/>
              <a:t> as </a:t>
            </a:r>
            <a:r>
              <a:rPr lang="en-US" dirty="0" err="1"/>
              <a:t>sns</a:t>
            </a:r>
            <a:endParaRPr lang="en-US" dirty="0"/>
          </a:p>
          <a:p>
            <a:r>
              <a:rPr lang="en-US" dirty="0" err="1" smtClean="0"/>
              <a:t>sns.boxplot</a:t>
            </a:r>
            <a:r>
              <a:rPr lang="en-US" dirty="0" smtClean="0"/>
              <a:t>(x</a:t>
            </a:r>
            <a:r>
              <a:rPr lang="en-US" dirty="0"/>
              <a:t>='gender', y='math score', data=</a:t>
            </a:r>
            <a:r>
              <a:rPr lang="en-US" dirty="0" err="1"/>
              <a:t>df</a:t>
            </a:r>
            <a:r>
              <a:rPr lang="en-US" dirty="0" smtClean="0"/>
              <a:t>)</a:t>
            </a:r>
          </a:p>
          <a:p>
            <a:r>
              <a:rPr lang="en-US" b="1" dirty="0"/>
              <a:t>Explain</a:t>
            </a:r>
          </a:p>
          <a:p>
            <a:pPr lvl="1"/>
            <a:r>
              <a:rPr lang="en-US" dirty="0"/>
              <a:t>Comparison between groups</a:t>
            </a:r>
          </a:p>
          <a:p>
            <a:pPr lvl="1"/>
            <a:r>
              <a:rPr lang="en-US" dirty="0"/>
              <a:t>Hidden patterns</a:t>
            </a:r>
          </a:p>
          <a:p>
            <a:r>
              <a:rPr lang="en-US" b="1" dirty="0" smtClean="0"/>
              <a:t>Teaching </a:t>
            </a:r>
            <a:r>
              <a:rPr lang="en-US" b="1" dirty="0"/>
              <a:t>line</a:t>
            </a:r>
            <a:endParaRPr lang="en-US" dirty="0"/>
          </a:p>
          <a:p>
            <a:pPr lvl="1"/>
            <a:r>
              <a:rPr lang="en-US" dirty="0"/>
              <a:t>“Good plots answer questions without text.”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03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EDA (Preview)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/>
              <a:t>Instead of writing many plots, let Python do it automatically.”</a:t>
            </a:r>
          </a:p>
          <a:p>
            <a:r>
              <a:rPr lang="en-US" dirty="0"/>
              <a:t>from </a:t>
            </a:r>
            <a:r>
              <a:rPr lang="en-US" dirty="0" err="1"/>
              <a:t>pandas_profiling</a:t>
            </a:r>
            <a:r>
              <a:rPr lang="en-US" dirty="0"/>
              <a:t> import </a:t>
            </a:r>
            <a:r>
              <a:rPr lang="en-US" dirty="0" err="1"/>
              <a:t>ProfileReport</a:t>
            </a:r>
            <a:endParaRPr lang="en-US" dirty="0"/>
          </a:p>
          <a:p>
            <a:r>
              <a:rPr lang="en-US" dirty="0"/>
              <a:t>profile = </a:t>
            </a:r>
            <a:r>
              <a:rPr lang="en-US" dirty="0" err="1"/>
              <a:t>ProfileReport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r>
              <a:rPr lang="en-US" dirty="0" smtClean="0"/>
              <a:t>Profile</a:t>
            </a:r>
          </a:p>
          <a:p>
            <a:r>
              <a:rPr lang="en-US" dirty="0"/>
              <a:t>This is an </a:t>
            </a:r>
            <a:r>
              <a:rPr lang="en-US" dirty="0" smtClean="0"/>
              <a:t>automated </a:t>
            </a:r>
            <a:r>
              <a:rPr lang="en-US" dirty="0"/>
              <a:t>EDA </a:t>
            </a:r>
            <a:r>
              <a:rPr lang="en-US" dirty="0" smtClean="0"/>
              <a:t>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22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TASK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r>
              <a:rPr lang="en-US" dirty="0"/>
              <a:t>Load a CSV dataset</a:t>
            </a:r>
          </a:p>
          <a:p>
            <a:r>
              <a:rPr lang="en-US" dirty="0"/>
              <a:t>Check missing values</a:t>
            </a:r>
          </a:p>
          <a:p>
            <a:r>
              <a:rPr lang="en-US" dirty="0"/>
              <a:t>Handle missing data</a:t>
            </a:r>
          </a:p>
          <a:p>
            <a:r>
              <a:rPr lang="en-US" dirty="0"/>
              <a:t>Remove duplicates</a:t>
            </a:r>
          </a:p>
          <a:p>
            <a:r>
              <a:rPr lang="en-US" dirty="0" smtClean="0"/>
              <a:t>Dataset</a:t>
            </a:r>
            <a:r>
              <a:rPr lang="en-US" dirty="0"/>
              <a:t>: Any </a:t>
            </a:r>
            <a:r>
              <a:rPr lang="en-US" dirty="0" err="1"/>
              <a:t>Kaggle</a:t>
            </a:r>
            <a:r>
              <a:rPr lang="en-US" dirty="0"/>
              <a:t> CSV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20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LAB TASK 2: Exploratory Data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Task</a:t>
            </a:r>
            <a:endParaRPr lang="en-US" b="1" dirty="0"/>
          </a:p>
          <a:p>
            <a:pPr lvl="1"/>
            <a:r>
              <a:rPr lang="en-US" dirty="0"/>
              <a:t>Show dataset shape &amp; columns</a:t>
            </a:r>
          </a:p>
          <a:p>
            <a:pPr lvl="1"/>
            <a:r>
              <a:rPr lang="en-US" dirty="0"/>
              <a:t>Use describe()</a:t>
            </a:r>
          </a:p>
          <a:p>
            <a:pPr lvl="1"/>
            <a:r>
              <a:rPr lang="en-US" dirty="0"/>
              <a:t>Identify one insight</a:t>
            </a:r>
          </a:p>
          <a:p>
            <a:r>
              <a:rPr lang="en-US" i="1" dirty="0" smtClean="0"/>
              <a:t>Write </a:t>
            </a:r>
            <a:r>
              <a:rPr lang="en-US" i="1" dirty="0"/>
              <a:t>insight in words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62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LAB TASK 3: </a:t>
            </a:r>
            <a:r>
              <a:rPr lang="en-US" b="1" dirty="0" smtClean="0"/>
              <a:t>Visualization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Task</a:t>
            </a:r>
            <a:endParaRPr lang="en-US" b="1" dirty="0"/>
          </a:p>
          <a:p>
            <a:r>
              <a:rPr lang="en-US" dirty="0"/>
              <a:t>Create:</a:t>
            </a:r>
          </a:p>
          <a:p>
            <a:pPr lvl="1"/>
            <a:r>
              <a:rPr lang="en-US" dirty="0"/>
              <a:t>Histogram</a:t>
            </a:r>
          </a:p>
          <a:p>
            <a:pPr lvl="1"/>
            <a:r>
              <a:rPr lang="en-US" dirty="0"/>
              <a:t>Boxplot</a:t>
            </a:r>
          </a:p>
          <a:p>
            <a:pPr lvl="1"/>
            <a:r>
              <a:rPr lang="en-US" dirty="0"/>
              <a:t>Bar chart</a:t>
            </a:r>
          </a:p>
          <a:p>
            <a:r>
              <a:rPr lang="en-US" dirty="0"/>
              <a:t>Compare two categories</a:t>
            </a:r>
          </a:p>
          <a:p>
            <a:r>
              <a:rPr lang="en-US" i="1" dirty="0" smtClean="0"/>
              <a:t>Use </a:t>
            </a:r>
            <a:r>
              <a:rPr lang="en-US" i="1" dirty="0" err="1"/>
              <a:t>Matplotlib</a:t>
            </a:r>
            <a:r>
              <a:rPr lang="en-US" i="1" dirty="0"/>
              <a:t> + </a:t>
            </a:r>
            <a:r>
              <a:rPr lang="en-US" i="1" dirty="0" err="1"/>
              <a:t>Seaborn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21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LAB TASK 4: Mini EDA </a:t>
            </a:r>
            <a:r>
              <a:rPr lang="en-US" b="1" dirty="0" smtClean="0"/>
              <a:t>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Task</a:t>
            </a:r>
            <a:endParaRPr lang="en-US" b="1" dirty="0"/>
          </a:p>
          <a:p>
            <a:r>
              <a:rPr lang="en-US" dirty="0"/>
              <a:t>Generate automated EDA report</a:t>
            </a:r>
          </a:p>
          <a:p>
            <a:r>
              <a:rPr lang="en-US" dirty="0"/>
              <a:t>Export or show report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42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416</TotalTime>
  <Words>849</Words>
  <Application>Microsoft Office PowerPoint</Application>
  <PresentationFormat>On-screen Show (4:3)</PresentationFormat>
  <Paragraphs>222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Civic</vt:lpstr>
      <vt:lpstr>AI &amp; Machine Learning</vt:lpstr>
      <vt:lpstr>Python Core Concepts for AI</vt:lpstr>
      <vt:lpstr>Variables – Storing Information</vt:lpstr>
      <vt:lpstr>Updating Variables</vt:lpstr>
      <vt:lpstr>Lists – Multiple Values Together</vt:lpstr>
      <vt:lpstr>Dictionaries (Maps)</vt:lpstr>
      <vt:lpstr>Updating Dictionary Data</vt:lpstr>
      <vt:lpstr>Tuples – Fixed Data</vt:lpstr>
      <vt:lpstr>Sets – Unique Values Only</vt:lpstr>
      <vt:lpstr>Control Flow – if–else</vt:lpstr>
      <vt:lpstr>Grading with if–elif–else</vt:lpstr>
      <vt:lpstr>Loops – Repeating Tasks</vt:lpstr>
      <vt:lpstr>While Loop</vt:lpstr>
      <vt:lpstr>Imports – Python Power</vt:lpstr>
      <vt:lpstr>TASK 1: NumPy Arrays (Numbers)</vt:lpstr>
      <vt:lpstr>TASK 2: Pandas DataFrame (Tables)</vt:lpstr>
      <vt:lpstr>Reality of Real-World Data</vt:lpstr>
      <vt:lpstr>Loading a Real CSV</vt:lpstr>
      <vt:lpstr>Understanding the Dataset</vt:lpstr>
      <vt:lpstr>Data Cleaning</vt:lpstr>
      <vt:lpstr>Why Visualization Matters</vt:lpstr>
      <vt:lpstr>Visualization Tools in Python</vt:lpstr>
      <vt:lpstr>First Plot (Matplotlib)</vt:lpstr>
      <vt:lpstr>Seaborn for Storytelling</vt:lpstr>
      <vt:lpstr>Automated EDA (Preview)</vt:lpstr>
      <vt:lpstr>LAB TASK 1: Data Cleaning</vt:lpstr>
      <vt:lpstr>LAB TASK 2: Exploratory Data Analysis</vt:lpstr>
      <vt:lpstr>LAB TASK 3: Visualization</vt:lpstr>
      <vt:lpstr>LAB TASK 4: Mini EDA Dashboard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SIS</dc:creator>
  <cp:lastModifiedBy>SIS</cp:lastModifiedBy>
  <cp:revision>326</cp:revision>
  <dcterms:created xsi:type="dcterms:W3CDTF">2006-08-16T00:00:00Z</dcterms:created>
  <dcterms:modified xsi:type="dcterms:W3CDTF">2026-01-24T20:28:18Z</dcterms:modified>
</cp:coreProperties>
</file>
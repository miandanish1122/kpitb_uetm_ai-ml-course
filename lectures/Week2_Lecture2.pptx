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6" r:id="rId3"/>
    <p:sldId id="319" r:id="rId4"/>
    <p:sldId id="290" r:id="rId5"/>
    <p:sldId id="320" r:id="rId6"/>
    <p:sldId id="307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1" r:id="rId17"/>
    <p:sldId id="332" r:id="rId18"/>
    <p:sldId id="333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4660"/>
  </p:normalViewPr>
  <p:slideViewPr>
    <p:cSldViewPr>
      <p:cViewPr>
        <p:scale>
          <a:sx n="60" d="100"/>
          <a:sy n="60" d="100"/>
        </p:scale>
        <p:origin x="-1566" y="-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SUPERVISED MACHINE LEARNING</a:t>
            </a:r>
          </a:p>
          <a:p>
            <a:r>
              <a:rPr lang="en-US" dirty="0" smtClean="0"/>
              <a:t>Dr</a:t>
            </a:r>
            <a:r>
              <a:rPr lang="en-US" dirty="0" smtClean="0"/>
              <a:t>. Tariq </a:t>
            </a:r>
            <a:r>
              <a:rPr lang="en-US" dirty="0" err="1" smtClean="0"/>
              <a:t>Sadad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AI &amp; 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23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Regression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Linear, Ridge &amp; Lasso </a:t>
            </a:r>
            <a:r>
              <a:rPr lang="en-US" b="1" dirty="0" smtClean="0"/>
              <a:t>Regression</a:t>
            </a:r>
            <a:endParaRPr lang="en-US" dirty="0" smtClean="0"/>
          </a:p>
          <a:p>
            <a:pPr lvl="1"/>
            <a:r>
              <a:rPr lang="en-US" i="1" dirty="0" smtClean="0"/>
              <a:t>Predicting </a:t>
            </a:r>
            <a:r>
              <a:rPr lang="en-US" i="1" dirty="0"/>
              <a:t>continuous values from data</a:t>
            </a:r>
            <a:endParaRPr lang="en-US" dirty="0"/>
          </a:p>
          <a:p>
            <a:r>
              <a:rPr lang="en-US" dirty="0" smtClean="0"/>
              <a:t>“</a:t>
            </a:r>
            <a:r>
              <a:rPr lang="en-US" dirty="0"/>
              <a:t>Today, we teach machines to predict numbers — like prices, scores, demand, and risk.”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4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SUPERVISED LEARNING?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SUPERVISED LEARNING</a:t>
            </a:r>
          </a:p>
          <a:p>
            <a:pPr lvl="1"/>
            <a:r>
              <a:rPr lang="en-US" dirty="0"/>
              <a:t>Data with </a:t>
            </a:r>
            <a:r>
              <a:rPr lang="en-US" b="1" dirty="0"/>
              <a:t>inputs (X)</a:t>
            </a:r>
            <a:r>
              <a:rPr lang="en-US" dirty="0"/>
              <a:t> and </a:t>
            </a:r>
            <a:r>
              <a:rPr lang="en-US" b="1" dirty="0"/>
              <a:t>known outputs (y)</a:t>
            </a:r>
            <a:endParaRPr lang="en-US" dirty="0"/>
          </a:p>
          <a:p>
            <a:pPr lvl="1"/>
            <a:r>
              <a:rPr lang="en-US" dirty="0"/>
              <a:t>Model learns the relationship</a:t>
            </a:r>
          </a:p>
          <a:p>
            <a:pPr lvl="1"/>
            <a:r>
              <a:rPr lang="en-US" dirty="0"/>
              <a:t>We guide the model using examples</a:t>
            </a:r>
          </a:p>
          <a:p>
            <a:r>
              <a:rPr lang="en-US" b="1" dirty="0"/>
              <a:t>Examples</a:t>
            </a:r>
            <a:endParaRPr lang="en-US" dirty="0"/>
          </a:p>
          <a:p>
            <a:pPr lvl="1"/>
            <a:r>
              <a:rPr lang="en-US" dirty="0"/>
              <a:t>House features → price</a:t>
            </a:r>
          </a:p>
          <a:p>
            <a:pPr lvl="1"/>
            <a:r>
              <a:rPr lang="en-US" dirty="0"/>
              <a:t>Hours studied → marks</a:t>
            </a:r>
          </a:p>
          <a:p>
            <a:pPr lvl="1"/>
            <a:r>
              <a:rPr lang="en-US" dirty="0"/>
              <a:t>Ads budget → sales</a:t>
            </a:r>
          </a:p>
          <a:p>
            <a:r>
              <a:rPr lang="en-US" dirty="0" smtClean="0"/>
              <a:t> </a:t>
            </a:r>
            <a:r>
              <a:rPr lang="en-US" i="1" dirty="0"/>
              <a:t>Supervised = learning with answers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1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</a:t>
            </a:r>
            <a:r>
              <a:rPr lang="en-US" dirty="0" err="1"/>
              <a:t>vs</a:t>
            </a:r>
            <a:r>
              <a:rPr lang="en-US" dirty="0"/>
              <a:t> </a:t>
            </a:r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What Are We Predicting</a:t>
            </a:r>
            <a:r>
              <a:rPr lang="en-US" b="1" dirty="0" smtClean="0"/>
              <a:t>?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b="1" dirty="0"/>
              <a:t>Today = numbers only</a:t>
            </a:r>
            <a:endParaRPr lang="en-US" dirty="0"/>
          </a:p>
          <a:p>
            <a:r>
              <a:rPr lang="en-US" dirty="0" smtClean="0"/>
              <a:t>“</a:t>
            </a:r>
            <a:r>
              <a:rPr lang="en-US" dirty="0"/>
              <a:t>If the answer is a number, think regression.”</a:t>
            </a:r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01625" y="3640614"/>
          <a:ext cx="8534400" cy="365760"/>
        </p:xfrm>
        <a:graphic>
          <a:graphicData uri="http://schemas.openxmlformats.org/drawingml/2006/table">
            <a:tbl>
              <a:tblPr/>
              <a:tblGrid>
                <a:gridCol w="4267200"/>
                <a:gridCol w="42672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Task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465668"/>
              </p:ext>
            </p:extLst>
          </p:nvPr>
        </p:nvGraphicFramePr>
        <p:xfrm>
          <a:off x="301625" y="2819400"/>
          <a:ext cx="8534400" cy="1263174"/>
        </p:xfrm>
        <a:graphic>
          <a:graphicData uri="http://schemas.openxmlformats.org/drawingml/2006/table">
            <a:tbl>
              <a:tblPr/>
              <a:tblGrid>
                <a:gridCol w="4267200"/>
                <a:gridCol w="4267200"/>
              </a:tblGrid>
              <a:tr h="1263174">
                <a:tc>
                  <a:txBody>
                    <a:bodyPr/>
                    <a:lstStyle/>
                    <a:p>
                      <a:r>
                        <a:rPr lang="en-US" dirty="0"/>
                        <a:t>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6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“Draw the best straight line through the data.”</a:t>
            </a:r>
          </a:p>
          <a:p>
            <a:r>
              <a:rPr lang="en-US" dirty="0"/>
              <a:t>Line minimizes total error</a:t>
            </a:r>
          </a:p>
          <a:p>
            <a:r>
              <a:rPr lang="en-US" dirty="0"/>
              <a:t>Simple &amp; fast baseline</a:t>
            </a:r>
          </a:p>
          <a:p>
            <a:r>
              <a:rPr lang="en-US" dirty="0" smtClean="0"/>
              <a:t>“</a:t>
            </a:r>
            <a:r>
              <a:rPr lang="en-US" dirty="0"/>
              <a:t>This is the first model every ML engineer tries.”</a:t>
            </a:r>
          </a:p>
          <a:p>
            <a:endParaRPr lang="en-US" dirty="0"/>
          </a:p>
        </p:txBody>
      </p:sp>
      <p:pic>
        <p:nvPicPr>
          <p:cNvPr id="3074" name="Picture 2" descr="Linear Regression. Finding the best-fitting straight line… | by Raghunath D 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29025"/>
            <a:ext cx="81534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891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THINK BEFORE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Before </a:t>
            </a:r>
            <a:r>
              <a:rPr lang="en-US" dirty="0"/>
              <a:t>Coding — Understand </a:t>
            </a:r>
            <a:r>
              <a:rPr lang="en-US" dirty="0" smtClean="0"/>
              <a:t>Data</a:t>
            </a:r>
          </a:p>
          <a:p>
            <a:pPr lvl="1"/>
            <a:r>
              <a:rPr lang="en-US" dirty="0"/>
              <a:t>House Size (</a:t>
            </a:r>
            <a:r>
              <a:rPr lang="en-US" dirty="0" err="1"/>
              <a:t>sqft</a:t>
            </a:r>
            <a:r>
              <a:rPr lang="en-US" dirty="0"/>
              <a:t>) → Price (lakhs)</a:t>
            </a:r>
          </a:p>
          <a:p>
            <a:pPr lvl="1"/>
            <a:r>
              <a:rPr lang="en-US" dirty="0"/>
              <a:t>500  → 50</a:t>
            </a:r>
          </a:p>
          <a:p>
            <a:pPr lvl="1"/>
            <a:r>
              <a:rPr lang="en-US" dirty="0"/>
              <a:t>800  → 80</a:t>
            </a:r>
          </a:p>
          <a:p>
            <a:pPr lvl="1"/>
            <a:r>
              <a:rPr lang="en-US" dirty="0"/>
              <a:t>1000 → </a:t>
            </a:r>
            <a:r>
              <a:rPr lang="en-US" dirty="0" smtClean="0"/>
              <a:t>100</a:t>
            </a:r>
          </a:p>
          <a:p>
            <a:pPr marL="274320" lvl="1" indent="0">
              <a:buNone/>
            </a:pPr>
            <a:r>
              <a:rPr lang="en-US" dirty="0"/>
              <a:t>If size increases, what should happen to price?”</a:t>
            </a:r>
          </a:p>
        </p:txBody>
      </p:sp>
    </p:spTree>
    <p:extLst>
      <p:ext uri="{BB962C8B-B14F-4D97-AF65-F5344CB8AC3E}">
        <p14:creationId xmlns:p14="http://schemas.microsoft.com/office/powerpoint/2010/main" val="2893105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DEMO 2: LINEAR REGRESSION (CODE)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US" dirty="0"/>
          </a:p>
          <a:p>
            <a:r>
              <a:rPr lang="en-US" dirty="0" smtClean="0"/>
              <a:t>X </a:t>
            </a:r>
            <a:r>
              <a:rPr lang="en-US" dirty="0"/>
              <a:t>= </a:t>
            </a:r>
            <a:r>
              <a:rPr lang="en-US" dirty="0" err="1"/>
              <a:t>np.array</a:t>
            </a:r>
            <a:r>
              <a:rPr lang="en-US" dirty="0"/>
              <a:t>([[500],[800],[1000],[1200]])</a:t>
            </a:r>
          </a:p>
          <a:p>
            <a:r>
              <a:rPr lang="en-US" dirty="0"/>
              <a:t>y = </a:t>
            </a:r>
            <a:r>
              <a:rPr lang="en-US" dirty="0" err="1"/>
              <a:t>np.array</a:t>
            </a:r>
            <a:r>
              <a:rPr lang="en-US" dirty="0"/>
              <a:t>([50, 80, 100, 120])</a:t>
            </a:r>
          </a:p>
          <a:p>
            <a:r>
              <a:rPr lang="en-US" dirty="0" smtClean="0"/>
              <a:t>model </a:t>
            </a:r>
            <a:r>
              <a:rPr lang="en-US" dirty="0"/>
              <a:t>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</a:p>
          <a:p>
            <a:r>
              <a:rPr lang="en-US" dirty="0" err="1"/>
              <a:t>model.fit</a:t>
            </a:r>
            <a:r>
              <a:rPr lang="en-US" dirty="0"/>
              <a:t>(X, y)</a:t>
            </a:r>
          </a:p>
          <a:p>
            <a:r>
              <a:rPr lang="en-US" dirty="0" smtClean="0"/>
              <a:t>print</a:t>
            </a:r>
            <a:r>
              <a:rPr lang="en-US" dirty="0"/>
              <a:t>("Prediction for 900 </a:t>
            </a:r>
            <a:r>
              <a:rPr lang="en-US" dirty="0" err="1"/>
              <a:t>sqft</a:t>
            </a:r>
            <a:r>
              <a:rPr lang="en-US" dirty="0"/>
              <a:t>:", </a:t>
            </a:r>
            <a:r>
              <a:rPr lang="en-US" dirty="0" err="1"/>
              <a:t>model.predict</a:t>
            </a:r>
            <a:r>
              <a:rPr lang="en-US" dirty="0"/>
              <a:t>([[900]]))</a:t>
            </a:r>
          </a:p>
          <a:p>
            <a:r>
              <a:rPr lang="en-US" b="1" dirty="0" smtClean="0"/>
              <a:t>Conclusion</a:t>
            </a:r>
          </a:p>
          <a:p>
            <a:pPr lvl="1"/>
            <a:r>
              <a:rPr lang="en-US" dirty="0" smtClean="0"/>
              <a:t>Model </a:t>
            </a:r>
            <a:r>
              <a:rPr lang="en-US" dirty="0"/>
              <a:t>learned relationship</a:t>
            </a:r>
          </a:p>
          <a:p>
            <a:pPr lvl="1"/>
            <a:r>
              <a:rPr lang="en-US" dirty="0"/>
              <a:t>Prediction is </a:t>
            </a:r>
            <a:r>
              <a:rPr lang="en-US" dirty="0" smtClean="0"/>
              <a:t>interpolation (</a:t>
            </a:r>
            <a:r>
              <a:rPr lang="en-US" b="1" dirty="0"/>
              <a:t>predicting values </a:t>
            </a:r>
            <a:r>
              <a:rPr lang="en-US" b="1" i="1" dirty="0"/>
              <a:t>within the range</a:t>
            </a:r>
            <a:r>
              <a:rPr lang="en-US" b="1" dirty="0"/>
              <a:t> of the observed training data</a:t>
            </a:r>
            <a:r>
              <a:rPr lang="en-US" dirty="0" smtClean="0"/>
              <a:t>.)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7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import </a:t>
            </a:r>
            <a:r>
              <a:rPr lang="en-US" dirty="0" err="1"/>
              <a:t>matplotlib.pyplot</a:t>
            </a:r>
            <a:r>
              <a:rPr lang="en-US" dirty="0"/>
              <a:t> as </a:t>
            </a:r>
            <a:r>
              <a:rPr lang="en-US" dirty="0" err="1"/>
              <a:t>plt</a:t>
            </a:r>
            <a:endParaRPr lang="en-US" dirty="0"/>
          </a:p>
          <a:p>
            <a:r>
              <a:rPr lang="en-US" dirty="0" err="1" smtClean="0"/>
              <a:t>plt.scatter</a:t>
            </a:r>
            <a:r>
              <a:rPr lang="en-US" dirty="0" smtClean="0"/>
              <a:t>(X</a:t>
            </a:r>
            <a:r>
              <a:rPr lang="en-US" dirty="0"/>
              <a:t>, y)</a:t>
            </a:r>
          </a:p>
          <a:p>
            <a:r>
              <a:rPr lang="en-US" dirty="0" err="1"/>
              <a:t>plt.plot</a:t>
            </a:r>
            <a:r>
              <a:rPr lang="en-US" dirty="0"/>
              <a:t>(X, </a:t>
            </a:r>
            <a:r>
              <a:rPr lang="en-US" dirty="0" err="1"/>
              <a:t>model.predict</a:t>
            </a:r>
            <a:r>
              <a:rPr lang="en-US" dirty="0"/>
              <a:t>(X))</a:t>
            </a:r>
          </a:p>
          <a:p>
            <a:r>
              <a:rPr lang="en-US" dirty="0" err="1"/>
              <a:t>plt.xlabel</a:t>
            </a:r>
            <a:r>
              <a:rPr lang="en-US" dirty="0"/>
              <a:t>("Area")</a:t>
            </a:r>
          </a:p>
          <a:p>
            <a:r>
              <a:rPr lang="en-US" dirty="0" err="1"/>
              <a:t>plt.ylabel</a:t>
            </a:r>
            <a:r>
              <a:rPr lang="en-US" dirty="0"/>
              <a:t>("Price")</a:t>
            </a:r>
          </a:p>
          <a:p>
            <a:r>
              <a:rPr lang="en-US" dirty="0" err="1"/>
              <a:t>plt.show</a:t>
            </a:r>
            <a:r>
              <a:rPr lang="en-US" dirty="0" smtClean="0"/>
              <a:t>()</a:t>
            </a:r>
          </a:p>
          <a:p>
            <a:endParaRPr lang="en-US" dirty="0"/>
          </a:p>
          <a:p>
            <a:r>
              <a:rPr lang="en-US" dirty="0"/>
              <a:t>“If you can’t visualize it, you don’t understand it.”</a:t>
            </a:r>
          </a:p>
        </p:txBody>
      </p:sp>
      <p:pic>
        <p:nvPicPr>
          <p:cNvPr id="4098" name="Picture 2" descr="Scatter plot with regression line or curve in R | R CHART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57401"/>
            <a:ext cx="3846786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144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LINEAR REGRESSION FAILS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Problems</a:t>
            </a:r>
          </a:p>
          <a:p>
            <a:pPr lvl="1"/>
            <a:r>
              <a:rPr lang="en-US" dirty="0"/>
              <a:t>Sensitive to noise</a:t>
            </a:r>
          </a:p>
          <a:p>
            <a:pPr lvl="1"/>
            <a:r>
              <a:rPr lang="en-US" dirty="0" err="1"/>
              <a:t>Overfitting</a:t>
            </a:r>
            <a:r>
              <a:rPr lang="en-US" dirty="0"/>
              <a:t> with many features</a:t>
            </a:r>
          </a:p>
          <a:p>
            <a:r>
              <a:rPr lang="en-US" b="1" dirty="0" smtClean="0"/>
              <a:t>We </a:t>
            </a:r>
            <a:r>
              <a:rPr lang="en-US" b="1" dirty="0"/>
              <a:t>need control → regularization</a:t>
            </a:r>
            <a:endParaRPr lang="en-US" dirty="0"/>
          </a:p>
          <a:p>
            <a:endParaRPr lang="en-US" dirty="0"/>
          </a:p>
        </p:txBody>
      </p:sp>
      <p:pic>
        <p:nvPicPr>
          <p:cNvPr id="5122" name="Picture 2" descr="What is underfitting and overfitting in machine learning and how to deal  with it. | by Anup Bhande | GreyAtom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845" y="3657600"/>
            <a:ext cx="7927756" cy="26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9262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Regularization = </a:t>
            </a:r>
            <a:r>
              <a:rPr lang="en-US" dirty="0" smtClean="0"/>
              <a:t>Discipline</a:t>
            </a:r>
          </a:p>
          <a:p>
            <a:pPr lvl="1"/>
            <a:r>
              <a:rPr lang="en-US" dirty="0" smtClean="0"/>
              <a:t>Too </a:t>
            </a:r>
            <a:r>
              <a:rPr lang="en-US" dirty="0"/>
              <a:t>free ❌ → Controlled ✅</a:t>
            </a:r>
          </a:p>
          <a:p>
            <a:r>
              <a:rPr lang="en-US" dirty="0"/>
              <a:t>Penalize large weights</a:t>
            </a:r>
          </a:p>
          <a:p>
            <a:r>
              <a:rPr lang="en-US" dirty="0"/>
              <a:t>Improve generalization</a:t>
            </a:r>
          </a:p>
          <a:p>
            <a:r>
              <a:rPr lang="en-US" dirty="0"/>
              <a:t>“Regularization tells the model: don’t overreact.”</a:t>
            </a:r>
          </a:p>
        </p:txBody>
      </p:sp>
    </p:spTree>
    <p:extLst>
      <p:ext uri="{BB962C8B-B14F-4D97-AF65-F5344CB8AC3E}">
        <p14:creationId xmlns:p14="http://schemas.microsoft.com/office/powerpoint/2010/main" val="352799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RIDGE </a:t>
            </a:r>
            <a:r>
              <a:rPr lang="en-US" dirty="0" smtClean="0"/>
              <a:t>REGRESSION (L2)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Shrinks all weights</a:t>
            </a:r>
          </a:p>
          <a:p>
            <a:r>
              <a:rPr lang="en-US" dirty="0"/>
              <a:t>Keeps all features</a:t>
            </a:r>
          </a:p>
          <a:p>
            <a:r>
              <a:rPr lang="en-US" dirty="0"/>
              <a:t>Stable model</a:t>
            </a:r>
          </a:p>
          <a:p>
            <a:r>
              <a:rPr lang="en-US" b="1" dirty="0" smtClean="0"/>
              <a:t>Best </a:t>
            </a:r>
            <a:r>
              <a:rPr lang="en-US" b="1" dirty="0"/>
              <a:t>when features are correlated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595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DEMO: RIDGE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Ridge</a:t>
            </a:r>
          </a:p>
          <a:p>
            <a:r>
              <a:rPr lang="en-US" dirty="0" smtClean="0"/>
              <a:t>ridge </a:t>
            </a:r>
            <a:r>
              <a:rPr lang="en-US" dirty="0"/>
              <a:t>= Ridge(alpha=1.0)</a:t>
            </a:r>
          </a:p>
          <a:p>
            <a:r>
              <a:rPr lang="en-US" dirty="0" err="1"/>
              <a:t>ridge.fit</a:t>
            </a:r>
            <a:r>
              <a:rPr lang="en-US" dirty="0"/>
              <a:t>(X, y)</a:t>
            </a:r>
          </a:p>
          <a:p>
            <a:r>
              <a:rPr lang="en-US" dirty="0" smtClean="0"/>
              <a:t>print</a:t>
            </a:r>
            <a:r>
              <a:rPr lang="en-US" dirty="0"/>
              <a:t>("Ridge prediction:", </a:t>
            </a:r>
            <a:r>
              <a:rPr lang="en-US" dirty="0" err="1"/>
              <a:t>ridge.predict</a:t>
            </a:r>
            <a:r>
              <a:rPr lang="en-US" dirty="0"/>
              <a:t>([[900</a:t>
            </a:r>
            <a:r>
              <a:rPr lang="en-US" dirty="0" smtClean="0"/>
              <a:t>]]))</a:t>
            </a:r>
          </a:p>
          <a:p>
            <a:r>
              <a:rPr lang="en-US" b="1" dirty="0"/>
              <a:t>Explain</a:t>
            </a:r>
            <a:endParaRPr lang="en-US" dirty="0"/>
          </a:p>
          <a:p>
            <a:pPr lvl="1"/>
            <a:r>
              <a:rPr lang="en-US" dirty="0"/>
              <a:t>Alpha controls strictness</a:t>
            </a:r>
          </a:p>
          <a:p>
            <a:pPr lvl="1"/>
            <a:r>
              <a:rPr lang="en-US" dirty="0"/>
              <a:t>Higher alpha = more control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337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Lasso Regression (L1)</a:t>
            </a:r>
          </a:p>
          <a:p>
            <a:r>
              <a:rPr lang="en-US" dirty="0"/>
              <a:t>Can force weights to </a:t>
            </a:r>
            <a:r>
              <a:rPr lang="en-US" b="1" dirty="0"/>
              <a:t>zero</a:t>
            </a:r>
            <a:endParaRPr lang="en-US" dirty="0"/>
          </a:p>
          <a:p>
            <a:r>
              <a:rPr lang="en-US" dirty="0"/>
              <a:t>Automatic feature selection</a:t>
            </a:r>
          </a:p>
          <a:p>
            <a:r>
              <a:rPr lang="en-US" dirty="0"/>
              <a:t>📌 </a:t>
            </a:r>
            <a:r>
              <a:rPr lang="en-US" b="1" dirty="0"/>
              <a:t>Lasso = simplify the </a:t>
            </a:r>
            <a:r>
              <a:rPr lang="en-US" b="1" dirty="0" smtClean="0"/>
              <a:t>model</a:t>
            </a:r>
          </a:p>
          <a:p>
            <a:endParaRPr lang="en-US" b="1" dirty="0" smtClean="0"/>
          </a:p>
          <a:p>
            <a:r>
              <a:rPr lang="en-US" dirty="0" smtClean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Lasso</a:t>
            </a:r>
          </a:p>
          <a:p>
            <a:r>
              <a:rPr lang="en-US" dirty="0" smtClean="0"/>
              <a:t>lasso </a:t>
            </a:r>
            <a:r>
              <a:rPr lang="en-US" dirty="0"/>
              <a:t>= Lasso(alpha=0.1)</a:t>
            </a:r>
          </a:p>
          <a:p>
            <a:r>
              <a:rPr lang="en-US" dirty="0" err="1"/>
              <a:t>lasso.fit</a:t>
            </a:r>
            <a:r>
              <a:rPr lang="en-US" dirty="0"/>
              <a:t>(X, y)</a:t>
            </a:r>
          </a:p>
          <a:p>
            <a:r>
              <a:rPr lang="en-US" dirty="0" smtClean="0"/>
              <a:t>print</a:t>
            </a:r>
            <a:r>
              <a:rPr lang="en-US" dirty="0"/>
              <a:t>("Lasso coefficients:", </a:t>
            </a:r>
            <a:r>
              <a:rPr lang="en-US" dirty="0" err="1"/>
              <a:t>lasso.coef</a:t>
            </a:r>
            <a:r>
              <a:rPr lang="en-US" dirty="0"/>
              <a:t>_)</a:t>
            </a:r>
          </a:p>
          <a:p>
            <a:pPr lvl="1"/>
            <a:r>
              <a:rPr lang="en-US" dirty="0"/>
              <a:t>“Zero weight = useless feature.”</a:t>
            </a:r>
          </a:p>
        </p:txBody>
      </p:sp>
    </p:spTree>
    <p:extLst>
      <p:ext uri="{BB962C8B-B14F-4D97-AF65-F5344CB8AC3E}">
        <p14:creationId xmlns:p14="http://schemas.microsoft.com/office/powerpoint/2010/main" val="64238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Which One to Use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smtClean="0"/>
              <a:t>No </a:t>
            </a:r>
            <a:r>
              <a:rPr lang="en-US" b="1" dirty="0"/>
              <a:t>single best model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001835"/>
              </p:ext>
            </p:extLst>
          </p:nvPr>
        </p:nvGraphicFramePr>
        <p:xfrm>
          <a:off x="838200" y="2286000"/>
          <a:ext cx="7086600" cy="1463040"/>
        </p:xfrm>
        <a:graphic>
          <a:graphicData uri="http://schemas.openxmlformats.org/drawingml/2006/table">
            <a:tbl>
              <a:tblPr/>
              <a:tblGrid>
                <a:gridCol w="3543300"/>
                <a:gridCol w="3543300"/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Linear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Simple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Ridge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Stable predictions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Lasso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Feature selection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337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How Good Is the Model?</a:t>
            </a:r>
          </a:p>
          <a:p>
            <a:pPr lvl="1"/>
            <a:r>
              <a:rPr lang="en-US" dirty="0"/>
              <a:t>MAE → average mistake</a:t>
            </a:r>
          </a:p>
          <a:p>
            <a:pPr lvl="1"/>
            <a:r>
              <a:rPr lang="en-US" dirty="0"/>
              <a:t>MSE → </a:t>
            </a:r>
            <a:r>
              <a:rPr lang="en-US" dirty="0" smtClean="0"/>
              <a:t>big </a:t>
            </a:r>
            <a:r>
              <a:rPr lang="en-US" dirty="0"/>
              <a:t>mistakes count much more than small mistakes because the error is squared.</a:t>
            </a:r>
            <a:endParaRPr lang="en-US" dirty="0" smtClean="0"/>
          </a:p>
          <a:p>
            <a:pPr lvl="1"/>
            <a:r>
              <a:rPr lang="en-US" dirty="0" smtClean="0"/>
              <a:t>R² </a:t>
            </a:r>
            <a:r>
              <a:rPr lang="en-US" dirty="0"/>
              <a:t>→ explained variance</a:t>
            </a:r>
          </a:p>
          <a:p>
            <a:endParaRPr lang="en-US" dirty="0"/>
          </a:p>
        </p:txBody>
      </p:sp>
      <p:pic>
        <p:nvPicPr>
          <p:cNvPr id="7170" name="Picture 2" descr="least squares - Mean absolute error OR root mean squared error? - Cross  Valid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76962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45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KAGGLE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Getting Started with Data Science | How to leverage Kaggle resources to  Maximize Learning | Kagg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71600"/>
            <a:ext cx="8648700" cy="489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754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 LAB (REAL WORLD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Lab</a:t>
            </a:r>
            <a:r>
              <a:rPr lang="en-US" b="1" dirty="0"/>
              <a:t>: Business Price Predictor</a:t>
            </a:r>
          </a:p>
          <a:p>
            <a:r>
              <a:rPr lang="en-US" dirty="0"/>
              <a:t>You are hired by a shop owner.</a:t>
            </a:r>
          </a:p>
          <a:p>
            <a:r>
              <a:rPr lang="en-US" b="1" dirty="0"/>
              <a:t>Task</a:t>
            </a:r>
            <a:endParaRPr lang="en-US" dirty="0"/>
          </a:p>
          <a:p>
            <a:r>
              <a:rPr lang="en-US" dirty="0"/>
              <a:t>Load CSV</a:t>
            </a:r>
          </a:p>
          <a:p>
            <a:r>
              <a:rPr lang="en-US" dirty="0"/>
              <a:t>Clean missing values</a:t>
            </a:r>
          </a:p>
          <a:p>
            <a:r>
              <a:rPr lang="en-US" dirty="0"/>
              <a:t>Train Linear, Ridge, Lasso</a:t>
            </a:r>
          </a:p>
          <a:p>
            <a:r>
              <a:rPr lang="en-US" dirty="0"/>
              <a:t>Compare MAE</a:t>
            </a:r>
          </a:p>
          <a:p>
            <a:r>
              <a:rPr lang="en-US" dirty="0"/>
              <a:t>Recommend best model</a:t>
            </a:r>
          </a:p>
          <a:p>
            <a:r>
              <a:rPr lang="en-US" dirty="0"/>
              <a:t>📌 </a:t>
            </a:r>
            <a:r>
              <a:rPr lang="en-US" b="1" dirty="0"/>
              <a:t>Explain your choice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08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Mini </a:t>
            </a:r>
            <a:r>
              <a:rPr lang="en-US" b="1" dirty="0" smtClean="0"/>
              <a:t>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Build </a:t>
            </a:r>
            <a:r>
              <a:rPr lang="en-US" dirty="0"/>
              <a:t>a </a:t>
            </a:r>
            <a:r>
              <a:rPr lang="en-US" b="1" dirty="0"/>
              <a:t>Price Prediction Tool</a:t>
            </a:r>
            <a:endParaRPr lang="en-US" dirty="0"/>
          </a:p>
          <a:p>
            <a:r>
              <a:rPr lang="en-US" dirty="0"/>
              <a:t>Input features</a:t>
            </a:r>
          </a:p>
          <a:p>
            <a:r>
              <a:rPr lang="en-US" dirty="0"/>
              <a:t>Predict price</a:t>
            </a:r>
          </a:p>
          <a:p>
            <a:r>
              <a:rPr lang="en-US" dirty="0"/>
              <a:t>Explain confidence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1575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631</TotalTime>
  <Words>552</Words>
  <Application>Microsoft Office PowerPoint</Application>
  <PresentationFormat>On-screen Show (4:3)</PresentationFormat>
  <Paragraphs>133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Civic</vt:lpstr>
      <vt:lpstr>AI &amp; Machine Learning</vt:lpstr>
      <vt:lpstr>Regression Algorithms</vt:lpstr>
      <vt:lpstr>WHAT IS SUPERVISED LEARNING?</vt:lpstr>
      <vt:lpstr>REGRESSION vs CLASSIFICATION</vt:lpstr>
      <vt:lpstr>LINEAR REGRESSION </vt:lpstr>
      <vt:lpstr>THINK BEFORE CODE</vt:lpstr>
      <vt:lpstr>DEMO 2: LINEAR REGRESSION (CODE)</vt:lpstr>
      <vt:lpstr>VISUALIZE THE MODEL</vt:lpstr>
      <vt:lpstr>WHY LINEAR REGRESSION FAILS</vt:lpstr>
      <vt:lpstr>REGULARIZATION</vt:lpstr>
      <vt:lpstr>RIDGE REGRESSION (L2)</vt:lpstr>
      <vt:lpstr>DEMO: RIDGE REGRESSION</vt:lpstr>
      <vt:lpstr>LASSO REGRESSION</vt:lpstr>
      <vt:lpstr>MODEL COMPARISON</vt:lpstr>
      <vt:lpstr>EVALUATION</vt:lpstr>
      <vt:lpstr>REAL KAGGLE PIPELINE</vt:lpstr>
      <vt:lpstr>STUDENT LAB (REAL WORLD)</vt:lpstr>
      <vt:lpstr>Mini Project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SIS</dc:creator>
  <cp:lastModifiedBy>SIS</cp:lastModifiedBy>
  <cp:revision>424</cp:revision>
  <dcterms:created xsi:type="dcterms:W3CDTF">2006-08-16T00:00:00Z</dcterms:created>
  <dcterms:modified xsi:type="dcterms:W3CDTF">2026-01-31T05:37:04Z</dcterms:modified>
</cp:coreProperties>
</file>
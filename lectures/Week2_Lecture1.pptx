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6" r:id="rId3"/>
    <p:sldId id="319" r:id="rId4"/>
    <p:sldId id="290" r:id="rId5"/>
    <p:sldId id="307" r:id="rId6"/>
    <p:sldId id="291" r:id="rId7"/>
    <p:sldId id="292" r:id="rId8"/>
    <p:sldId id="308" r:id="rId9"/>
    <p:sldId id="293" r:id="rId10"/>
    <p:sldId id="294" r:id="rId11"/>
    <p:sldId id="309" r:id="rId12"/>
    <p:sldId id="310" r:id="rId13"/>
    <p:sldId id="311" r:id="rId14"/>
    <p:sldId id="312" r:id="rId15"/>
    <p:sldId id="313" r:id="rId16"/>
    <p:sldId id="315" r:id="rId17"/>
    <p:sldId id="316" r:id="rId18"/>
    <p:sldId id="296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297" r:id="rId27"/>
    <p:sldId id="317" r:id="rId28"/>
    <p:sldId id="31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>
      <p:cViewPr>
        <p:scale>
          <a:sx n="60" d="100"/>
          <a:sy n="60" d="100"/>
        </p:scale>
        <p:origin x="-1566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 Introduction &amp; Python </a:t>
            </a:r>
            <a:r>
              <a:rPr lang="en-US" dirty="0" smtClean="0"/>
              <a:t>Foundations</a:t>
            </a:r>
          </a:p>
          <a:p>
            <a:r>
              <a:rPr lang="en-US" dirty="0" smtClean="0"/>
              <a:t>Dr. Tariq </a:t>
            </a:r>
            <a:r>
              <a:rPr lang="en-US" dirty="0" err="1" smtClean="0"/>
              <a:t>Sadad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AI &amp; Machine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23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MATHEMATICS FOR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DATA = NUMBERS</a:t>
            </a:r>
          </a:p>
          <a:p>
            <a:r>
              <a:rPr lang="en-US" dirty="0"/>
              <a:t>Images → pixel values</a:t>
            </a:r>
          </a:p>
          <a:p>
            <a:r>
              <a:rPr lang="en-US" dirty="0"/>
              <a:t>Text → vectors</a:t>
            </a:r>
          </a:p>
          <a:p>
            <a:r>
              <a:rPr lang="en-US" dirty="0"/>
              <a:t>Users → features</a:t>
            </a:r>
          </a:p>
          <a:p>
            <a:r>
              <a:rPr lang="en-US" i="1" dirty="0" smtClean="0"/>
              <a:t>   Math </a:t>
            </a:r>
            <a:r>
              <a:rPr lang="en-US" i="1" dirty="0"/>
              <a:t>begins when data becomes numbers.</a:t>
            </a:r>
            <a:endParaRPr lang="en-US" dirty="0"/>
          </a:p>
          <a:p>
            <a:r>
              <a:rPr lang="en-US" b="1" dirty="0"/>
              <a:t>Understand how models think, learn, and improve</a:t>
            </a:r>
            <a:endParaRPr lang="en-US" dirty="0"/>
          </a:p>
          <a:p>
            <a:pPr lvl="1"/>
            <a:r>
              <a:rPr lang="en-US" dirty="0" smtClean="0"/>
              <a:t>“</a:t>
            </a:r>
            <a:r>
              <a:rPr lang="en-US" dirty="0"/>
              <a:t>ML is not magic. It is math with feedback.”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4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MATH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WHY MATH?</a:t>
            </a:r>
          </a:p>
          <a:p>
            <a:r>
              <a:rPr lang="en-US" dirty="0"/>
              <a:t>Data becomes numbers</a:t>
            </a:r>
          </a:p>
          <a:p>
            <a:r>
              <a:rPr lang="en-US" dirty="0"/>
              <a:t>Models are functions</a:t>
            </a:r>
          </a:p>
          <a:p>
            <a:r>
              <a:rPr lang="en-US" dirty="0"/>
              <a:t>Learning = optimization</a:t>
            </a:r>
          </a:p>
          <a:p>
            <a:r>
              <a:rPr lang="en-US" dirty="0"/>
              <a:t>📌 </a:t>
            </a:r>
            <a:r>
              <a:rPr lang="en-US" b="1" dirty="0"/>
              <a:t>Math explains what the model is doing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14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MATH MATTERS FOR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WHY MATH?</a:t>
            </a:r>
          </a:p>
          <a:p>
            <a:r>
              <a:rPr lang="en-US" dirty="0"/>
              <a:t>Machines don’t understand words or images</a:t>
            </a:r>
          </a:p>
          <a:p>
            <a:r>
              <a:rPr lang="en-US" dirty="0"/>
              <a:t>Machines understand </a:t>
            </a:r>
            <a:r>
              <a:rPr lang="en-US" b="1" dirty="0"/>
              <a:t>numbers &amp; shapes</a:t>
            </a:r>
            <a:endParaRPr lang="en-US" dirty="0"/>
          </a:p>
          <a:p>
            <a:r>
              <a:rPr lang="en-US" dirty="0"/>
              <a:t>Math gives rules to:</a:t>
            </a:r>
          </a:p>
          <a:p>
            <a:pPr lvl="1"/>
            <a:r>
              <a:rPr lang="en-US" dirty="0"/>
              <a:t>Compare</a:t>
            </a:r>
          </a:p>
          <a:p>
            <a:pPr lvl="1"/>
            <a:r>
              <a:rPr lang="en-US" dirty="0"/>
              <a:t>Optimize</a:t>
            </a:r>
          </a:p>
          <a:p>
            <a:pPr lvl="1"/>
            <a:r>
              <a:rPr lang="en-US" dirty="0"/>
              <a:t>Improve</a:t>
            </a:r>
          </a:p>
          <a:p>
            <a:r>
              <a:rPr lang="en-US" dirty="0" smtClean="0"/>
              <a:t>        </a:t>
            </a:r>
            <a:r>
              <a:rPr lang="en-US" i="1" dirty="0" smtClean="0"/>
              <a:t>Math </a:t>
            </a:r>
            <a:r>
              <a:rPr lang="en-US" i="1" dirty="0"/>
              <a:t>is the engine — tools are the steering wheel.</a:t>
            </a:r>
            <a:endParaRPr lang="en-US" dirty="0"/>
          </a:p>
          <a:p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542597" y="4648200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DESCRIPTIVE STATISTICS (LISTEN TO DATA)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07941702"/>
              </p:ext>
            </p:extLst>
          </p:nvPr>
        </p:nvGraphicFramePr>
        <p:xfrm>
          <a:off x="301625" y="1600199"/>
          <a:ext cx="8504238" cy="4343400"/>
        </p:xfrm>
        <a:graphic>
          <a:graphicData uri="http://schemas.openxmlformats.org/drawingml/2006/table">
            <a:tbl>
              <a:tblPr/>
              <a:tblGrid>
                <a:gridCol w="2834746"/>
                <a:gridCol w="2834746"/>
                <a:gridCol w="2834746"/>
              </a:tblGrid>
              <a:tr h="1085850">
                <a:tc>
                  <a:txBody>
                    <a:bodyPr/>
                    <a:lstStyle/>
                    <a:p>
                      <a:r>
                        <a:rPr lang="en-US" sz="1800" dirty="0"/>
                        <a:t>Concept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Meaning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ML Use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lang="en-US" sz="1800"/>
                        <a:t>Mean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Typical value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Baseline prediction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lang="en-US" sz="1800"/>
                        <a:t>Median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Robust center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Outlier resistance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lang="en-US" sz="1800"/>
                        <a:t>Std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Spread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Risk &amp; noise</a:t>
                      </a:r>
                    </a:p>
                  </a:txBody>
                  <a:tcPr marL="91117" marR="91117" marT="45558" marB="45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105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763000" cy="758952"/>
          </a:xfrm>
        </p:spPr>
        <p:txBody>
          <a:bodyPr>
            <a:normAutofit/>
          </a:bodyPr>
          <a:lstStyle/>
          <a:p>
            <a:r>
              <a:rPr lang="en-US" sz="2800" dirty="0"/>
              <a:t>DESCRIPTIVE STATISTICS (MEAN, MEDIAN, STD)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WHY STATS FIRST</a:t>
            </a:r>
          </a:p>
          <a:p>
            <a:pPr lvl="1"/>
            <a:r>
              <a:rPr lang="en-US" dirty="0"/>
              <a:t>Mean → typical value</a:t>
            </a:r>
          </a:p>
          <a:p>
            <a:pPr lvl="1"/>
            <a:r>
              <a:rPr lang="en-US" dirty="0"/>
              <a:t>Median → robust center</a:t>
            </a:r>
          </a:p>
          <a:p>
            <a:pPr lvl="1"/>
            <a:r>
              <a:rPr lang="en-US" dirty="0" err="1"/>
              <a:t>Std</a:t>
            </a:r>
            <a:r>
              <a:rPr lang="en-US" dirty="0"/>
              <a:t> → spread / </a:t>
            </a:r>
            <a:r>
              <a:rPr lang="en-US" dirty="0" smtClean="0"/>
              <a:t>uncertainty</a:t>
            </a:r>
          </a:p>
          <a:p>
            <a:r>
              <a:rPr lang="en-US" dirty="0" smtClean="0"/>
              <a:t>“</a:t>
            </a:r>
            <a:r>
              <a:rPr lang="en-US" dirty="0"/>
              <a:t>Before ML, you must listen to your data.”</a:t>
            </a:r>
          </a:p>
          <a:p>
            <a:endParaRPr lang="en-US" dirty="0"/>
          </a:p>
        </p:txBody>
      </p:sp>
      <p:pic>
        <p:nvPicPr>
          <p:cNvPr id="2050" name="Picture 2" descr="the difference between mode, mean, median and range with exam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733800"/>
            <a:ext cx="38862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ow do I create and interpret histograms? Binning data fo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Standard Devia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733800"/>
            <a:ext cx="39624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13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/>
              <a:t>np</a:t>
            </a:r>
            <a:endParaRPr lang="en-US" dirty="0"/>
          </a:p>
          <a:p>
            <a:r>
              <a:rPr lang="en-US" dirty="0" smtClean="0"/>
              <a:t>data </a:t>
            </a:r>
            <a:r>
              <a:rPr lang="en-US" dirty="0"/>
              <a:t>= [60, 65, 70, 72, 90]</a:t>
            </a:r>
          </a:p>
          <a:p>
            <a:r>
              <a:rPr lang="en-US" dirty="0"/>
              <a:t>print("Mean:", </a:t>
            </a:r>
            <a:r>
              <a:rPr lang="en-US" dirty="0" err="1"/>
              <a:t>np.mean</a:t>
            </a:r>
            <a:r>
              <a:rPr lang="en-US" dirty="0"/>
              <a:t>(data))</a:t>
            </a:r>
          </a:p>
          <a:p>
            <a:r>
              <a:rPr lang="en-US" dirty="0"/>
              <a:t>print("Median:", </a:t>
            </a:r>
            <a:r>
              <a:rPr lang="en-US" dirty="0" err="1"/>
              <a:t>np.median</a:t>
            </a:r>
            <a:r>
              <a:rPr lang="en-US" dirty="0"/>
              <a:t>(data))</a:t>
            </a:r>
          </a:p>
          <a:p>
            <a:r>
              <a:rPr lang="en-US" dirty="0"/>
              <a:t>print("</a:t>
            </a:r>
            <a:r>
              <a:rPr lang="en-US" dirty="0" err="1"/>
              <a:t>Std</a:t>
            </a:r>
            <a:r>
              <a:rPr lang="en-US" dirty="0"/>
              <a:t>:", </a:t>
            </a:r>
            <a:r>
              <a:rPr lang="en-US" dirty="0" err="1"/>
              <a:t>np.std</a:t>
            </a:r>
            <a:r>
              <a:rPr lang="en-US" dirty="0"/>
              <a:t>(data))</a:t>
            </a:r>
          </a:p>
          <a:p>
            <a:r>
              <a:rPr lang="en-US" dirty="0" smtClean="0"/>
              <a:t>       Same </a:t>
            </a:r>
            <a:r>
              <a:rPr lang="en-US" dirty="0"/>
              <a:t>data, different stories.</a:t>
            </a:r>
          </a:p>
        </p:txBody>
      </p:sp>
      <p:sp>
        <p:nvSpPr>
          <p:cNvPr id="4" name="AutoShape 2" descr="How do I create and interpret histograms? Binning data fo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5-Point Star 4"/>
          <p:cNvSpPr/>
          <p:nvPr/>
        </p:nvSpPr>
        <p:spPr>
          <a:xfrm>
            <a:off x="544458" y="3962400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6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CORRELATION (FEATURE RELATIONSHIPS)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FEATURE RELATIONSHIP</a:t>
            </a:r>
          </a:p>
          <a:p>
            <a:r>
              <a:rPr lang="en-US" dirty="0"/>
              <a:t>Correlation → strength</a:t>
            </a:r>
          </a:p>
          <a:p>
            <a:r>
              <a:rPr lang="en-US" dirty="0"/>
              <a:t>Covariance → direction</a:t>
            </a:r>
          </a:p>
          <a:p>
            <a:r>
              <a:rPr lang="en-US" dirty="0"/>
              <a:t>📌 </a:t>
            </a:r>
            <a:r>
              <a:rPr lang="en-US" b="1" dirty="0"/>
              <a:t>Used for feature selection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66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</a:t>
            </a:r>
            <a:r>
              <a:rPr lang="en-US" dirty="0" err="1"/>
              <a:t>vs</a:t>
            </a:r>
            <a:r>
              <a:rPr lang="en-US" dirty="0"/>
              <a:t> COVARIANCE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HOW FEATURES MOVE TOGETHER</a:t>
            </a:r>
          </a:p>
          <a:p>
            <a:pPr lvl="1"/>
            <a:r>
              <a:rPr lang="en-US" dirty="0"/>
              <a:t>Covariance → direction (same / opposite)</a:t>
            </a:r>
          </a:p>
          <a:p>
            <a:pPr lvl="1"/>
            <a:r>
              <a:rPr lang="en-US" dirty="0"/>
              <a:t>Correlation → strength (-1 to +1)</a:t>
            </a:r>
          </a:p>
          <a:p>
            <a:r>
              <a:rPr lang="en-US" dirty="0" smtClean="0"/>
              <a:t>      </a:t>
            </a:r>
            <a:r>
              <a:rPr lang="en-US" i="1" dirty="0" smtClean="0"/>
              <a:t>In </a:t>
            </a:r>
            <a:r>
              <a:rPr lang="en-US" i="1" dirty="0"/>
              <a:t>practice → correlation is king.</a:t>
            </a:r>
            <a:endParaRPr lang="en-US" dirty="0"/>
          </a:p>
          <a:p>
            <a:endParaRPr lang="en-US" dirty="0"/>
          </a:p>
        </p:txBody>
      </p:sp>
      <p:pic>
        <p:nvPicPr>
          <p:cNvPr id="4098" name="Picture 2" descr="Vector illustration of set of scatter plot diagrams consisting of positive correlation, negative correlation and no correlative on a white background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58" y="3429000"/>
            <a:ext cx="7848052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5-Point Star 4"/>
          <p:cNvSpPr/>
          <p:nvPr/>
        </p:nvSpPr>
        <p:spPr>
          <a:xfrm>
            <a:off x="544458" y="2819400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1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/>
              <a:t>np</a:t>
            </a:r>
            <a:endParaRPr lang="en-US" dirty="0"/>
          </a:p>
          <a:p>
            <a:r>
              <a:rPr lang="en-US" dirty="0" smtClean="0"/>
              <a:t>x </a:t>
            </a:r>
            <a:r>
              <a:rPr lang="en-US" dirty="0"/>
              <a:t>= [1,2,3,4,5]</a:t>
            </a:r>
          </a:p>
          <a:p>
            <a:r>
              <a:rPr lang="en-US" dirty="0"/>
              <a:t>y = [2,4,6,8,10]</a:t>
            </a:r>
          </a:p>
          <a:p>
            <a:r>
              <a:rPr lang="en-US" smtClean="0"/>
              <a:t>print</a:t>
            </a:r>
            <a:r>
              <a:rPr lang="en-US" dirty="0"/>
              <a:t>("Correlation:", </a:t>
            </a:r>
            <a:r>
              <a:rPr lang="en-US" dirty="0" err="1"/>
              <a:t>np.corrcoef</a:t>
            </a:r>
            <a:r>
              <a:rPr lang="en-US" dirty="0"/>
              <a:t>(x, y))</a:t>
            </a:r>
          </a:p>
        </p:txBody>
      </p:sp>
    </p:spTree>
    <p:extLst>
      <p:ext uri="{BB962C8B-B14F-4D97-AF65-F5344CB8AC3E}">
        <p14:creationId xmlns:p14="http://schemas.microsoft.com/office/powerpoint/2010/main" val="317013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 Machine Learning, every data point is a vector.</a:t>
            </a:r>
            <a:endParaRPr lang="en-US" dirty="0"/>
          </a:p>
          <a:p>
            <a:pPr lvl="1"/>
            <a:r>
              <a:rPr lang="en-US" dirty="0"/>
              <a:t>A </a:t>
            </a:r>
            <a:r>
              <a:rPr lang="en-US" b="1" dirty="0"/>
              <a:t>vector</a:t>
            </a:r>
            <a:r>
              <a:rPr lang="en-US" dirty="0"/>
              <a:t> is just a </a:t>
            </a:r>
            <a:r>
              <a:rPr lang="en-US" b="1" dirty="0"/>
              <a:t>list of numbers</a:t>
            </a:r>
            <a:endParaRPr lang="en-US" dirty="0"/>
          </a:p>
          <a:p>
            <a:pPr lvl="1"/>
            <a:r>
              <a:rPr lang="en-US" dirty="0"/>
              <a:t>Those numbers represent </a:t>
            </a:r>
            <a:r>
              <a:rPr lang="en-US" b="1" dirty="0"/>
              <a:t>features</a:t>
            </a:r>
            <a:endParaRPr lang="en-US" dirty="0"/>
          </a:p>
          <a:p>
            <a:pPr lvl="1"/>
            <a:r>
              <a:rPr lang="en-US" dirty="0"/>
              <a:t>ML models never see names, words, or </a:t>
            </a:r>
            <a:r>
              <a:rPr lang="en-US" dirty="0" smtClean="0"/>
              <a:t>images</a:t>
            </a:r>
          </a:p>
          <a:p>
            <a:r>
              <a:rPr lang="en-US" dirty="0" smtClean="0"/>
              <a:t>They </a:t>
            </a:r>
            <a:r>
              <a:rPr lang="en-US" dirty="0"/>
              <a:t>only see </a:t>
            </a:r>
            <a:r>
              <a:rPr lang="en-US" b="1" dirty="0"/>
              <a:t>vectors</a:t>
            </a:r>
            <a:endParaRPr lang="en-US" dirty="0"/>
          </a:p>
          <a:p>
            <a:r>
              <a:rPr lang="en-US" dirty="0"/>
              <a:t>“Each row in your dataset is converted into a vector.</a:t>
            </a:r>
            <a:br>
              <a:rPr lang="en-US" dirty="0"/>
            </a:br>
            <a:r>
              <a:rPr lang="en-US" dirty="0"/>
              <a:t>The model learns from these vectors.”</a:t>
            </a:r>
          </a:p>
          <a:p>
            <a:r>
              <a:rPr lang="en-US" dirty="0"/>
              <a:t>📌 Pandas row → </a:t>
            </a:r>
            <a:r>
              <a:rPr lang="en-US" dirty="0" err="1"/>
              <a:t>NumPy</a:t>
            </a:r>
            <a:r>
              <a:rPr lang="en-US" dirty="0"/>
              <a:t> vector → Model input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798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WHY VECTORS MATTER</a:t>
            </a:r>
          </a:p>
          <a:p>
            <a:r>
              <a:rPr lang="en-US" dirty="0"/>
              <a:t>Vectors allow:</a:t>
            </a:r>
          </a:p>
          <a:p>
            <a:pPr lvl="1"/>
            <a:r>
              <a:rPr lang="en-US" dirty="0"/>
              <a:t>Comparison</a:t>
            </a:r>
          </a:p>
          <a:p>
            <a:pPr lvl="1"/>
            <a:r>
              <a:rPr lang="en-US" dirty="0"/>
              <a:t>Distance calculation</a:t>
            </a:r>
          </a:p>
          <a:p>
            <a:pPr lvl="1"/>
            <a:r>
              <a:rPr lang="en-US" dirty="0"/>
              <a:t>Similarity measurement</a:t>
            </a:r>
          </a:p>
          <a:p>
            <a:r>
              <a:rPr lang="en-US" dirty="0"/>
              <a:t>“Once data becomes vectors, math can compare them.”</a:t>
            </a:r>
          </a:p>
          <a:p>
            <a:r>
              <a:rPr lang="en-US" dirty="0"/>
              <a:t>If two vectors point in the </a:t>
            </a:r>
            <a:r>
              <a:rPr lang="en-US" b="1" dirty="0"/>
              <a:t>same direction</a:t>
            </a:r>
            <a:r>
              <a:rPr lang="en-US" dirty="0"/>
              <a:t> → similar</a:t>
            </a:r>
          </a:p>
          <a:p>
            <a:r>
              <a:rPr lang="en-US" dirty="0"/>
              <a:t>If they point in </a:t>
            </a:r>
            <a:r>
              <a:rPr lang="en-US" b="1" dirty="0"/>
              <a:t>different directions</a:t>
            </a:r>
            <a:r>
              <a:rPr lang="en-US" dirty="0"/>
              <a:t> → less similar</a:t>
            </a:r>
          </a:p>
          <a:p>
            <a:r>
              <a:rPr lang="en-US" dirty="0" smtClean="0"/>
              <a:t> </a:t>
            </a:r>
            <a:r>
              <a:rPr lang="en-US" dirty="0"/>
              <a:t>Dot product measures </a:t>
            </a:r>
            <a:r>
              <a:rPr lang="en-US" b="1" dirty="0"/>
              <a:t>alignment</a:t>
            </a:r>
            <a:r>
              <a:rPr lang="en-US" dirty="0"/>
              <a:t>, not equality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121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/>
              <a:t>np</a:t>
            </a:r>
            <a:endParaRPr lang="en-US" dirty="0"/>
          </a:p>
          <a:p>
            <a:r>
              <a:rPr lang="en-US" dirty="0" smtClean="0"/>
              <a:t># </a:t>
            </a:r>
            <a:r>
              <a:rPr lang="en-US" dirty="0"/>
              <a:t>Two students / users / documents</a:t>
            </a:r>
          </a:p>
          <a:p>
            <a:r>
              <a:rPr lang="en-US" dirty="0"/>
              <a:t>v1 = </a:t>
            </a:r>
            <a:r>
              <a:rPr lang="en-US" dirty="0" err="1"/>
              <a:t>np.array</a:t>
            </a:r>
            <a:r>
              <a:rPr lang="en-US" dirty="0"/>
              <a:t>([2, 3, 4])</a:t>
            </a:r>
          </a:p>
          <a:p>
            <a:r>
              <a:rPr lang="en-US" dirty="0"/>
              <a:t>v2 = </a:t>
            </a:r>
            <a:r>
              <a:rPr lang="en-US" dirty="0" err="1"/>
              <a:t>np.array</a:t>
            </a:r>
            <a:r>
              <a:rPr lang="en-US" dirty="0"/>
              <a:t>([4, 6, 8])</a:t>
            </a:r>
          </a:p>
          <a:p>
            <a:r>
              <a:rPr lang="en-US" dirty="0"/>
              <a:t>v3 = </a:t>
            </a:r>
            <a:r>
              <a:rPr lang="en-US" dirty="0" err="1"/>
              <a:t>np.array</a:t>
            </a:r>
            <a:r>
              <a:rPr lang="en-US" dirty="0"/>
              <a:t>([5, 1, 0])</a:t>
            </a:r>
          </a:p>
          <a:p>
            <a:r>
              <a:rPr lang="en-US" dirty="0" smtClean="0"/>
              <a:t>print</a:t>
            </a:r>
            <a:r>
              <a:rPr lang="en-US" dirty="0"/>
              <a:t>("Similarity v1 &amp; v2:", np.dot(v1, v2))</a:t>
            </a:r>
          </a:p>
          <a:p>
            <a:r>
              <a:rPr lang="en-US" dirty="0"/>
              <a:t>print("Similarity v1 &amp; v3:", np.dot(v1, v3))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911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 (DATASETS)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MATRIX = DATASET</a:t>
            </a:r>
          </a:p>
          <a:p>
            <a:r>
              <a:rPr lang="en-US" dirty="0"/>
              <a:t>Rows → samples</a:t>
            </a:r>
          </a:p>
          <a:p>
            <a:r>
              <a:rPr lang="en-US" dirty="0"/>
              <a:t>Columns → features</a:t>
            </a:r>
          </a:p>
          <a:p>
            <a:r>
              <a:rPr lang="en-US" dirty="0"/>
              <a:t>📌 </a:t>
            </a:r>
            <a:r>
              <a:rPr lang="en-US" b="1" dirty="0"/>
              <a:t>Every CSV = matrix</a:t>
            </a:r>
            <a:endParaRPr lang="en-US" dirty="0"/>
          </a:p>
          <a:p>
            <a:endParaRPr lang="en-US" dirty="0"/>
          </a:p>
        </p:txBody>
      </p:sp>
      <p:pic>
        <p:nvPicPr>
          <p:cNvPr id="2050" name="Picture 2" descr="5.1 Matrix Perspectives | A Matrix Algebra Companion for Statistical  Learning (matrix4s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447800"/>
            <a:ext cx="4038600" cy="365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944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TENSORS (DEEP LEARNING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WHY TENSORS?</a:t>
            </a:r>
          </a:p>
          <a:p>
            <a:r>
              <a:rPr lang="en-US" b="1" dirty="0"/>
              <a:t>Image = Height × Width × </a:t>
            </a:r>
            <a:r>
              <a:rPr lang="en-US" b="1" dirty="0" smtClean="0"/>
              <a:t>Color</a:t>
            </a:r>
          </a:p>
          <a:p>
            <a:pPr lvl="1"/>
            <a:r>
              <a:rPr lang="en-US" dirty="0" err="1"/>
              <a:t>Grayscale</a:t>
            </a:r>
            <a:r>
              <a:rPr lang="en-US" dirty="0"/>
              <a:t> image → C = 1</a:t>
            </a:r>
          </a:p>
          <a:p>
            <a:pPr lvl="1"/>
            <a:r>
              <a:rPr lang="en-US" dirty="0"/>
              <a:t>RGB image → C = 3 (Red, Green, Blue)</a:t>
            </a:r>
          </a:p>
          <a:p>
            <a:r>
              <a:rPr lang="en-US" b="1" dirty="0" smtClean="0"/>
              <a:t>Video </a:t>
            </a:r>
            <a:r>
              <a:rPr lang="en-US" b="1" dirty="0"/>
              <a:t>= Time × Image</a:t>
            </a:r>
            <a:endParaRPr lang="en-US" dirty="0" smtClean="0"/>
          </a:p>
          <a:p>
            <a:r>
              <a:rPr lang="en-US" dirty="0" smtClean="0"/>
              <a:t>📌 </a:t>
            </a:r>
            <a:r>
              <a:rPr lang="en-US" b="1" dirty="0"/>
              <a:t>Deep learning runs on tensors</a:t>
            </a:r>
            <a:endParaRPr lang="en-US" dirty="0"/>
          </a:p>
          <a:p>
            <a:endParaRPr lang="en-US" dirty="0"/>
          </a:p>
        </p:txBody>
      </p:sp>
      <p:pic>
        <p:nvPicPr>
          <p:cNvPr id="3074" name="Picture 2" descr="What is the Tensor in deep learning? | by Bala Venkatesh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4267200"/>
            <a:ext cx="4152900" cy="192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Mastering Tensor Manipulation: A Comprehensive Exploration of Shaping and  Reshaping Techniques | by ML Point | Dev Geni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267200"/>
            <a:ext cx="4305300" cy="210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056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Image: 224 × 224 RGB</a:t>
            </a:r>
          </a:p>
          <a:p>
            <a:pPr lvl="1"/>
            <a:r>
              <a:rPr lang="en-US" dirty="0"/>
              <a:t>Shape: (224, 224, 3</a:t>
            </a:r>
            <a:r>
              <a:rPr lang="en-US" dirty="0" smtClean="0"/>
              <a:t>)</a:t>
            </a:r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700" dirty="0">
                <a:solidFill>
                  <a:schemeClr val="tx1"/>
                </a:solidFill>
              </a:rPr>
              <a:t>“An image is just a stack of color layers</a:t>
            </a:r>
            <a:r>
              <a:rPr lang="en-US" sz="2700" dirty="0" smtClean="0">
                <a:solidFill>
                  <a:schemeClr val="tx1"/>
                </a:solidFill>
              </a:rPr>
              <a:t>.”</a:t>
            </a:r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700" dirty="0">
                <a:solidFill>
                  <a:schemeClr val="tx1"/>
                </a:solidFill>
              </a:rPr>
              <a:t>Video: 30 frames, 224×224 RGB</a:t>
            </a:r>
          </a:p>
          <a:p>
            <a:pPr marL="548640" lvl="2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500" dirty="0">
                <a:solidFill>
                  <a:schemeClr val="tx1"/>
                </a:solidFill>
              </a:rPr>
              <a:t>Shape: (30, 224, 224, 3</a:t>
            </a:r>
            <a:r>
              <a:rPr lang="en-US" sz="2500" dirty="0" smtClean="0">
                <a:solidFill>
                  <a:schemeClr val="tx1"/>
                </a:solidFill>
              </a:rPr>
              <a:t>)</a:t>
            </a:r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700" dirty="0">
                <a:solidFill>
                  <a:schemeClr val="tx1"/>
                </a:solidFill>
              </a:rPr>
              <a:t>“A video is a sequence of images over time.”</a:t>
            </a:r>
          </a:p>
          <a:p>
            <a:pPr marL="548640" lvl="2">
              <a:buClr>
                <a:schemeClr val="accent1"/>
              </a:buClr>
              <a:buSzPct val="85000"/>
              <a:buFont typeface="Wingdings 2"/>
              <a:buChar char=""/>
            </a:pPr>
            <a:endParaRPr lang="en-US" sz="2500" dirty="0">
              <a:solidFill>
                <a:schemeClr val="tx1"/>
              </a:solidFill>
            </a:endParaRPr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endParaRPr lang="en-US" sz="27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377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SIZE (VERY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real ML models, we process </a:t>
            </a:r>
            <a:r>
              <a:rPr lang="en-US" b="1" dirty="0"/>
              <a:t>multiple samples at once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(B, H, W, C)</a:t>
            </a:r>
          </a:p>
          <a:p>
            <a:pPr lvl="1"/>
            <a:r>
              <a:rPr lang="en-US" dirty="0"/>
              <a:t>Example: (32, 224, 224, 3)</a:t>
            </a:r>
          </a:p>
          <a:p>
            <a:r>
              <a:rPr lang="en-US" dirty="0"/>
              <a:t>(B, T, H, W, C)</a:t>
            </a:r>
          </a:p>
          <a:p>
            <a:r>
              <a:rPr lang="en-US" dirty="0"/>
              <a:t>Example: (8, 30, 224, 224, 3)</a:t>
            </a:r>
          </a:p>
          <a:p>
            <a:r>
              <a:rPr lang="en-US" dirty="0"/>
              <a:t>“Batch size means how many samples the GPU sees at one time.”</a:t>
            </a:r>
          </a:p>
        </p:txBody>
      </p:sp>
    </p:spTree>
    <p:extLst>
      <p:ext uri="{BB962C8B-B14F-4D97-AF65-F5344CB8AC3E}">
        <p14:creationId xmlns:p14="http://schemas.microsoft.com/office/powerpoint/2010/main" val="2743914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How ML handles uncertainty in the real world</a:t>
            </a:r>
            <a:endParaRPr lang="en-US" dirty="0"/>
          </a:p>
          <a:p>
            <a:pPr lvl="1"/>
            <a:r>
              <a:rPr lang="en-US" dirty="0"/>
              <a:t>ML is not about being </a:t>
            </a:r>
            <a:r>
              <a:rPr lang="en-US" dirty="0" smtClean="0"/>
              <a:t>perfect.</a:t>
            </a:r>
          </a:p>
          <a:p>
            <a:pPr lvl="1"/>
            <a:r>
              <a:rPr lang="en-US" dirty="0" smtClean="0"/>
              <a:t>ML </a:t>
            </a:r>
            <a:r>
              <a:rPr lang="en-US" dirty="0"/>
              <a:t>is about being </a:t>
            </a:r>
            <a:r>
              <a:rPr lang="en-US" b="1" dirty="0"/>
              <a:t>confident enough to act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88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RANDOM VARIABLE (NO THEORY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RANDOM </a:t>
            </a:r>
            <a:r>
              <a:rPr lang="en-US" b="1" dirty="0"/>
              <a:t>VARIABLE</a:t>
            </a:r>
            <a:endParaRPr lang="en-US" dirty="0"/>
          </a:p>
          <a:p>
            <a:pPr lvl="1"/>
            <a:r>
              <a:rPr lang="en-US" dirty="0"/>
              <a:t>A number you don’t know in advance</a:t>
            </a:r>
          </a:p>
          <a:p>
            <a:pPr lvl="1"/>
            <a:r>
              <a:rPr lang="en-US" dirty="0"/>
              <a:t>Output of an uncertain process</a:t>
            </a:r>
          </a:p>
          <a:p>
            <a:r>
              <a:rPr lang="en-US" b="1" dirty="0"/>
              <a:t>Examples</a:t>
            </a:r>
            <a:endParaRPr lang="en-US" dirty="0"/>
          </a:p>
          <a:p>
            <a:pPr lvl="1"/>
            <a:r>
              <a:rPr lang="en-US" dirty="0"/>
              <a:t>Email → Spam (1) / Not spam (0)</a:t>
            </a:r>
          </a:p>
          <a:p>
            <a:pPr lvl="1"/>
            <a:r>
              <a:rPr lang="en-US" dirty="0"/>
              <a:t>Customer → Churn (1) / Stay (0)</a:t>
            </a:r>
          </a:p>
          <a:p>
            <a:r>
              <a:rPr lang="en-US" dirty="0" smtClean="0"/>
              <a:t>           In </a:t>
            </a:r>
            <a:r>
              <a:rPr lang="en-US" dirty="0"/>
              <a:t>ML, </a:t>
            </a:r>
            <a:r>
              <a:rPr lang="en-US" b="1" dirty="0"/>
              <a:t>your target (y) is always a random variable</a:t>
            </a:r>
            <a:endParaRPr lang="en-US" dirty="0"/>
          </a:p>
          <a:p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764628" y="4172607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16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DISCRETE </a:t>
            </a:r>
            <a:r>
              <a:rPr lang="en-US" dirty="0" err="1"/>
              <a:t>vs</a:t>
            </a:r>
            <a:r>
              <a:rPr lang="en-US" dirty="0"/>
              <a:t> CONTINUOUS (USE-CASE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DISCRETE (CHOICES)</a:t>
            </a:r>
            <a:endParaRPr lang="en-US" dirty="0"/>
          </a:p>
          <a:p>
            <a:pPr lvl="1"/>
            <a:r>
              <a:rPr lang="en-US" dirty="0"/>
              <a:t>Yes / No</a:t>
            </a:r>
          </a:p>
          <a:p>
            <a:pPr lvl="1"/>
            <a:r>
              <a:rPr lang="en-US" dirty="0"/>
              <a:t>Click / No click</a:t>
            </a:r>
          </a:p>
          <a:p>
            <a:pPr lvl="1"/>
            <a:r>
              <a:rPr lang="en-US" dirty="0"/>
              <a:t>Pass / Fail</a:t>
            </a:r>
          </a:p>
          <a:p>
            <a:r>
              <a:rPr lang="en-US" dirty="0"/>
              <a:t>➡ Used in </a:t>
            </a:r>
            <a:r>
              <a:rPr lang="en-US" b="1" dirty="0"/>
              <a:t>classification</a:t>
            </a:r>
            <a:endParaRPr lang="en-US" dirty="0"/>
          </a:p>
          <a:p>
            <a:r>
              <a:rPr lang="en-US" b="1" dirty="0"/>
              <a:t>CONTINUOUS (VALUES)</a:t>
            </a:r>
            <a:endParaRPr lang="en-US" dirty="0"/>
          </a:p>
          <a:p>
            <a:pPr lvl="1"/>
            <a:r>
              <a:rPr lang="en-US" dirty="0"/>
              <a:t>Price</a:t>
            </a:r>
          </a:p>
          <a:p>
            <a:pPr lvl="1"/>
            <a:r>
              <a:rPr lang="en-US" dirty="0"/>
              <a:t>Time</a:t>
            </a:r>
          </a:p>
          <a:p>
            <a:pPr lvl="1"/>
            <a:r>
              <a:rPr lang="en-US" dirty="0"/>
              <a:t>Revenue</a:t>
            </a:r>
          </a:p>
          <a:p>
            <a:r>
              <a:rPr lang="en-US" dirty="0"/>
              <a:t>➡ Used in </a:t>
            </a:r>
            <a:r>
              <a:rPr lang="en-US" b="1" dirty="0"/>
              <a:t>regression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10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CONDITIONAL PROBABILITY</a:t>
            </a:r>
            <a:endParaRPr lang="en-US" dirty="0"/>
          </a:p>
          <a:p>
            <a:pPr lvl="1"/>
            <a:r>
              <a:rPr lang="en-US" dirty="0"/>
              <a:t>“What’s the chance of A, </a:t>
            </a:r>
            <a:r>
              <a:rPr lang="en-US" b="1" dirty="0"/>
              <a:t>given</a:t>
            </a:r>
            <a:r>
              <a:rPr lang="en-US" dirty="0"/>
              <a:t> B?”</a:t>
            </a:r>
          </a:p>
          <a:p>
            <a:r>
              <a:rPr lang="en-US" b="1" dirty="0"/>
              <a:t>Real Life</a:t>
            </a:r>
            <a:endParaRPr lang="en-US" dirty="0"/>
          </a:p>
          <a:p>
            <a:pPr lvl="1"/>
            <a:r>
              <a:rPr lang="en-US" dirty="0"/>
              <a:t>Rain, given clouds</a:t>
            </a:r>
          </a:p>
          <a:p>
            <a:pPr lvl="1"/>
            <a:r>
              <a:rPr lang="en-US" dirty="0"/>
              <a:t>Disease, given symptoms</a:t>
            </a:r>
          </a:p>
          <a:p>
            <a:r>
              <a:rPr lang="en-US" dirty="0" smtClean="0"/>
              <a:t>      ML </a:t>
            </a:r>
            <a:r>
              <a:rPr lang="en-US" dirty="0"/>
              <a:t>always predicts </a:t>
            </a:r>
            <a:r>
              <a:rPr lang="en-US" b="1" dirty="0"/>
              <a:t>based on conditions</a:t>
            </a:r>
            <a:endParaRPr lang="en-US" dirty="0"/>
          </a:p>
          <a:p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551794" y="3715407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04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 = ML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WHERE YOU USE IT</a:t>
            </a:r>
            <a:endParaRPr lang="en-US" dirty="0"/>
          </a:p>
          <a:p>
            <a:pPr lvl="1"/>
            <a:r>
              <a:rPr lang="en-US" dirty="0"/>
              <a:t>Spam detection</a:t>
            </a:r>
          </a:p>
          <a:p>
            <a:pPr lvl="1"/>
            <a:r>
              <a:rPr lang="en-US" dirty="0"/>
              <a:t>Fraud detection</a:t>
            </a:r>
          </a:p>
          <a:p>
            <a:pPr lvl="1"/>
            <a:r>
              <a:rPr lang="en-US" dirty="0"/>
              <a:t>Churn prediction</a:t>
            </a:r>
          </a:p>
          <a:p>
            <a:pPr lvl="1"/>
            <a:r>
              <a:rPr lang="en-US" dirty="0"/>
              <a:t>Medical screening</a:t>
            </a:r>
          </a:p>
          <a:p>
            <a:r>
              <a:rPr lang="en-US" dirty="0" smtClean="0"/>
              <a:t>     Every </a:t>
            </a:r>
            <a:r>
              <a:rPr lang="en-US" dirty="0"/>
              <a:t>serious ML system is conditional.</a:t>
            </a:r>
          </a:p>
          <a:p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551794" y="3631324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5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 (PRACTICAL MEANING)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INDEPENDENCE</a:t>
            </a:r>
            <a:endParaRPr lang="en-US" dirty="0"/>
          </a:p>
          <a:p>
            <a:pPr lvl="1"/>
            <a:r>
              <a:rPr lang="en-US" dirty="0"/>
              <a:t>One thing does NOT affect another</a:t>
            </a:r>
          </a:p>
          <a:p>
            <a:r>
              <a:rPr lang="en-US" b="1" dirty="0"/>
              <a:t>Examples</a:t>
            </a:r>
            <a:endParaRPr lang="en-US" dirty="0"/>
          </a:p>
          <a:p>
            <a:pPr lvl="1"/>
            <a:r>
              <a:rPr lang="en-US" dirty="0"/>
              <a:t>Coin tosses</a:t>
            </a:r>
          </a:p>
          <a:p>
            <a:pPr lvl="1"/>
            <a:r>
              <a:rPr lang="en-US" dirty="0"/>
              <a:t>Shoe size &amp; exam score</a:t>
            </a:r>
          </a:p>
          <a:p>
            <a:r>
              <a:rPr lang="en-US" dirty="0" smtClean="0"/>
              <a:t>          </a:t>
            </a:r>
            <a:r>
              <a:rPr lang="en-US" dirty="0"/>
              <a:t>Assumed in </a:t>
            </a:r>
            <a:r>
              <a:rPr lang="en-US" b="1" dirty="0"/>
              <a:t>Naive </a:t>
            </a:r>
            <a:r>
              <a:rPr lang="en-US" b="1" dirty="0" smtClean="0"/>
              <a:t>Bayes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Fast</a:t>
            </a:r>
            <a:r>
              <a:rPr lang="en-US" dirty="0"/>
              <a:t>, simple, widely used</a:t>
            </a:r>
          </a:p>
          <a:p>
            <a:endParaRPr lang="en-US" dirty="0"/>
          </a:p>
        </p:txBody>
      </p:sp>
      <p:sp>
        <p:nvSpPr>
          <p:cNvPr id="5" name="5-Point Star 4"/>
          <p:cNvSpPr/>
          <p:nvPr/>
        </p:nvSpPr>
        <p:spPr>
          <a:xfrm>
            <a:off x="685800" y="3702268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685800" y="4191000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6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BAYES’ RULE (NO FORMULA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BAYES</a:t>
            </a:r>
            <a:r>
              <a:rPr lang="en-US" b="1" dirty="0"/>
              <a:t>’ THINKING</a:t>
            </a:r>
            <a:endParaRPr lang="en-US" dirty="0"/>
          </a:p>
          <a:p>
            <a:pPr lvl="1"/>
            <a:r>
              <a:rPr lang="en-US" dirty="0"/>
              <a:t>Start with a belief</a:t>
            </a:r>
          </a:p>
          <a:p>
            <a:pPr lvl="1"/>
            <a:r>
              <a:rPr lang="en-US" dirty="0"/>
              <a:t>New data arrives</a:t>
            </a:r>
          </a:p>
          <a:p>
            <a:pPr lvl="1"/>
            <a:r>
              <a:rPr lang="en-US" dirty="0"/>
              <a:t>Update the belief</a:t>
            </a:r>
          </a:p>
          <a:p>
            <a:r>
              <a:rPr lang="en-US" b="1" dirty="0"/>
              <a:t>Example</a:t>
            </a:r>
            <a:endParaRPr lang="en-US" dirty="0"/>
          </a:p>
          <a:p>
            <a:pPr lvl="1"/>
            <a:r>
              <a:rPr lang="en-US" dirty="0"/>
              <a:t>Email looks spam</a:t>
            </a:r>
          </a:p>
          <a:p>
            <a:pPr lvl="1"/>
            <a:r>
              <a:rPr lang="en-US" dirty="0"/>
              <a:t>New word appears → confidence changes</a:t>
            </a:r>
          </a:p>
          <a:p>
            <a:r>
              <a:rPr lang="en-US" dirty="0" smtClean="0"/>
              <a:t>       ML </a:t>
            </a:r>
            <a:r>
              <a:rPr lang="en-US" dirty="0"/>
              <a:t>is </a:t>
            </a:r>
            <a:r>
              <a:rPr lang="en-US" b="1" dirty="0"/>
              <a:t>belief updating</a:t>
            </a:r>
            <a:endParaRPr lang="en-US" dirty="0"/>
          </a:p>
          <a:p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609600" y="4495800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21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(AVERAGE BEHAVIOR)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EXPECTATION</a:t>
            </a:r>
            <a:endParaRPr lang="en-US" dirty="0"/>
          </a:p>
          <a:p>
            <a:pPr lvl="1"/>
            <a:r>
              <a:rPr lang="en-US" dirty="0"/>
              <a:t>Long-run average outcome</a:t>
            </a:r>
          </a:p>
          <a:p>
            <a:r>
              <a:rPr lang="en-US" b="1" dirty="0"/>
              <a:t>Used For</a:t>
            </a:r>
            <a:endParaRPr lang="en-US" dirty="0"/>
          </a:p>
          <a:p>
            <a:pPr lvl="1"/>
            <a:r>
              <a:rPr lang="en-US" dirty="0"/>
              <a:t>Average error</a:t>
            </a:r>
          </a:p>
          <a:p>
            <a:pPr lvl="1"/>
            <a:r>
              <a:rPr lang="en-US" dirty="0"/>
              <a:t>Average loss</a:t>
            </a:r>
          </a:p>
          <a:p>
            <a:pPr lvl="1"/>
            <a:r>
              <a:rPr lang="en-US" dirty="0"/>
              <a:t>Average performance</a:t>
            </a:r>
          </a:p>
          <a:p>
            <a:r>
              <a:rPr lang="en-US" dirty="0" smtClean="0"/>
              <a:t>       ML </a:t>
            </a:r>
            <a:r>
              <a:rPr lang="en-US" dirty="0"/>
              <a:t>optimizes </a:t>
            </a:r>
            <a:r>
              <a:rPr lang="en-US" b="1" dirty="0"/>
              <a:t>expected results</a:t>
            </a:r>
            <a:r>
              <a:rPr lang="en-US" dirty="0"/>
              <a:t>, not single cases.</a:t>
            </a:r>
          </a:p>
          <a:p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609600" y="4114800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28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YOU NEED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WHY PROBABILITY MATTERS</a:t>
            </a:r>
            <a:endParaRPr lang="en-US" dirty="0"/>
          </a:p>
          <a:p>
            <a:pPr lvl="1"/>
            <a:r>
              <a:rPr lang="en-US" dirty="0"/>
              <a:t>Real data is messy</a:t>
            </a:r>
          </a:p>
          <a:p>
            <a:pPr lvl="1"/>
            <a:r>
              <a:rPr lang="en-US" dirty="0"/>
              <a:t>Real decisions are risky</a:t>
            </a:r>
          </a:p>
          <a:p>
            <a:pPr lvl="1"/>
            <a:r>
              <a:rPr lang="en-US" dirty="0"/>
              <a:t>ML works with </a:t>
            </a:r>
            <a:r>
              <a:rPr lang="en-US" b="1" dirty="0"/>
              <a:t>uncertainty</a:t>
            </a:r>
            <a:r>
              <a:rPr lang="en-US" dirty="0"/>
              <a:t>, not guarantees</a:t>
            </a:r>
          </a:p>
          <a:p>
            <a:r>
              <a:rPr lang="en-US" b="1" dirty="0"/>
              <a:t>Real Outputs</a:t>
            </a:r>
            <a:endParaRPr lang="en-US" dirty="0"/>
          </a:p>
          <a:p>
            <a:pPr lvl="1"/>
            <a:r>
              <a:rPr lang="en-US" dirty="0"/>
              <a:t>Spam → 92%</a:t>
            </a:r>
          </a:p>
          <a:p>
            <a:pPr lvl="1"/>
            <a:r>
              <a:rPr lang="en-US" dirty="0"/>
              <a:t>Churn → 0.78</a:t>
            </a:r>
          </a:p>
          <a:p>
            <a:pPr lvl="1"/>
            <a:r>
              <a:rPr lang="en-US" dirty="0"/>
              <a:t>Fraud → high risk</a:t>
            </a:r>
          </a:p>
          <a:p>
            <a:r>
              <a:rPr lang="en-US" b="1" dirty="0" smtClean="0"/>
              <a:t>         Probability </a:t>
            </a:r>
            <a:r>
              <a:rPr lang="en-US" b="1" dirty="0"/>
              <a:t>= confidence score</a:t>
            </a:r>
            <a:endParaRPr lang="en-US" dirty="0"/>
          </a:p>
          <a:p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558363" y="4876800"/>
            <a:ext cx="533400" cy="457200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1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Loss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LOSS = HOW WRONG WE ARE</a:t>
            </a:r>
          </a:p>
          <a:p>
            <a:r>
              <a:rPr lang="en-US" dirty="0"/>
              <a:t>High loss → bad model</a:t>
            </a:r>
          </a:p>
          <a:p>
            <a:r>
              <a:rPr lang="en-US" dirty="0"/>
              <a:t>Low loss → improving</a:t>
            </a:r>
          </a:p>
          <a:p>
            <a:r>
              <a:rPr lang="en-US" dirty="0"/>
              <a:t>📌 </a:t>
            </a:r>
            <a:r>
              <a:rPr lang="en-US" b="1" dirty="0"/>
              <a:t>Models learn by reducing loss</a:t>
            </a:r>
            <a:endParaRPr lang="en-US" dirty="0"/>
          </a:p>
          <a:p>
            <a:endParaRPr lang="en-US" dirty="0"/>
          </a:p>
        </p:txBody>
      </p:sp>
      <p:sp>
        <p:nvSpPr>
          <p:cNvPr id="4" name="AutoShape 2" descr="Overfitting: Interpreting loss curves | Machine Learning | Google for  Develope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Overfitting: Interpreting loss curves | Machine Learning | Google for  Developer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52" name="Picture 8" descr="Activation Functions, Loss Functions &amp; Learning Curves: A Visual and  Code-Driven Guide for AI Practitioners | by Amit Kharche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505200"/>
            <a:ext cx="79248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23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&amp; LEARNING </a:t>
            </a:r>
            <a:r>
              <a:rPr lang="en-US" dirty="0" smtClean="0"/>
              <a:t>RATE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GRADIENT DESCENT</a:t>
            </a:r>
          </a:p>
          <a:p>
            <a:r>
              <a:rPr lang="en-US" dirty="0"/>
              <a:t>Gradient → direction</a:t>
            </a:r>
          </a:p>
          <a:p>
            <a:r>
              <a:rPr lang="en-US" dirty="0"/>
              <a:t>Learning rate → step size</a:t>
            </a:r>
          </a:p>
          <a:p>
            <a:r>
              <a:rPr lang="en-US" dirty="0"/>
              <a:t>📌 </a:t>
            </a:r>
            <a:r>
              <a:rPr lang="en-US" b="1" dirty="0"/>
              <a:t>Too fast = unstable</a:t>
            </a:r>
            <a:br>
              <a:rPr lang="en-US" b="1" dirty="0"/>
            </a:br>
            <a:r>
              <a:rPr lang="en-US" b="1" dirty="0"/>
              <a:t>Too slow = stuck</a:t>
            </a:r>
            <a:endParaRPr lang="en-US" dirty="0"/>
          </a:p>
          <a:p>
            <a:endParaRPr lang="en-US" dirty="0"/>
          </a:p>
        </p:txBody>
      </p:sp>
      <p:pic>
        <p:nvPicPr>
          <p:cNvPr id="7170" name="Picture 2" descr="Setting the learning rate of your neural network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3886200"/>
            <a:ext cx="82296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26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557</TotalTime>
  <Words>1006</Words>
  <Application>Microsoft Office PowerPoint</Application>
  <PresentationFormat>On-screen Show (4:3)</PresentationFormat>
  <Paragraphs>197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Civic</vt:lpstr>
      <vt:lpstr>AI &amp; Machine Learning</vt:lpstr>
      <vt:lpstr>MATHEMATICS FOR MACHINE LEARNING</vt:lpstr>
      <vt:lpstr>WHY MATH MATTERS</vt:lpstr>
      <vt:lpstr>WHY MATH MATTERS FOR ML</vt:lpstr>
      <vt:lpstr>DESCRIPTIVE STATISTICS (LISTEN TO DATA)</vt:lpstr>
      <vt:lpstr>DESCRIPTIVE STATISTICS (MEAN, MEDIAN, STD)</vt:lpstr>
      <vt:lpstr>DATA BEHAVIOR</vt:lpstr>
      <vt:lpstr>CORRELATION (FEATURE RELATIONSHIPS)</vt:lpstr>
      <vt:lpstr>CORRELATION vs COVARIANCE</vt:lpstr>
      <vt:lpstr>PowerPoint Presentation</vt:lpstr>
      <vt:lpstr>PowerPoint Presentation</vt:lpstr>
      <vt:lpstr>PowerPoint Presentation</vt:lpstr>
      <vt:lpstr>PowerPoint Presentation</vt:lpstr>
      <vt:lpstr>MATRICES (DATASETS)</vt:lpstr>
      <vt:lpstr>TENSORS (DEEP LEARNING)</vt:lpstr>
      <vt:lpstr>PowerPoint Presentation</vt:lpstr>
      <vt:lpstr>BATCH SIZE (VERY IMPORTANT)</vt:lpstr>
      <vt:lpstr>PROBABILITY FUNDAMENTALS</vt:lpstr>
      <vt:lpstr>RANDOM VARIABLE (NO THEORY)</vt:lpstr>
      <vt:lpstr>DISCRETE vs CONTINUOUS (USE-CASE VIEW)</vt:lpstr>
      <vt:lpstr>CONDITIONAL PROBABILITY</vt:lpstr>
      <vt:lpstr>CONDITIONAL PROBABILITY = ML CORE</vt:lpstr>
      <vt:lpstr>INDEPENDENCE (PRACTICAL MEANING)</vt:lpstr>
      <vt:lpstr>BAYES’ RULE (NO FORMULA)</vt:lpstr>
      <vt:lpstr>EXPECTATION (AVERAGE BEHAVIOR)</vt:lpstr>
      <vt:lpstr>WHY YOU NEED PROBABILITY</vt:lpstr>
      <vt:lpstr>Loss Function</vt:lpstr>
      <vt:lpstr>GRADIENT &amp; LEARNING RATE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SIS</dc:creator>
  <cp:lastModifiedBy>SIS</cp:lastModifiedBy>
  <cp:revision>343</cp:revision>
  <dcterms:created xsi:type="dcterms:W3CDTF">2006-08-16T00:00:00Z</dcterms:created>
  <dcterms:modified xsi:type="dcterms:W3CDTF">2026-01-30T09:09:41Z</dcterms:modified>
</cp:coreProperties>
</file>
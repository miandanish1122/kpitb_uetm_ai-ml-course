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12192000"/>
  <p:embeddedFontLst>
    <p:embeddedFont>
      <p:font typeface="Liter"/>
      <p:regular r:id="rId31"/>
    </p:embeddedFont>
    <p:embeddedFont>
      <p:font typeface="Hedvig Letters Sans"/>
      <p:regular r:id="rId32"/>
    </p:embeddedFont>
    <p:embeddedFont>
      <p:font typeface="Quattrocen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epyBeNJPS5kg7V2S//SWz+FoC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FF1A8F-5FBD-4735-AD16-0F4CF33D1977}">
  <a:tblStyle styleId="{62FF1A8F-5FBD-4735-AD16-0F4CF33D19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ter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5.xml"/><Relationship Id="rId32" Type="http://schemas.openxmlformats.org/officeDocument/2006/relationships/font" Target="fonts/HedvigLettersSans-regular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bdd09a48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g3bdd09a48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bdd09a48f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4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file/d/1EAY_Yjj3VbUcex-4FpJONaTmz1dX5wOR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oday.duke.edu/b4f027aa98ddd7dccd87a2b5fb46ee0fea0570d7.jpg" id="17" name="Google Shape;17;p1"/>
          <p:cNvPicPr preferRelativeResize="0"/>
          <p:nvPr/>
        </p:nvPicPr>
        <p:blipFill rotWithShape="1">
          <a:blip r:embed="rId3">
            <a:alphaModFix amt="40000"/>
          </a:blip>
          <a:srcRect b="8033" l="0" r="0" t="8033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4705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385763" y="1395413"/>
            <a:ext cx="1704975" cy="390525"/>
          </a:xfrm>
          <a:custGeom>
            <a:rect b="b" l="l" r="r" t="t"/>
            <a:pathLst>
              <a:path extrusionOk="0" h="390525" w="1704975">
                <a:moveTo>
                  <a:pt x="195263" y="0"/>
                </a:moveTo>
                <a:lnTo>
                  <a:pt x="1509713" y="0"/>
                </a:lnTo>
                <a:cubicBezTo>
                  <a:pt x="1617481" y="0"/>
                  <a:pt x="1704975" y="87494"/>
                  <a:pt x="1704975" y="195263"/>
                </a:cubicBezTo>
                <a:lnTo>
                  <a:pt x="1704975" y="195263"/>
                </a:lnTo>
                <a:cubicBezTo>
                  <a:pt x="1704975" y="303031"/>
                  <a:pt x="1617481" y="390525"/>
                  <a:pt x="15097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2925" y="1504950"/>
            <a:ext cx="14650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BEGINNER'S GUIDE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81000" y="2247900"/>
            <a:ext cx="8153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Supervised Learning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274B9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Classification Algorithms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4191000"/>
            <a:ext cx="69627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Comprehensive Guide to Logistic Regression, Decision Trees &amp; SVM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Practical Churn Prediction Implementation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390525" y="5276850"/>
            <a:ext cx="171450" cy="152400"/>
          </a:xfrm>
          <a:custGeom>
            <a:rect b="b" l="l" r="r" t="t"/>
            <a:pathLst>
              <a:path extrusionOk="0" h="152400" w="17145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47700" y="5238750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 Three Core Algorithms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2867025" y="5276850"/>
            <a:ext cx="171450" cy="152400"/>
          </a:xfrm>
          <a:custGeom>
            <a:rect b="b" l="l" r="r" t="t"/>
            <a:pathLst>
              <a:path extrusionOk="0" h="152400" w="17145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124200" y="5238750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Real-World Models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5124450" y="527685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372100" y="52387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Master Classification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381000" y="1171575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Learning Journey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81000" y="1743075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</p:sp>
      <p:sp>
        <p:nvSpPr>
          <p:cNvPr id="36" name="Google Shape;36;p2"/>
          <p:cNvSpPr/>
          <p:nvPr/>
        </p:nvSpPr>
        <p:spPr>
          <a:xfrm>
            <a:off x="385763" y="209073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19125" y="232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71500" y="23241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1228725" y="23241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Understanding Classification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28725" y="2667000"/>
            <a:ext cx="40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concepts, binary vs. multiclass, real-world applications</a:t>
            </a:r>
            <a:endParaRPr b="0" i="0" sz="1600" u="none" cap="none" strike="noStrike"/>
          </a:p>
        </p:txBody>
      </p:sp>
      <p:sp>
        <p:nvSpPr>
          <p:cNvPr id="41" name="Google Shape;41;p2"/>
          <p:cNvSpPr/>
          <p:nvPr/>
        </p:nvSpPr>
        <p:spPr>
          <a:xfrm>
            <a:off x="6215063" y="209073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448425" y="232410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400800" y="23241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7058025" y="2324100"/>
            <a:ext cx="3829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Support Vector Machines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058025" y="2667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boundaries, kernel trick, hyperparameter tuning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385763" y="336708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19125" y="36004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71500" y="36004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1228725" y="3600450"/>
            <a:ext cx="4057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Logistic Regression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28725" y="3943350"/>
            <a:ext cx="403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 function, probability-based classification, strengths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6215063" y="336708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48425" y="36004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400800" y="36004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60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7058025" y="3600450"/>
            <a:ext cx="331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Churn Prediction Model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058025" y="3943350"/>
            <a:ext cx="3295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engineering, data preprocessing, training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385763" y="464343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19125" y="4876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71500" y="48768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1228725" y="487680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Decision Trees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228725" y="52197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Human-like decisions, Gini index, overfitting control</a:t>
            </a:r>
            <a:endParaRPr b="0" i="0" sz="16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6215063" y="4643438"/>
            <a:ext cx="5591175" cy="1038225"/>
          </a:xfrm>
          <a:custGeom>
            <a:rect b="b" l="l" r="r" t="t"/>
            <a:pathLst>
              <a:path extrusionOk="0" h="1038225" w="5591175">
                <a:moveTo>
                  <a:pt x="76195" y="0"/>
                </a:moveTo>
                <a:lnTo>
                  <a:pt x="5514980" y="0"/>
                </a:lnTo>
                <a:cubicBezTo>
                  <a:pt x="5557061" y="0"/>
                  <a:pt x="5591175" y="34114"/>
                  <a:pt x="5591175" y="76195"/>
                </a:cubicBezTo>
                <a:lnTo>
                  <a:pt x="5591175" y="962030"/>
                </a:lnTo>
                <a:cubicBezTo>
                  <a:pt x="5591175" y="1004111"/>
                  <a:pt x="5557061" y="1038225"/>
                  <a:pt x="5514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448425" y="4876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400800" y="48768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7058025" y="4876800"/>
            <a:ext cx="3476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Evaluation &amp; Deployment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058025" y="5219700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Metrics, model comparison, threshold optimization</a:t>
            </a:r>
            <a:endParaRPr b="0" i="0" sz="1600" u="none" cap="none" strike="noStrike"/>
          </a:p>
        </p:txBody>
      </p:sp>
      <p:sp>
        <p:nvSpPr>
          <p:cNvPr id="66" name="Google Shape;66;p2"/>
          <p:cNvSpPr txBox="1"/>
          <p:nvPr/>
        </p:nvSpPr>
        <p:spPr>
          <a:xfrm>
            <a:off x="4772025" y="6153175"/>
            <a:ext cx="72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385763" y="385763"/>
            <a:ext cx="1238250" cy="314325"/>
          </a:xfrm>
          <a:custGeom>
            <a:rect b="b" l="l" r="r" t="t"/>
            <a:pathLst>
              <a:path extrusionOk="0" h="314325" w="1238250">
                <a:moveTo>
                  <a:pt x="157163" y="0"/>
                </a:moveTo>
                <a:lnTo>
                  <a:pt x="1081088" y="0"/>
                </a:lnTo>
                <a:cubicBezTo>
                  <a:pt x="1167828" y="0"/>
                  <a:pt x="1238250" y="70422"/>
                  <a:pt x="1238250" y="157163"/>
                </a:cubicBezTo>
                <a:lnTo>
                  <a:pt x="1238250" y="157163"/>
                </a:lnTo>
                <a:cubicBezTo>
                  <a:pt x="1238250" y="243903"/>
                  <a:pt x="1167828" y="314325"/>
                  <a:pt x="1081088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04825" y="476250"/>
            <a:ext cx="106397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FOUNDATIONS</a:t>
            </a:r>
            <a:endParaRPr b="0" i="0" sz="16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What is Classification in Machine Learning?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5763" y="1319213"/>
            <a:ext cx="5629275" cy="2466975"/>
          </a:xfrm>
          <a:custGeom>
            <a:rect b="b" l="l" r="r" t="t"/>
            <a:pathLst>
              <a:path extrusionOk="0" h="2466975" w="5629275">
                <a:moveTo>
                  <a:pt x="76205" y="0"/>
                </a:moveTo>
                <a:lnTo>
                  <a:pt x="5553070" y="0"/>
                </a:lnTo>
                <a:cubicBezTo>
                  <a:pt x="5595129" y="0"/>
                  <a:pt x="5629275" y="34146"/>
                  <a:pt x="5629275" y="76205"/>
                </a:cubicBezTo>
                <a:lnTo>
                  <a:pt x="5629275" y="2390770"/>
                </a:lnTo>
                <a:cubicBezTo>
                  <a:pt x="5629275" y="2432857"/>
                  <a:pt x="5595157" y="2466975"/>
                  <a:pt x="5553070" y="2466975"/>
                </a:cubicBezTo>
                <a:lnTo>
                  <a:pt x="76205" y="2466975"/>
                </a:lnTo>
                <a:cubicBezTo>
                  <a:pt x="34118" y="2466975"/>
                  <a:pt x="0" y="2432857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92931" y="1552575"/>
            <a:ext cx="214313" cy="190500"/>
          </a:xfrm>
          <a:custGeom>
            <a:rect b="b" l="l" r="r" t="t"/>
            <a:pathLst>
              <a:path extrusionOk="0" h="190500" w="214313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19150" y="151447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Core Concept</a:t>
            </a:r>
            <a:endParaRPr b="0" i="0" sz="16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581025" y="1895475"/>
            <a:ext cx="53149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 is a supervised learning task that predic</a:t>
            </a:r>
            <a:r>
              <a:rPr lang="en-US" sz="1200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 </a:t>
            </a:r>
            <a:r>
              <a:rPr lang="en-US" sz="1200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discrete</a:t>
            </a:r>
            <a:r>
              <a:rPr lang="en-US" sz="1200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categories s</a:t>
            </a:r>
            <a:r>
              <a:rPr b="0" i="0" lang="en-US" sz="120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 classes. The algorithm learns patterns from labeled training data and assigns new data points to predefined categories.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00075" y="2752725"/>
            <a:ext cx="5219700" cy="838200"/>
          </a:xfrm>
          <a:custGeom>
            <a:rect b="b" l="l" r="r" t="t"/>
            <a:pathLst>
              <a:path extrusionOk="0" h="838200" w="5219700">
                <a:moveTo>
                  <a:pt x="38096" y="0"/>
                </a:moveTo>
                <a:lnTo>
                  <a:pt x="5181604" y="0"/>
                </a:lnTo>
                <a:cubicBezTo>
                  <a:pt x="5202644" y="0"/>
                  <a:pt x="5219700" y="17056"/>
                  <a:pt x="5219700" y="38096"/>
                </a:cubicBezTo>
                <a:lnTo>
                  <a:pt x="5219700" y="800104"/>
                </a:lnTo>
                <a:cubicBezTo>
                  <a:pt x="5219700" y="821144"/>
                  <a:pt x="5202644" y="838200"/>
                  <a:pt x="518160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274B9"/>
              </a:solidFill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0075" y="2752725"/>
            <a:ext cx="38100" cy="838200"/>
          </a:xfrm>
          <a:custGeom>
            <a:rect b="b" l="l" r="r" t="t"/>
            <a:pathLst>
              <a:path extrusionOk="0" h="838200" w="381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33425" y="2867025"/>
            <a:ext cx="503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Principle:</a:t>
            </a:r>
            <a:endParaRPr b="0" i="0" sz="16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733425" y="3095625"/>
            <a:ext cx="5038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Unlike regression that predicts continuous values, classification outputs specific categories like "Yes/No" or "Spam/Ham"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85763" y="3948112"/>
            <a:ext cx="5629275" cy="1724025"/>
          </a:xfrm>
          <a:custGeom>
            <a:rect b="b" l="l" r="r" t="t"/>
            <a:pathLst>
              <a:path extrusionOk="0" h="1724025" w="5629275">
                <a:moveTo>
                  <a:pt x="76202" y="0"/>
                </a:moveTo>
                <a:lnTo>
                  <a:pt x="5553073" y="0"/>
                </a:lnTo>
                <a:cubicBezTo>
                  <a:pt x="5595158" y="0"/>
                  <a:pt x="5629275" y="34117"/>
                  <a:pt x="5629275" y="76202"/>
                </a:cubicBezTo>
                <a:lnTo>
                  <a:pt x="5629275" y="1647823"/>
                </a:lnTo>
                <a:cubicBezTo>
                  <a:pt x="5629275" y="1689908"/>
                  <a:pt x="5595158" y="1724025"/>
                  <a:pt x="55530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04838" y="4181475"/>
            <a:ext cx="190500" cy="190500"/>
          </a:xfrm>
          <a:custGeom>
            <a:rect b="b" l="l" r="r" t="t"/>
            <a:pathLst>
              <a:path extrusionOk="0" h="190500" w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19150" y="414337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Types of Classification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81025" y="452437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7688" y="4524375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1000125" y="4524375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Binary Classification</a:t>
            </a:r>
            <a:endParaRPr b="0" i="0" sz="16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1000125" y="4752975"/>
            <a:ext cx="3476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possible outcomes: Churn/No Churn, Spam/Not Spam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81025" y="505777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47688" y="5057775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3+</a:t>
            </a:r>
            <a:endParaRPr b="0" i="0" sz="16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1000125" y="5057775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Multiclass Classification</a:t>
            </a:r>
            <a:endParaRPr b="0" i="0" sz="160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1000125" y="5299075"/>
            <a:ext cx="3038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or more categories: Basic/Premium/Enterprise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76963" y="1319213"/>
            <a:ext cx="5629275" cy="3705225"/>
          </a:xfrm>
          <a:custGeom>
            <a:rect b="b" l="l" r="r" t="t"/>
            <a:pathLst>
              <a:path extrusionOk="0" h="3705225" w="5629275">
                <a:moveTo>
                  <a:pt x="76216" y="0"/>
                </a:moveTo>
                <a:lnTo>
                  <a:pt x="5553059" y="0"/>
                </a:lnTo>
                <a:cubicBezTo>
                  <a:pt x="5595152" y="0"/>
                  <a:pt x="5629275" y="34123"/>
                  <a:pt x="5629275" y="76216"/>
                </a:cubicBezTo>
                <a:lnTo>
                  <a:pt x="5629275" y="3629009"/>
                </a:lnTo>
                <a:cubicBezTo>
                  <a:pt x="5629275" y="3671102"/>
                  <a:pt x="5595152" y="3705225"/>
                  <a:pt x="5553059" y="3705225"/>
                </a:cubicBezTo>
                <a:lnTo>
                  <a:pt x="76216" y="3705225"/>
                </a:lnTo>
                <a:cubicBezTo>
                  <a:pt x="34123" y="3705225"/>
                  <a:pt x="0" y="3671102"/>
                  <a:pt x="0" y="3629009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291263" y="1476375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Decision Boundary Visualization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19275"/>
            <a:ext cx="5314950" cy="304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9275"/>
            <a:ext cx="5314950" cy="304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98" name="Google Shape;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19275"/>
            <a:ext cx="5314950" cy="304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6172200" y="5181600"/>
            <a:ext cx="2762250" cy="914400"/>
          </a:xfrm>
          <a:custGeom>
            <a:rect b="b" l="l" r="r" t="t"/>
            <a:pathLst>
              <a:path extrusionOk="0" h="91440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838203"/>
                </a:lnTo>
                <a:cubicBezTo>
                  <a:pt x="2762250" y="880285"/>
                  <a:pt x="2728135" y="914400"/>
                  <a:pt x="2686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305550" y="5334000"/>
            <a:ext cx="152400" cy="152400"/>
          </a:xfrm>
          <a:custGeom>
            <a:rect b="b" l="l" r="r" t="t"/>
            <a:pathLst>
              <a:path extrusionOk="0" h="152400" w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477000" y="5295900"/>
            <a:ext cx="241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Email Spam Detection</a:t>
            </a:r>
            <a:endParaRPr b="0" i="0" sz="160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6286500" y="5600700"/>
            <a:ext cx="2600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Classifies emails as "Spam" or "Not Spam"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048750" y="5181600"/>
            <a:ext cx="2762250" cy="914400"/>
          </a:xfrm>
          <a:custGeom>
            <a:rect b="b" l="l" r="r" t="t"/>
            <a:pathLst>
              <a:path extrusionOk="0" h="914400" w="2762250">
                <a:moveTo>
                  <a:pt x="76197" y="0"/>
                </a:moveTo>
                <a:lnTo>
                  <a:pt x="2686053" y="0"/>
                </a:lnTo>
                <a:cubicBezTo>
                  <a:pt x="2728135" y="0"/>
                  <a:pt x="2762250" y="34115"/>
                  <a:pt x="2762250" y="76197"/>
                </a:cubicBezTo>
                <a:lnTo>
                  <a:pt x="2762250" y="838203"/>
                </a:lnTo>
                <a:cubicBezTo>
                  <a:pt x="2762250" y="880285"/>
                  <a:pt x="2728135" y="914400"/>
                  <a:pt x="2686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182100" y="53340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353550" y="5295900"/>
            <a:ext cx="2419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Medical Diagnosis</a:t>
            </a:r>
            <a:endParaRPr b="0" i="0" sz="160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9163050" y="5600700"/>
            <a:ext cx="2600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Predicts disease presence: "Positive" or "Negative"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dn.processon.io/a3ef28949ab18c1c5c279331fe1f2dde6d14c3ff.png" id="112" name="Google Shape;112;p4"/>
          <p:cNvPicPr preferRelativeResize="0"/>
          <p:nvPr/>
        </p:nvPicPr>
        <p:blipFill rotWithShape="1">
          <a:blip r:embed="rId3">
            <a:alphaModFix amt="30000"/>
          </a:blip>
          <a:srcRect b="22087" l="0" r="0" t="22088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89803"/>
                </a:srgbClr>
              </a:gs>
              <a:gs pos="100000">
                <a:srgbClr val="1A1D21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>
            <a:off x="390525" y="1404938"/>
            <a:ext cx="704850" cy="552450"/>
          </a:xfrm>
          <a:custGeom>
            <a:rect b="b" l="l" r="r" t="t"/>
            <a:pathLst>
              <a:path extrusionOk="0" h="552450" w="704850">
                <a:moveTo>
                  <a:pt x="276225" y="0"/>
                </a:moveTo>
                <a:lnTo>
                  <a:pt x="428625" y="0"/>
                </a:lnTo>
                <a:cubicBezTo>
                  <a:pt x="581078" y="0"/>
                  <a:pt x="704850" y="123772"/>
                  <a:pt x="704850" y="276225"/>
                </a:cubicBezTo>
                <a:lnTo>
                  <a:pt x="704850" y="276225"/>
                </a:lnTo>
                <a:cubicBezTo>
                  <a:pt x="704850" y="428678"/>
                  <a:pt x="581078" y="552450"/>
                  <a:pt x="428625" y="552450"/>
                </a:cubicBezTo>
                <a:lnTo>
                  <a:pt x="276225" y="552450"/>
                </a:lnTo>
                <a:cubicBezTo>
                  <a:pt x="123772" y="552450"/>
                  <a:pt x="0" y="428678"/>
                  <a:pt x="0" y="276225"/>
                </a:cubicBezTo>
                <a:lnTo>
                  <a:pt x="0" y="276225"/>
                </a:lnTo>
                <a:cubicBezTo>
                  <a:pt x="0" y="123772"/>
                  <a:pt x="123772" y="0"/>
                  <a:pt x="276225" y="0"/>
                </a:cubicBezTo>
                <a:close/>
              </a:path>
            </a:pathLst>
          </a:custGeom>
          <a:solidFill>
            <a:srgbClr val="3274B9">
              <a:alpha val="29803"/>
            </a:srgbClr>
          </a:solidFill>
          <a:ln cap="flat" cmpd="sng" w="254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28650" y="1528763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b="0" i="0" sz="16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381000" y="2195513"/>
            <a:ext cx="11772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Logistic Regression</a:t>
            </a:r>
            <a:endParaRPr b="0" i="0" sz="16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381000" y="3281363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Probability-Based Classifier</a:t>
            </a:r>
            <a:endParaRPr b="0" i="0" sz="160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381000" y="3929063"/>
            <a:ext cx="6496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Despite its name, logistic regression is a powerful </a:t>
            </a:r>
            <a:r>
              <a:rPr b="1" i="0" lang="en-US" sz="150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 algorithm</a:t>
            </a: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uses probability to make decisions.</a:t>
            </a:r>
            <a:endParaRPr b="0" i="0" sz="16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381000" y="4662488"/>
            <a:ext cx="64865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transforms linear outputs into probabilities between 0 and 1, making it ideal for binary classification tasks like predicting customer churn, spam detection, and medical diagnosis.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321469" y="321469"/>
            <a:ext cx="1428750" cy="261937"/>
          </a:xfrm>
          <a:custGeom>
            <a:rect b="b" l="l" r="r" t="t"/>
            <a:pathLst>
              <a:path extrusionOk="0" h="261937" w="1428750">
                <a:moveTo>
                  <a:pt x="130969" y="0"/>
                </a:moveTo>
                <a:lnTo>
                  <a:pt x="1297781" y="0"/>
                </a:lnTo>
                <a:cubicBezTo>
                  <a:pt x="1370065" y="0"/>
                  <a:pt x="1428750" y="58685"/>
                  <a:pt x="1428750" y="130969"/>
                </a:cubicBezTo>
                <a:lnTo>
                  <a:pt x="1428750" y="130969"/>
                </a:lnTo>
                <a:cubicBezTo>
                  <a:pt x="1428750" y="203252"/>
                  <a:pt x="1370065" y="261937"/>
                  <a:pt x="1297781" y="261937"/>
                </a:cubicBezTo>
                <a:lnTo>
                  <a:pt x="130969" y="261937"/>
                </a:lnTo>
                <a:cubicBezTo>
                  <a:pt x="58685" y="261937"/>
                  <a:pt x="0" y="203252"/>
                  <a:pt x="0" y="130969"/>
                </a:cubicBezTo>
                <a:lnTo>
                  <a:pt x="0" y="130969"/>
                </a:lnTo>
                <a:cubicBezTo>
                  <a:pt x="0" y="58685"/>
                  <a:pt x="58685" y="0"/>
                  <a:pt x="130969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20688" y="396875"/>
            <a:ext cx="128835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LOGISTIC REGRESSION</a:t>
            </a:r>
            <a:endParaRPr b="0" i="0" sz="16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321469" y="1131094"/>
            <a:ext cx="5707063" cy="2309813"/>
          </a:xfrm>
          <a:custGeom>
            <a:rect b="b" l="l" r="r" t="t"/>
            <a:pathLst>
              <a:path extrusionOk="0" h="2309813" w="5707063">
                <a:moveTo>
                  <a:pt x="63497" y="0"/>
                </a:moveTo>
                <a:lnTo>
                  <a:pt x="5643566" y="0"/>
                </a:lnTo>
                <a:cubicBezTo>
                  <a:pt x="5678634" y="0"/>
                  <a:pt x="5707063" y="28428"/>
                  <a:pt x="5707063" y="63497"/>
                </a:cubicBezTo>
                <a:lnTo>
                  <a:pt x="5707063" y="2246316"/>
                </a:lnTo>
                <a:cubicBezTo>
                  <a:pt x="5707063" y="2281384"/>
                  <a:pt x="5678634" y="2309813"/>
                  <a:pt x="5643566" y="2309813"/>
                </a:cubicBezTo>
                <a:lnTo>
                  <a:pt x="63497" y="2309813"/>
                </a:lnTo>
                <a:cubicBezTo>
                  <a:pt x="28428" y="2309813"/>
                  <a:pt x="0" y="2281384"/>
                  <a:pt x="0" y="2246316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04031" y="1325563"/>
            <a:ext cx="158750" cy="158750"/>
          </a:xfrm>
          <a:custGeom>
            <a:rect b="b" l="l" r="r" t="t"/>
            <a:pathLst>
              <a:path extrusionOk="0" h="158750" w="158750">
                <a:moveTo>
                  <a:pt x="19844" y="29766"/>
                </a:moveTo>
                <a:cubicBezTo>
                  <a:pt x="19844" y="24278"/>
                  <a:pt x="24278" y="19844"/>
                  <a:pt x="29766" y="19844"/>
                </a:cubicBezTo>
                <a:lnTo>
                  <a:pt x="79375" y="19844"/>
                </a:lnTo>
                <a:cubicBezTo>
                  <a:pt x="84863" y="19844"/>
                  <a:pt x="89297" y="24278"/>
                  <a:pt x="89297" y="29766"/>
                </a:cubicBezTo>
                <a:lnTo>
                  <a:pt x="89297" y="119062"/>
                </a:lnTo>
                <a:lnTo>
                  <a:pt x="119062" y="119062"/>
                </a:lnTo>
                <a:lnTo>
                  <a:pt x="119062" y="79375"/>
                </a:lnTo>
                <a:cubicBezTo>
                  <a:pt x="119062" y="73887"/>
                  <a:pt x="123496" y="69453"/>
                  <a:pt x="128984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138906" y="89297"/>
                </a:lnTo>
                <a:lnTo>
                  <a:pt x="138906" y="128984"/>
                </a:lnTo>
                <a:cubicBezTo>
                  <a:pt x="138906" y="134472"/>
                  <a:pt x="134472" y="138906"/>
                  <a:pt x="128984" y="138906"/>
                </a:cubicBezTo>
                <a:lnTo>
                  <a:pt x="79375" y="138906"/>
                </a:lnTo>
                <a:cubicBezTo>
                  <a:pt x="73887" y="138906"/>
                  <a:pt x="69453" y="134472"/>
                  <a:pt x="69453" y="128984"/>
                </a:cubicBezTo>
                <a:lnTo>
                  <a:pt x="69453" y="39688"/>
                </a:lnTo>
                <a:lnTo>
                  <a:pt x="39688" y="39688"/>
                </a:lnTo>
                <a:lnTo>
                  <a:pt x="39688" y="79375"/>
                </a:lnTo>
                <a:cubicBezTo>
                  <a:pt x="39688" y="84863"/>
                  <a:pt x="35254" y="89297"/>
                  <a:pt x="29766" y="89297"/>
                </a:cubicBezTo>
                <a:lnTo>
                  <a:pt x="9922" y="89297"/>
                </a:lnTo>
                <a:cubicBezTo>
                  <a:pt x="4434" y="89297"/>
                  <a:pt x="0" y="84863"/>
                  <a:pt x="0" y="79375"/>
                </a:cubicBezTo>
                <a:cubicBezTo>
                  <a:pt x="0" y="73887"/>
                  <a:pt x="4434" y="69453"/>
                  <a:pt x="9922" y="69453"/>
                </a:cubicBezTo>
                <a:lnTo>
                  <a:pt x="19844" y="69453"/>
                </a:lnTo>
                <a:lnTo>
                  <a:pt x="19844" y="29766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88156" y="1615281"/>
            <a:ext cx="5373688" cy="706438"/>
          </a:xfrm>
          <a:custGeom>
            <a:rect b="b" l="l" r="r" t="t"/>
            <a:pathLst>
              <a:path extrusionOk="0" h="706438" w="5373688">
                <a:moveTo>
                  <a:pt x="63502" y="0"/>
                </a:moveTo>
                <a:lnTo>
                  <a:pt x="5310186" y="0"/>
                </a:lnTo>
                <a:cubicBezTo>
                  <a:pt x="5345257" y="0"/>
                  <a:pt x="5373688" y="28431"/>
                  <a:pt x="5373688" y="63502"/>
                </a:cubicBezTo>
                <a:lnTo>
                  <a:pt x="5373688" y="642936"/>
                </a:lnTo>
                <a:cubicBezTo>
                  <a:pt x="5373688" y="678007"/>
                  <a:pt x="5345257" y="706437"/>
                  <a:pt x="5310186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83406" y="1746250"/>
            <a:ext cx="51831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591344" y="2032000"/>
            <a:ext cx="5167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484187" y="2420938"/>
            <a:ext cx="5445125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sigmoid function transforms continuous linear regression output into </a:t>
            </a:r>
            <a:r>
              <a:rPr b="0" i="0" lang="en-US" sz="1000" u="none" cap="none" strike="noStrike">
                <a:solidFill>
                  <a:srgbClr val="F0F2F5"/>
                </a:solidFill>
                <a:highlight>
                  <a:srgbClr val="4DB59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probabilities </a:t>
            </a:r>
            <a:r>
              <a:rPr b="0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suitable for classification.</a:t>
            </a:r>
            <a:endParaRPr b="0" i="0" sz="16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420700" y="2837006"/>
            <a:ext cx="5381625" cy="341392"/>
          </a:xfrm>
          <a:custGeom>
            <a:rect b="b" l="l" r="r" t="t"/>
            <a:pathLst>
              <a:path extrusionOk="0" h="349250" w="5381625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91338" y="2846414"/>
            <a:ext cx="95250" cy="127000"/>
          </a:xfrm>
          <a:custGeom>
            <a:rect b="b" l="l" r="r" t="t"/>
            <a:pathLst>
              <a:path extrusionOk="0" h="127000" w="9525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163469" y="1131094"/>
            <a:ext cx="5707063" cy="2309813"/>
          </a:xfrm>
          <a:custGeom>
            <a:rect b="b" l="l" r="r" t="t"/>
            <a:pathLst>
              <a:path extrusionOk="0" h="2309813" w="5707063">
                <a:moveTo>
                  <a:pt x="63497" y="0"/>
                </a:moveTo>
                <a:lnTo>
                  <a:pt x="5643566" y="0"/>
                </a:lnTo>
                <a:cubicBezTo>
                  <a:pt x="5678634" y="0"/>
                  <a:pt x="5707063" y="28428"/>
                  <a:pt x="5707063" y="63497"/>
                </a:cubicBezTo>
                <a:lnTo>
                  <a:pt x="5707063" y="2246316"/>
                </a:lnTo>
                <a:cubicBezTo>
                  <a:pt x="5707063" y="2281384"/>
                  <a:pt x="5678634" y="2309813"/>
                  <a:pt x="5643566" y="2309813"/>
                </a:cubicBezTo>
                <a:lnTo>
                  <a:pt x="63497" y="2309813"/>
                </a:lnTo>
                <a:cubicBezTo>
                  <a:pt x="28428" y="2309813"/>
                  <a:pt x="0" y="2281384"/>
                  <a:pt x="0" y="2246316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326188" y="1325563"/>
            <a:ext cx="198438" cy="158750"/>
          </a:xfrm>
          <a:custGeom>
            <a:rect b="b" l="l" r="r" t="t"/>
            <a:pathLst>
              <a:path extrusionOk="0" h="158750" w="198438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524625" y="1293813"/>
            <a:ext cx="526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Decision Threshold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326188" y="1611313"/>
            <a:ext cx="5445125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getting probability from sigmoid, we apply a threshold (typically </a:t>
            </a:r>
            <a:r>
              <a:rPr b="1" i="0" lang="en-US" sz="1000" u="none" cap="none" strike="noStrike">
                <a:solidFill>
                  <a:srgbClr val="4DB59A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0.5 </a:t>
            </a: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to make final classification: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342063" y="2119313"/>
            <a:ext cx="5365750" cy="381000"/>
          </a:xfrm>
          <a:custGeom>
            <a:rect b="b" l="l" r="r" t="t"/>
            <a:pathLst>
              <a:path extrusionOk="0" h="381000" w="5365750">
                <a:moveTo>
                  <a:pt x="31749" y="0"/>
                </a:moveTo>
                <a:lnTo>
                  <a:pt x="5334001" y="0"/>
                </a:lnTo>
                <a:cubicBezTo>
                  <a:pt x="5351536" y="0"/>
                  <a:pt x="5365750" y="14214"/>
                  <a:pt x="5365750" y="31749"/>
                </a:cubicBezTo>
                <a:lnTo>
                  <a:pt x="5365750" y="349251"/>
                </a:lnTo>
                <a:cubicBezTo>
                  <a:pt x="5365750" y="366786"/>
                  <a:pt x="5351536" y="381000"/>
                  <a:pt x="5334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342063" y="2119313"/>
            <a:ext cx="31750" cy="381000"/>
          </a:xfrm>
          <a:custGeom>
            <a:rect b="b" l="l" r="r" t="t"/>
            <a:pathLst>
              <a:path extrusionOk="0" h="381000" w="3175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453188" y="2214563"/>
            <a:ext cx="522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σ(z) ≥ 0.5:</a:t>
            </a: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Predict Class 1 (e.g., "Will Churn")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342063" y="2563813"/>
            <a:ext cx="5365750" cy="381000"/>
          </a:xfrm>
          <a:custGeom>
            <a:rect b="b" l="l" r="r" t="t"/>
            <a:pathLst>
              <a:path extrusionOk="0" h="381000" w="5365750">
                <a:moveTo>
                  <a:pt x="31749" y="0"/>
                </a:moveTo>
                <a:lnTo>
                  <a:pt x="5334001" y="0"/>
                </a:lnTo>
                <a:cubicBezTo>
                  <a:pt x="5351536" y="0"/>
                  <a:pt x="5365750" y="14214"/>
                  <a:pt x="5365750" y="31749"/>
                </a:cubicBezTo>
                <a:lnTo>
                  <a:pt x="5365750" y="349251"/>
                </a:lnTo>
                <a:cubicBezTo>
                  <a:pt x="5365750" y="366786"/>
                  <a:pt x="5351536" y="381000"/>
                  <a:pt x="5334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42063" y="2563813"/>
            <a:ext cx="31750" cy="381000"/>
          </a:xfrm>
          <a:custGeom>
            <a:rect b="b" l="l" r="r" t="t"/>
            <a:pathLst>
              <a:path extrusionOk="0" h="381000" w="3175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21469" y="3313757"/>
            <a:ext cx="11549063" cy="2532063"/>
          </a:xfrm>
          <a:custGeom>
            <a:rect b="b" l="l" r="r" t="t"/>
            <a:pathLst>
              <a:path extrusionOk="0" h="2532063" w="11549063">
                <a:moveTo>
                  <a:pt x="63504" y="0"/>
                </a:moveTo>
                <a:lnTo>
                  <a:pt x="11485558" y="0"/>
                </a:lnTo>
                <a:cubicBezTo>
                  <a:pt x="11520631" y="0"/>
                  <a:pt x="11549063" y="28432"/>
                  <a:pt x="11549063" y="63504"/>
                </a:cubicBezTo>
                <a:lnTo>
                  <a:pt x="11549063" y="2468558"/>
                </a:lnTo>
                <a:cubicBezTo>
                  <a:pt x="11549063" y="2503631"/>
                  <a:pt x="11520631" y="2532063"/>
                  <a:pt x="11485558" y="2532063"/>
                </a:cubicBezTo>
                <a:lnTo>
                  <a:pt x="63504" y="2532063"/>
                </a:lnTo>
                <a:cubicBezTo>
                  <a:pt x="28432" y="2532063"/>
                  <a:pt x="0" y="2503631"/>
                  <a:pt x="0" y="2468558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16719" y="3520610"/>
            <a:ext cx="11358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0F2F5"/>
                </a:solidFill>
                <a:highlight>
                  <a:schemeClr val="accent3"/>
                </a:highlight>
                <a:latin typeface="Liter"/>
                <a:ea typeface="Liter"/>
                <a:cs typeface="Liter"/>
                <a:sym typeface="Liter"/>
              </a:rPr>
              <a:t>Sigmoid Function Visualization</a:t>
            </a:r>
            <a:endParaRPr b="0" i="0" sz="1600" u="none" cap="none" strike="noStrike">
              <a:highlight>
                <a:schemeClr val="accent3"/>
              </a:highlight>
            </a:endParaRPr>
          </a:p>
        </p:txBody>
      </p:sp>
      <p:pic>
        <p:nvPicPr>
          <p:cNvPr descr="preencoded.png"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8" y="3730476"/>
            <a:ext cx="9255000" cy="1984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8" y="3730476"/>
            <a:ext cx="9255000" cy="1984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8" y="3730476"/>
            <a:ext cx="9255000" cy="1984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317500" y="5808564"/>
            <a:ext cx="3786188" cy="984250"/>
          </a:xfrm>
          <a:custGeom>
            <a:rect b="b" l="l" r="r" t="t"/>
            <a:pathLst>
              <a:path extrusionOk="0" h="984250" w="3786188">
                <a:moveTo>
                  <a:pt x="63504" y="0"/>
                </a:moveTo>
                <a:lnTo>
                  <a:pt x="3722684" y="0"/>
                </a:lnTo>
                <a:cubicBezTo>
                  <a:pt x="3757756" y="0"/>
                  <a:pt x="3786188" y="28432"/>
                  <a:pt x="3786188" y="63504"/>
                </a:cubicBezTo>
                <a:lnTo>
                  <a:pt x="3786188" y="920746"/>
                </a:lnTo>
                <a:cubicBezTo>
                  <a:pt x="3786187" y="955818"/>
                  <a:pt x="3757756" y="984250"/>
                  <a:pt x="3722684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12750" y="5903814"/>
            <a:ext cx="365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Key Assumptions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12750" y="6157814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Binary dependent variable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12750" y="6348314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Independent observations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12750" y="6538814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Linear relationship with log-odds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201542" y="5846505"/>
            <a:ext cx="3786188" cy="984250"/>
          </a:xfrm>
          <a:custGeom>
            <a:rect b="b" l="l" r="r" t="t"/>
            <a:pathLst>
              <a:path extrusionOk="0" h="984250" w="3786188">
                <a:moveTo>
                  <a:pt x="63504" y="0"/>
                </a:moveTo>
                <a:lnTo>
                  <a:pt x="3722684" y="0"/>
                </a:lnTo>
                <a:cubicBezTo>
                  <a:pt x="3757756" y="0"/>
                  <a:pt x="3786188" y="28432"/>
                  <a:pt x="3786188" y="63504"/>
                </a:cubicBezTo>
                <a:lnTo>
                  <a:pt x="3786188" y="920746"/>
                </a:lnTo>
                <a:cubicBezTo>
                  <a:pt x="3786187" y="955818"/>
                  <a:pt x="3757756" y="984250"/>
                  <a:pt x="3722684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296792" y="5941755"/>
            <a:ext cx="365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296792" y="6195755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Probabilistic output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296792" y="6386255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Highly interpretable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296792" y="6576755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Fast training/prediction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085584" y="5794852"/>
            <a:ext cx="3786188" cy="984250"/>
          </a:xfrm>
          <a:custGeom>
            <a:rect b="b" l="l" r="r" t="t"/>
            <a:pathLst>
              <a:path extrusionOk="0" h="984250" w="3786188">
                <a:moveTo>
                  <a:pt x="63504" y="0"/>
                </a:moveTo>
                <a:lnTo>
                  <a:pt x="3722684" y="0"/>
                </a:lnTo>
                <a:cubicBezTo>
                  <a:pt x="3757756" y="0"/>
                  <a:pt x="3786188" y="28432"/>
                  <a:pt x="3786188" y="63504"/>
                </a:cubicBezTo>
                <a:lnTo>
                  <a:pt x="3786188" y="920746"/>
                </a:lnTo>
                <a:cubicBezTo>
                  <a:pt x="3786187" y="955818"/>
                  <a:pt x="3757756" y="984250"/>
                  <a:pt x="3722684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180834" y="5890102"/>
            <a:ext cx="365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Common Use Cases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180834" y="6144102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Customer churn prediction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180834" y="6334602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Medical diagnosis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180834" y="6525102"/>
            <a:ext cx="3651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Fraud detection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17500" y="595300"/>
            <a:ext cx="1170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The Mathematics Behind the Magic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82625" y="1206488"/>
            <a:ext cx="5262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The Sigmoid Function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83406" y="1658925"/>
            <a:ext cx="5183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σ(z) = 1 / (1 + e</a:t>
            </a:r>
            <a:r>
              <a:rPr b="0" i="0" lang="en-US" sz="843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-z</a:t>
            </a:r>
            <a:r>
              <a:rPr b="0" i="0" lang="en-US" sz="1125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91344" y="1944675"/>
            <a:ext cx="5167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Maps any real number to (0,1)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84175" y="2484425"/>
            <a:ext cx="5445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sigmoid function transforms continuous linear regression output into                          </a:t>
            </a: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suitable for c</a:t>
            </a: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lassification.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01700" y="2874942"/>
            <a:ext cx="2825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 represents probability of belonging to positive class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453188" y="2571738"/>
            <a:ext cx="522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σ(z) &lt; 0.5:</a:t>
            </a:r>
            <a:r>
              <a:rPr b="0" i="0" lang="en-US" sz="10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Predict Class 0 (e.g., "Won't Churn")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337971" y="337971"/>
            <a:ext cx="1485405" cy="275384"/>
          </a:xfrm>
          <a:custGeom>
            <a:rect b="b" l="l" r="r" t="t"/>
            <a:pathLst>
              <a:path extrusionOk="0" h="275384" w="1485405">
                <a:moveTo>
                  <a:pt x="137692" y="0"/>
                </a:moveTo>
                <a:lnTo>
                  <a:pt x="1347713" y="0"/>
                </a:lnTo>
                <a:cubicBezTo>
                  <a:pt x="1423758" y="0"/>
                  <a:pt x="1485405" y="61647"/>
                  <a:pt x="1485405" y="137692"/>
                </a:cubicBezTo>
                <a:lnTo>
                  <a:pt x="1485405" y="137692"/>
                </a:lnTo>
                <a:cubicBezTo>
                  <a:pt x="1485405" y="213737"/>
                  <a:pt x="1423758" y="275384"/>
                  <a:pt x="1347713" y="275384"/>
                </a:cubicBezTo>
                <a:lnTo>
                  <a:pt x="137692" y="275384"/>
                </a:lnTo>
                <a:cubicBezTo>
                  <a:pt x="61647" y="275384"/>
                  <a:pt x="0" y="213737"/>
                  <a:pt x="0" y="137692"/>
                </a:cubicBezTo>
                <a:lnTo>
                  <a:pt x="0" y="137692"/>
                </a:lnTo>
                <a:cubicBezTo>
                  <a:pt x="0" y="61647"/>
                  <a:pt x="61647" y="0"/>
                  <a:pt x="137692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42283" y="417248"/>
            <a:ext cx="1331935" cy="13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GUIDANCE</a:t>
            </a:r>
            <a:endParaRPr b="0" i="0" sz="1600" u="none" cap="none" strike="noStrike"/>
          </a:p>
        </p:txBody>
      </p:sp>
      <p:sp>
        <p:nvSpPr>
          <p:cNvPr id="178" name="Google Shape;178;p6"/>
          <p:cNvSpPr/>
          <p:nvPr/>
        </p:nvSpPr>
        <p:spPr>
          <a:xfrm>
            <a:off x="333799" y="717667"/>
            <a:ext cx="11674612" cy="333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66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Liter"/>
                <a:ea typeface="Liter"/>
                <a:cs typeface="Liter"/>
                <a:sym typeface="Liter"/>
              </a:rPr>
              <a:t>Logistic Regression: When to Use &amp; Key Strengths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37971" y="1189158"/>
            <a:ext cx="5691269" cy="2077897"/>
          </a:xfrm>
          <a:custGeom>
            <a:rect b="b" l="l" r="r" t="t"/>
            <a:pathLst>
              <a:path extrusionOk="0" h="2077897" w="5691269">
                <a:moveTo>
                  <a:pt x="66763" y="0"/>
                </a:moveTo>
                <a:lnTo>
                  <a:pt x="5624506" y="0"/>
                </a:lnTo>
                <a:cubicBezTo>
                  <a:pt x="5661378" y="0"/>
                  <a:pt x="5691269" y="29891"/>
                  <a:pt x="5691269" y="66763"/>
                </a:cubicBezTo>
                <a:lnTo>
                  <a:pt x="5691269" y="2011134"/>
                </a:lnTo>
                <a:cubicBezTo>
                  <a:pt x="5691269" y="2048007"/>
                  <a:pt x="5661378" y="2077897"/>
                  <a:pt x="5624506" y="2077897"/>
                </a:cubicBezTo>
                <a:lnTo>
                  <a:pt x="66763" y="2077897"/>
                </a:lnTo>
                <a:cubicBezTo>
                  <a:pt x="29891" y="2077897"/>
                  <a:pt x="0" y="2048007"/>
                  <a:pt x="0" y="2011134"/>
                </a:cubicBezTo>
                <a:lnTo>
                  <a:pt x="0" y="66763"/>
                </a:lnTo>
                <a:cubicBezTo>
                  <a:pt x="0" y="29891"/>
                  <a:pt x="29891" y="0"/>
                  <a:pt x="66763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19474" y="1393610"/>
            <a:ext cx="187762" cy="166899"/>
          </a:xfrm>
          <a:custGeom>
            <a:rect b="b" l="l" r="r" t="t"/>
            <a:pathLst>
              <a:path extrusionOk="0" h="166899" w="187762">
                <a:moveTo>
                  <a:pt x="100889" y="-6161"/>
                </a:moveTo>
                <a:cubicBezTo>
                  <a:pt x="99553" y="-8769"/>
                  <a:pt x="96847" y="-10431"/>
                  <a:pt x="93914" y="-10431"/>
                </a:cubicBezTo>
                <a:cubicBezTo>
                  <a:pt x="90980" y="-10431"/>
                  <a:pt x="88274" y="-8769"/>
                  <a:pt x="86938" y="-6161"/>
                </a:cubicBezTo>
                <a:lnTo>
                  <a:pt x="62946" y="40845"/>
                </a:lnTo>
                <a:lnTo>
                  <a:pt x="10822" y="49124"/>
                </a:lnTo>
                <a:cubicBezTo>
                  <a:pt x="7921" y="49581"/>
                  <a:pt x="5509" y="51634"/>
                  <a:pt x="4596" y="54438"/>
                </a:cubicBezTo>
                <a:cubicBezTo>
                  <a:pt x="3684" y="57241"/>
                  <a:pt x="4433" y="60305"/>
                  <a:pt x="6487" y="62392"/>
                </a:cubicBezTo>
                <a:lnTo>
                  <a:pt x="43778" y="99716"/>
                </a:lnTo>
                <a:lnTo>
                  <a:pt x="35564" y="151839"/>
                </a:lnTo>
                <a:cubicBezTo>
                  <a:pt x="35108" y="154741"/>
                  <a:pt x="36314" y="157674"/>
                  <a:pt x="38693" y="159402"/>
                </a:cubicBezTo>
                <a:cubicBezTo>
                  <a:pt x="41073" y="161130"/>
                  <a:pt x="44202" y="161390"/>
                  <a:pt x="46843" y="160054"/>
                </a:cubicBezTo>
                <a:lnTo>
                  <a:pt x="93914" y="136127"/>
                </a:lnTo>
                <a:lnTo>
                  <a:pt x="140952" y="160054"/>
                </a:lnTo>
                <a:cubicBezTo>
                  <a:pt x="143560" y="161390"/>
                  <a:pt x="146722" y="161130"/>
                  <a:pt x="149101" y="159402"/>
                </a:cubicBezTo>
                <a:cubicBezTo>
                  <a:pt x="151481" y="157674"/>
                  <a:pt x="152687" y="154773"/>
                  <a:pt x="152230" y="151839"/>
                </a:cubicBezTo>
                <a:lnTo>
                  <a:pt x="143983" y="99716"/>
                </a:lnTo>
                <a:lnTo>
                  <a:pt x="181275" y="62392"/>
                </a:lnTo>
                <a:cubicBezTo>
                  <a:pt x="183361" y="60305"/>
                  <a:pt x="184078" y="57241"/>
                  <a:pt x="183166" y="54438"/>
                </a:cubicBezTo>
                <a:cubicBezTo>
                  <a:pt x="182253" y="51634"/>
                  <a:pt x="179873" y="49581"/>
                  <a:pt x="176939" y="49124"/>
                </a:cubicBezTo>
                <a:lnTo>
                  <a:pt x="124849" y="40845"/>
                </a:lnTo>
                <a:lnTo>
                  <a:pt x="100889" y="-6161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717667" y="1360230"/>
            <a:ext cx="5223951" cy="233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4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Liter"/>
                <a:ea typeface="Liter"/>
                <a:cs typeface="Liter"/>
                <a:sym typeface="Liter"/>
              </a:rPr>
              <a:t>Ideal Use Cases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09043" y="1727409"/>
            <a:ext cx="267039" cy="267039"/>
          </a:xfrm>
          <a:custGeom>
            <a:rect b="b" l="l" r="r" t="t"/>
            <a:pathLst>
              <a:path extrusionOk="0" h="267039" w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78932" y="1802513"/>
            <a:ext cx="131433" cy="116830"/>
          </a:xfrm>
          <a:custGeom>
            <a:rect b="b" l="l" r="r" t="t"/>
            <a:pathLst>
              <a:path extrusionOk="0" h="116830" w="131433">
                <a:moveTo>
                  <a:pt x="65717" y="7302"/>
                </a:moveTo>
                <a:cubicBezTo>
                  <a:pt x="47279" y="7302"/>
                  <a:pt x="32516" y="15699"/>
                  <a:pt x="21769" y="25693"/>
                </a:cubicBezTo>
                <a:cubicBezTo>
                  <a:pt x="11090" y="35619"/>
                  <a:pt x="3948" y="47462"/>
                  <a:pt x="548" y="55608"/>
                </a:cubicBezTo>
                <a:cubicBezTo>
                  <a:pt x="-205" y="57411"/>
                  <a:pt x="-205" y="59419"/>
                  <a:pt x="548" y="61221"/>
                </a:cubicBezTo>
                <a:cubicBezTo>
                  <a:pt x="3948" y="69368"/>
                  <a:pt x="11090" y="81233"/>
                  <a:pt x="21769" y="91136"/>
                </a:cubicBezTo>
                <a:cubicBezTo>
                  <a:pt x="32516" y="101108"/>
                  <a:pt x="47279" y="109528"/>
                  <a:pt x="65717" y="109528"/>
                </a:cubicBezTo>
                <a:cubicBezTo>
                  <a:pt x="84154" y="109528"/>
                  <a:pt x="98917" y="101131"/>
                  <a:pt x="109665" y="91136"/>
                </a:cubicBezTo>
                <a:cubicBezTo>
                  <a:pt x="120344" y="81210"/>
                  <a:pt x="127486" y="69368"/>
                  <a:pt x="130886" y="61221"/>
                </a:cubicBezTo>
                <a:cubicBezTo>
                  <a:pt x="131639" y="59419"/>
                  <a:pt x="131639" y="57411"/>
                  <a:pt x="130886" y="55608"/>
                </a:cubicBezTo>
                <a:cubicBezTo>
                  <a:pt x="127486" y="47462"/>
                  <a:pt x="120344" y="35597"/>
                  <a:pt x="109665" y="25693"/>
                </a:cubicBezTo>
                <a:cubicBezTo>
                  <a:pt x="98917" y="15722"/>
                  <a:pt x="84154" y="7302"/>
                  <a:pt x="65717" y="7302"/>
                </a:cubicBezTo>
                <a:close/>
                <a:moveTo>
                  <a:pt x="32858" y="58415"/>
                </a:moveTo>
                <a:cubicBezTo>
                  <a:pt x="32858" y="40280"/>
                  <a:pt x="47582" y="25556"/>
                  <a:pt x="65717" y="25556"/>
                </a:cubicBezTo>
                <a:cubicBezTo>
                  <a:pt x="83852" y="25556"/>
                  <a:pt x="98575" y="40280"/>
                  <a:pt x="98575" y="58415"/>
                </a:cubicBezTo>
                <a:cubicBezTo>
                  <a:pt x="98575" y="76550"/>
                  <a:pt x="83852" y="91273"/>
                  <a:pt x="65717" y="91273"/>
                </a:cubicBezTo>
                <a:cubicBezTo>
                  <a:pt x="47582" y="91273"/>
                  <a:pt x="32858" y="76550"/>
                  <a:pt x="32858" y="58415"/>
                </a:cubicBezTo>
                <a:close/>
                <a:moveTo>
                  <a:pt x="65717" y="43811"/>
                </a:moveTo>
                <a:cubicBezTo>
                  <a:pt x="65717" y="51866"/>
                  <a:pt x="59168" y="58415"/>
                  <a:pt x="51113" y="58415"/>
                </a:cubicBezTo>
                <a:cubicBezTo>
                  <a:pt x="48489" y="58415"/>
                  <a:pt x="46024" y="57730"/>
                  <a:pt x="43880" y="56498"/>
                </a:cubicBezTo>
                <a:cubicBezTo>
                  <a:pt x="43651" y="58985"/>
                  <a:pt x="43857" y="61541"/>
                  <a:pt x="44541" y="64074"/>
                </a:cubicBezTo>
                <a:cubicBezTo>
                  <a:pt x="47667" y="75757"/>
                  <a:pt x="59693" y="82693"/>
                  <a:pt x="71376" y="79567"/>
                </a:cubicBezTo>
                <a:cubicBezTo>
                  <a:pt x="83059" y="76441"/>
                  <a:pt x="89995" y="64416"/>
                  <a:pt x="86869" y="52733"/>
                </a:cubicBezTo>
                <a:cubicBezTo>
                  <a:pt x="84085" y="42305"/>
                  <a:pt x="74205" y="35665"/>
                  <a:pt x="63800" y="36578"/>
                </a:cubicBezTo>
                <a:cubicBezTo>
                  <a:pt x="65009" y="38700"/>
                  <a:pt x="65717" y="41164"/>
                  <a:pt x="65717" y="438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876222" y="1694029"/>
            <a:ext cx="4631458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Interpretability is Crucial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76222" y="1927688"/>
            <a:ext cx="4623113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stakeholders need to understand WHY predictions are made, not just WHAT they are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09043" y="2228107"/>
            <a:ext cx="267039" cy="267039"/>
          </a:xfrm>
          <a:custGeom>
            <a:rect b="b" l="l" r="r" t="t"/>
            <a:pathLst>
              <a:path extrusionOk="0" h="267039" w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86234" y="2303211"/>
            <a:ext cx="116830" cy="116830"/>
          </a:xfrm>
          <a:custGeom>
            <a:rect b="b" l="l" r="r" t="t"/>
            <a:pathLst>
              <a:path extrusionOk="0" h="116830" w="116830">
                <a:moveTo>
                  <a:pt x="14604" y="14604"/>
                </a:moveTo>
                <a:cubicBezTo>
                  <a:pt x="14604" y="10565"/>
                  <a:pt x="11341" y="7302"/>
                  <a:pt x="7302" y="7302"/>
                </a:cubicBezTo>
                <a:cubicBezTo>
                  <a:pt x="3263" y="7302"/>
                  <a:pt x="0" y="10565"/>
                  <a:pt x="0" y="14604"/>
                </a:cubicBezTo>
                <a:lnTo>
                  <a:pt x="0" y="91273"/>
                </a:lnTo>
                <a:cubicBezTo>
                  <a:pt x="0" y="101359"/>
                  <a:pt x="8169" y="109528"/>
                  <a:pt x="18255" y="109528"/>
                </a:cubicBezTo>
                <a:lnTo>
                  <a:pt x="109528" y="109528"/>
                </a:lnTo>
                <a:cubicBezTo>
                  <a:pt x="113567" y="109528"/>
                  <a:pt x="116830" y="106265"/>
                  <a:pt x="116830" y="102226"/>
                </a:cubicBezTo>
                <a:cubicBezTo>
                  <a:pt x="116830" y="98187"/>
                  <a:pt x="113567" y="94924"/>
                  <a:pt x="109528" y="94924"/>
                </a:cubicBezTo>
                <a:lnTo>
                  <a:pt x="18255" y="94924"/>
                </a:lnTo>
                <a:cubicBezTo>
                  <a:pt x="16247" y="94924"/>
                  <a:pt x="14604" y="93281"/>
                  <a:pt x="14604" y="91273"/>
                </a:cubicBezTo>
                <a:lnTo>
                  <a:pt x="14604" y="14604"/>
                </a:lnTo>
                <a:close/>
                <a:moveTo>
                  <a:pt x="107383" y="34364"/>
                </a:moveTo>
                <a:cubicBezTo>
                  <a:pt x="110235" y="31512"/>
                  <a:pt x="110235" y="26880"/>
                  <a:pt x="107383" y="24028"/>
                </a:cubicBezTo>
                <a:cubicBezTo>
                  <a:pt x="104531" y="21175"/>
                  <a:pt x="99898" y="21175"/>
                  <a:pt x="97046" y="24028"/>
                </a:cubicBezTo>
                <a:lnTo>
                  <a:pt x="73018" y="48078"/>
                </a:lnTo>
                <a:lnTo>
                  <a:pt x="59921" y="35003"/>
                </a:lnTo>
                <a:cubicBezTo>
                  <a:pt x="57069" y="32151"/>
                  <a:pt x="52436" y="32151"/>
                  <a:pt x="49584" y="35003"/>
                </a:cubicBezTo>
                <a:lnTo>
                  <a:pt x="27679" y="56909"/>
                </a:lnTo>
                <a:cubicBezTo>
                  <a:pt x="24826" y="59761"/>
                  <a:pt x="24826" y="64393"/>
                  <a:pt x="27679" y="67245"/>
                </a:cubicBezTo>
                <a:cubicBezTo>
                  <a:pt x="30531" y="70098"/>
                  <a:pt x="35163" y="70098"/>
                  <a:pt x="38015" y="67245"/>
                </a:cubicBezTo>
                <a:lnTo>
                  <a:pt x="54764" y="50497"/>
                </a:lnTo>
                <a:lnTo>
                  <a:pt x="67862" y="63595"/>
                </a:lnTo>
                <a:cubicBezTo>
                  <a:pt x="70714" y="66447"/>
                  <a:pt x="75346" y="66447"/>
                  <a:pt x="78198" y="63595"/>
                </a:cubicBezTo>
                <a:lnTo>
                  <a:pt x="107406" y="343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876222" y="2194727"/>
            <a:ext cx="3905446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Linearly Separable Data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76222" y="2428386"/>
            <a:ext cx="3897101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data shows clear linear patterns, logistic regression performs efficiently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9043" y="2728805"/>
            <a:ext cx="267039" cy="267039"/>
          </a:xfrm>
          <a:custGeom>
            <a:rect b="b" l="l" r="r" t="t"/>
            <a:pathLst>
              <a:path extrusionOk="0" h="267039" w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86234" y="2803910"/>
            <a:ext cx="116830" cy="116830"/>
          </a:xfrm>
          <a:custGeom>
            <a:rect b="b" l="l" r="r" t="t"/>
            <a:pathLst>
              <a:path extrusionOk="0" h="116830" w="116830">
                <a:moveTo>
                  <a:pt x="40160" y="5476"/>
                </a:moveTo>
                <a:cubicBezTo>
                  <a:pt x="40160" y="2442"/>
                  <a:pt x="37719" y="0"/>
                  <a:pt x="34684" y="0"/>
                </a:cubicBezTo>
                <a:cubicBezTo>
                  <a:pt x="31649" y="0"/>
                  <a:pt x="29207" y="2442"/>
                  <a:pt x="29207" y="5476"/>
                </a:cubicBezTo>
                <a:lnTo>
                  <a:pt x="29207" y="14604"/>
                </a:lnTo>
                <a:cubicBezTo>
                  <a:pt x="21153" y="14604"/>
                  <a:pt x="14604" y="21153"/>
                  <a:pt x="14604" y="29207"/>
                </a:cubicBezTo>
                <a:lnTo>
                  <a:pt x="5476" y="29207"/>
                </a:lnTo>
                <a:cubicBezTo>
                  <a:pt x="2442" y="29207"/>
                  <a:pt x="0" y="31649"/>
                  <a:pt x="0" y="34684"/>
                </a:cubicBezTo>
                <a:cubicBezTo>
                  <a:pt x="0" y="37719"/>
                  <a:pt x="2442" y="40160"/>
                  <a:pt x="5476" y="40160"/>
                </a:cubicBezTo>
                <a:lnTo>
                  <a:pt x="14604" y="40160"/>
                </a:lnTo>
                <a:lnTo>
                  <a:pt x="14604" y="52938"/>
                </a:lnTo>
                <a:lnTo>
                  <a:pt x="5476" y="52938"/>
                </a:lnTo>
                <a:cubicBezTo>
                  <a:pt x="2442" y="52938"/>
                  <a:pt x="0" y="55380"/>
                  <a:pt x="0" y="58415"/>
                </a:cubicBezTo>
                <a:cubicBezTo>
                  <a:pt x="0" y="61450"/>
                  <a:pt x="2442" y="63891"/>
                  <a:pt x="5476" y="63891"/>
                </a:cubicBezTo>
                <a:lnTo>
                  <a:pt x="14604" y="63891"/>
                </a:lnTo>
                <a:lnTo>
                  <a:pt x="14604" y="76669"/>
                </a:lnTo>
                <a:lnTo>
                  <a:pt x="5476" y="76669"/>
                </a:lnTo>
                <a:cubicBezTo>
                  <a:pt x="2442" y="76669"/>
                  <a:pt x="0" y="79111"/>
                  <a:pt x="0" y="82146"/>
                </a:cubicBezTo>
                <a:cubicBezTo>
                  <a:pt x="0" y="85181"/>
                  <a:pt x="2442" y="87622"/>
                  <a:pt x="5476" y="87622"/>
                </a:cubicBezTo>
                <a:lnTo>
                  <a:pt x="14604" y="87622"/>
                </a:lnTo>
                <a:cubicBezTo>
                  <a:pt x="14604" y="95677"/>
                  <a:pt x="21153" y="102226"/>
                  <a:pt x="29207" y="102226"/>
                </a:cubicBezTo>
                <a:lnTo>
                  <a:pt x="29207" y="111353"/>
                </a:lnTo>
                <a:cubicBezTo>
                  <a:pt x="29207" y="114388"/>
                  <a:pt x="31649" y="116830"/>
                  <a:pt x="34684" y="116830"/>
                </a:cubicBezTo>
                <a:cubicBezTo>
                  <a:pt x="37719" y="116830"/>
                  <a:pt x="40160" y="114388"/>
                  <a:pt x="40160" y="111353"/>
                </a:cubicBezTo>
                <a:lnTo>
                  <a:pt x="40160" y="102226"/>
                </a:lnTo>
                <a:lnTo>
                  <a:pt x="52938" y="102226"/>
                </a:lnTo>
                <a:lnTo>
                  <a:pt x="52938" y="111353"/>
                </a:lnTo>
                <a:cubicBezTo>
                  <a:pt x="52938" y="114388"/>
                  <a:pt x="55380" y="116830"/>
                  <a:pt x="58415" y="116830"/>
                </a:cubicBezTo>
                <a:cubicBezTo>
                  <a:pt x="61450" y="116830"/>
                  <a:pt x="63891" y="114388"/>
                  <a:pt x="63891" y="111353"/>
                </a:cubicBezTo>
                <a:lnTo>
                  <a:pt x="63891" y="102226"/>
                </a:lnTo>
                <a:lnTo>
                  <a:pt x="76669" y="102226"/>
                </a:lnTo>
                <a:lnTo>
                  <a:pt x="76669" y="111353"/>
                </a:lnTo>
                <a:cubicBezTo>
                  <a:pt x="76669" y="114388"/>
                  <a:pt x="79111" y="116830"/>
                  <a:pt x="82146" y="116830"/>
                </a:cubicBezTo>
                <a:cubicBezTo>
                  <a:pt x="85181" y="116830"/>
                  <a:pt x="87622" y="114388"/>
                  <a:pt x="87622" y="111353"/>
                </a:cubicBezTo>
                <a:lnTo>
                  <a:pt x="87622" y="102226"/>
                </a:lnTo>
                <a:cubicBezTo>
                  <a:pt x="95677" y="102226"/>
                  <a:pt x="102226" y="95677"/>
                  <a:pt x="102226" y="87622"/>
                </a:cubicBezTo>
                <a:lnTo>
                  <a:pt x="111353" y="87622"/>
                </a:lnTo>
                <a:cubicBezTo>
                  <a:pt x="114388" y="87622"/>
                  <a:pt x="116830" y="85181"/>
                  <a:pt x="116830" y="82146"/>
                </a:cubicBezTo>
                <a:cubicBezTo>
                  <a:pt x="116830" y="79111"/>
                  <a:pt x="114388" y="76669"/>
                  <a:pt x="111353" y="76669"/>
                </a:cubicBezTo>
                <a:lnTo>
                  <a:pt x="102226" y="76669"/>
                </a:lnTo>
                <a:lnTo>
                  <a:pt x="102226" y="63891"/>
                </a:lnTo>
                <a:lnTo>
                  <a:pt x="111353" y="63891"/>
                </a:lnTo>
                <a:cubicBezTo>
                  <a:pt x="114388" y="63891"/>
                  <a:pt x="116830" y="61450"/>
                  <a:pt x="116830" y="58415"/>
                </a:cubicBezTo>
                <a:cubicBezTo>
                  <a:pt x="116830" y="55380"/>
                  <a:pt x="114388" y="52938"/>
                  <a:pt x="111353" y="52938"/>
                </a:cubicBezTo>
                <a:lnTo>
                  <a:pt x="102226" y="52938"/>
                </a:lnTo>
                <a:lnTo>
                  <a:pt x="102226" y="40160"/>
                </a:lnTo>
                <a:lnTo>
                  <a:pt x="111353" y="40160"/>
                </a:lnTo>
                <a:cubicBezTo>
                  <a:pt x="114388" y="40160"/>
                  <a:pt x="116830" y="37719"/>
                  <a:pt x="116830" y="34684"/>
                </a:cubicBezTo>
                <a:cubicBezTo>
                  <a:pt x="116830" y="31649"/>
                  <a:pt x="114388" y="29207"/>
                  <a:pt x="111353" y="29207"/>
                </a:cubicBezTo>
                <a:lnTo>
                  <a:pt x="102226" y="29207"/>
                </a:lnTo>
                <a:cubicBezTo>
                  <a:pt x="102226" y="21153"/>
                  <a:pt x="95677" y="14604"/>
                  <a:pt x="87622" y="14604"/>
                </a:cubicBezTo>
                <a:lnTo>
                  <a:pt x="87622" y="5476"/>
                </a:lnTo>
                <a:cubicBezTo>
                  <a:pt x="87622" y="2442"/>
                  <a:pt x="85181" y="0"/>
                  <a:pt x="82146" y="0"/>
                </a:cubicBezTo>
                <a:cubicBezTo>
                  <a:pt x="79111" y="0"/>
                  <a:pt x="76669" y="2442"/>
                  <a:pt x="76669" y="5476"/>
                </a:cubicBezTo>
                <a:lnTo>
                  <a:pt x="76669" y="14604"/>
                </a:lnTo>
                <a:lnTo>
                  <a:pt x="63891" y="14604"/>
                </a:lnTo>
                <a:lnTo>
                  <a:pt x="63891" y="5476"/>
                </a:lnTo>
                <a:cubicBezTo>
                  <a:pt x="63891" y="2442"/>
                  <a:pt x="61450" y="0"/>
                  <a:pt x="58415" y="0"/>
                </a:cubicBezTo>
                <a:cubicBezTo>
                  <a:pt x="55380" y="0"/>
                  <a:pt x="52938" y="2442"/>
                  <a:pt x="52938" y="5476"/>
                </a:cubicBezTo>
                <a:lnTo>
                  <a:pt x="52938" y="14604"/>
                </a:lnTo>
                <a:lnTo>
                  <a:pt x="40160" y="14604"/>
                </a:lnTo>
                <a:lnTo>
                  <a:pt x="40160" y="5476"/>
                </a:lnTo>
                <a:close/>
                <a:moveTo>
                  <a:pt x="36509" y="29207"/>
                </a:moveTo>
                <a:lnTo>
                  <a:pt x="80320" y="29207"/>
                </a:lnTo>
                <a:cubicBezTo>
                  <a:pt x="84359" y="29207"/>
                  <a:pt x="87622" y="32470"/>
                  <a:pt x="87622" y="36509"/>
                </a:cubicBezTo>
                <a:lnTo>
                  <a:pt x="87622" y="80320"/>
                </a:lnTo>
                <a:cubicBezTo>
                  <a:pt x="87622" y="84359"/>
                  <a:pt x="84359" y="87622"/>
                  <a:pt x="80320" y="87622"/>
                </a:cubicBezTo>
                <a:lnTo>
                  <a:pt x="36509" y="87622"/>
                </a:lnTo>
                <a:cubicBezTo>
                  <a:pt x="32470" y="87622"/>
                  <a:pt x="29207" y="84359"/>
                  <a:pt x="29207" y="80320"/>
                </a:cubicBezTo>
                <a:lnTo>
                  <a:pt x="29207" y="36509"/>
                </a:lnTo>
                <a:cubicBezTo>
                  <a:pt x="29207" y="32470"/>
                  <a:pt x="32470" y="29207"/>
                  <a:pt x="36509" y="29207"/>
                </a:cubicBezTo>
                <a:close/>
                <a:moveTo>
                  <a:pt x="40160" y="40160"/>
                </a:moveTo>
                <a:lnTo>
                  <a:pt x="40160" y="76669"/>
                </a:lnTo>
                <a:lnTo>
                  <a:pt x="76669" y="76669"/>
                </a:lnTo>
                <a:lnTo>
                  <a:pt x="76669" y="40160"/>
                </a:lnTo>
                <a:lnTo>
                  <a:pt x="40160" y="401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76222" y="2695425"/>
            <a:ext cx="3538267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Limited Resources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76222" y="2929084"/>
            <a:ext cx="3529922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training and prediction with minimal computational requirements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37971" y="3408920"/>
            <a:ext cx="5691269" cy="1944378"/>
          </a:xfrm>
          <a:custGeom>
            <a:rect b="b" l="l" r="r" t="t"/>
            <a:pathLst>
              <a:path extrusionOk="0" h="1944378" w="5691269">
                <a:moveTo>
                  <a:pt x="66750" y="0"/>
                </a:moveTo>
                <a:lnTo>
                  <a:pt x="5624519" y="0"/>
                </a:lnTo>
                <a:cubicBezTo>
                  <a:pt x="5661384" y="0"/>
                  <a:pt x="5691269" y="29885"/>
                  <a:pt x="5691269" y="66750"/>
                </a:cubicBezTo>
                <a:lnTo>
                  <a:pt x="5691269" y="1877627"/>
                </a:lnTo>
                <a:cubicBezTo>
                  <a:pt x="5691269" y="1914493"/>
                  <a:pt x="5661384" y="1944378"/>
                  <a:pt x="5624519" y="1944378"/>
                </a:cubicBezTo>
                <a:lnTo>
                  <a:pt x="66750" y="1944378"/>
                </a:lnTo>
                <a:cubicBezTo>
                  <a:pt x="29885" y="1944378"/>
                  <a:pt x="0" y="1914493"/>
                  <a:pt x="0" y="1877627"/>
                </a:cubicBezTo>
                <a:lnTo>
                  <a:pt x="0" y="66750"/>
                </a:lnTo>
                <a:cubicBezTo>
                  <a:pt x="0" y="29910"/>
                  <a:pt x="29910" y="0"/>
                  <a:pt x="6675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75663" y="3546612"/>
            <a:ext cx="5490990" cy="233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Liter"/>
                <a:ea typeface="Liter"/>
                <a:cs typeface="Liter"/>
                <a:sym typeface="Liter"/>
              </a:rPr>
              <a:t>Practical Applications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75663" y="3880411"/>
            <a:ext cx="2670390" cy="634218"/>
          </a:xfrm>
          <a:custGeom>
            <a:rect b="b" l="l" r="r" t="t"/>
            <a:pathLst>
              <a:path extrusionOk="0" h="634218" w="2670390">
                <a:moveTo>
                  <a:pt x="33379" y="0"/>
                </a:moveTo>
                <a:lnTo>
                  <a:pt x="2637011" y="0"/>
                </a:lnTo>
                <a:cubicBezTo>
                  <a:pt x="2655446" y="0"/>
                  <a:pt x="2670390" y="14944"/>
                  <a:pt x="2670390" y="33379"/>
                </a:cubicBezTo>
                <a:lnTo>
                  <a:pt x="2670390" y="600839"/>
                </a:lnTo>
                <a:cubicBezTo>
                  <a:pt x="2670390" y="619273"/>
                  <a:pt x="2655446" y="634218"/>
                  <a:pt x="2637011" y="634218"/>
                </a:cubicBezTo>
                <a:lnTo>
                  <a:pt x="33379" y="634218"/>
                </a:lnTo>
                <a:cubicBezTo>
                  <a:pt x="14944" y="634218"/>
                  <a:pt x="0" y="619273"/>
                  <a:pt x="0" y="600839"/>
                </a:cubicBezTo>
                <a:lnTo>
                  <a:pt x="0" y="33379"/>
                </a:lnTo>
                <a:cubicBezTo>
                  <a:pt x="0" y="14957"/>
                  <a:pt x="14957" y="0"/>
                  <a:pt x="3337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712023" y="3980550"/>
            <a:ext cx="200279" cy="200279"/>
          </a:xfrm>
          <a:custGeom>
            <a:rect b="b" l="l" r="r" t="t"/>
            <a:pathLst>
              <a:path extrusionOk="0" h="200279" w="200279">
                <a:moveTo>
                  <a:pt x="100140" y="0"/>
                </a:moveTo>
                <a:cubicBezTo>
                  <a:pt x="101939" y="0"/>
                  <a:pt x="103738" y="391"/>
                  <a:pt x="105381" y="1134"/>
                </a:cubicBezTo>
                <a:lnTo>
                  <a:pt x="179078" y="32389"/>
                </a:lnTo>
                <a:cubicBezTo>
                  <a:pt x="187684" y="36027"/>
                  <a:pt x="194099" y="44515"/>
                  <a:pt x="194060" y="54764"/>
                </a:cubicBezTo>
                <a:cubicBezTo>
                  <a:pt x="193864" y="93568"/>
                  <a:pt x="177904" y="164565"/>
                  <a:pt x="110506" y="196837"/>
                </a:cubicBezTo>
                <a:cubicBezTo>
                  <a:pt x="103973" y="199966"/>
                  <a:pt x="96384" y="199966"/>
                  <a:pt x="89852" y="196837"/>
                </a:cubicBezTo>
                <a:cubicBezTo>
                  <a:pt x="22414" y="164565"/>
                  <a:pt x="6493" y="93568"/>
                  <a:pt x="6298" y="54764"/>
                </a:cubicBezTo>
                <a:cubicBezTo>
                  <a:pt x="6259" y="44515"/>
                  <a:pt x="12674" y="36027"/>
                  <a:pt x="21280" y="32389"/>
                </a:cubicBezTo>
                <a:lnTo>
                  <a:pt x="94937" y="1134"/>
                </a:lnTo>
                <a:cubicBezTo>
                  <a:pt x="96580" y="391"/>
                  <a:pt x="98340" y="0"/>
                  <a:pt x="100140" y="0"/>
                </a:cubicBezTo>
                <a:close/>
                <a:moveTo>
                  <a:pt x="100140" y="26130"/>
                </a:moveTo>
                <a:lnTo>
                  <a:pt x="100140" y="174032"/>
                </a:lnTo>
                <a:cubicBezTo>
                  <a:pt x="154121" y="147902"/>
                  <a:pt x="168634" y="90008"/>
                  <a:pt x="168986" y="55351"/>
                </a:cubicBezTo>
                <a:lnTo>
                  <a:pt x="100140" y="26169"/>
                </a:lnTo>
                <a:lnTo>
                  <a:pt x="100140" y="26169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46595" y="4247589"/>
            <a:ext cx="2528526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Fraud Detection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215551" y="3880411"/>
            <a:ext cx="2670390" cy="634218"/>
          </a:xfrm>
          <a:custGeom>
            <a:rect b="b" l="l" r="r" t="t"/>
            <a:pathLst>
              <a:path extrusionOk="0" h="634218" w="2670390">
                <a:moveTo>
                  <a:pt x="33379" y="0"/>
                </a:moveTo>
                <a:lnTo>
                  <a:pt x="2637011" y="0"/>
                </a:lnTo>
                <a:cubicBezTo>
                  <a:pt x="2655446" y="0"/>
                  <a:pt x="2670390" y="14944"/>
                  <a:pt x="2670390" y="33379"/>
                </a:cubicBezTo>
                <a:lnTo>
                  <a:pt x="2670390" y="600839"/>
                </a:lnTo>
                <a:cubicBezTo>
                  <a:pt x="2670390" y="619273"/>
                  <a:pt x="2655446" y="634218"/>
                  <a:pt x="2637011" y="634218"/>
                </a:cubicBezTo>
                <a:lnTo>
                  <a:pt x="33379" y="634218"/>
                </a:lnTo>
                <a:cubicBezTo>
                  <a:pt x="14944" y="634218"/>
                  <a:pt x="0" y="619273"/>
                  <a:pt x="0" y="600839"/>
                </a:cubicBezTo>
                <a:lnTo>
                  <a:pt x="0" y="33379"/>
                </a:lnTo>
                <a:cubicBezTo>
                  <a:pt x="0" y="14957"/>
                  <a:pt x="14957" y="0"/>
                  <a:pt x="3337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439393" y="3980550"/>
            <a:ext cx="225314" cy="200279"/>
          </a:xfrm>
          <a:custGeom>
            <a:rect b="b" l="l" r="r" t="t"/>
            <a:pathLst>
              <a:path extrusionOk="0" h="200279" w="225314">
                <a:moveTo>
                  <a:pt x="12517" y="18776"/>
                </a:moveTo>
                <a:cubicBezTo>
                  <a:pt x="12517" y="8410"/>
                  <a:pt x="20928" y="0"/>
                  <a:pt x="31294" y="0"/>
                </a:cubicBezTo>
                <a:lnTo>
                  <a:pt x="50070" y="0"/>
                </a:lnTo>
                <a:cubicBezTo>
                  <a:pt x="56994" y="0"/>
                  <a:pt x="62587" y="5594"/>
                  <a:pt x="62587" y="12517"/>
                </a:cubicBezTo>
                <a:cubicBezTo>
                  <a:pt x="62587" y="19441"/>
                  <a:pt x="56994" y="25035"/>
                  <a:pt x="50070" y="25035"/>
                </a:cubicBezTo>
                <a:lnTo>
                  <a:pt x="37552" y="25035"/>
                </a:lnTo>
                <a:lnTo>
                  <a:pt x="37552" y="75105"/>
                </a:lnTo>
                <a:cubicBezTo>
                  <a:pt x="37552" y="95837"/>
                  <a:pt x="54373" y="112657"/>
                  <a:pt x="75105" y="112657"/>
                </a:cubicBezTo>
                <a:cubicBezTo>
                  <a:pt x="95837" y="112657"/>
                  <a:pt x="112657" y="95837"/>
                  <a:pt x="112657" y="75105"/>
                </a:cubicBezTo>
                <a:lnTo>
                  <a:pt x="112657" y="25035"/>
                </a:lnTo>
                <a:lnTo>
                  <a:pt x="100140" y="25035"/>
                </a:lnTo>
                <a:cubicBezTo>
                  <a:pt x="93216" y="25035"/>
                  <a:pt x="87622" y="19441"/>
                  <a:pt x="87622" y="12517"/>
                </a:cubicBezTo>
                <a:cubicBezTo>
                  <a:pt x="87622" y="5594"/>
                  <a:pt x="93216" y="0"/>
                  <a:pt x="100140" y="0"/>
                </a:cubicBezTo>
                <a:lnTo>
                  <a:pt x="118916" y="0"/>
                </a:lnTo>
                <a:cubicBezTo>
                  <a:pt x="129282" y="0"/>
                  <a:pt x="137692" y="8410"/>
                  <a:pt x="137692" y="18776"/>
                </a:cubicBezTo>
                <a:lnTo>
                  <a:pt x="137692" y="75105"/>
                </a:lnTo>
                <a:cubicBezTo>
                  <a:pt x="137692" y="105381"/>
                  <a:pt x="116178" y="130651"/>
                  <a:pt x="87622" y="136440"/>
                </a:cubicBezTo>
                <a:lnTo>
                  <a:pt x="87622" y="143951"/>
                </a:lnTo>
                <a:cubicBezTo>
                  <a:pt x="87622" y="168164"/>
                  <a:pt x="107220" y="187762"/>
                  <a:pt x="131433" y="187762"/>
                </a:cubicBezTo>
                <a:cubicBezTo>
                  <a:pt x="155647" y="187762"/>
                  <a:pt x="175244" y="168164"/>
                  <a:pt x="175244" y="143951"/>
                </a:cubicBezTo>
                <a:lnTo>
                  <a:pt x="175244" y="110506"/>
                </a:lnTo>
                <a:cubicBezTo>
                  <a:pt x="160654" y="105342"/>
                  <a:pt x="150209" y="91456"/>
                  <a:pt x="150209" y="75105"/>
                </a:cubicBezTo>
                <a:cubicBezTo>
                  <a:pt x="150209" y="54373"/>
                  <a:pt x="167030" y="37552"/>
                  <a:pt x="187762" y="37552"/>
                </a:cubicBezTo>
                <a:cubicBezTo>
                  <a:pt x="208494" y="37552"/>
                  <a:pt x="225314" y="54373"/>
                  <a:pt x="225314" y="75105"/>
                </a:cubicBezTo>
                <a:cubicBezTo>
                  <a:pt x="225314" y="91456"/>
                  <a:pt x="214870" y="105381"/>
                  <a:pt x="200279" y="110506"/>
                </a:cubicBezTo>
                <a:lnTo>
                  <a:pt x="200279" y="143951"/>
                </a:lnTo>
                <a:cubicBezTo>
                  <a:pt x="200279" y="181972"/>
                  <a:pt x="169455" y="212797"/>
                  <a:pt x="131433" y="212797"/>
                </a:cubicBezTo>
                <a:cubicBezTo>
                  <a:pt x="93411" y="212797"/>
                  <a:pt x="62587" y="181972"/>
                  <a:pt x="62587" y="143951"/>
                </a:cubicBezTo>
                <a:lnTo>
                  <a:pt x="62587" y="136440"/>
                </a:lnTo>
                <a:cubicBezTo>
                  <a:pt x="34032" y="130651"/>
                  <a:pt x="12517" y="105381"/>
                  <a:pt x="12517" y="75105"/>
                </a:cubicBezTo>
                <a:lnTo>
                  <a:pt x="12517" y="18776"/>
                </a:lnTo>
                <a:close/>
                <a:moveTo>
                  <a:pt x="187762" y="87622"/>
                </a:moveTo>
                <a:cubicBezTo>
                  <a:pt x="194670" y="87622"/>
                  <a:pt x="200279" y="82013"/>
                  <a:pt x="200279" y="75105"/>
                </a:cubicBezTo>
                <a:cubicBezTo>
                  <a:pt x="200279" y="68196"/>
                  <a:pt x="194670" y="62587"/>
                  <a:pt x="187762" y="62587"/>
                </a:cubicBezTo>
                <a:cubicBezTo>
                  <a:pt x="180853" y="62587"/>
                  <a:pt x="175244" y="68196"/>
                  <a:pt x="175244" y="75105"/>
                </a:cubicBezTo>
                <a:cubicBezTo>
                  <a:pt x="175244" y="82013"/>
                  <a:pt x="180853" y="87622"/>
                  <a:pt x="187762" y="87622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286484" y="4247589"/>
            <a:ext cx="2528526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Medical Diagnosis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75663" y="4581388"/>
            <a:ext cx="2670390" cy="634218"/>
          </a:xfrm>
          <a:custGeom>
            <a:rect b="b" l="l" r="r" t="t"/>
            <a:pathLst>
              <a:path extrusionOk="0" h="634218" w="2670390">
                <a:moveTo>
                  <a:pt x="33379" y="0"/>
                </a:moveTo>
                <a:lnTo>
                  <a:pt x="2637011" y="0"/>
                </a:lnTo>
                <a:cubicBezTo>
                  <a:pt x="2655446" y="0"/>
                  <a:pt x="2670390" y="14944"/>
                  <a:pt x="2670390" y="33379"/>
                </a:cubicBezTo>
                <a:lnTo>
                  <a:pt x="2670390" y="600839"/>
                </a:lnTo>
                <a:cubicBezTo>
                  <a:pt x="2670390" y="619273"/>
                  <a:pt x="2655446" y="634218"/>
                  <a:pt x="2637011" y="634218"/>
                </a:cubicBezTo>
                <a:lnTo>
                  <a:pt x="33379" y="634218"/>
                </a:lnTo>
                <a:cubicBezTo>
                  <a:pt x="14944" y="634218"/>
                  <a:pt x="0" y="619273"/>
                  <a:pt x="0" y="600839"/>
                </a:cubicBezTo>
                <a:lnTo>
                  <a:pt x="0" y="33379"/>
                </a:lnTo>
                <a:cubicBezTo>
                  <a:pt x="0" y="14957"/>
                  <a:pt x="14957" y="0"/>
                  <a:pt x="3337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712023" y="4681528"/>
            <a:ext cx="200279" cy="200279"/>
          </a:xfrm>
          <a:custGeom>
            <a:rect b="b" l="l" r="r" t="t"/>
            <a:pathLst>
              <a:path extrusionOk="0" h="200279" w="200279">
                <a:moveTo>
                  <a:pt x="180408" y="7393"/>
                </a:moveTo>
                <a:cubicBezTo>
                  <a:pt x="184906" y="9388"/>
                  <a:pt x="187762" y="13847"/>
                  <a:pt x="187762" y="18776"/>
                </a:cubicBezTo>
                <a:lnTo>
                  <a:pt x="187762" y="181503"/>
                </a:lnTo>
                <a:cubicBezTo>
                  <a:pt x="187762" y="186432"/>
                  <a:pt x="184906" y="190891"/>
                  <a:pt x="180408" y="192886"/>
                </a:cubicBezTo>
                <a:cubicBezTo>
                  <a:pt x="175909" y="194881"/>
                  <a:pt x="170707" y="194138"/>
                  <a:pt x="166991" y="190891"/>
                </a:cubicBezTo>
                <a:lnTo>
                  <a:pt x="148762" y="174971"/>
                </a:lnTo>
                <a:cubicBezTo>
                  <a:pt x="131707" y="160067"/>
                  <a:pt x="110154" y="151383"/>
                  <a:pt x="87583" y="150327"/>
                </a:cubicBezTo>
                <a:lnTo>
                  <a:pt x="87583" y="187762"/>
                </a:lnTo>
                <a:cubicBezTo>
                  <a:pt x="87583" y="194686"/>
                  <a:pt x="81989" y="200279"/>
                  <a:pt x="75066" y="200279"/>
                </a:cubicBezTo>
                <a:lnTo>
                  <a:pt x="62548" y="200279"/>
                </a:lnTo>
                <a:cubicBezTo>
                  <a:pt x="55624" y="200279"/>
                  <a:pt x="50031" y="194686"/>
                  <a:pt x="50031" y="187762"/>
                </a:cubicBezTo>
                <a:lnTo>
                  <a:pt x="50031" y="150209"/>
                </a:lnTo>
                <a:cubicBezTo>
                  <a:pt x="22414" y="150209"/>
                  <a:pt x="0" y="127795"/>
                  <a:pt x="0" y="100140"/>
                </a:cubicBezTo>
                <a:cubicBezTo>
                  <a:pt x="0" y="72484"/>
                  <a:pt x="22414" y="50070"/>
                  <a:pt x="50070" y="50070"/>
                </a:cubicBezTo>
                <a:lnTo>
                  <a:pt x="83124" y="50070"/>
                </a:lnTo>
                <a:cubicBezTo>
                  <a:pt x="107298" y="49992"/>
                  <a:pt x="130612" y="41190"/>
                  <a:pt x="148801" y="25309"/>
                </a:cubicBezTo>
                <a:lnTo>
                  <a:pt x="167030" y="9388"/>
                </a:lnTo>
                <a:cubicBezTo>
                  <a:pt x="170707" y="6141"/>
                  <a:pt x="175988" y="5398"/>
                  <a:pt x="180447" y="7393"/>
                </a:cubicBezTo>
                <a:close/>
                <a:moveTo>
                  <a:pt x="87622" y="125175"/>
                </a:moveTo>
                <a:lnTo>
                  <a:pt x="87622" y="125253"/>
                </a:lnTo>
                <a:cubicBezTo>
                  <a:pt x="115121" y="126309"/>
                  <a:pt x="141525" y="136401"/>
                  <a:pt x="162727" y="153965"/>
                </a:cubicBezTo>
                <a:lnTo>
                  <a:pt x="162727" y="46275"/>
                </a:lnTo>
                <a:cubicBezTo>
                  <a:pt x="141525" y="63839"/>
                  <a:pt x="115121" y="73931"/>
                  <a:pt x="87622" y="74987"/>
                </a:cubicBezTo>
                <a:lnTo>
                  <a:pt x="87622" y="125175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46595" y="4948567"/>
            <a:ext cx="2528526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Marketing Response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215551" y="4581388"/>
            <a:ext cx="2670390" cy="634218"/>
          </a:xfrm>
          <a:custGeom>
            <a:rect b="b" l="l" r="r" t="t"/>
            <a:pathLst>
              <a:path extrusionOk="0" h="634218" w="2670390">
                <a:moveTo>
                  <a:pt x="33379" y="0"/>
                </a:moveTo>
                <a:lnTo>
                  <a:pt x="2637011" y="0"/>
                </a:lnTo>
                <a:cubicBezTo>
                  <a:pt x="2655446" y="0"/>
                  <a:pt x="2670390" y="14944"/>
                  <a:pt x="2670390" y="33379"/>
                </a:cubicBezTo>
                <a:lnTo>
                  <a:pt x="2670390" y="600839"/>
                </a:lnTo>
                <a:cubicBezTo>
                  <a:pt x="2670390" y="619273"/>
                  <a:pt x="2655446" y="634218"/>
                  <a:pt x="2637011" y="634218"/>
                </a:cubicBezTo>
                <a:lnTo>
                  <a:pt x="33379" y="634218"/>
                </a:lnTo>
                <a:cubicBezTo>
                  <a:pt x="14944" y="634218"/>
                  <a:pt x="0" y="619273"/>
                  <a:pt x="0" y="600839"/>
                </a:cubicBezTo>
                <a:lnTo>
                  <a:pt x="0" y="33379"/>
                </a:lnTo>
                <a:cubicBezTo>
                  <a:pt x="0" y="14957"/>
                  <a:pt x="14957" y="0"/>
                  <a:pt x="3337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426876" y="4681528"/>
            <a:ext cx="250349" cy="200279"/>
          </a:xfrm>
          <a:custGeom>
            <a:rect b="b" l="l" r="r" t="t"/>
            <a:pathLst>
              <a:path extrusionOk="0" h="200279" w="250349">
                <a:moveTo>
                  <a:pt x="53356" y="50070"/>
                </a:moveTo>
                <a:cubicBezTo>
                  <a:pt x="53356" y="33300"/>
                  <a:pt x="62302" y="17803"/>
                  <a:pt x="76826" y="9418"/>
                </a:cubicBezTo>
                <a:cubicBezTo>
                  <a:pt x="91349" y="1033"/>
                  <a:pt x="109243" y="1033"/>
                  <a:pt x="123766" y="9418"/>
                </a:cubicBezTo>
                <a:cubicBezTo>
                  <a:pt x="138290" y="17803"/>
                  <a:pt x="147237" y="33300"/>
                  <a:pt x="147237" y="50070"/>
                </a:cubicBezTo>
                <a:cubicBezTo>
                  <a:pt x="147237" y="75977"/>
                  <a:pt x="126203" y="97010"/>
                  <a:pt x="100296" y="97010"/>
                </a:cubicBezTo>
                <a:cubicBezTo>
                  <a:pt x="74389" y="97010"/>
                  <a:pt x="53356" y="75977"/>
                  <a:pt x="53356" y="50070"/>
                </a:cubicBezTo>
                <a:close/>
                <a:moveTo>
                  <a:pt x="18933" y="188661"/>
                </a:moveTo>
                <a:cubicBezTo>
                  <a:pt x="18933" y="150131"/>
                  <a:pt x="50148" y="118916"/>
                  <a:pt x="88678" y="118916"/>
                </a:cubicBezTo>
                <a:lnTo>
                  <a:pt x="111914" y="118916"/>
                </a:lnTo>
                <a:cubicBezTo>
                  <a:pt x="150444" y="118916"/>
                  <a:pt x="181660" y="150131"/>
                  <a:pt x="181660" y="188661"/>
                </a:cubicBezTo>
                <a:cubicBezTo>
                  <a:pt x="181660" y="195077"/>
                  <a:pt x="176457" y="200279"/>
                  <a:pt x="170042" y="200279"/>
                </a:cubicBezTo>
                <a:lnTo>
                  <a:pt x="30550" y="200279"/>
                </a:lnTo>
                <a:cubicBezTo>
                  <a:pt x="24135" y="200279"/>
                  <a:pt x="18933" y="195077"/>
                  <a:pt x="18933" y="188661"/>
                </a:cubicBezTo>
                <a:close/>
                <a:moveTo>
                  <a:pt x="239514" y="48544"/>
                </a:moveTo>
                <a:cubicBezTo>
                  <a:pt x="243191" y="52221"/>
                  <a:pt x="243191" y="58167"/>
                  <a:pt x="239514" y="61805"/>
                </a:cubicBezTo>
                <a:lnTo>
                  <a:pt x="226253" y="75066"/>
                </a:lnTo>
                <a:lnTo>
                  <a:pt x="239514" y="88326"/>
                </a:lnTo>
                <a:cubicBezTo>
                  <a:pt x="243191" y="92003"/>
                  <a:pt x="243191" y="97949"/>
                  <a:pt x="239514" y="101587"/>
                </a:cubicBezTo>
                <a:cubicBezTo>
                  <a:pt x="235837" y="105225"/>
                  <a:pt x="229891" y="105264"/>
                  <a:pt x="226253" y="101587"/>
                </a:cubicBezTo>
                <a:lnTo>
                  <a:pt x="212992" y="88326"/>
                </a:lnTo>
                <a:lnTo>
                  <a:pt x="199732" y="101587"/>
                </a:lnTo>
                <a:cubicBezTo>
                  <a:pt x="196055" y="105264"/>
                  <a:pt x="190109" y="105264"/>
                  <a:pt x="186471" y="101587"/>
                </a:cubicBezTo>
                <a:cubicBezTo>
                  <a:pt x="182833" y="97910"/>
                  <a:pt x="182794" y="91964"/>
                  <a:pt x="186471" y="88326"/>
                </a:cubicBezTo>
                <a:lnTo>
                  <a:pt x="199732" y="75066"/>
                </a:lnTo>
                <a:lnTo>
                  <a:pt x="186471" y="61805"/>
                </a:lnTo>
                <a:cubicBezTo>
                  <a:pt x="182794" y="58128"/>
                  <a:pt x="182794" y="52182"/>
                  <a:pt x="186471" y="48544"/>
                </a:cubicBezTo>
                <a:cubicBezTo>
                  <a:pt x="190148" y="44906"/>
                  <a:pt x="196094" y="44867"/>
                  <a:pt x="199732" y="48544"/>
                </a:cubicBezTo>
                <a:lnTo>
                  <a:pt x="212992" y="61805"/>
                </a:lnTo>
                <a:lnTo>
                  <a:pt x="226253" y="48544"/>
                </a:lnTo>
                <a:cubicBezTo>
                  <a:pt x="229930" y="44867"/>
                  <a:pt x="235876" y="44867"/>
                  <a:pt x="239514" y="48544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286484" y="4948567"/>
            <a:ext cx="2528526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Customer Churn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168236" y="1189158"/>
            <a:ext cx="5691269" cy="2578595"/>
          </a:xfrm>
          <a:custGeom>
            <a:rect b="b" l="l" r="r" t="t"/>
            <a:pathLst>
              <a:path extrusionOk="0" h="2578595" w="5691269">
                <a:moveTo>
                  <a:pt x="66760" y="0"/>
                </a:moveTo>
                <a:lnTo>
                  <a:pt x="5624509" y="0"/>
                </a:lnTo>
                <a:cubicBezTo>
                  <a:pt x="5661380" y="0"/>
                  <a:pt x="5691269" y="29889"/>
                  <a:pt x="5691269" y="66760"/>
                </a:cubicBezTo>
                <a:lnTo>
                  <a:pt x="5691269" y="2511836"/>
                </a:lnTo>
                <a:cubicBezTo>
                  <a:pt x="5691269" y="2548706"/>
                  <a:pt x="5661380" y="2578595"/>
                  <a:pt x="5624509" y="2578595"/>
                </a:cubicBezTo>
                <a:lnTo>
                  <a:pt x="66760" y="2578595"/>
                </a:lnTo>
                <a:cubicBezTo>
                  <a:pt x="29889" y="2578595"/>
                  <a:pt x="0" y="2548706"/>
                  <a:pt x="0" y="2511836"/>
                </a:cubicBezTo>
                <a:lnTo>
                  <a:pt x="0" y="66760"/>
                </a:lnTo>
                <a:cubicBezTo>
                  <a:pt x="0" y="29889"/>
                  <a:pt x="29889" y="0"/>
                  <a:pt x="66760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268376" y="1326850"/>
            <a:ext cx="5490990" cy="233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Liter"/>
                <a:ea typeface="Liter"/>
                <a:cs typeface="Liter"/>
                <a:sym typeface="Liter"/>
              </a:rPr>
              <a:t>Decision Boundaries Comparison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5928" y="1627269"/>
            <a:ext cx="4656493" cy="200279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5928" y="1627269"/>
            <a:ext cx="4656493" cy="200279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212" name="Google Shape;2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928" y="1627269"/>
            <a:ext cx="4656493" cy="200279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6168236" y="3909618"/>
            <a:ext cx="5691269" cy="2611975"/>
          </a:xfrm>
          <a:custGeom>
            <a:rect b="b" l="l" r="r" t="t"/>
            <a:pathLst>
              <a:path extrusionOk="0" h="2611975" w="5691269">
                <a:moveTo>
                  <a:pt x="66762" y="0"/>
                </a:moveTo>
                <a:lnTo>
                  <a:pt x="5624507" y="0"/>
                </a:lnTo>
                <a:cubicBezTo>
                  <a:pt x="5661379" y="0"/>
                  <a:pt x="5691269" y="29890"/>
                  <a:pt x="5691269" y="66762"/>
                </a:cubicBezTo>
                <a:lnTo>
                  <a:pt x="5691269" y="2545213"/>
                </a:lnTo>
                <a:cubicBezTo>
                  <a:pt x="5691269" y="2582085"/>
                  <a:pt x="5661379" y="2611975"/>
                  <a:pt x="5624507" y="2611975"/>
                </a:cubicBezTo>
                <a:lnTo>
                  <a:pt x="66762" y="2611975"/>
                </a:lnTo>
                <a:cubicBezTo>
                  <a:pt x="29890" y="2611975"/>
                  <a:pt x="0" y="2582085"/>
                  <a:pt x="0" y="2545213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6360170" y="4114070"/>
            <a:ext cx="166899" cy="166899"/>
          </a:xfrm>
          <a:custGeom>
            <a:rect b="b" l="l" r="r" t="t"/>
            <a:pathLst>
              <a:path extrusionOk="0" h="166899" w="166899">
                <a:moveTo>
                  <a:pt x="47038" y="0"/>
                </a:moveTo>
                <a:lnTo>
                  <a:pt x="120057" y="0"/>
                </a:lnTo>
                <a:cubicBezTo>
                  <a:pt x="128695" y="0"/>
                  <a:pt x="135736" y="7106"/>
                  <a:pt x="135410" y="15712"/>
                </a:cubicBezTo>
                <a:cubicBezTo>
                  <a:pt x="135345" y="17440"/>
                  <a:pt x="135280" y="19167"/>
                  <a:pt x="135182" y="20862"/>
                </a:cubicBezTo>
                <a:lnTo>
                  <a:pt x="151350" y="20862"/>
                </a:lnTo>
                <a:cubicBezTo>
                  <a:pt x="159858" y="20862"/>
                  <a:pt x="167356" y="27903"/>
                  <a:pt x="166704" y="37096"/>
                </a:cubicBezTo>
                <a:cubicBezTo>
                  <a:pt x="164259" y="70900"/>
                  <a:pt x="146982" y="89480"/>
                  <a:pt x="128239" y="99194"/>
                </a:cubicBezTo>
                <a:cubicBezTo>
                  <a:pt x="123088" y="101867"/>
                  <a:pt x="117840" y="103856"/>
                  <a:pt x="112853" y="105323"/>
                </a:cubicBezTo>
                <a:cubicBezTo>
                  <a:pt x="106268" y="114646"/>
                  <a:pt x="99422" y="119568"/>
                  <a:pt x="93979" y="122208"/>
                </a:cubicBezTo>
                <a:lnTo>
                  <a:pt x="93979" y="146037"/>
                </a:lnTo>
                <a:lnTo>
                  <a:pt x="114841" y="146037"/>
                </a:lnTo>
                <a:cubicBezTo>
                  <a:pt x="120611" y="146037"/>
                  <a:pt x="125272" y="150698"/>
                  <a:pt x="125272" y="156468"/>
                </a:cubicBezTo>
                <a:cubicBezTo>
                  <a:pt x="125272" y="162238"/>
                  <a:pt x="120611" y="166899"/>
                  <a:pt x="114841" y="166899"/>
                </a:cubicBezTo>
                <a:lnTo>
                  <a:pt x="52254" y="166899"/>
                </a:lnTo>
                <a:cubicBezTo>
                  <a:pt x="46484" y="166899"/>
                  <a:pt x="41823" y="162238"/>
                  <a:pt x="41823" y="156468"/>
                </a:cubicBezTo>
                <a:cubicBezTo>
                  <a:pt x="41823" y="150698"/>
                  <a:pt x="46484" y="146037"/>
                  <a:pt x="52254" y="146037"/>
                </a:cubicBezTo>
                <a:lnTo>
                  <a:pt x="73116" y="146037"/>
                </a:lnTo>
                <a:lnTo>
                  <a:pt x="73116" y="122208"/>
                </a:lnTo>
                <a:cubicBezTo>
                  <a:pt x="67901" y="119698"/>
                  <a:pt x="61414" y="115037"/>
                  <a:pt x="55090" y="106464"/>
                </a:cubicBezTo>
                <a:cubicBezTo>
                  <a:pt x="49092" y="104899"/>
                  <a:pt x="42572" y="102519"/>
                  <a:pt x="36216" y="98934"/>
                </a:cubicBezTo>
                <a:cubicBezTo>
                  <a:pt x="18581" y="89056"/>
                  <a:pt x="2673" y="70443"/>
                  <a:pt x="391" y="37031"/>
                </a:cubicBezTo>
                <a:cubicBezTo>
                  <a:pt x="-228" y="27871"/>
                  <a:pt x="7237" y="20830"/>
                  <a:pt x="15745" y="20830"/>
                </a:cubicBezTo>
                <a:lnTo>
                  <a:pt x="31913" y="20830"/>
                </a:lnTo>
                <a:cubicBezTo>
                  <a:pt x="31815" y="19135"/>
                  <a:pt x="31750" y="17440"/>
                  <a:pt x="31685" y="15679"/>
                </a:cubicBezTo>
                <a:cubicBezTo>
                  <a:pt x="31359" y="7041"/>
                  <a:pt x="38400" y="-33"/>
                  <a:pt x="47038" y="-33"/>
                </a:cubicBezTo>
                <a:close/>
                <a:moveTo>
                  <a:pt x="33086" y="36509"/>
                </a:moveTo>
                <a:lnTo>
                  <a:pt x="16005" y="36509"/>
                </a:lnTo>
                <a:cubicBezTo>
                  <a:pt x="18026" y="64119"/>
                  <a:pt x="30707" y="77941"/>
                  <a:pt x="43778" y="85275"/>
                </a:cubicBezTo>
                <a:cubicBezTo>
                  <a:pt x="39084" y="73116"/>
                  <a:pt x="35205" y="57241"/>
                  <a:pt x="33086" y="36509"/>
                </a:cubicBezTo>
                <a:close/>
                <a:moveTo>
                  <a:pt x="123871" y="83710"/>
                </a:moveTo>
                <a:cubicBezTo>
                  <a:pt x="137073" y="75952"/>
                  <a:pt x="149003" y="62164"/>
                  <a:pt x="151024" y="36509"/>
                </a:cubicBezTo>
                <a:lnTo>
                  <a:pt x="133976" y="36509"/>
                </a:lnTo>
                <a:cubicBezTo>
                  <a:pt x="131955" y="56361"/>
                  <a:pt x="128304" y="71780"/>
                  <a:pt x="123871" y="8371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547932" y="4080690"/>
            <a:ext cx="5223951" cy="233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4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Liter"/>
                <a:ea typeface="Liter"/>
                <a:cs typeface="Liter"/>
                <a:sym typeface="Liter"/>
              </a:rPr>
              <a:t>Key Strengths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339308" y="4414489"/>
            <a:ext cx="5349125" cy="600838"/>
          </a:xfrm>
          <a:custGeom>
            <a:rect b="b" l="l" r="r" t="t"/>
            <a:pathLst>
              <a:path extrusionOk="0" h="600838" w="5349125">
                <a:moveTo>
                  <a:pt x="33383" y="0"/>
                </a:moveTo>
                <a:lnTo>
                  <a:pt x="5315743" y="0"/>
                </a:lnTo>
                <a:cubicBezTo>
                  <a:pt x="5334179" y="0"/>
                  <a:pt x="5349125" y="14946"/>
                  <a:pt x="5349125" y="33383"/>
                </a:cubicBezTo>
                <a:lnTo>
                  <a:pt x="5349125" y="567455"/>
                </a:lnTo>
                <a:cubicBezTo>
                  <a:pt x="5349125" y="585892"/>
                  <a:pt x="5334179" y="600838"/>
                  <a:pt x="5315743" y="600838"/>
                </a:cubicBezTo>
                <a:lnTo>
                  <a:pt x="33383" y="600838"/>
                </a:lnTo>
                <a:cubicBezTo>
                  <a:pt x="14946" y="600838"/>
                  <a:pt x="0" y="585892"/>
                  <a:pt x="0" y="567455"/>
                </a:cubicBezTo>
                <a:lnTo>
                  <a:pt x="0" y="33383"/>
                </a:lnTo>
                <a:cubicBezTo>
                  <a:pt x="0" y="14958"/>
                  <a:pt x="14958" y="0"/>
                  <a:pt x="3338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439448" y="4514628"/>
            <a:ext cx="5215606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Probabilistic Outputs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439448" y="4748287"/>
            <a:ext cx="5207261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calibrated probabilities, not just hard classifications</a:t>
            </a:r>
            <a:endParaRPr b="0" i="0" sz="1600" u="none" cap="none" strike="noStrike"/>
          </a:p>
        </p:txBody>
      </p:sp>
      <p:sp>
        <p:nvSpPr>
          <p:cNvPr id="219" name="Google Shape;219;p6"/>
          <p:cNvSpPr/>
          <p:nvPr/>
        </p:nvSpPr>
        <p:spPr>
          <a:xfrm>
            <a:off x="6339308" y="5082086"/>
            <a:ext cx="5349125" cy="600838"/>
          </a:xfrm>
          <a:custGeom>
            <a:rect b="b" l="l" r="r" t="t"/>
            <a:pathLst>
              <a:path extrusionOk="0" h="600838" w="5349125">
                <a:moveTo>
                  <a:pt x="33383" y="0"/>
                </a:moveTo>
                <a:lnTo>
                  <a:pt x="5315743" y="0"/>
                </a:lnTo>
                <a:cubicBezTo>
                  <a:pt x="5334179" y="0"/>
                  <a:pt x="5349125" y="14946"/>
                  <a:pt x="5349125" y="33383"/>
                </a:cubicBezTo>
                <a:lnTo>
                  <a:pt x="5349125" y="567455"/>
                </a:lnTo>
                <a:cubicBezTo>
                  <a:pt x="5349125" y="585892"/>
                  <a:pt x="5334179" y="600838"/>
                  <a:pt x="5315743" y="600838"/>
                </a:cubicBezTo>
                <a:lnTo>
                  <a:pt x="33383" y="600838"/>
                </a:lnTo>
                <a:cubicBezTo>
                  <a:pt x="14946" y="600838"/>
                  <a:pt x="0" y="585892"/>
                  <a:pt x="0" y="567455"/>
                </a:cubicBezTo>
                <a:lnTo>
                  <a:pt x="0" y="33383"/>
                </a:lnTo>
                <a:cubicBezTo>
                  <a:pt x="0" y="14958"/>
                  <a:pt x="14958" y="0"/>
                  <a:pt x="3338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439448" y="5182226"/>
            <a:ext cx="5215606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Low Data Requirements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439448" y="5415885"/>
            <a:ext cx="5207261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Performs well with small datasets (&lt;100 samples)</a:t>
            </a:r>
            <a:endParaRPr b="0" i="0" sz="1600" u="none" cap="none" strike="noStrike"/>
          </a:p>
        </p:txBody>
      </p:sp>
      <p:sp>
        <p:nvSpPr>
          <p:cNvPr id="222" name="Google Shape;222;p6"/>
          <p:cNvSpPr/>
          <p:nvPr/>
        </p:nvSpPr>
        <p:spPr>
          <a:xfrm>
            <a:off x="6339308" y="5749684"/>
            <a:ext cx="5349125" cy="600838"/>
          </a:xfrm>
          <a:custGeom>
            <a:rect b="b" l="l" r="r" t="t"/>
            <a:pathLst>
              <a:path extrusionOk="0" h="600838" w="5349125">
                <a:moveTo>
                  <a:pt x="33383" y="0"/>
                </a:moveTo>
                <a:lnTo>
                  <a:pt x="5315743" y="0"/>
                </a:lnTo>
                <a:cubicBezTo>
                  <a:pt x="5334179" y="0"/>
                  <a:pt x="5349125" y="14946"/>
                  <a:pt x="5349125" y="33383"/>
                </a:cubicBezTo>
                <a:lnTo>
                  <a:pt x="5349125" y="567455"/>
                </a:lnTo>
                <a:cubicBezTo>
                  <a:pt x="5349125" y="585892"/>
                  <a:pt x="5334179" y="600838"/>
                  <a:pt x="5315743" y="600838"/>
                </a:cubicBezTo>
                <a:lnTo>
                  <a:pt x="33383" y="600838"/>
                </a:lnTo>
                <a:cubicBezTo>
                  <a:pt x="14946" y="600838"/>
                  <a:pt x="0" y="585892"/>
                  <a:pt x="0" y="567455"/>
                </a:cubicBezTo>
                <a:lnTo>
                  <a:pt x="0" y="33383"/>
                </a:lnTo>
                <a:cubicBezTo>
                  <a:pt x="0" y="14958"/>
                  <a:pt x="14958" y="0"/>
                  <a:pt x="3338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439448" y="5849823"/>
            <a:ext cx="5215606" cy="200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Regularization Options</a:t>
            </a:r>
            <a:endParaRPr b="0" i="0" sz="1600" u="none" cap="none" strike="noStrike">
              <a:highlight>
                <a:srgbClr val="3274B9"/>
              </a:highlight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439448" y="6083483"/>
            <a:ext cx="5207261" cy="166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L1 (Lasso) and L2 (Ridge) prevent overfitting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dn.processon.io/c6e144daf73e0d42c31119d4b715fd012cd6a6d0.png" id="230" name="Google Shape;230;p7"/>
          <p:cNvPicPr preferRelativeResize="0"/>
          <p:nvPr/>
        </p:nvPicPr>
        <p:blipFill rotWithShape="1">
          <a:blip r:embed="rId3">
            <a:alphaModFix amt="25000"/>
          </a:blip>
          <a:srcRect b="10498" l="0" r="0" t="10499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89803"/>
                </a:srgbClr>
              </a:gs>
              <a:gs pos="100000">
                <a:srgbClr val="1A1D21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32" name="Google Shape;232;p7"/>
          <p:cNvSpPr/>
          <p:nvPr/>
        </p:nvSpPr>
        <p:spPr>
          <a:xfrm>
            <a:off x="390525" y="1538288"/>
            <a:ext cx="742950" cy="552450"/>
          </a:xfrm>
          <a:custGeom>
            <a:rect b="b" l="l" r="r" t="t"/>
            <a:pathLst>
              <a:path extrusionOk="0" h="552450" w="742950">
                <a:moveTo>
                  <a:pt x="276225" y="0"/>
                </a:moveTo>
                <a:lnTo>
                  <a:pt x="466725" y="0"/>
                </a:lnTo>
                <a:cubicBezTo>
                  <a:pt x="619178" y="0"/>
                  <a:pt x="742950" y="123772"/>
                  <a:pt x="742950" y="276225"/>
                </a:cubicBezTo>
                <a:lnTo>
                  <a:pt x="742950" y="276225"/>
                </a:lnTo>
                <a:cubicBezTo>
                  <a:pt x="742950" y="428678"/>
                  <a:pt x="619178" y="552450"/>
                  <a:pt x="466725" y="552450"/>
                </a:cubicBezTo>
                <a:lnTo>
                  <a:pt x="276225" y="552450"/>
                </a:lnTo>
                <a:cubicBezTo>
                  <a:pt x="123772" y="552450"/>
                  <a:pt x="0" y="428678"/>
                  <a:pt x="0" y="276225"/>
                </a:cubicBezTo>
                <a:lnTo>
                  <a:pt x="0" y="276225"/>
                </a:lnTo>
                <a:cubicBezTo>
                  <a:pt x="0" y="123772"/>
                  <a:pt x="123772" y="0"/>
                  <a:pt x="276225" y="0"/>
                </a:cubicBezTo>
                <a:close/>
              </a:path>
            </a:pathLst>
          </a:custGeom>
          <a:solidFill>
            <a:srgbClr val="4DB59A">
              <a:alpha val="29803"/>
            </a:srgbClr>
          </a:solidFill>
          <a:ln cap="flat" cmpd="sng" w="254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28650" y="1662113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b="0" i="0" sz="1600" u="none" cap="none" strike="noStrike"/>
          </a:p>
        </p:txBody>
      </p:sp>
      <p:sp>
        <p:nvSpPr>
          <p:cNvPr id="234" name="Google Shape;234;p7"/>
          <p:cNvSpPr/>
          <p:nvPr/>
        </p:nvSpPr>
        <p:spPr>
          <a:xfrm>
            <a:off x="381000" y="2328863"/>
            <a:ext cx="11772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Decision Trees</a:t>
            </a:r>
            <a:endParaRPr b="0" i="0" sz="1600" u="none" cap="none" strike="noStrike"/>
          </a:p>
        </p:txBody>
      </p:sp>
      <p:sp>
        <p:nvSpPr>
          <p:cNvPr id="235" name="Google Shape;235;p7"/>
          <p:cNvSpPr/>
          <p:nvPr/>
        </p:nvSpPr>
        <p:spPr>
          <a:xfrm>
            <a:off x="381000" y="3414713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Human-Like Decision Maker</a:t>
            </a:r>
            <a:endParaRPr b="0" i="0" sz="1600" u="none" cap="none" strike="noStrike"/>
          </a:p>
        </p:txBody>
      </p:sp>
      <p:sp>
        <p:nvSpPr>
          <p:cNvPr id="236" name="Google Shape;236;p7"/>
          <p:cNvSpPr/>
          <p:nvPr/>
        </p:nvSpPr>
        <p:spPr>
          <a:xfrm>
            <a:off x="381000" y="4062412"/>
            <a:ext cx="6496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trees mimic </a:t>
            </a:r>
            <a:r>
              <a:rPr b="1" i="0" lang="en-US" sz="15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 decision-making</a:t>
            </a: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asking a series of yes/no questions to arrive at a conclusion.</a:t>
            </a:r>
            <a:endParaRPr b="0" i="0" sz="1600" u="none" cap="none" strike="noStrike"/>
          </a:p>
        </p:txBody>
      </p:sp>
      <p:sp>
        <p:nvSpPr>
          <p:cNvPr id="237" name="Google Shape;237;p7"/>
          <p:cNvSpPr/>
          <p:nvPr/>
        </p:nvSpPr>
        <p:spPr>
          <a:xfrm>
            <a:off x="381000" y="4795838"/>
            <a:ext cx="6486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create intuitive, interpretable models that require minimal data preparation and can handle both numerical and categorical data with ease.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384561" y="384561"/>
            <a:ext cx="1310355" cy="313346"/>
          </a:xfrm>
          <a:custGeom>
            <a:rect b="b" l="l" r="r" t="t"/>
            <a:pathLst>
              <a:path extrusionOk="0" h="313346" w="1310355">
                <a:moveTo>
                  <a:pt x="156673" y="0"/>
                </a:moveTo>
                <a:lnTo>
                  <a:pt x="1153682" y="0"/>
                </a:lnTo>
                <a:cubicBezTo>
                  <a:pt x="1240210" y="0"/>
                  <a:pt x="1310355" y="70145"/>
                  <a:pt x="1310355" y="156673"/>
                </a:cubicBezTo>
                <a:lnTo>
                  <a:pt x="1310355" y="156673"/>
                </a:lnTo>
                <a:cubicBezTo>
                  <a:pt x="1310355" y="243201"/>
                  <a:pt x="1240210" y="313346"/>
                  <a:pt x="1153682" y="313346"/>
                </a:cubicBezTo>
                <a:lnTo>
                  <a:pt x="156673" y="313346"/>
                </a:lnTo>
                <a:cubicBezTo>
                  <a:pt x="70145" y="313346"/>
                  <a:pt x="0" y="243201"/>
                  <a:pt x="0" y="156673"/>
                </a:cubicBezTo>
                <a:lnTo>
                  <a:pt x="0" y="156673"/>
                </a:lnTo>
                <a:cubicBezTo>
                  <a:pt x="0" y="70145"/>
                  <a:pt x="70145" y="0"/>
                  <a:pt x="156673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03252" y="474766"/>
            <a:ext cx="1137659" cy="15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7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TREES</a:t>
            </a:r>
            <a:endParaRPr b="0" i="0" sz="1600" u="none" cap="none" strike="noStrike"/>
          </a:p>
        </p:txBody>
      </p:sp>
      <p:sp>
        <p:nvSpPr>
          <p:cNvPr id="245" name="Google Shape;245;p8"/>
          <p:cNvSpPr/>
          <p:nvPr/>
        </p:nvSpPr>
        <p:spPr>
          <a:xfrm>
            <a:off x="379813" y="816598"/>
            <a:ext cx="11603290" cy="379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2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Liter"/>
                <a:ea typeface="Liter"/>
                <a:cs typeface="Liter"/>
                <a:sym typeface="Liter"/>
              </a:rPr>
              <a:t>How They Think Like Humans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84561" y="1353084"/>
            <a:ext cx="6789159" cy="2136449"/>
          </a:xfrm>
          <a:custGeom>
            <a:rect b="b" l="l" r="r" t="t"/>
            <a:pathLst>
              <a:path extrusionOk="0" h="2136449" w="6789159">
                <a:moveTo>
                  <a:pt x="75972" y="0"/>
                </a:moveTo>
                <a:lnTo>
                  <a:pt x="6713187" y="0"/>
                </a:lnTo>
                <a:cubicBezTo>
                  <a:pt x="6755145" y="0"/>
                  <a:pt x="6789159" y="34014"/>
                  <a:pt x="6789159" y="75972"/>
                </a:cubicBezTo>
                <a:lnTo>
                  <a:pt x="6789159" y="2060476"/>
                </a:lnTo>
                <a:cubicBezTo>
                  <a:pt x="6789159" y="2102435"/>
                  <a:pt x="6755145" y="2136449"/>
                  <a:pt x="6713187" y="2136449"/>
                </a:cubicBezTo>
                <a:lnTo>
                  <a:pt x="75972" y="2136449"/>
                </a:lnTo>
                <a:cubicBezTo>
                  <a:pt x="34014" y="2136449"/>
                  <a:pt x="0" y="2102435"/>
                  <a:pt x="0" y="2060476"/>
                </a:cubicBezTo>
                <a:lnTo>
                  <a:pt x="0" y="75972"/>
                </a:lnTo>
                <a:cubicBezTo>
                  <a:pt x="0" y="34042"/>
                  <a:pt x="34042" y="0"/>
                  <a:pt x="75972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64972" y="1547738"/>
            <a:ext cx="189907" cy="189907"/>
          </a:xfrm>
          <a:custGeom>
            <a:rect b="b" l="l" r="r" t="t"/>
            <a:pathLst>
              <a:path extrusionOk="0" h="189907" w="189907">
                <a:moveTo>
                  <a:pt x="71215" y="23738"/>
                </a:moveTo>
                <a:cubicBezTo>
                  <a:pt x="71215" y="17173"/>
                  <a:pt x="76519" y="11869"/>
                  <a:pt x="83084" y="11869"/>
                </a:cubicBezTo>
                <a:lnTo>
                  <a:pt x="106822" y="11869"/>
                </a:lnTo>
                <a:cubicBezTo>
                  <a:pt x="113388" y="11869"/>
                  <a:pt x="118692" y="17173"/>
                  <a:pt x="118692" y="23738"/>
                </a:cubicBezTo>
                <a:lnTo>
                  <a:pt x="118692" y="47477"/>
                </a:lnTo>
                <a:cubicBezTo>
                  <a:pt x="118692" y="54042"/>
                  <a:pt x="113388" y="59346"/>
                  <a:pt x="106822" y="59346"/>
                </a:cubicBezTo>
                <a:lnTo>
                  <a:pt x="103855" y="59346"/>
                </a:lnTo>
                <a:lnTo>
                  <a:pt x="103855" y="83084"/>
                </a:lnTo>
                <a:lnTo>
                  <a:pt x="148364" y="83084"/>
                </a:lnTo>
                <a:cubicBezTo>
                  <a:pt x="163127" y="83084"/>
                  <a:pt x="175070" y="95027"/>
                  <a:pt x="175070" y="109790"/>
                </a:cubicBezTo>
                <a:lnTo>
                  <a:pt x="175070" y="130561"/>
                </a:lnTo>
                <a:lnTo>
                  <a:pt x="178037" y="130561"/>
                </a:lnTo>
                <a:cubicBezTo>
                  <a:pt x="184603" y="130561"/>
                  <a:pt x="189907" y="135865"/>
                  <a:pt x="189907" y="142430"/>
                </a:cubicBezTo>
                <a:lnTo>
                  <a:pt x="189907" y="166168"/>
                </a:lnTo>
                <a:cubicBezTo>
                  <a:pt x="189907" y="172733"/>
                  <a:pt x="184603" y="178037"/>
                  <a:pt x="178037" y="178037"/>
                </a:cubicBezTo>
                <a:lnTo>
                  <a:pt x="154299" y="178037"/>
                </a:lnTo>
                <a:cubicBezTo>
                  <a:pt x="147734" y="178037"/>
                  <a:pt x="142430" y="172733"/>
                  <a:pt x="142430" y="166168"/>
                </a:cubicBezTo>
                <a:lnTo>
                  <a:pt x="142430" y="142430"/>
                </a:lnTo>
                <a:cubicBezTo>
                  <a:pt x="142430" y="135865"/>
                  <a:pt x="147734" y="130561"/>
                  <a:pt x="154299" y="130561"/>
                </a:cubicBezTo>
                <a:lnTo>
                  <a:pt x="157266" y="130561"/>
                </a:lnTo>
                <a:lnTo>
                  <a:pt x="157266" y="109790"/>
                </a:lnTo>
                <a:cubicBezTo>
                  <a:pt x="157266" y="104857"/>
                  <a:pt x="153298" y="100888"/>
                  <a:pt x="148364" y="100888"/>
                </a:cubicBezTo>
                <a:lnTo>
                  <a:pt x="103855" y="100888"/>
                </a:lnTo>
                <a:lnTo>
                  <a:pt x="103855" y="130561"/>
                </a:lnTo>
                <a:lnTo>
                  <a:pt x="106822" y="130561"/>
                </a:lnTo>
                <a:cubicBezTo>
                  <a:pt x="113388" y="130561"/>
                  <a:pt x="118692" y="135865"/>
                  <a:pt x="118692" y="142430"/>
                </a:cubicBezTo>
                <a:lnTo>
                  <a:pt x="118692" y="166168"/>
                </a:lnTo>
                <a:cubicBezTo>
                  <a:pt x="118692" y="172733"/>
                  <a:pt x="113388" y="178037"/>
                  <a:pt x="106822" y="178037"/>
                </a:cubicBezTo>
                <a:lnTo>
                  <a:pt x="83084" y="178037"/>
                </a:lnTo>
                <a:cubicBezTo>
                  <a:pt x="76519" y="178037"/>
                  <a:pt x="71215" y="172733"/>
                  <a:pt x="71215" y="166168"/>
                </a:cubicBezTo>
                <a:lnTo>
                  <a:pt x="71215" y="142430"/>
                </a:lnTo>
                <a:cubicBezTo>
                  <a:pt x="71215" y="135865"/>
                  <a:pt x="76519" y="130561"/>
                  <a:pt x="83084" y="130561"/>
                </a:cubicBezTo>
                <a:lnTo>
                  <a:pt x="86051" y="130561"/>
                </a:lnTo>
                <a:lnTo>
                  <a:pt x="86051" y="100888"/>
                </a:lnTo>
                <a:lnTo>
                  <a:pt x="41542" y="100888"/>
                </a:lnTo>
                <a:cubicBezTo>
                  <a:pt x="36609" y="100888"/>
                  <a:pt x="32640" y="104857"/>
                  <a:pt x="32640" y="109790"/>
                </a:cubicBezTo>
                <a:lnTo>
                  <a:pt x="32640" y="130561"/>
                </a:lnTo>
                <a:lnTo>
                  <a:pt x="35607" y="130561"/>
                </a:lnTo>
                <a:cubicBezTo>
                  <a:pt x="42173" y="130561"/>
                  <a:pt x="47477" y="135865"/>
                  <a:pt x="47477" y="142430"/>
                </a:cubicBezTo>
                <a:lnTo>
                  <a:pt x="47477" y="166168"/>
                </a:lnTo>
                <a:cubicBezTo>
                  <a:pt x="47477" y="172733"/>
                  <a:pt x="42173" y="178037"/>
                  <a:pt x="35607" y="178037"/>
                </a:cubicBezTo>
                <a:lnTo>
                  <a:pt x="11869" y="178037"/>
                </a:lnTo>
                <a:cubicBezTo>
                  <a:pt x="5304" y="178037"/>
                  <a:pt x="0" y="172733"/>
                  <a:pt x="0" y="166168"/>
                </a:cubicBezTo>
                <a:lnTo>
                  <a:pt x="0" y="142430"/>
                </a:lnTo>
                <a:cubicBezTo>
                  <a:pt x="0" y="135865"/>
                  <a:pt x="5304" y="130561"/>
                  <a:pt x="11869" y="130561"/>
                </a:cubicBezTo>
                <a:lnTo>
                  <a:pt x="14836" y="130561"/>
                </a:lnTo>
                <a:lnTo>
                  <a:pt x="14836" y="109790"/>
                </a:lnTo>
                <a:cubicBezTo>
                  <a:pt x="14836" y="95027"/>
                  <a:pt x="26780" y="83084"/>
                  <a:pt x="41542" y="83084"/>
                </a:cubicBezTo>
                <a:lnTo>
                  <a:pt x="86051" y="83084"/>
                </a:lnTo>
                <a:lnTo>
                  <a:pt x="86051" y="59346"/>
                </a:lnTo>
                <a:lnTo>
                  <a:pt x="83084" y="59346"/>
                </a:lnTo>
                <a:cubicBezTo>
                  <a:pt x="76519" y="59346"/>
                  <a:pt x="71215" y="54042"/>
                  <a:pt x="71215" y="47477"/>
                </a:cubicBezTo>
                <a:lnTo>
                  <a:pt x="71215" y="23738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78617" y="1509757"/>
            <a:ext cx="6333383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Liter"/>
                <a:ea typeface="Liter"/>
                <a:cs typeface="Liter"/>
                <a:sym typeface="Liter"/>
              </a:rPr>
              <a:t>Tree Structure Components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60224" y="1889570"/>
            <a:ext cx="3180935" cy="683664"/>
          </a:xfrm>
          <a:custGeom>
            <a:rect b="b" l="l" r="r" t="t"/>
            <a:pathLst>
              <a:path extrusionOk="0" h="683664" w="3180935">
                <a:moveTo>
                  <a:pt x="37981" y="0"/>
                </a:moveTo>
                <a:lnTo>
                  <a:pt x="3142950" y="0"/>
                </a:lnTo>
                <a:cubicBezTo>
                  <a:pt x="3163928" y="0"/>
                  <a:pt x="3180935" y="17006"/>
                  <a:pt x="3180935" y="37984"/>
                </a:cubicBezTo>
                <a:lnTo>
                  <a:pt x="3180935" y="645679"/>
                </a:lnTo>
                <a:cubicBezTo>
                  <a:pt x="3180935" y="666657"/>
                  <a:pt x="3163928" y="683664"/>
                  <a:pt x="3142950" y="683664"/>
                </a:cubicBez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60224" y="1889570"/>
            <a:ext cx="37981" cy="683664"/>
          </a:xfrm>
          <a:custGeom>
            <a:rect b="b" l="l" r="r" t="t"/>
            <a:pathLst>
              <a:path extrusionOk="0" h="683664" w="37981">
                <a:moveTo>
                  <a:pt x="37981" y="0"/>
                </a:moveTo>
                <a:lnTo>
                  <a:pt x="37981" y="0"/>
                </a:lnTo>
                <a:lnTo>
                  <a:pt x="37981" y="683664"/>
                </a:ln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693159" y="2003514"/>
            <a:ext cx="3010019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Root Node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93159" y="2269383"/>
            <a:ext cx="300052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Starting point with entire dataset</a:t>
            </a:r>
            <a:endParaRPr b="0" i="0" sz="1600" u="none" cap="none" strike="noStrike"/>
          </a:p>
        </p:txBody>
      </p:sp>
      <p:sp>
        <p:nvSpPr>
          <p:cNvPr id="253" name="Google Shape;253;p8"/>
          <p:cNvSpPr/>
          <p:nvPr/>
        </p:nvSpPr>
        <p:spPr>
          <a:xfrm>
            <a:off x="3834777" y="1889570"/>
            <a:ext cx="3180935" cy="683664"/>
          </a:xfrm>
          <a:custGeom>
            <a:rect b="b" l="l" r="r" t="t"/>
            <a:pathLst>
              <a:path extrusionOk="0" h="683664" w="3180935">
                <a:moveTo>
                  <a:pt x="37981" y="0"/>
                </a:moveTo>
                <a:lnTo>
                  <a:pt x="3142950" y="0"/>
                </a:lnTo>
                <a:cubicBezTo>
                  <a:pt x="3163928" y="0"/>
                  <a:pt x="3180935" y="17006"/>
                  <a:pt x="3180935" y="37984"/>
                </a:cubicBezTo>
                <a:lnTo>
                  <a:pt x="3180935" y="645679"/>
                </a:lnTo>
                <a:cubicBezTo>
                  <a:pt x="3180935" y="666657"/>
                  <a:pt x="3163928" y="683664"/>
                  <a:pt x="3142950" y="683664"/>
                </a:cubicBez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834777" y="1889570"/>
            <a:ext cx="37981" cy="683664"/>
          </a:xfrm>
          <a:custGeom>
            <a:rect b="b" l="l" r="r" t="t"/>
            <a:pathLst>
              <a:path extrusionOk="0" h="683664" w="37981">
                <a:moveTo>
                  <a:pt x="37981" y="0"/>
                </a:moveTo>
                <a:lnTo>
                  <a:pt x="37981" y="0"/>
                </a:lnTo>
                <a:lnTo>
                  <a:pt x="37981" y="683664"/>
                </a:ln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3967711" y="2003514"/>
            <a:ext cx="3010019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Internal Nodes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967711" y="2269383"/>
            <a:ext cx="300052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points that split data</a:t>
            </a:r>
            <a:endParaRPr b="0" i="0" sz="1600" u="none" cap="none" strike="noStrike"/>
          </a:p>
        </p:txBody>
      </p:sp>
      <p:sp>
        <p:nvSpPr>
          <p:cNvPr id="257" name="Google Shape;257;p8"/>
          <p:cNvSpPr/>
          <p:nvPr/>
        </p:nvSpPr>
        <p:spPr>
          <a:xfrm>
            <a:off x="560224" y="2649196"/>
            <a:ext cx="3180935" cy="683664"/>
          </a:xfrm>
          <a:custGeom>
            <a:rect b="b" l="l" r="r" t="t"/>
            <a:pathLst>
              <a:path extrusionOk="0" h="683664" w="3180935">
                <a:moveTo>
                  <a:pt x="37981" y="0"/>
                </a:moveTo>
                <a:lnTo>
                  <a:pt x="3142950" y="0"/>
                </a:lnTo>
                <a:cubicBezTo>
                  <a:pt x="3163928" y="0"/>
                  <a:pt x="3180935" y="17006"/>
                  <a:pt x="3180935" y="37984"/>
                </a:cubicBezTo>
                <a:lnTo>
                  <a:pt x="3180935" y="645679"/>
                </a:lnTo>
                <a:cubicBezTo>
                  <a:pt x="3180935" y="666657"/>
                  <a:pt x="3163928" y="683664"/>
                  <a:pt x="3142950" y="683664"/>
                </a:cubicBez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560224" y="2649196"/>
            <a:ext cx="37981" cy="683664"/>
          </a:xfrm>
          <a:custGeom>
            <a:rect b="b" l="l" r="r" t="t"/>
            <a:pathLst>
              <a:path extrusionOk="0" h="683664" w="37981">
                <a:moveTo>
                  <a:pt x="37981" y="0"/>
                </a:moveTo>
                <a:lnTo>
                  <a:pt x="37981" y="0"/>
                </a:lnTo>
                <a:lnTo>
                  <a:pt x="37981" y="683664"/>
                </a:ln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93159" y="2763140"/>
            <a:ext cx="3010019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Branches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93159" y="3029009"/>
            <a:ext cx="300052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Outcomes of each decision</a:t>
            </a:r>
            <a:endParaRPr b="0" i="0" sz="1600" u="none" cap="none" strike="noStrike"/>
          </a:p>
        </p:txBody>
      </p:sp>
      <p:sp>
        <p:nvSpPr>
          <p:cNvPr id="261" name="Google Shape;261;p8"/>
          <p:cNvSpPr/>
          <p:nvPr/>
        </p:nvSpPr>
        <p:spPr>
          <a:xfrm>
            <a:off x="3834777" y="2649196"/>
            <a:ext cx="3180935" cy="683664"/>
          </a:xfrm>
          <a:custGeom>
            <a:rect b="b" l="l" r="r" t="t"/>
            <a:pathLst>
              <a:path extrusionOk="0" h="683664" w="3180935">
                <a:moveTo>
                  <a:pt x="37981" y="0"/>
                </a:moveTo>
                <a:lnTo>
                  <a:pt x="3142950" y="0"/>
                </a:lnTo>
                <a:cubicBezTo>
                  <a:pt x="3163928" y="0"/>
                  <a:pt x="3180935" y="17006"/>
                  <a:pt x="3180935" y="37984"/>
                </a:cubicBezTo>
                <a:lnTo>
                  <a:pt x="3180935" y="645679"/>
                </a:lnTo>
                <a:cubicBezTo>
                  <a:pt x="3180935" y="666657"/>
                  <a:pt x="3163928" y="683664"/>
                  <a:pt x="3142950" y="683664"/>
                </a:cubicBez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3834777" y="2649196"/>
            <a:ext cx="37981" cy="683664"/>
          </a:xfrm>
          <a:custGeom>
            <a:rect b="b" l="l" r="r" t="t"/>
            <a:pathLst>
              <a:path extrusionOk="0" h="683664" w="37981">
                <a:moveTo>
                  <a:pt x="37981" y="0"/>
                </a:moveTo>
                <a:lnTo>
                  <a:pt x="37981" y="0"/>
                </a:lnTo>
                <a:lnTo>
                  <a:pt x="37981" y="683664"/>
                </a:lnTo>
                <a:lnTo>
                  <a:pt x="37981" y="683664"/>
                </a:lnTo>
                <a:cubicBezTo>
                  <a:pt x="17019" y="683664"/>
                  <a:pt x="0" y="666645"/>
                  <a:pt x="0" y="645682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967711" y="2763140"/>
            <a:ext cx="3010019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Leaf Nodes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967711" y="3029009"/>
            <a:ext cx="300052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predictions (class labels)</a:t>
            </a:r>
            <a:endParaRPr b="0" i="0" sz="1600" u="none" cap="none" strike="noStrike"/>
          </a:p>
        </p:txBody>
      </p:sp>
      <p:sp>
        <p:nvSpPr>
          <p:cNvPr id="265" name="Google Shape;265;p8"/>
          <p:cNvSpPr/>
          <p:nvPr/>
        </p:nvSpPr>
        <p:spPr>
          <a:xfrm>
            <a:off x="384561" y="3650953"/>
            <a:ext cx="6789159" cy="2820112"/>
          </a:xfrm>
          <a:custGeom>
            <a:rect b="b" l="l" r="r" t="t"/>
            <a:pathLst>
              <a:path extrusionOk="0" h="2820112" w="6789159">
                <a:moveTo>
                  <a:pt x="75974" y="0"/>
                </a:moveTo>
                <a:lnTo>
                  <a:pt x="6713185" y="0"/>
                </a:lnTo>
                <a:cubicBezTo>
                  <a:pt x="6755144" y="0"/>
                  <a:pt x="6789159" y="34015"/>
                  <a:pt x="6789159" y="75974"/>
                </a:cubicBezTo>
                <a:lnTo>
                  <a:pt x="6789159" y="2744138"/>
                </a:lnTo>
                <a:cubicBezTo>
                  <a:pt x="6789159" y="2786098"/>
                  <a:pt x="6755144" y="2820112"/>
                  <a:pt x="6713185" y="2820112"/>
                </a:cubicBezTo>
                <a:lnTo>
                  <a:pt x="75974" y="2820112"/>
                </a:lnTo>
                <a:cubicBezTo>
                  <a:pt x="34015" y="2820112"/>
                  <a:pt x="0" y="2786098"/>
                  <a:pt x="0" y="2744138"/>
                </a:cubicBezTo>
                <a:lnTo>
                  <a:pt x="0" y="75974"/>
                </a:lnTo>
                <a:cubicBezTo>
                  <a:pt x="0" y="34043"/>
                  <a:pt x="34043" y="0"/>
                  <a:pt x="75974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564972" y="3845607"/>
            <a:ext cx="189907" cy="189907"/>
          </a:xfrm>
          <a:custGeom>
            <a:rect b="b" l="l" r="r" t="t"/>
            <a:pathLst>
              <a:path extrusionOk="0" h="189907" w="189907">
                <a:moveTo>
                  <a:pt x="71215" y="94953"/>
                </a:moveTo>
                <a:lnTo>
                  <a:pt x="56564" y="109604"/>
                </a:lnTo>
                <a:cubicBezTo>
                  <a:pt x="51890" y="107787"/>
                  <a:pt x="46846" y="106822"/>
                  <a:pt x="41542" y="106822"/>
                </a:cubicBezTo>
                <a:cubicBezTo>
                  <a:pt x="18583" y="106822"/>
                  <a:pt x="0" y="125405"/>
                  <a:pt x="0" y="148364"/>
                </a:cubicBezTo>
                <a:cubicBezTo>
                  <a:pt x="0" y="171324"/>
                  <a:pt x="18583" y="189907"/>
                  <a:pt x="41542" y="189907"/>
                </a:cubicBezTo>
                <a:cubicBezTo>
                  <a:pt x="64501" y="189907"/>
                  <a:pt x="83084" y="171324"/>
                  <a:pt x="83084" y="148364"/>
                </a:cubicBezTo>
                <a:cubicBezTo>
                  <a:pt x="83084" y="143060"/>
                  <a:pt x="82083" y="138016"/>
                  <a:pt x="80302" y="133343"/>
                </a:cubicBezTo>
                <a:lnTo>
                  <a:pt x="185159" y="28486"/>
                </a:lnTo>
                <a:cubicBezTo>
                  <a:pt x="187792" y="25853"/>
                  <a:pt x="187792" y="21624"/>
                  <a:pt x="185159" y="18991"/>
                </a:cubicBezTo>
                <a:cubicBezTo>
                  <a:pt x="174662" y="8494"/>
                  <a:pt x="157674" y="8494"/>
                  <a:pt x="147178" y="18991"/>
                </a:cubicBezTo>
                <a:lnTo>
                  <a:pt x="94953" y="71215"/>
                </a:lnTo>
                <a:lnTo>
                  <a:pt x="80302" y="56564"/>
                </a:lnTo>
                <a:cubicBezTo>
                  <a:pt x="82120" y="51890"/>
                  <a:pt x="83084" y="46846"/>
                  <a:pt x="83084" y="41542"/>
                </a:cubicBezTo>
                <a:cubicBezTo>
                  <a:pt x="83084" y="18583"/>
                  <a:pt x="64501" y="0"/>
                  <a:pt x="41542" y="0"/>
                </a:cubicBezTo>
                <a:cubicBezTo>
                  <a:pt x="18583" y="0"/>
                  <a:pt x="0" y="18583"/>
                  <a:pt x="0" y="41542"/>
                </a:cubicBezTo>
                <a:cubicBezTo>
                  <a:pt x="0" y="64501"/>
                  <a:pt x="18583" y="83084"/>
                  <a:pt x="41542" y="83084"/>
                </a:cubicBezTo>
                <a:cubicBezTo>
                  <a:pt x="46846" y="83084"/>
                  <a:pt x="51890" y="82083"/>
                  <a:pt x="56564" y="80302"/>
                </a:cubicBezTo>
                <a:lnTo>
                  <a:pt x="71215" y="94953"/>
                </a:lnTo>
                <a:close/>
                <a:moveTo>
                  <a:pt x="107527" y="131265"/>
                </a:moveTo>
                <a:lnTo>
                  <a:pt x="147178" y="170916"/>
                </a:lnTo>
                <a:cubicBezTo>
                  <a:pt x="157674" y="181413"/>
                  <a:pt x="174662" y="181413"/>
                  <a:pt x="185159" y="170916"/>
                </a:cubicBezTo>
                <a:cubicBezTo>
                  <a:pt x="187792" y="168282"/>
                  <a:pt x="187792" y="164054"/>
                  <a:pt x="185159" y="161421"/>
                </a:cubicBezTo>
                <a:lnTo>
                  <a:pt x="131265" y="107527"/>
                </a:lnTo>
                <a:lnTo>
                  <a:pt x="107527" y="131265"/>
                </a:lnTo>
                <a:close/>
                <a:moveTo>
                  <a:pt x="23738" y="41542"/>
                </a:moveTo>
                <a:cubicBezTo>
                  <a:pt x="23738" y="31716"/>
                  <a:pt x="31716" y="23738"/>
                  <a:pt x="41542" y="23738"/>
                </a:cubicBezTo>
                <a:cubicBezTo>
                  <a:pt x="51368" y="23738"/>
                  <a:pt x="59346" y="31716"/>
                  <a:pt x="59346" y="41542"/>
                </a:cubicBezTo>
                <a:cubicBezTo>
                  <a:pt x="59346" y="51368"/>
                  <a:pt x="51368" y="59346"/>
                  <a:pt x="41542" y="59346"/>
                </a:cubicBezTo>
                <a:cubicBezTo>
                  <a:pt x="31716" y="59346"/>
                  <a:pt x="23738" y="51368"/>
                  <a:pt x="23738" y="41542"/>
                </a:cubicBezTo>
                <a:close/>
                <a:moveTo>
                  <a:pt x="41542" y="130561"/>
                </a:moveTo>
                <a:cubicBezTo>
                  <a:pt x="51368" y="130561"/>
                  <a:pt x="59346" y="138538"/>
                  <a:pt x="59346" y="148364"/>
                </a:cubicBezTo>
                <a:cubicBezTo>
                  <a:pt x="59346" y="158191"/>
                  <a:pt x="51368" y="166168"/>
                  <a:pt x="41542" y="166168"/>
                </a:cubicBezTo>
                <a:cubicBezTo>
                  <a:pt x="31716" y="166168"/>
                  <a:pt x="23738" y="158191"/>
                  <a:pt x="23738" y="148364"/>
                </a:cubicBezTo>
                <a:cubicBezTo>
                  <a:pt x="23738" y="138538"/>
                  <a:pt x="31716" y="130561"/>
                  <a:pt x="41542" y="130561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778617" y="3807626"/>
            <a:ext cx="6333383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Liter"/>
                <a:ea typeface="Liter"/>
                <a:cs typeface="Liter"/>
                <a:sym typeface="Liter"/>
              </a:rPr>
              <a:t>Splitting Criteria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1234" y="4187439"/>
            <a:ext cx="6475813" cy="1025495"/>
          </a:xfrm>
          <a:custGeom>
            <a:rect b="b" l="l" r="r" t="t"/>
            <a:pathLst>
              <a:path extrusionOk="0" h="1025495" w="6475813">
                <a:moveTo>
                  <a:pt x="37984" y="0"/>
                </a:moveTo>
                <a:lnTo>
                  <a:pt x="6437829" y="0"/>
                </a:lnTo>
                <a:cubicBezTo>
                  <a:pt x="6458807" y="0"/>
                  <a:pt x="6475813" y="17006"/>
                  <a:pt x="6475813" y="37984"/>
                </a:cubicBezTo>
                <a:lnTo>
                  <a:pt x="6475813" y="987511"/>
                </a:lnTo>
                <a:cubicBezTo>
                  <a:pt x="6475813" y="1008489"/>
                  <a:pt x="6458807" y="1025495"/>
                  <a:pt x="6437829" y="1025495"/>
                </a:cubicBezTo>
                <a:lnTo>
                  <a:pt x="37984" y="1025495"/>
                </a:lnTo>
                <a:cubicBezTo>
                  <a:pt x="17006" y="1025495"/>
                  <a:pt x="0" y="1008489"/>
                  <a:pt x="0" y="987511"/>
                </a:cubicBezTo>
                <a:lnTo>
                  <a:pt x="0" y="37984"/>
                </a:lnTo>
                <a:cubicBezTo>
                  <a:pt x="0" y="17020"/>
                  <a:pt x="17020" y="0"/>
                  <a:pt x="37984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55178" y="4301383"/>
            <a:ext cx="6323888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Gini Index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55178" y="4567252"/>
            <a:ext cx="631439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impurity of nodes. Lower Gini = purer splits.</a:t>
            </a:r>
            <a:endParaRPr b="0" i="0" sz="1600" u="none" cap="none" strike="noStrike"/>
          </a:p>
        </p:txBody>
      </p:sp>
      <p:sp>
        <p:nvSpPr>
          <p:cNvPr id="271" name="Google Shape;271;p8"/>
          <p:cNvSpPr/>
          <p:nvPr/>
        </p:nvSpPr>
        <p:spPr>
          <a:xfrm>
            <a:off x="655178" y="4795140"/>
            <a:ext cx="6247925" cy="303850"/>
          </a:xfrm>
          <a:custGeom>
            <a:rect b="b" l="l" r="r" t="t"/>
            <a:pathLst>
              <a:path extrusionOk="0" h="303850" w="6247925">
                <a:moveTo>
                  <a:pt x="37981" y="0"/>
                </a:moveTo>
                <a:lnTo>
                  <a:pt x="6209944" y="0"/>
                </a:lnTo>
                <a:cubicBezTo>
                  <a:pt x="6230920" y="0"/>
                  <a:pt x="6247925" y="17005"/>
                  <a:pt x="6247925" y="37981"/>
                </a:cubicBezTo>
                <a:lnTo>
                  <a:pt x="6247925" y="265869"/>
                </a:lnTo>
                <a:cubicBezTo>
                  <a:pt x="6247925" y="286846"/>
                  <a:pt x="6230920" y="303850"/>
                  <a:pt x="6209944" y="303850"/>
                </a:cubicBezTo>
                <a:lnTo>
                  <a:pt x="37981" y="303850"/>
                </a:lnTo>
                <a:cubicBezTo>
                  <a:pt x="17019" y="303850"/>
                  <a:pt x="0" y="286832"/>
                  <a:pt x="0" y="265869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31140" y="4871103"/>
            <a:ext cx="6152972" cy="15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Arial"/>
                <a:ea typeface="Arial"/>
                <a:cs typeface="Arial"/>
                <a:sym typeface="Arial"/>
              </a:rPr>
              <a:t>Gini = 1 - Σ(pᵢ)²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41234" y="5288897"/>
            <a:ext cx="6475813" cy="1025495"/>
          </a:xfrm>
          <a:custGeom>
            <a:rect b="b" l="l" r="r" t="t"/>
            <a:pathLst>
              <a:path extrusionOk="0" h="1025495" w="6475813">
                <a:moveTo>
                  <a:pt x="37984" y="0"/>
                </a:moveTo>
                <a:lnTo>
                  <a:pt x="6437829" y="0"/>
                </a:lnTo>
                <a:cubicBezTo>
                  <a:pt x="6458807" y="0"/>
                  <a:pt x="6475813" y="17006"/>
                  <a:pt x="6475813" y="37984"/>
                </a:cubicBezTo>
                <a:lnTo>
                  <a:pt x="6475813" y="987511"/>
                </a:lnTo>
                <a:cubicBezTo>
                  <a:pt x="6475813" y="1008489"/>
                  <a:pt x="6458807" y="1025495"/>
                  <a:pt x="6437829" y="1025495"/>
                </a:cubicBezTo>
                <a:lnTo>
                  <a:pt x="37984" y="1025495"/>
                </a:lnTo>
                <a:cubicBezTo>
                  <a:pt x="17006" y="1025495"/>
                  <a:pt x="0" y="1008489"/>
                  <a:pt x="0" y="987511"/>
                </a:cubicBezTo>
                <a:lnTo>
                  <a:pt x="0" y="37984"/>
                </a:lnTo>
                <a:cubicBezTo>
                  <a:pt x="0" y="17020"/>
                  <a:pt x="17020" y="0"/>
                  <a:pt x="37984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655178" y="5402841"/>
            <a:ext cx="6323888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Information Gain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55178" y="5668710"/>
            <a:ext cx="6314393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information improvement. Higher gain = better split.</a:t>
            </a:r>
            <a:endParaRPr b="0" i="0" sz="1600" u="none" cap="none" strike="noStrike"/>
          </a:p>
        </p:txBody>
      </p:sp>
      <p:sp>
        <p:nvSpPr>
          <p:cNvPr id="276" name="Google Shape;276;p8"/>
          <p:cNvSpPr/>
          <p:nvPr/>
        </p:nvSpPr>
        <p:spPr>
          <a:xfrm>
            <a:off x="655178" y="5896598"/>
            <a:ext cx="6247925" cy="303850"/>
          </a:xfrm>
          <a:custGeom>
            <a:rect b="b" l="l" r="r" t="t"/>
            <a:pathLst>
              <a:path extrusionOk="0" h="303850" w="6247925">
                <a:moveTo>
                  <a:pt x="37981" y="0"/>
                </a:moveTo>
                <a:lnTo>
                  <a:pt x="6209944" y="0"/>
                </a:lnTo>
                <a:cubicBezTo>
                  <a:pt x="6230920" y="0"/>
                  <a:pt x="6247925" y="17005"/>
                  <a:pt x="6247925" y="37981"/>
                </a:cubicBezTo>
                <a:lnTo>
                  <a:pt x="6247925" y="265869"/>
                </a:lnTo>
                <a:cubicBezTo>
                  <a:pt x="6247925" y="286846"/>
                  <a:pt x="6230920" y="303850"/>
                  <a:pt x="6209944" y="303850"/>
                </a:cubicBezTo>
                <a:lnTo>
                  <a:pt x="37981" y="303850"/>
                </a:lnTo>
                <a:cubicBezTo>
                  <a:pt x="17019" y="303850"/>
                  <a:pt x="0" y="286832"/>
                  <a:pt x="0" y="265869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731140" y="5972561"/>
            <a:ext cx="6152972" cy="15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Arial"/>
                <a:ea typeface="Arial"/>
                <a:cs typeface="Arial"/>
                <a:sym typeface="Arial"/>
              </a:rPr>
              <a:t>IG = Entropy(parent) - Σ(Nᵢ/N) × Entropy(childᵢ)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332470" y="1353084"/>
            <a:ext cx="4472299" cy="3503776"/>
          </a:xfrm>
          <a:custGeom>
            <a:rect b="b" l="l" r="r" t="t"/>
            <a:pathLst>
              <a:path extrusionOk="0" h="3503776" w="4472299">
                <a:moveTo>
                  <a:pt x="75962" y="0"/>
                </a:moveTo>
                <a:lnTo>
                  <a:pt x="4396337" y="0"/>
                </a:lnTo>
                <a:cubicBezTo>
                  <a:pt x="4438290" y="0"/>
                  <a:pt x="4472299" y="34009"/>
                  <a:pt x="4472299" y="75962"/>
                </a:cubicBezTo>
                <a:lnTo>
                  <a:pt x="4472299" y="3427814"/>
                </a:lnTo>
                <a:cubicBezTo>
                  <a:pt x="4472299" y="3469766"/>
                  <a:pt x="4438290" y="3503776"/>
                  <a:pt x="4396337" y="3503776"/>
                </a:cubicBezTo>
                <a:lnTo>
                  <a:pt x="75962" y="3503776"/>
                </a:lnTo>
                <a:cubicBezTo>
                  <a:pt x="34009" y="3503776"/>
                  <a:pt x="0" y="3469766"/>
                  <a:pt x="0" y="3427814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C7A89"/>
              </a:highlight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446414" y="1509757"/>
            <a:ext cx="4244411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Liter"/>
                <a:ea typeface="Liter"/>
                <a:cs typeface="Liter"/>
                <a:sym typeface="Liter"/>
              </a:rPr>
              <a:t>Example: Play Tennis?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7489143" y="2525757"/>
            <a:ext cx="4158953" cy="797607"/>
          </a:xfrm>
          <a:custGeom>
            <a:rect b="b" l="l" r="r" t="t"/>
            <a:pathLst>
              <a:path extrusionOk="0" h="797607" w="4158953">
                <a:moveTo>
                  <a:pt x="75964" y="0"/>
                </a:moveTo>
                <a:lnTo>
                  <a:pt x="4082989" y="0"/>
                </a:lnTo>
                <a:cubicBezTo>
                  <a:pt x="4124943" y="0"/>
                  <a:pt x="4158953" y="34010"/>
                  <a:pt x="4158953" y="75964"/>
                </a:cubicBezTo>
                <a:lnTo>
                  <a:pt x="4158953" y="721643"/>
                </a:lnTo>
                <a:cubicBezTo>
                  <a:pt x="4158953" y="763569"/>
                  <a:pt x="4124915" y="797607"/>
                  <a:pt x="4082989" y="797607"/>
                </a:cubicBezTo>
                <a:lnTo>
                  <a:pt x="75964" y="797607"/>
                </a:lnTo>
                <a:cubicBezTo>
                  <a:pt x="34010" y="797607"/>
                  <a:pt x="0" y="763597"/>
                  <a:pt x="0" y="721643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565105" y="2639701"/>
            <a:ext cx="4007028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Outlook = Sunny?</a:t>
            </a:r>
            <a:endParaRPr b="0" i="0" sz="1600" u="none" cap="none" strike="noStrike"/>
          </a:p>
        </p:txBody>
      </p:sp>
      <p:sp>
        <p:nvSpPr>
          <p:cNvPr id="282" name="Google Shape;282;p8"/>
          <p:cNvSpPr/>
          <p:nvPr/>
        </p:nvSpPr>
        <p:spPr>
          <a:xfrm>
            <a:off x="8359894" y="2943551"/>
            <a:ext cx="398804" cy="265869"/>
          </a:xfrm>
          <a:custGeom>
            <a:rect b="b" l="l" r="r" t="t"/>
            <a:pathLst>
              <a:path extrusionOk="0" h="265869" w="398804">
                <a:moveTo>
                  <a:pt x="37982" y="0"/>
                </a:moveTo>
                <a:lnTo>
                  <a:pt x="360822" y="0"/>
                </a:lnTo>
                <a:cubicBezTo>
                  <a:pt x="381785" y="0"/>
                  <a:pt x="398804" y="17019"/>
                  <a:pt x="398804" y="37982"/>
                </a:cubicBezTo>
                <a:lnTo>
                  <a:pt x="398804" y="227887"/>
                </a:lnTo>
                <a:cubicBezTo>
                  <a:pt x="398804" y="248864"/>
                  <a:pt x="381799" y="265869"/>
                  <a:pt x="360822" y="265869"/>
                </a:cubicBezTo>
                <a:lnTo>
                  <a:pt x="37982" y="265869"/>
                </a:lnTo>
                <a:cubicBezTo>
                  <a:pt x="17019" y="265869"/>
                  <a:pt x="0" y="248850"/>
                  <a:pt x="0" y="227887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8326660" y="2943551"/>
            <a:ext cx="465271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113925" spcFirstLastPara="1" rIns="113925" wrap="square" tIns="379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</a:t>
            </a:r>
            <a:endParaRPr b="0" i="0" sz="1600" u="none" cap="none" strike="noStrike"/>
          </a:p>
        </p:txBody>
      </p:sp>
      <p:sp>
        <p:nvSpPr>
          <p:cNvPr id="284" name="Google Shape;284;p8"/>
          <p:cNvSpPr/>
          <p:nvPr/>
        </p:nvSpPr>
        <p:spPr>
          <a:xfrm>
            <a:off x="10348423" y="2943551"/>
            <a:ext cx="427290" cy="265869"/>
          </a:xfrm>
          <a:custGeom>
            <a:rect b="b" l="l" r="r" t="t"/>
            <a:pathLst>
              <a:path extrusionOk="0" h="265869" w="427290">
                <a:moveTo>
                  <a:pt x="37982" y="0"/>
                </a:moveTo>
                <a:lnTo>
                  <a:pt x="389308" y="0"/>
                </a:lnTo>
                <a:cubicBezTo>
                  <a:pt x="410271" y="0"/>
                  <a:pt x="427290" y="17019"/>
                  <a:pt x="427290" y="37982"/>
                </a:cubicBezTo>
                <a:lnTo>
                  <a:pt x="427290" y="227887"/>
                </a:lnTo>
                <a:cubicBezTo>
                  <a:pt x="427290" y="248864"/>
                  <a:pt x="410285" y="265869"/>
                  <a:pt x="389308" y="265869"/>
                </a:cubicBezTo>
                <a:lnTo>
                  <a:pt x="37982" y="265869"/>
                </a:lnTo>
                <a:cubicBezTo>
                  <a:pt x="17019" y="265869"/>
                  <a:pt x="0" y="248850"/>
                  <a:pt x="0" y="227887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10315189" y="2943551"/>
            <a:ext cx="493757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113925" spcFirstLastPara="1" rIns="113925" wrap="square" tIns="379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Yes</a:t>
            </a:r>
            <a:endParaRPr b="0" i="0" sz="1600" u="none" cap="none" strike="noStrike"/>
          </a:p>
        </p:txBody>
      </p:sp>
      <p:sp>
        <p:nvSpPr>
          <p:cNvPr id="286" name="Google Shape;286;p8"/>
          <p:cNvSpPr/>
          <p:nvPr/>
        </p:nvSpPr>
        <p:spPr>
          <a:xfrm>
            <a:off x="7667032" y="3404075"/>
            <a:ext cx="1718654" cy="617196"/>
          </a:xfrm>
          <a:custGeom>
            <a:rect b="b" l="l" r="r" t="t"/>
            <a:pathLst>
              <a:path extrusionOk="0" h="617196" w="1718654">
                <a:moveTo>
                  <a:pt x="75965" y="0"/>
                </a:moveTo>
                <a:lnTo>
                  <a:pt x="1642690" y="0"/>
                </a:lnTo>
                <a:cubicBezTo>
                  <a:pt x="1684644" y="0"/>
                  <a:pt x="1718654" y="34010"/>
                  <a:pt x="1718654" y="75965"/>
                </a:cubicBezTo>
                <a:lnTo>
                  <a:pt x="1718654" y="541232"/>
                </a:lnTo>
                <a:cubicBezTo>
                  <a:pt x="1718654" y="583186"/>
                  <a:pt x="1684644" y="617196"/>
                  <a:pt x="1642690" y="617196"/>
                </a:cubicBezTo>
                <a:lnTo>
                  <a:pt x="75965" y="617196"/>
                </a:lnTo>
                <a:cubicBezTo>
                  <a:pt x="34010" y="617196"/>
                  <a:pt x="0" y="583186"/>
                  <a:pt x="0" y="541232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7714508" y="3484785"/>
            <a:ext cx="162370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Humidity &gt; 70%?</a:t>
            </a:r>
            <a:endParaRPr b="0" i="0" sz="1600" u="none" cap="none" strike="noStrike"/>
          </a:p>
        </p:txBody>
      </p:sp>
      <p:sp>
        <p:nvSpPr>
          <p:cNvPr id="288" name="Google Shape;288;p8"/>
          <p:cNvSpPr/>
          <p:nvPr/>
        </p:nvSpPr>
        <p:spPr>
          <a:xfrm>
            <a:off x="7762875" y="3712673"/>
            <a:ext cx="664673" cy="227888"/>
          </a:xfrm>
          <a:custGeom>
            <a:rect b="b" l="l" r="r" t="t"/>
            <a:pathLst>
              <a:path extrusionOk="0" h="227888" w="664673">
                <a:moveTo>
                  <a:pt x="37982" y="0"/>
                </a:moveTo>
                <a:lnTo>
                  <a:pt x="626691" y="0"/>
                </a:lnTo>
                <a:cubicBezTo>
                  <a:pt x="647668" y="0"/>
                  <a:pt x="664673" y="17005"/>
                  <a:pt x="664673" y="37982"/>
                </a:cubicBezTo>
                <a:lnTo>
                  <a:pt x="664673" y="189906"/>
                </a:lnTo>
                <a:cubicBezTo>
                  <a:pt x="664673" y="210883"/>
                  <a:pt x="647668" y="227888"/>
                  <a:pt x="626691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7734389" y="3712673"/>
            <a:ext cx="721645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75950" spcFirstLastPara="1" rIns="75950" wrap="square" tIns="379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→ Play</a:t>
            </a:r>
            <a:endParaRPr b="0" i="0" sz="1600" u="none" cap="none" strike="noStrike"/>
          </a:p>
        </p:txBody>
      </p:sp>
      <p:sp>
        <p:nvSpPr>
          <p:cNvPr id="290" name="Google Shape;290;p8"/>
          <p:cNvSpPr/>
          <p:nvPr/>
        </p:nvSpPr>
        <p:spPr>
          <a:xfrm>
            <a:off x="8534074" y="3712673"/>
            <a:ext cx="759626" cy="227888"/>
          </a:xfrm>
          <a:custGeom>
            <a:rect b="b" l="l" r="r" t="t"/>
            <a:pathLst>
              <a:path extrusionOk="0" h="227888" w="759626">
                <a:moveTo>
                  <a:pt x="37982" y="0"/>
                </a:moveTo>
                <a:lnTo>
                  <a:pt x="721644" y="0"/>
                </a:lnTo>
                <a:cubicBezTo>
                  <a:pt x="742621" y="0"/>
                  <a:pt x="759626" y="17005"/>
                  <a:pt x="759626" y="37982"/>
                </a:cubicBezTo>
                <a:lnTo>
                  <a:pt x="759626" y="189906"/>
                </a:lnTo>
                <a:cubicBezTo>
                  <a:pt x="759626" y="210883"/>
                  <a:pt x="742621" y="227888"/>
                  <a:pt x="721644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8505588" y="3712673"/>
            <a:ext cx="816598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75950" spcFirstLastPara="1" rIns="75950" wrap="square" tIns="379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Yes → Don't</a:t>
            </a:r>
            <a:endParaRPr b="0" i="0" sz="1600" u="none" cap="none" strike="noStrike"/>
          </a:p>
        </p:txBody>
      </p:sp>
      <p:sp>
        <p:nvSpPr>
          <p:cNvPr id="292" name="Google Shape;292;p8"/>
          <p:cNvSpPr/>
          <p:nvPr/>
        </p:nvSpPr>
        <p:spPr>
          <a:xfrm>
            <a:off x="9745766" y="3404075"/>
            <a:ext cx="1718654" cy="617196"/>
          </a:xfrm>
          <a:custGeom>
            <a:rect b="b" l="l" r="r" t="t"/>
            <a:pathLst>
              <a:path extrusionOk="0" h="617196" w="1718654">
                <a:moveTo>
                  <a:pt x="75965" y="0"/>
                </a:moveTo>
                <a:lnTo>
                  <a:pt x="1642690" y="0"/>
                </a:lnTo>
                <a:cubicBezTo>
                  <a:pt x="1684644" y="0"/>
                  <a:pt x="1718654" y="34010"/>
                  <a:pt x="1718654" y="75965"/>
                </a:cubicBezTo>
                <a:lnTo>
                  <a:pt x="1718654" y="541232"/>
                </a:lnTo>
                <a:cubicBezTo>
                  <a:pt x="1718654" y="583186"/>
                  <a:pt x="1684644" y="617196"/>
                  <a:pt x="1642690" y="617196"/>
                </a:cubicBezTo>
                <a:lnTo>
                  <a:pt x="75965" y="617196"/>
                </a:lnTo>
                <a:cubicBezTo>
                  <a:pt x="34010" y="617196"/>
                  <a:pt x="0" y="583186"/>
                  <a:pt x="0" y="541232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9793243" y="3484785"/>
            <a:ext cx="162370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Windy = True?</a:t>
            </a:r>
            <a:endParaRPr b="0" i="0" sz="1600" u="none" cap="none" strike="noStrike"/>
          </a:p>
        </p:txBody>
      </p:sp>
      <p:sp>
        <p:nvSpPr>
          <p:cNvPr id="294" name="Google Shape;294;p8"/>
          <p:cNvSpPr/>
          <p:nvPr/>
        </p:nvSpPr>
        <p:spPr>
          <a:xfrm>
            <a:off x="9841610" y="3712673"/>
            <a:ext cx="664673" cy="227888"/>
          </a:xfrm>
          <a:custGeom>
            <a:rect b="b" l="l" r="r" t="t"/>
            <a:pathLst>
              <a:path extrusionOk="0" h="227888" w="664673">
                <a:moveTo>
                  <a:pt x="37982" y="0"/>
                </a:moveTo>
                <a:lnTo>
                  <a:pt x="626691" y="0"/>
                </a:lnTo>
                <a:cubicBezTo>
                  <a:pt x="647668" y="0"/>
                  <a:pt x="664673" y="17005"/>
                  <a:pt x="664673" y="37982"/>
                </a:cubicBezTo>
                <a:lnTo>
                  <a:pt x="664673" y="189906"/>
                </a:lnTo>
                <a:cubicBezTo>
                  <a:pt x="664673" y="210883"/>
                  <a:pt x="647668" y="227888"/>
                  <a:pt x="626691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9813124" y="3712673"/>
            <a:ext cx="721645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75950" spcFirstLastPara="1" rIns="75950" wrap="square" tIns="379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→ Play</a:t>
            </a:r>
            <a:endParaRPr b="0" i="0" sz="1600" u="none" cap="none" strike="noStrike"/>
          </a:p>
        </p:txBody>
      </p:sp>
      <p:sp>
        <p:nvSpPr>
          <p:cNvPr id="296" name="Google Shape;296;p8"/>
          <p:cNvSpPr/>
          <p:nvPr/>
        </p:nvSpPr>
        <p:spPr>
          <a:xfrm>
            <a:off x="10612808" y="3712673"/>
            <a:ext cx="759626" cy="227888"/>
          </a:xfrm>
          <a:custGeom>
            <a:rect b="b" l="l" r="r" t="t"/>
            <a:pathLst>
              <a:path extrusionOk="0" h="227888" w="759626">
                <a:moveTo>
                  <a:pt x="37982" y="0"/>
                </a:moveTo>
                <a:lnTo>
                  <a:pt x="721644" y="0"/>
                </a:lnTo>
                <a:cubicBezTo>
                  <a:pt x="742621" y="0"/>
                  <a:pt x="759626" y="17005"/>
                  <a:pt x="759626" y="37982"/>
                </a:cubicBezTo>
                <a:lnTo>
                  <a:pt x="759626" y="189906"/>
                </a:lnTo>
                <a:cubicBezTo>
                  <a:pt x="759626" y="210883"/>
                  <a:pt x="742621" y="227888"/>
                  <a:pt x="721644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0584322" y="3712673"/>
            <a:ext cx="816598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75" lIns="75950" spcFirstLastPara="1" rIns="75950" wrap="square" tIns="379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Yes → Don't</a:t>
            </a:r>
            <a:endParaRPr b="0" i="0" sz="1600" u="none" cap="none" strike="noStrike"/>
          </a:p>
        </p:txBody>
      </p:sp>
      <p:sp>
        <p:nvSpPr>
          <p:cNvPr id="298" name="Google Shape;298;p8"/>
          <p:cNvSpPr/>
          <p:nvPr/>
        </p:nvSpPr>
        <p:spPr>
          <a:xfrm>
            <a:off x="7327722" y="5013533"/>
            <a:ext cx="4481794" cy="1481271"/>
          </a:xfrm>
          <a:custGeom>
            <a:rect b="b" l="l" r="r" t="t"/>
            <a:pathLst>
              <a:path extrusionOk="0" h="1481271" w="4481794">
                <a:moveTo>
                  <a:pt x="75960" y="0"/>
                </a:moveTo>
                <a:lnTo>
                  <a:pt x="4405835" y="0"/>
                </a:lnTo>
                <a:cubicBezTo>
                  <a:pt x="4447786" y="0"/>
                  <a:pt x="4481794" y="34008"/>
                  <a:pt x="4481794" y="75960"/>
                </a:cubicBezTo>
                <a:lnTo>
                  <a:pt x="4481794" y="1405311"/>
                </a:lnTo>
                <a:cubicBezTo>
                  <a:pt x="4481794" y="1447263"/>
                  <a:pt x="4447786" y="1481271"/>
                  <a:pt x="4405835" y="1481271"/>
                </a:cubicBezTo>
                <a:lnTo>
                  <a:pt x="75960" y="1481271"/>
                </a:lnTo>
                <a:cubicBezTo>
                  <a:pt x="34008" y="1481271"/>
                  <a:pt x="0" y="1447263"/>
                  <a:pt x="0" y="1405311"/>
                </a:cubicBezTo>
                <a:lnTo>
                  <a:pt x="0" y="75960"/>
                </a:lnTo>
                <a:cubicBezTo>
                  <a:pt x="0" y="34008"/>
                  <a:pt x="34008" y="0"/>
                  <a:pt x="7596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7498638" y="5203439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7669554" y="5165458"/>
            <a:ext cx="4064000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0F2F5"/>
                </a:solidFill>
                <a:highlight>
                  <a:srgbClr val="6C7A89"/>
                </a:highlight>
                <a:latin typeface="Liter"/>
                <a:ea typeface="Liter"/>
                <a:cs typeface="Liter"/>
                <a:sym typeface="Liter"/>
              </a:rPr>
              <a:t>Key Advantages</a:t>
            </a:r>
            <a:endParaRPr b="0" i="0" sz="1600" u="none" cap="none" strike="noStrike">
              <a:highlight>
                <a:srgbClr val="6C7A89"/>
              </a:highlight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479647" y="5469308"/>
            <a:ext cx="424441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Intuitive and easy to interpret</a:t>
            </a:r>
            <a:endParaRPr b="0" i="0" sz="1600" u="none" cap="none" strike="noStrike"/>
          </a:p>
        </p:txBody>
      </p:sp>
      <p:sp>
        <p:nvSpPr>
          <p:cNvPr id="302" name="Google Shape;302;p8"/>
          <p:cNvSpPr/>
          <p:nvPr/>
        </p:nvSpPr>
        <p:spPr>
          <a:xfrm>
            <a:off x="7479647" y="5697196"/>
            <a:ext cx="424441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Handles mixed data types (numerical + categorical)</a:t>
            </a:r>
            <a:endParaRPr b="0" i="0" sz="1600" u="none" cap="none" strike="noStrike"/>
          </a:p>
        </p:txBody>
      </p:sp>
      <p:sp>
        <p:nvSpPr>
          <p:cNvPr id="303" name="Google Shape;303;p8"/>
          <p:cNvSpPr/>
          <p:nvPr/>
        </p:nvSpPr>
        <p:spPr>
          <a:xfrm>
            <a:off x="7479647" y="5925084"/>
            <a:ext cx="424441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Minimal data preparation required</a:t>
            </a:r>
            <a:endParaRPr b="0" i="0" sz="1600" u="none" cap="none" strike="noStrike"/>
          </a:p>
        </p:txBody>
      </p:sp>
      <p:sp>
        <p:nvSpPr>
          <p:cNvPr id="304" name="Google Shape;304;p8"/>
          <p:cNvSpPr/>
          <p:nvPr/>
        </p:nvSpPr>
        <p:spPr>
          <a:xfrm>
            <a:off x="7479647" y="6152972"/>
            <a:ext cx="4244411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Captures non-linear relationships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344575" y="344575"/>
            <a:ext cx="1174107" cy="280765"/>
          </a:xfrm>
          <a:custGeom>
            <a:rect b="b" l="l" r="r" t="t"/>
            <a:pathLst>
              <a:path extrusionOk="0" h="280765" w="1174107">
                <a:moveTo>
                  <a:pt x="140382" y="0"/>
                </a:moveTo>
                <a:lnTo>
                  <a:pt x="1033725" y="0"/>
                </a:lnTo>
                <a:cubicBezTo>
                  <a:pt x="1111256" y="0"/>
                  <a:pt x="1174107" y="62851"/>
                  <a:pt x="1174107" y="140382"/>
                </a:cubicBezTo>
                <a:lnTo>
                  <a:pt x="1174107" y="140382"/>
                </a:lnTo>
                <a:cubicBezTo>
                  <a:pt x="1174107" y="217913"/>
                  <a:pt x="1111256" y="280765"/>
                  <a:pt x="1033725" y="280765"/>
                </a:cubicBezTo>
                <a:lnTo>
                  <a:pt x="140382" y="280765"/>
                </a:lnTo>
                <a:cubicBezTo>
                  <a:pt x="62851" y="280765"/>
                  <a:pt x="0" y="217913"/>
                  <a:pt x="0" y="140382"/>
                </a:cubicBezTo>
                <a:lnTo>
                  <a:pt x="0" y="140382"/>
                </a:lnTo>
                <a:cubicBezTo>
                  <a:pt x="0" y="62851"/>
                  <a:pt x="62851" y="0"/>
                  <a:pt x="140382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50925" y="425401"/>
            <a:ext cx="1019368" cy="13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TREES</a:t>
            </a:r>
            <a:endParaRPr b="0" i="0" sz="1600" u="none" cap="none" strike="noStrike"/>
          </a:p>
        </p:txBody>
      </p:sp>
      <p:sp>
        <p:nvSpPr>
          <p:cNvPr id="312" name="Google Shape;312;p9"/>
          <p:cNvSpPr/>
          <p:nvPr/>
        </p:nvSpPr>
        <p:spPr>
          <a:xfrm>
            <a:off x="340321" y="731690"/>
            <a:ext cx="11664502" cy="340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2" u="none" cap="none" strike="noStrike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Strengths, Weaknesses &amp; Optimization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44575" y="1212394"/>
            <a:ext cx="5674853" cy="2322691"/>
          </a:xfrm>
          <a:custGeom>
            <a:rect b="b" l="l" r="r" t="t"/>
            <a:pathLst>
              <a:path extrusionOk="0" h="2322691" w="5674853">
                <a:moveTo>
                  <a:pt x="68055" y="0"/>
                </a:moveTo>
                <a:lnTo>
                  <a:pt x="5606798" y="0"/>
                </a:lnTo>
                <a:cubicBezTo>
                  <a:pt x="5644384" y="0"/>
                  <a:pt x="5674853" y="30469"/>
                  <a:pt x="5674853" y="68055"/>
                </a:cubicBezTo>
                <a:lnTo>
                  <a:pt x="5674853" y="2254636"/>
                </a:lnTo>
                <a:cubicBezTo>
                  <a:pt x="5674853" y="2292222"/>
                  <a:pt x="5644384" y="2322691"/>
                  <a:pt x="5606798" y="2322691"/>
                </a:cubicBezTo>
                <a:lnTo>
                  <a:pt x="68055" y="2322691"/>
                </a:lnTo>
                <a:cubicBezTo>
                  <a:pt x="30469" y="2322691"/>
                  <a:pt x="0" y="2292222"/>
                  <a:pt x="0" y="2254636"/>
                </a:cubicBezTo>
                <a:lnTo>
                  <a:pt x="0" y="68055"/>
                </a:lnTo>
                <a:cubicBezTo>
                  <a:pt x="0" y="30494"/>
                  <a:pt x="30494" y="0"/>
                  <a:pt x="68055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06227" y="1386808"/>
            <a:ext cx="170161" cy="170161"/>
          </a:xfrm>
          <a:custGeom>
            <a:rect b="b" l="l" r="r" t="t"/>
            <a:pathLst>
              <a:path extrusionOk="0" h="170161" w="170161">
                <a:moveTo>
                  <a:pt x="26588" y="53175"/>
                </a:moveTo>
                <a:cubicBezTo>
                  <a:pt x="32470" y="53175"/>
                  <a:pt x="37223" y="57928"/>
                  <a:pt x="37223" y="63810"/>
                </a:cubicBezTo>
                <a:lnTo>
                  <a:pt x="37223" y="148890"/>
                </a:lnTo>
                <a:cubicBezTo>
                  <a:pt x="37223" y="154773"/>
                  <a:pt x="32470" y="159525"/>
                  <a:pt x="26588" y="159525"/>
                </a:cubicBezTo>
                <a:lnTo>
                  <a:pt x="10635" y="159525"/>
                </a:lnTo>
                <a:cubicBezTo>
                  <a:pt x="4753" y="159525"/>
                  <a:pt x="0" y="154773"/>
                  <a:pt x="0" y="148890"/>
                </a:cubicBezTo>
                <a:lnTo>
                  <a:pt x="0" y="63810"/>
                </a:lnTo>
                <a:cubicBezTo>
                  <a:pt x="0" y="57928"/>
                  <a:pt x="4753" y="53175"/>
                  <a:pt x="10635" y="53175"/>
                </a:cubicBezTo>
                <a:lnTo>
                  <a:pt x="26588" y="53175"/>
                </a:lnTo>
                <a:close/>
                <a:moveTo>
                  <a:pt x="89932" y="5318"/>
                </a:moveTo>
                <a:cubicBezTo>
                  <a:pt x="99005" y="5318"/>
                  <a:pt x="106350" y="12662"/>
                  <a:pt x="106350" y="21735"/>
                </a:cubicBezTo>
                <a:lnTo>
                  <a:pt x="106350" y="23131"/>
                </a:lnTo>
                <a:cubicBezTo>
                  <a:pt x="106350" y="25391"/>
                  <a:pt x="105918" y="27651"/>
                  <a:pt x="105087" y="29745"/>
                </a:cubicBezTo>
                <a:lnTo>
                  <a:pt x="95715" y="53175"/>
                </a:lnTo>
                <a:lnTo>
                  <a:pt x="148890" y="53175"/>
                </a:lnTo>
                <a:cubicBezTo>
                  <a:pt x="157698" y="53175"/>
                  <a:pt x="164843" y="60321"/>
                  <a:pt x="164843" y="69128"/>
                </a:cubicBezTo>
                <a:cubicBezTo>
                  <a:pt x="164843" y="75675"/>
                  <a:pt x="160888" y="81292"/>
                  <a:pt x="155238" y="83751"/>
                </a:cubicBezTo>
                <a:cubicBezTo>
                  <a:pt x="160888" y="86210"/>
                  <a:pt x="164843" y="91827"/>
                  <a:pt x="164843" y="98374"/>
                </a:cubicBezTo>
                <a:cubicBezTo>
                  <a:pt x="164843" y="106151"/>
                  <a:pt x="159260" y="112632"/>
                  <a:pt x="151882" y="114027"/>
                </a:cubicBezTo>
                <a:cubicBezTo>
                  <a:pt x="153344" y="116454"/>
                  <a:pt x="154208" y="119279"/>
                  <a:pt x="154208" y="122303"/>
                </a:cubicBezTo>
                <a:cubicBezTo>
                  <a:pt x="154208" y="129681"/>
                  <a:pt x="149223" y="135863"/>
                  <a:pt x="142443" y="137690"/>
                </a:cubicBezTo>
                <a:cubicBezTo>
                  <a:pt x="143174" y="139518"/>
                  <a:pt x="143573" y="141512"/>
                  <a:pt x="143573" y="143573"/>
                </a:cubicBezTo>
                <a:cubicBezTo>
                  <a:pt x="143573" y="152380"/>
                  <a:pt x="136428" y="159525"/>
                  <a:pt x="127620" y="159525"/>
                </a:cubicBezTo>
                <a:lnTo>
                  <a:pt x="98407" y="159525"/>
                </a:lnTo>
                <a:cubicBezTo>
                  <a:pt x="86343" y="159525"/>
                  <a:pt x="74611" y="155404"/>
                  <a:pt x="65206" y="147860"/>
                </a:cubicBezTo>
                <a:lnTo>
                  <a:pt x="61151" y="144636"/>
                </a:lnTo>
                <a:cubicBezTo>
                  <a:pt x="56100" y="140615"/>
                  <a:pt x="53175" y="134500"/>
                  <a:pt x="53175" y="128019"/>
                </a:cubicBezTo>
                <a:lnTo>
                  <a:pt x="53175" y="66004"/>
                </a:lnTo>
                <a:cubicBezTo>
                  <a:pt x="53175" y="61052"/>
                  <a:pt x="54338" y="56166"/>
                  <a:pt x="56532" y="51746"/>
                </a:cubicBezTo>
                <a:lnTo>
                  <a:pt x="75210" y="14391"/>
                </a:lnTo>
                <a:cubicBezTo>
                  <a:pt x="78001" y="8840"/>
                  <a:pt x="83684" y="5318"/>
                  <a:pt x="89932" y="531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97658" y="1352776"/>
            <a:ext cx="5266468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Key Strengths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84957" y="1727129"/>
            <a:ext cx="238225" cy="238225"/>
          </a:xfrm>
          <a:custGeom>
            <a:rect b="b" l="l" r="r" t="t"/>
            <a:pathLst>
              <a:path extrusionOk="0" h="238225" w="238225">
                <a:moveTo>
                  <a:pt x="119112" y="0"/>
                </a:moveTo>
                <a:lnTo>
                  <a:pt x="119112" y="0"/>
                </a:lnTo>
                <a:cubicBezTo>
                  <a:pt x="184852" y="0"/>
                  <a:pt x="238225" y="53372"/>
                  <a:pt x="238225" y="119112"/>
                </a:cubicBezTo>
                <a:lnTo>
                  <a:pt x="238225" y="119112"/>
                </a:lnTo>
                <a:cubicBezTo>
                  <a:pt x="238225" y="184852"/>
                  <a:pt x="184852" y="238225"/>
                  <a:pt x="119112" y="238225"/>
                </a:cubicBezTo>
                <a:lnTo>
                  <a:pt x="119112" y="238225"/>
                </a:lnTo>
                <a:cubicBezTo>
                  <a:pt x="53372" y="238225"/>
                  <a:pt x="0" y="184852"/>
                  <a:pt x="0" y="119112"/>
                </a:cubicBezTo>
                <a:lnTo>
                  <a:pt x="0" y="119112"/>
                </a:lnTo>
                <a:cubicBezTo>
                  <a:pt x="0" y="53372"/>
                  <a:pt x="53372" y="0"/>
                  <a:pt x="11911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55179" y="1727129"/>
            <a:ext cx="297781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18" name="Google Shape;318;p9"/>
          <p:cNvSpPr/>
          <p:nvPr/>
        </p:nvSpPr>
        <p:spPr>
          <a:xfrm>
            <a:off x="825278" y="1693097"/>
            <a:ext cx="3233050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Handles Non-Linear Patterns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25278" y="1897290"/>
            <a:ext cx="3224542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Captures complex interactions without feature transformation.</a:t>
            </a:r>
            <a:endParaRPr b="0" i="0" sz="1600" u="none" cap="none" strike="noStrike"/>
          </a:p>
        </p:txBody>
      </p:sp>
      <p:sp>
        <p:nvSpPr>
          <p:cNvPr id="320" name="Google Shape;320;p9"/>
          <p:cNvSpPr/>
          <p:nvPr/>
        </p:nvSpPr>
        <p:spPr>
          <a:xfrm>
            <a:off x="484957" y="2169546"/>
            <a:ext cx="238225" cy="238225"/>
          </a:xfrm>
          <a:custGeom>
            <a:rect b="b" l="l" r="r" t="t"/>
            <a:pathLst>
              <a:path extrusionOk="0" h="238225" w="238225">
                <a:moveTo>
                  <a:pt x="119112" y="0"/>
                </a:moveTo>
                <a:lnTo>
                  <a:pt x="119112" y="0"/>
                </a:lnTo>
                <a:cubicBezTo>
                  <a:pt x="184852" y="0"/>
                  <a:pt x="238225" y="53372"/>
                  <a:pt x="238225" y="119112"/>
                </a:cubicBezTo>
                <a:lnTo>
                  <a:pt x="238225" y="119112"/>
                </a:lnTo>
                <a:cubicBezTo>
                  <a:pt x="238225" y="184852"/>
                  <a:pt x="184852" y="238225"/>
                  <a:pt x="119112" y="238225"/>
                </a:cubicBezTo>
                <a:lnTo>
                  <a:pt x="119112" y="238225"/>
                </a:lnTo>
                <a:cubicBezTo>
                  <a:pt x="53372" y="238225"/>
                  <a:pt x="0" y="184852"/>
                  <a:pt x="0" y="119112"/>
                </a:cubicBezTo>
                <a:lnTo>
                  <a:pt x="0" y="119112"/>
                </a:lnTo>
                <a:cubicBezTo>
                  <a:pt x="0" y="53372"/>
                  <a:pt x="53372" y="0"/>
                  <a:pt x="11911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55179" y="2169546"/>
            <a:ext cx="297781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22" name="Google Shape;322;p9"/>
          <p:cNvSpPr/>
          <p:nvPr/>
        </p:nvSpPr>
        <p:spPr>
          <a:xfrm>
            <a:off x="825278" y="2135514"/>
            <a:ext cx="2773616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Highly Interpretable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825278" y="2339707"/>
            <a:ext cx="2765108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paths are transparent and business-friendly.</a:t>
            </a:r>
            <a:endParaRPr b="0" i="0" sz="1600" u="none" cap="none" strike="noStrike"/>
          </a:p>
        </p:txBody>
      </p:sp>
      <p:sp>
        <p:nvSpPr>
          <p:cNvPr id="324" name="Google Shape;324;p9"/>
          <p:cNvSpPr/>
          <p:nvPr/>
        </p:nvSpPr>
        <p:spPr>
          <a:xfrm>
            <a:off x="484957" y="2611964"/>
            <a:ext cx="238225" cy="238225"/>
          </a:xfrm>
          <a:custGeom>
            <a:rect b="b" l="l" r="r" t="t"/>
            <a:pathLst>
              <a:path extrusionOk="0" h="238225" w="238225">
                <a:moveTo>
                  <a:pt x="119112" y="0"/>
                </a:moveTo>
                <a:lnTo>
                  <a:pt x="119112" y="0"/>
                </a:lnTo>
                <a:cubicBezTo>
                  <a:pt x="184852" y="0"/>
                  <a:pt x="238225" y="53372"/>
                  <a:pt x="238225" y="119112"/>
                </a:cubicBezTo>
                <a:lnTo>
                  <a:pt x="238225" y="119112"/>
                </a:lnTo>
                <a:cubicBezTo>
                  <a:pt x="238225" y="184852"/>
                  <a:pt x="184852" y="238225"/>
                  <a:pt x="119112" y="238225"/>
                </a:cubicBezTo>
                <a:lnTo>
                  <a:pt x="119112" y="238225"/>
                </a:lnTo>
                <a:cubicBezTo>
                  <a:pt x="53372" y="238225"/>
                  <a:pt x="0" y="184852"/>
                  <a:pt x="0" y="119112"/>
                </a:cubicBezTo>
                <a:lnTo>
                  <a:pt x="0" y="119112"/>
                </a:lnTo>
                <a:cubicBezTo>
                  <a:pt x="0" y="53372"/>
                  <a:pt x="53372" y="0"/>
                  <a:pt x="11911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55179" y="2611964"/>
            <a:ext cx="297781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26" name="Google Shape;326;p9"/>
          <p:cNvSpPr/>
          <p:nvPr/>
        </p:nvSpPr>
        <p:spPr>
          <a:xfrm>
            <a:off x="825278" y="2577932"/>
            <a:ext cx="2867204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Minimal Data Prep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25278" y="2782124"/>
            <a:ext cx="2858696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Handles both numerical and categorical data with ease.</a:t>
            </a:r>
            <a:endParaRPr b="0" i="0" sz="1600" u="none" cap="none" strike="noStrike"/>
          </a:p>
        </p:txBody>
      </p:sp>
      <p:sp>
        <p:nvSpPr>
          <p:cNvPr id="328" name="Google Shape;328;p9"/>
          <p:cNvSpPr/>
          <p:nvPr/>
        </p:nvSpPr>
        <p:spPr>
          <a:xfrm>
            <a:off x="484957" y="3054381"/>
            <a:ext cx="238225" cy="238225"/>
          </a:xfrm>
          <a:custGeom>
            <a:rect b="b" l="l" r="r" t="t"/>
            <a:pathLst>
              <a:path extrusionOk="0" h="238225" w="238225">
                <a:moveTo>
                  <a:pt x="119112" y="0"/>
                </a:moveTo>
                <a:lnTo>
                  <a:pt x="119112" y="0"/>
                </a:lnTo>
                <a:cubicBezTo>
                  <a:pt x="184852" y="0"/>
                  <a:pt x="238225" y="53372"/>
                  <a:pt x="238225" y="119112"/>
                </a:cubicBezTo>
                <a:lnTo>
                  <a:pt x="238225" y="119112"/>
                </a:lnTo>
                <a:cubicBezTo>
                  <a:pt x="238225" y="184852"/>
                  <a:pt x="184852" y="238225"/>
                  <a:pt x="119112" y="238225"/>
                </a:cubicBezTo>
                <a:lnTo>
                  <a:pt x="119112" y="238225"/>
                </a:lnTo>
                <a:cubicBezTo>
                  <a:pt x="53372" y="238225"/>
                  <a:pt x="0" y="184852"/>
                  <a:pt x="0" y="119112"/>
                </a:cubicBezTo>
                <a:lnTo>
                  <a:pt x="0" y="119112"/>
                </a:lnTo>
                <a:cubicBezTo>
                  <a:pt x="0" y="53372"/>
                  <a:pt x="53372" y="0"/>
                  <a:pt x="11911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55179" y="3054381"/>
            <a:ext cx="297781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330" name="Google Shape;330;p9"/>
          <p:cNvSpPr/>
          <p:nvPr/>
        </p:nvSpPr>
        <p:spPr>
          <a:xfrm>
            <a:off x="825278" y="3020349"/>
            <a:ext cx="2765108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Selection Built-In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25278" y="3224542"/>
            <a:ext cx="2756600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 ignores irrelevant features during splits.</a:t>
            </a:r>
            <a:endParaRPr b="0" i="0" sz="1600" u="none" cap="none" strike="noStrike"/>
          </a:p>
        </p:txBody>
      </p:sp>
      <p:sp>
        <p:nvSpPr>
          <p:cNvPr id="332" name="Google Shape;332;p9"/>
          <p:cNvSpPr/>
          <p:nvPr/>
        </p:nvSpPr>
        <p:spPr>
          <a:xfrm>
            <a:off x="344575" y="3679721"/>
            <a:ext cx="5674853" cy="2390755"/>
          </a:xfrm>
          <a:custGeom>
            <a:rect b="b" l="l" r="r" t="t"/>
            <a:pathLst>
              <a:path extrusionOk="0" h="2390755" w="5674853">
                <a:moveTo>
                  <a:pt x="68065" y="0"/>
                </a:moveTo>
                <a:lnTo>
                  <a:pt x="5606788" y="0"/>
                </a:lnTo>
                <a:cubicBezTo>
                  <a:pt x="5644379" y="0"/>
                  <a:pt x="5674853" y="30474"/>
                  <a:pt x="5674853" y="68065"/>
                </a:cubicBezTo>
                <a:lnTo>
                  <a:pt x="5674853" y="2322690"/>
                </a:lnTo>
                <a:cubicBezTo>
                  <a:pt x="5674853" y="2360281"/>
                  <a:pt x="5644379" y="2390755"/>
                  <a:pt x="5606788" y="2390755"/>
                </a:cubicBezTo>
                <a:lnTo>
                  <a:pt x="68065" y="2390755"/>
                </a:lnTo>
                <a:cubicBezTo>
                  <a:pt x="30474" y="2390755"/>
                  <a:pt x="0" y="2360281"/>
                  <a:pt x="0" y="2322690"/>
                </a:cubicBezTo>
                <a:lnTo>
                  <a:pt x="0" y="68065"/>
                </a:lnTo>
                <a:cubicBezTo>
                  <a:pt x="0" y="30474"/>
                  <a:pt x="30474" y="0"/>
                  <a:pt x="68065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506227" y="3854135"/>
            <a:ext cx="170161" cy="170161"/>
          </a:xfrm>
          <a:custGeom>
            <a:rect b="b" l="l" r="r" t="t"/>
            <a:pathLst>
              <a:path extrusionOk="0" h="170161" w="170161">
                <a:moveTo>
                  <a:pt x="85080" y="0"/>
                </a:moveTo>
                <a:cubicBezTo>
                  <a:pt x="89966" y="0"/>
                  <a:pt x="94452" y="2692"/>
                  <a:pt x="96779" y="6979"/>
                </a:cubicBezTo>
                <a:lnTo>
                  <a:pt x="168565" y="139917"/>
                </a:lnTo>
                <a:cubicBezTo>
                  <a:pt x="170792" y="144038"/>
                  <a:pt x="170692" y="149023"/>
                  <a:pt x="168299" y="153045"/>
                </a:cubicBezTo>
                <a:cubicBezTo>
                  <a:pt x="165906" y="157066"/>
                  <a:pt x="161553" y="159525"/>
                  <a:pt x="156867" y="159525"/>
                </a:cubicBezTo>
                <a:lnTo>
                  <a:pt x="13294" y="159525"/>
                </a:lnTo>
                <a:cubicBezTo>
                  <a:pt x="8608" y="159525"/>
                  <a:pt x="4287" y="157066"/>
                  <a:pt x="1861" y="153045"/>
                </a:cubicBezTo>
                <a:cubicBezTo>
                  <a:pt x="-565" y="149023"/>
                  <a:pt x="-631" y="144038"/>
                  <a:pt x="1595" y="139917"/>
                </a:cubicBezTo>
                <a:lnTo>
                  <a:pt x="73382" y="6979"/>
                </a:lnTo>
                <a:cubicBezTo>
                  <a:pt x="75708" y="2692"/>
                  <a:pt x="80195" y="0"/>
                  <a:pt x="85080" y="0"/>
                </a:cubicBezTo>
                <a:close/>
                <a:moveTo>
                  <a:pt x="85080" y="55834"/>
                </a:moveTo>
                <a:cubicBezTo>
                  <a:pt x="80660" y="55834"/>
                  <a:pt x="77104" y="59390"/>
                  <a:pt x="77104" y="63810"/>
                </a:cubicBezTo>
                <a:lnTo>
                  <a:pt x="77104" y="101033"/>
                </a:lnTo>
                <a:cubicBezTo>
                  <a:pt x="77104" y="105453"/>
                  <a:pt x="80660" y="109009"/>
                  <a:pt x="85080" y="109009"/>
                </a:cubicBezTo>
                <a:cubicBezTo>
                  <a:pt x="89500" y="109009"/>
                  <a:pt x="93057" y="105453"/>
                  <a:pt x="93057" y="101033"/>
                </a:cubicBezTo>
                <a:lnTo>
                  <a:pt x="93057" y="63810"/>
                </a:lnTo>
                <a:cubicBezTo>
                  <a:pt x="93057" y="59390"/>
                  <a:pt x="89500" y="55834"/>
                  <a:pt x="85080" y="55834"/>
                </a:cubicBezTo>
                <a:close/>
                <a:moveTo>
                  <a:pt x="93954" y="127620"/>
                </a:moveTo>
                <a:cubicBezTo>
                  <a:pt x="94156" y="124327"/>
                  <a:pt x="92513" y="121193"/>
                  <a:pt x="89690" y="119485"/>
                </a:cubicBezTo>
                <a:cubicBezTo>
                  <a:pt x="86866" y="117777"/>
                  <a:pt x="83328" y="117777"/>
                  <a:pt x="80504" y="119485"/>
                </a:cubicBezTo>
                <a:cubicBezTo>
                  <a:pt x="77681" y="121193"/>
                  <a:pt x="76038" y="124327"/>
                  <a:pt x="76240" y="127620"/>
                </a:cubicBezTo>
                <a:cubicBezTo>
                  <a:pt x="76038" y="130914"/>
                  <a:pt x="77681" y="134048"/>
                  <a:pt x="80504" y="135756"/>
                </a:cubicBezTo>
                <a:cubicBezTo>
                  <a:pt x="83328" y="137464"/>
                  <a:pt x="86866" y="137464"/>
                  <a:pt x="89690" y="135756"/>
                </a:cubicBezTo>
                <a:cubicBezTo>
                  <a:pt x="92513" y="134048"/>
                  <a:pt x="94156" y="130914"/>
                  <a:pt x="93954" y="12762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697658" y="3820103"/>
            <a:ext cx="5266468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Challenges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84957" y="4160424"/>
            <a:ext cx="5394088" cy="544514"/>
          </a:xfrm>
          <a:custGeom>
            <a:rect b="b" l="l" r="r" t="t"/>
            <a:pathLst>
              <a:path extrusionOk="0" h="544514" w="5394088">
                <a:moveTo>
                  <a:pt x="34032" y="0"/>
                </a:moveTo>
                <a:lnTo>
                  <a:pt x="5360056" y="0"/>
                </a:lnTo>
                <a:cubicBezTo>
                  <a:pt x="5378851" y="0"/>
                  <a:pt x="5394088" y="15237"/>
                  <a:pt x="5394088" y="34032"/>
                </a:cubicBezTo>
                <a:lnTo>
                  <a:pt x="5394088" y="510482"/>
                </a:lnTo>
                <a:cubicBezTo>
                  <a:pt x="5394088" y="529277"/>
                  <a:pt x="5378851" y="544514"/>
                  <a:pt x="5360056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553022" y="4228488"/>
            <a:ext cx="5326024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Overfitting Tendency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53022" y="4466713"/>
            <a:ext cx="5317516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trees memorize training data, failing to generalize.</a:t>
            </a:r>
            <a:endParaRPr b="0" i="0" sz="1600" u="none" cap="none" strike="noStrike"/>
          </a:p>
        </p:txBody>
      </p:sp>
      <p:sp>
        <p:nvSpPr>
          <p:cNvPr id="338" name="Google Shape;338;p9"/>
          <p:cNvSpPr/>
          <p:nvPr/>
        </p:nvSpPr>
        <p:spPr>
          <a:xfrm>
            <a:off x="484957" y="4773002"/>
            <a:ext cx="5394088" cy="544514"/>
          </a:xfrm>
          <a:custGeom>
            <a:rect b="b" l="l" r="r" t="t"/>
            <a:pathLst>
              <a:path extrusionOk="0" h="544514" w="5394088">
                <a:moveTo>
                  <a:pt x="34032" y="0"/>
                </a:moveTo>
                <a:lnTo>
                  <a:pt x="5360056" y="0"/>
                </a:lnTo>
                <a:cubicBezTo>
                  <a:pt x="5378851" y="0"/>
                  <a:pt x="5394088" y="15237"/>
                  <a:pt x="5394088" y="34032"/>
                </a:cubicBezTo>
                <a:lnTo>
                  <a:pt x="5394088" y="510482"/>
                </a:lnTo>
                <a:cubicBezTo>
                  <a:pt x="5394088" y="529277"/>
                  <a:pt x="5378851" y="544514"/>
                  <a:pt x="5360056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553022" y="4841066"/>
            <a:ext cx="5326024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Instability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53022" y="5079291"/>
            <a:ext cx="5317516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Small data changes can create completely different trees.</a:t>
            </a:r>
            <a:endParaRPr b="0" i="0" sz="1600" u="none" cap="none" strike="noStrike"/>
          </a:p>
        </p:txBody>
      </p:sp>
      <p:sp>
        <p:nvSpPr>
          <p:cNvPr id="341" name="Google Shape;341;p9"/>
          <p:cNvSpPr/>
          <p:nvPr/>
        </p:nvSpPr>
        <p:spPr>
          <a:xfrm>
            <a:off x="484957" y="5385580"/>
            <a:ext cx="5394088" cy="544514"/>
          </a:xfrm>
          <a:custGeom>
            <a:rect b="b" l="l" r="r" t="t"/>
            <a:pathLst>
              <a:path extrusionOk="0" h="544514" w="5394088">
                <a:moveTo>
                  <a:pt x="34032" y="0"/>
                </a:moveTo>
                <a:lnTo>
                  <a:pt x="5360056" y="0"/>
                </a:lnTo>
                <a:cubicBezTo>
                  <a:pt x="5378851" y="0"/>
                  <a:pt x="5394088" y="15237"/>
                  <a:pt x="5394088" y="34032"/>
                </a:cubicBezTo>
                <a:lnTo>
                  <a:pt x="5394088" y="510482"/>
                </a:lnTo>
                <a:cubicBezTo>
                  <a:pt x="5394088" y="529277"/>
                  <a:pt x="5378851" y="544514"/>
                  <a:pt x="5360056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553022" y="5453644"/>
            <a:ext cx="5326024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Bias Toward Features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53022" y="5691869"/>
            <a:ext cx="5317516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favor features with more levels or missing values.</a:t>
            </a:r>
            <a:endParaRPr b="0" i="0" sz="1600" u="none" cap="none" strike="noStrike"/>
          </a:p>
        </p:txBody>
      </p:sp>
      <p:sp>
        <p:nvSpPr>
          <p:cNvPr id="344" name="Google Shape;344;p9"/>
          <p:cNvSpPr/>
          <p:nvPr/>
        </p:nvSpPr>
        <p:spPr>
          <a:xfrm>
            <a:off x="6167786" y="1212394"/>
            <a:ext cx="5674853" cy="2288659"/>
          </a:xfrm>
          <a:custGeom>
            <a:rect b="b" l="l" r="r" t="t"/>
            <a:pathLst>
              <a:path extrusionOk="0" h="2288659" w="5674853">
                <a:moveTo>
                  <a:pt x="68065" y="0"/>
                </a:moveTo>
                <a:lnTo>
                  <a:pt x="5606788" y="0"/>
                </a:lnTo>
                <a:cubicBezTo>
                  <a:pt x="5644379" y="0"/>
                  <a:pt x="5674853" y="30474"/>
                  <a:pt x="5674853" y="68065"/>
                </a:cubicBezTo>
                <a:lnTo>
                  <a:pt x="5674853" y="2220594"/>
                </a:lnTo>
                <a:cubicBezTo>
                  <a:pt x="5674853" y="2258185"/>
                  <a:pt x="5644379" y="2288659"/>
                  <a:pt x="5606788" y="2288659"/>
                </a:cubicBezTo>
                <a:lnTo>
                  <a:pt x="68065" y="2288659"/>
                </a:lnTo>
                <a:cubicBezTo>
                  <a:pt x="30474" y="2288659"/>
                  <a:pt x="0" y="2258185"/>
                  <a:pt x="0" y="2220594"/>
                </a:cubicBezTo>
                <a:lnTo>
                  <a:pt x="0" y="68065"/>
                </a:lnTo>
                <a:cubicBezTo>
                  <a:pt x="0" y="30499"/>
                  <a:pt x="30499" y="0"/>
                  <a:pt x="68065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269883" y="1352776"/>
            <a:ext cx="5470660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6" u="none" cap="none" strike="noStrike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Overfitting Visualization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pic>
        <p:nvPicPr>
          <p:cNvPr descr="preencoded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8169" y="1659065"/>
            <a:ext cx="4747478" cy="170160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347" name="Google Shape;3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8169" y="1659065"/>
            <a:ext cx="4747478" cy="170160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348" name="Google Shape;3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8169" y="1659065"/>
            <a:ext cx="4747478" cy="170160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6167786" y="3645689"/>
            <a:ext cx="5674853" cy="2867204"/>
          </a:xfrm>
          <a:custGeom>
            <a:rect b="b" l="l" r="r" t="t"/>
            <a:pathLst>
              <a:path extrusionOk="0" h="2867204" w="5674853">
                <a:moveTo>
                  <a:pt x="68067" y="0"/>
                </a:moveTo>
                <a:lnTo>
                  <a:pt x="5606785" y="0"/>
                </a:lnTo>
                <a:cubicBezTo>
                  <a:pt x="5644378" y="0"/>
                  <a:pt x="5674853" y="30475"/>
                  <a:pt x="5674853" y="68067"/>
                </a:cubicBezTo>
                <a:lnTo>
                  <a:pt x="5674853" y="2799137"/>
                </a:lnTo>
                <a:cubicBezTo>
                  <a:pt x="5674853" y="2836730"/>
                  <a:pt x="5644378" y="2867204"/>
                  <a:pt x="5606785" y="2867204"/>
                </a:cubicBezTo>
                <a:lnTo>
                  <a:pt x="68067" y="2867204"/>
                </a:lnTo>
                <a:cubicBezTo>
                  <a:pt x="30500" y="2867204"/>
                  <a:pt x="0" y="2836704"/>
                  <a:pt x="0" y="2799137"/>
                </a:cubicBezTo>
                <a:lnTo>
                  <a:pt x="0" y="68067"/>
                </a:lnTo>
                <a:cubicBezTo>
                  <a:pt x="0" y="30500"/>
                  <a:pt x="30500" y="0"/>
                  <a:pt x="68067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6329439" y="3820103"/>
            <a:ext cx="170161" cy="170161"/>
          </a:xfrm>
          <a:custGeom>
            <a:rect b="b" l="l" r="r" t="t"/>
            <a:pathLst>
              <a:path extrusionOk="0" h="170161" w="170161">
                <a:moveTo>
                  <a:pt x="10635" y="21270"/>
                </a:moveTo>
                <a:cubicBezTo>
                  <a:pt x="4753" y="21270"/>
                  <a:pt x="0" y="26023"/>
                  <a:pt x="0" y="31905"/>
                </a:cubicBezTo>
                <a:cubicBezTo>
                  <a:pt x="0" y="37788"/>
                  <a:pt x="4753" y="42540"/>
                  <a:pt x="10635" y="42540"/>
                </a:cubicBezTo>
                <a:lnTo>
                  <a:pt x="39449" y="42540"/>
                </a:lnTo>
                <a:cubicBezTo>
                  <a:pt x="43537" y="51945"/>
                  <a:pt x="52909" y="58493"/>
                  <a:pt x="63810" y="58493"/>
                </a:cubicBezTo>
                <a:cubicBezTo>
                  <a:pt x="74711" y="58493"/>
                  <a:pt x="84083" y="51945"/>
                  <a:pt x="88171" y="42540"/>
                </a:cubicBezTo>
                <a:lnTo>
                  <a:pt x="159525" y="42540"/>
                </a:lnTo>
                <a:cubicBezTo>
                  <a:pt x="165408" y="42540"/>
                  <a:pt x="170161" y="37788"/>
                  <a:pt x="170161" y="31905"/>
                </a:cubicBezTo>
                <a:cubicBezTo>
                  <a:pt x="170161" y="26023"/>
                  <a:pt x="165408" y="21270"/>
                  <a:pt x="159525" y="21270"/>
                </a:cubicBezTo>
                <a:lnTo>
                  <a:pt x="88171" y="21270"/>
                </a:lnTo>
                <a:cubicBezTo>
                  <a:pt x="84083" y="11865"/>
                  <a:pt x="74711" y="5318"/>
                  <a:pt x="63810" y="5318"/>
                </a:cubicBezTo>
                <a:cubicBezTo>
                  <a:pt x="52909" y="5318"/>
                  <a:pt x="43537" y="11865"/>
                  <a:pt x="39449" y="21270"/>
                </a:cubicBezTo>
                <a:lnTo>
                  <a:pt x="10635" y="21270"/>
                </a:lnTo>
                <a:close/>
                <a:moveTo>
                  <a:pt x="10635" y="74445"/>
                </a:moveTo>
                <a:cubicBezTo>
                  <a:pt x="4753" y="74445"/>
                  <a:pt x="0" y="79198"/>
                  <a:pt x="0" y="85080"/>
                </a:cubicBezTo>
                <a:cubicBezTo>
                  <a:pt x="0" y="90963"/>
                  <a:pt x="4753" y="95715"/>
                  <a:pt x="10635" y="95715"/>
                </a:cubicBezTo>
                <a:lnTo>
                  <a:pt x="92624" y="95715"/>
                </a:lnTo>
                <a:cubicBezTo>
                  <a:pt x="96712" y="105121"/>
                  <a:pt x="106084" y="111668"/>
                  <a:pt x="116985" y="111668"/>
                </a:cubicBezTo>
                <a:cubicBezTo>
                  <a:pt x="127886" y="111668"/>
                  <a:pt x="137258" y="105121"/>
                  <a:pt x="141346" y="95715"/>
                </a:cubicBezTo>
                <a:lnTo>
                  <a:pt x="159525" y="95715"/>
                </a:lnTo>
                <a:cubicBezTo>
                  <a:pt x="165408" y="95715"/>
                  <a:pt x="170161" y="90963"/>
                  <a:pt x="170161" y="85080"/>
                </a:cubicBezTo>
                <a:cubicBezTo>
                  <a:pt x="170161" y="79198"/>
                  <a:pt x="165408" y="74445"/>
                  <a:pt x="159525" y="74445"/>
                </a:cubicBezTo>
                <a:lnTo>
                  <a:pt x="141346" y="74445"/>
                </a:lnTo>
                <a:cubicBezTo>
                  <a:pt x="137258" y="65040"/>
                  <a:pt x="127886" y="58493"/>
                  <a:pt x="116985" y="58493"/>
                </a:cubicBezTo>
                <a:cubicBezTo>
                  <a:pt x="106084" y="58493"/>
                  <a:pt x="96712" y="65040"/>
                  <a:pt x="92624" y="74445"/>
                </a:cubicBezTo>
                <a:lnTo>
                  <a:pt x="10635" y="74445"/>
                </a:lnTo>
                <a:close/>
                <a:moveTo>
                  <a:pt x="10635" y="127620"/>
                </a:moveTo>
                <a:cubicBezTo>
                  <a:pt x="4753" y="127620"/>
                  <a:pt x="0" y="132373"/>
                  <a:pt x="0" y="138255"/>
                </a:cubicBezTo>
                <a:cubicBezTo>
                  <a:pt x="0" y="144138"/>
                  <a:pt x="4753" y="148890"/>
                  <a:pt x="10635" y="148890"/>
                </a:cubicBezTo>
                <a:lnTo>
                  <a:pt x="28814" y="148890"/>
                </a:lnTo>
                <a:cubicBezTo>
                  <a:pt x="32902" y="158296"/>
                  <a:pt x="42274" y="164843"/>
                  <a:pt x="53175" y="164843"/>
                </a:cubicBezTo>
                <a:cubicBezTo>
                  <a:pt x="64076" y="164843"/>
                  <a:pt x="73448" y="158296"/>
                  <a:pt x="77536" y="148890"/>
                </a:cubicBezTo>
                <a:lnTo>
                  <a:pt x="159525" y="148890"/>
                </a:lnTo>
                <a:cubicBezTo>
                  <a:pt x="165408" y="148890"/>
                  <a:pt x="170161" y="144138"/>
                  <a:pt x="170161" y="138255"/>
                </a:cubicBezTo>
                <a:cubicBezTo>
                  <a:pt x="170161" y="132373"/>
                  <a:pt x="165408" y="127620"/>
                  <a:pt x="159525" y="127620"/>
                </a:cubicBezTo>
                <a:lnTo>
                  <a:pt x="77536" y="127620"/>
                </a:lnTo>
                <a:cubicBezTo>
                  <a:pt x="73448" y="118215"/>
                  <a:pt x="64076" y="111668"/>
                  <a:pt x="53175" y="111668"/>
                </a:cubicBezTo>
                <a:cubicBezTo>
                  <a:pt x="42274" y="111668"/>
                  <a:pt x="32902" y="118215"/>
                  <a:pt x="28814" y="127620"/>
                </a:cubicBezTo>
                <a:lnTo>
                  <a:pt x="10635" y="127620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6520870" y="3786071"/>
            <a:ext cx="5266468" cy="238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0" u="none" cap="none" strike="noStrike">
                <a:solidFill>
                  <a:srgbClr val="00FFFF"/>
                </a:solidFill>
                <a:latin typeface="Liter"/>
                <a:ea typeface="Liter"/>
                <a:cs typeface="Liter"/>
                <a:sym typeface="Liter"/>
              </a:rPr>
              <a:t>Critical Hyperparameters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325185" y="4126392"/>
            <a:ext cx="5377072" cy="510482"/>
          </a:xfrm>
          <a:custGeom>
            <a:rect b="b" l="l" r="r" t="t"/>
            <a:pathLst>
              <a:path extrusionOk="0" h="510482" w="5377072">
                <a:moveTo>
                  <a:pt x="34032" y="0"/>
                </a:moveTo>
                <a:lnTo>
                  <a:pt x="5343038" y="0"/>
                </a:lnTo>
                <a:cubicBezTo>
                  <a:pt x="5361834" y="0"/>
                  <a:pt x="5377072" y="15237"/>
                  <a:pt x="5377072" y="34034"/>
                </a:cubicBezTo>
                <a:lnTo>
                  <a:pt x="5377072" y="476448"/>
                </a:lnTo>
                <a:cubicBezTo>
                  <a:pt x="5377072" y="495244"/>
                  <a:pt x="5361834" y="510482"/>
                  <a:pt x="5343038" y="510482"/>
                </a:cubicBez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6325185" y="4126392"/>
            <a:ext cx="34032" cy="510482"/>
          </a:xfrm>
          <a:custGeom>
            <a:rect b="b" l="l" r="r" t="t"/>
            <a:pathLst>
              <a:path extrusionOk="0" h="510482" w="34032">
                <a:moveTo>
                  <a:pt x="34032" y="0"/>
                </a:moveTo>
                <a:lnTo>
                  <a:pt x="34032" y="0"/>
                </a:lnTo>
                <a:lnTo>
                  <a:pt x="34032" y="510482"/>
                </a:ln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6410265" y="4194456"/>
            <a:ext cx="5291992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max_depth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410265" y="4398649"/>
            <a:ext cx="5283484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Limits depth to prevent overfitting. E.g., max_depth=5.</a:t>
            </a:r>
            <a:endParaRPr b="0" i="0" sz="1600" u="none" cap="none" strike="noStrike"/>
          </a:p>
        </p:txBody>
      </p:sp>
      <p:sp>
        <p:nvSpPr>
          <p:cNvPr id="356" name="Google Shape;356;p9"/>
          <p:cNvSpPr/>
          <p:nvPr/>
        </p:nvSpPr>
        <p:spPr>
          <a:xfrm>
            <a:off x="6325185" y="4704938"/>
            <a:ext cx="5377072" cy="510482"/>
          </a:xfrm>
          <a:custGeom>
            <a:rect b="b" l="l" r="r" t="t"/>
            <a:pathLst>
              <a:path extrusionOk="0" h="510482" w="5377072">
                <a:moveTo>
                  <a:pt x="34032" y="0"/>
                </a:moveTo>
                <a:lnTo>
                  <a:pt x="5343038" y="0"/>
                </a:lnTo>
                <a:cubicBezTo>
                  <a:pt x="5361834" y="0"/>
                  <a:pt x="5377072" y="15237"/>
                  <a:pt x="5377072" y="34034"/>
                </a:cubicBezTo>
                <a:lnTo>
                  <a:pt x="5377072" y="476448"/>
                </a:lnTo>
                <a:cubicBezTo>
                  <a:pt x="5377072" y="495244"/>
                  <a:pt x="5361834" y="510482"/>
                  <a:pt x="5343038" y="510482"/>
                </a:cubicBez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6325185" y="4704938"/>
            <a:ext cx="34032" cy="510482"/>
          </a:xfrm>
          <a:custGeom>
            <a:rect b="b" l="l" r="r" t="t"/>
            <a:pathLst>
              <a:path extrusionOk="0" h="510482" w="34032">
                <a:moveTo>
                  <a:pt x="34032" y="0"/>
                </a:moveTo>
                <a:lnTo>
                  <a:pt x="34032" y="0"/>
                </a:lnTo>
                <a:lnTo>
                  <a:pt x="34032" y="510482"/>
                </a:ln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6410265" y="4773002"/>
            <a:ext cx="5291992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min_samples_split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410265" y="4977195"/>
            <a:ext cx="5283484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 samples to split a node. E.g., min_samples_split=20.</a:t>
            </a:r>
            <a:endParaRPr b="0" i="0" sz="1600" u="none" cap="none" strike="noStrike"/>
          </a:p>
        </p:txBody>
      </p:sp>
      <p:sp>
        <p:nvSpPr>
          <p:cNvPr id="360" name="Google Shape;360;p9"/>
          <p:cNvSpPr/>
          <p:nvPr/>
        </p:nvSpPr>
        <p:spPr>
          <a:xfrm>
            <a:off x="6325185" y="5283484"/>
            <a:ext cx="5377072" cy="510482"/>
          </a:xfrm>
          <a:custGeom>
            <a:rect b="b" l="l" r="r" t="t"/>
            <a:pathLst>
              <a:path extrusionOk="0" h="510482" w="5377072">
                <a:moveTo>
                  <a:pt x="34032" y="0"/>
                </a:moveTo>
                <a:lnTo>
                  <a:pt x="5343038" y="0"/>
                </a:lnTo>
                <a:cubicBezTo>
                  <a:pt x="5361834" y="0"/>
                  <a:pt x="5377072" y="15237"/>
                  <a:pt x="5377072" y="34034"/>
                </a:cubicBezTo>
                <a:lnTo>
                  <a:pt x="5377072" y="476448"/>
                </a:lnTo>
                <a:cubicBezTo>
                  <a:pt x="5377072" y="495244"/>
                  <a:pt x="5361834" y="510482"/>
                  <a:pt x="5343038" y="510482"/>
                </a:cubicBez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325185" y="5283484"/>
            <a:ext cx="34032" cy="510482"/>
          </a:xfrm>
          <a:custGeom>
            <a:rect b="b" l="l" r="r" t="t"/>
            <a:pathLst>
              <a:path extrusionOk="0" h="510482" w="34032">
                <a:moveTo>
                  <a:pt x="34032" y="0"/>
                </a:moveTo>
                <a:lnTo>
                  <a:pt x="34032" y="0"/>
                </a:lnTo>
                <a:lnTo>
                  <a:pt x="34032" y="510482"/>
                </a:ln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6410265" y="5351548"/>
            <a:ext cx="5291992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min_samples_leaf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410265" y="5555740"/>
            <a:ext cx="5283484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 samples in a leaf node. E.g., min_samples_leaf=10.</a:t>
            </a:r>
            <a:endParaRPr b="0" i="0" sz="1600" u="none" cap="none" strike="noStrike"/>
          </a:p>
        </p:txBody>
      </p:sp>
      <p:sp>
        <p:nvSpPr>
          <p:cNvPr id="364" name="Google Shape;364;p9"/>
          <p:cNvSpPr/>
          <p:nvPr/>
        </p:nvSpPr>
        <p:spPr>
          <a:xfrm>
            <a:off x="6325185" y="5862029"/>
            <a:ext cx="5377072" cy="510482"/>
          </a:xfrm>
          <a:custGeom>
            <a:rect b="b" l="l" r="r" t="t"/>
            <a:pathLst>
              <a:path extrusionOk="0" h="510482" w="5377072">
                <a:moveTo>
                  <a:pt x="34032" y="0"/>
                </a:moveTo>
                <a:lnTo>
                  <a:pt x="5343038" y="0"/>
                </a:lnTo>
                <a:cubicBezTo>
                  <a:pt x="5361834" y="0"/>
                  <a:pt x="5377072" y="15237"/>
                  <a:pt x="5377072" y="34034"/>
                </a:cubicBezTo>
                <a:lnTo>
                  <a:pt x="5377072" y="476448"/>
                </a:lnTo>
                <a:cubicBezTo>
                  <a:pt x="5377072" y="495244"/>
                  <a:pt x="5361834" y="510482"/>
                  <a:pt x="5343038" y="510482"/>
                </a:cubicBez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325185" y="5862029"/>
            <a:ext cx="34032" cy="510482"/>
          </a:xfrm>
          <a:custGeom>
            <a:rect b="b" l="l" r="r" t="t"/>
            <a:pathLst>
              <a:path extrusionOk="0" h="510482" w="34032">
                <a:moveTo>
                  <a:pt x="34032" y="0"/>
                </a:moveTo>
                <a:lnTo>
                  <a:pt x="34032" y="0"/>
                </a:lnTo>
                <a:lnTo>
                  <a:pt x="34032" y="510482"/>
                </a:lnTo>
                <a:lnTo>
                  <a:pt x="34032" y="510482"/>
                </a:lnTo>
                <a:cubicBezTo>
                  <a:pt x="15237" y="510482"/>
                  <a:pt x="0" y="495245"/>
                  <a:pt x="0" y="47644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6410265" y="5930094"/>
            <a:ext cx="5291992" cy="204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2" u="none" cap="none" strike="noStrike">
                <a:solidFill>
                  <a:srgbClr val="00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ccp_alpha</a:t>
            </a:r>
            <a:endParaRPr b="0" i="0" sz="1600" u="none" cap="none" strike="noStrike">
              <a:solidFill>
                <a:srgbClr val="00FFFF"/>
              </a:solidFill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410265" y="6134286"/>
            <a:ext cx="5283484" cy="17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Cost-complexity pruning. Removes nodes post-training.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biaodianfu.com/536f5baee949ac751868af9405853ade6f37edf3.png" id="373" name="Google Shape;373;p10"/>
          <p:cNvPicPr preferRelativeResize="0"/>
          <p:nvPr/>
        </p:nvPicPr>
        <p:blipFill rotWithShape="1">
          <a:blip r:embed="rId3">
            <a:alphaModFix amt="20000"/>
          </a:blip>
          <a:srcRect b="12775" l="0" r="0" t="1277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74" name="Google Shape;374;p1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89803"/>
                </a:srgbClr>
              </a:gs>
              <a:gs pos="100000">
                <a:srgbClr val="1A1D21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75" name="Google Shape;375;p10"/>
          <p:cNvSpPr/>
          <p:nvPr/>
        </p:nvSpPr>
        <p:spPr>
          <a:xfrm>
            <a:off x="390525" y="1538288"/>
            <a:ext cx="742950" cy="552450"/>
          </a:xfrm>
          <a:custGeom>
            <a:rect b="b" l="l" r="r" t="t"/>
            <a:pathLst>
              <a:path extrusionOk="0" h="552450" w="742950">
                <a:moveTo>
                  <a:pt x="276225" y="0"/>
                </a:moveTo>
                <a:lnTo>
                  <a:pt x="466725" y="0"/>
                </a:lnTo>
                <a:cubicBezTo>
                  <a:pt x="619178" y="0"/>
                  <a:pt x="742950" y="123772"/>
                  <a:pt x="742950" y="276225"/>
                </a:cubicBezTo>
                <a:lnTo>
                  <a:pt x="742950" y="276225"/>
                </a:lnTo>
                <a:cubicBezTo>
                  <a:pt x="742950" y="428678"/>
                  <a:pt x="619178" y="552450"/>
                  <a:pt x="466725" y="552450"/>
                </a:cubicBezTo>
                <a:lnTo>
                  <a:pt x="276225" y="552450"/>
                </a:lnTo>
                <a:cubicBezTo>
                  <a:pt x="123772" y="552450"/>
                  <a:pt x="0" y="428678"/>
                  <a:pt x="0" y="276225"/>
                </a:cubicBezTo>
                <a:lnTo>
                  <a:pt x="0" y="276225"/>
                </a:lnTo>
                <a:cubicBezTo>
                  <a:pt x="0" y="123772"/>
                  <a:pt x="123772" y="0"/>
                  <a:pt x="276225" y="0"/>
                </a:cubicBezTo>
                <a:close/>
              </a:path>
            </a:pathLst>
          </a:custGeom>
          <a:solidFill>
            <a:srgbClr val="3274B9">
              <a:alpha val="29803"/>
            </a:srgbClr>
          </a:solidFill>
          <a:ln cap="flat" cmpd="sng" w="254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28650" y="1662113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b="0" i="0" sz="1600" u="none" cap="none" strike="noStrike"/>
          </a:p>
        </p:txBody>
      </p:sp>
      <p:sp>
        <p:nvSpPr>
          <p:cNvPr id="377" name="Google Shape;377;p10"/>
          <p:cNvSpPr/>
          <p:nvPr/>
        </p:nvSpPr>
        <p:spPr>
          <a:xfrm>
            <a:off x="381000" y="2328863"/>
            <a:ext cx="11772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Support Vector Machines</a:t>
            </a:r>
            <a:endParaRPr b="0" i="0" sz="1600" u="none" cap="none" strike="noStrike"/>
          </a:p>
        </p:txBody>
      </p:sp>
      <p:sp>
        <p:nvSpPr>
          <p:cNvPr id="378" name="Google Shape;378;p10"/>
          <p:cNvSpPr/>
          <p:nvPr/>
        </p:nvSpPr>
        <p:spPr>
          <a:xfrm>
            <a:off x="381000" y="3414713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Boundary Finder</a:t>
            </a:r>
            <a:endParaRPr b="0" i="0" sz="1600" u="none" cap="none" strike="noStrike"/>
          </a:p>
        </p:txBody>
      </p:sp>
      <p:sp>
        <p:nvSpPr>
          <p:cNvPr id="379" name="Google Shape;379;p10"/>
          <p:cNvSpPr/>
          <p:nvPr/>
        </p:nvSpPr>
        <p:spPr>
          <a:xfrm>
            <a:off x="381000" y="4062412"/>
            <a:ext cx="6496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finds the </a:t>
            </a:r>
            <a:r>
              <a:rPr b="1" i="0" lang="en-US" sz="150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boundary</a:t>
            </a: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maximizes the separation between different classes with the largest possible margin.</a:t>
            </a:r>
            <a:endParaRPr b="0" i="0" sz="1600" u="none" cap="none" strike="noStrike"/>
          </a:p>
        </p:txBody>
      </p:sp>
      <p:sp>
        <p:nvSpPr>
          <p:cNvPr id="380" name="Google Shape;380;p10"/>
          <p:cNvSpPr/>
          <p:nvPr/>
        </p:nvSpPr>
        <p:spPr>
          <a:xfrm>
            <a:off x="381000" y="4795838"/>
            <a:ext cx="6486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support vectors and the kernel trick, SVM can handle complex non-linear patterns that other algorithms struggle with.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351692" y="351692"/>
            <a:ext cx="1953846" cy="286564"/>
          </a:xfrm>
          <a:custGeom>
            <a:rect b="b" l="l" r="r" t="t"/>
            <a:pathLst>
              <a:path extrusionOk="0" h="286564" w="1953846">
                <a:moveTo>
                  <a:pt x="143282" y="0"/>
                </a:moveTo>
                <a:lnTo>
                  <a:pt x="1810564" y="0"/>
                </a:lnTo>
                <a:cubicBezTo>
                  <a:pt x="1889697" y="0"/>
                  <a:pt x="1953846" y="64150"/>
                  <a:pt x="1953846" y="143282"/>
                </a:cubicBezTo>
                <a:lnTo>
                  <a:pt x="1953846" y="143282"/>
                </a:lnTo>
                <a:cubicBezTo>
                  <a:pt x="1953846" y="222415"/>
                  <a:pt x="1889697" y="286564"/>
                  <a:pt x="1810564" y="286564"/>
                </a:cubicBezTo>
                <a:lnTo>
                  <a:pt x="143282" y="286564"/>
                </a:lnTo>
                <a:cubicBezTo>
                  <a:pt x="64203" y="286564"/>
                  <a:pt x="0" y="222362"/>
                  <a:pt x="0" y="143282"/>
                </a:cubicBezTo>
                <a:lnTo>
                  <a:pt x="0" y="143282"/>
                </a:lnTo>
                <a:cubicBezTo>
                  <a:pt x="0" y="64203"/>
                  <a:pt x="64203" y="0"/>
                  <a:pt x="143282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460239" y="434188"/>
            <a:ext cx="1798488" cy="13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VECTOR MACHINES</a:t>
            </a:r>
            <a:endParaRPr b="0" i="0" sz="1600" u="none" cap="none" strike="noStrike"/>
          </a:p>
        </p:txBody>
      </p:sp>
      <p:sp>
        <p:nvSpPr>
          <p:cNvPr id="388" name="Google Shape;388;p11"/>
          <p:cNvSpPr/>
          <p:nvPr/>
        </p:nvSpPr>
        <p:spPr>
          <a:xfrm>
            <a:off x="347350" y="746803"/>
            <a:ext cx="11653607" cy="34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2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Finding the Optimal Boundary</a:t>
            </a:r>
            <a:endParaRPr b="0" i="0" sz="1600" u="none" cap="none" strike="noStrike"/>
          </a:p>
        </p:txBody>
      </p:sp>
      <p:sp>
        <p:nvSpPr>
          <p:cNvPr id="389" name="Google Shape;389;p11"/>
          <p:cNvSpPr/>
          <p:nvPr/>
        </p:nvSpPr>
        <p:spPr>
          <a:xfrm>
            <a:off x="351692" y="1237436"/>
            <a:ext cx="5670496" cy="2648547"/>
          </a:xfrm>
          <a:custGeom>
            <a:rect b="b" l="l" r="r" t="t"/>
            <a:pathLst>
              <a:path extrusionOk="0" h="2648547" w="5670496">
                <a:moveTo>
                  <a:pt x="69471" y="0"/>
                </a:moveTo>
                <a:lnTo>
                  <a:pt x="5601024" y="0"/>
                </a:lnTo>
                <a:cubicBezTo>
                  <a:pt x="5639392" y="0"/>
                  <a:pt x="5670496" y="31103"/>
                  <a:pt x="5670496" y="69471"/>
                </a:cubicBezTo>
                <a:lnTo>
                  <a:pt x="5670496" y="2579076"/>
                </a:lnTo>
                <a:cubicBezTo>
                  <a:pt x="5670496" y="2617444"/>
                  <a:pt x="5639392" y="2648547"/>
                  <a:pt x="5601024" y="2648547"/>
                </a:cubicBezTo>
                <a:lnTo>
                  <a:pt x="69471" y="2648547"/>
                </a:lnTo>
                <a:cubicBezTo>
                  <a:pt x="31103" y="2648547"/>
                  <a:pt x="0" y="2617444"/>
                  <a:pt x="0" y="2579076"/>
                </a:cubicBezTo>
                <a:lnTo>
                  <a:pt x="0" y="69471"/>
                </a:lnTo>
                <a:cubicBezTo>
                  <a:pt x="0" y="31129"/>
                  <a:pt x="31129" y="0"/>
                  <a:pt x="69471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16684" y="1415453"/>
            <a:ext cx="173675" cy="173675"/>
          </a:xfrm>
          <a:custGeom>
            <a:rect b="b" l="l" r="r" t="t"/>
            <a:pathLst>
              <a:path extrusionOk="0" h="173675" w="173675">
                <a:moveTo>
                  <a:pt x="22354" y="77509"/>
                </a:moveTo>
                <a:cubicBezTo>
                  <a:pt x="26865" y="45963"/>
                  <a:pt x="54036" y="21709"/>
                  <a:pt x="86838" y="21709"/>
                </a:cubicBezTo>
                <a:cubicBezTo>
                  <a:pt x="104816" y="21709"/>
                  <a:pt x="121098" y="29002"/>
                  <a:pt x="132902" y="40773"/>
                </a:cubicBezTo>
                <a:cubicBezTo>
                  <a:pt x="132970" y="40841"/>
                  <a:pt x="133038" y="40909"/>
                  <a:pt x="133106" y="40976"/>
                </a:cubicBezTo>
                <a:lnTo>
                  <a:pt x="135684" y="43419"/>
                </a:lnTo>
                <a:lnTo>
                  <a:pt x="119436" y="43419"/>
                </a:lnTo>
                <a:cubicBezTo>
                  <a:pt x="113432" y="43419"/>
                  <a:pt x="108581" y="48269"/>
                  <a:pt x="108581" y="54274"/>
                </a:cubicBezTo>
                <a:cubicBezTo>
                  <a:pt x="108581" y="60278"/>
                  <a:pt x="113432" y="65128"/>
                  <a:pt x="119436" y="65128"/>
                </a:cubicBezTo>
                <a:lnTo>
                  <a:pt x="162854" y="65128"/>
                </a:lnTo>
                <a:cubicBezTo>
                  <a:pt x="168858" y="65128"/>
                  <a:pt x="173709" y="60278"/>
                  <a:pt x="173709" y="54274"/>
                </a:cubicBezTo>
                <a:lnTo>
                  <a:pt x="173709" y="10855"/>
                </a:lnTo>
                <a:cubicBezTo>
                  <a:pt x="173709" y="4851"/>
                  <a:pt x="168858" y="0"/>
                  <a:pt x="162854" y="0"/>
                </a:cubicBezTo>
                <a:cubicBezTo>
                  <a:pt x="156850" y="0"/>
                  <a:pt x="152000" y="4851"/>
                  <a:pt x="152000" y="10855"/>
                </a:cubicBezTo>
                <a:lnTo>
                  <a:pt x="152000" y="28968"/>
                </a:lnTo>
                <a:lnTo>
                  <a:pt x="148167" y="25339"/>
                </a:lnTo>
                <a:cubicBezTo>
                  <a:pt x="132461" y="9701"/>
                  <a:pt x="110752" y="0"/>
                  <a:pt x="86838" y="0"/>
                </a:cubicBezTo>
                <a:cubicBezTo>
                  <a:pt x="43080" y="0"/>
                  <a:pt x="6886" y="32361"/>
                  <a:pt x="882" y="74456"/>
                </a:cubicBezTo>
                <a:cubicBezTo>
                  <a:pt x="34" y="80393"/>
                  <a:pt x="4138" y="85888"/>
                  <a:pt x="10075" y="86736"/>
                </a:cubicBezTo>
                <a:cubicBezTo>
                  <a:pt x="16011" y="87584"/>
                  <a:pt x="21506" y="83446"/>
                  <a:pt x="22354" y="77543"/>
                </a:cubicBezTo>
                <a:close/>
                <a:moveTo>
                  <a:pt x="172793" y="99219"/>
                </a:moveTo>
                <a:cubicBezTo>
                  <a:pt x="173641" y="93283"/>
                  <a:pt x="169503" y="87787"/>
                  <a:pt x="163601" y="86939"/>
                </a:cubicBezTo>
                <a:cubicBezTo>
                  <a:pt x="157698" y="86091"/>
                  <a:pt x="152169" y="90230"/>
                  <a:pt x="151321" y="96132"/>
                </a:cubicBezTo>
                <a:cubicBezTo>
                  <a:pt x="146810" y="127678"/>
                  <a:pt x="119639" y="151932"/>
                  <a:pt x="86838" y="151932"/>
                </a:cubicBezTo>
                <a:cubicBezTo>
                  <a:pt x="68860" y="151932"/>
                  <a:pt x="52577" y="144639"/>
                  <a:pt x="40773" y="132868"/>
                </a:cubicBezTo>
                <a:cubicBezTo>
                  <a:pt x="40705" y="132800"/>
                  <a:pt x="40637" y="132733"/>
                  <a:pt x="40569" y="132665"/>
                </a:cubicBezTo>
                <a:lnTo>
                  <a:pt x="37991" y="130222"/>
                </a:lnTo>
                <a:lnTo>
                  <a:pt x="54240" y="130222"/>
                </a:lnTo>
                <a:cubicBezTo>
                  <a:pt x="60244" y="130222"/>
                  <a:pt x="65094" y="125372"/>
                  <a:pt x="65094" y="119368"/>
                </a:cubicBezTo>
                <a:cubicBezTo>
                  <a:pt x="65094" y="113364"/>
                  <a:pt x="60244" y="108513"/>
                  <a:pt x="54240" y="108513"/>
                </a:cubicBezTo>
                <a:lnTo>
                  <a:pt x="10855" y="108547"/>
                </a:lnTo>
                <a:cubicBezTo>
                  <a:pt x="7971" y="108547"/>
                  <a:pt x="5190" y="109700"/>
                  <a:pt x="3155" y="111769"/>
                </a:cubicBezTo>
                <a:cubicBezTo>
                  <a:pt x="1119" y="113839"/>
                  <a:pt x="-34" y="116586"/>
                  <a:pt x="0" y="119503"/>
                </a:cubicBezTo>
                <a:lnTo>
                  <a:pt x="339" y="162583"/>
                </a:lnTo>
                <a:cubicBezTo>
                  <a:pt x="373" y="168587"/>
                  <a:pt x="5292" y="173404"/>
                  <a:pt x="11296" y="173336"/>
                </a:cubicBezTo>
                <a:cubicBezTo>
                  <a:pt x="17300" y="173268"/>
                  <a:pt x="22116" y="168384"/>
                  <a:pt x="22049" y="162380"/>
                </a:cubicBezTo>
                <a:lnTo>
                  <a:pt x="21913" y="144910"/>
                </a:lnTo>
                <a:lnTo>
                  <a:pt x="25542" y="148336"/>
                </a:lnTo>
                <a:cubicBezTo>
                  <a:pt x="41248" y="163974"/>
                  <a:pt x="62923" y="173675"/>
                  <a:pt x="86838" y="173675"/>
                </a:cubicBezTo>
                <a:cubicBezTo>
                  <a:pt x="130596" y="173675"/>
                  <a:pt x="166789" y="141315"/>
                  <a:pt x="172793" y="99219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712068" y="1380718"/>
            <a:ext cx="5253675" cy="243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8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Core Concepts</a:t>
            </a:r>
            <a:endParaRPr b="0" i="0" sz="1600" u="none" cap="none" strike="noStrike"/>
          </a:p>
        </p:txBody>
      </p:sp>
      <p:sp>
        <p:nvSpPr>
          <p:cNvPr id="392" name="Google Shape;392;p11"/>
          <p:cNvSpPr/>
          <p:nvPr/>
        </p:nvSpPr>
        <p:spPr>
          <a:xfrm>
            <a:off x="512342" y="1728068"/>
            <a:ext cx="5366564" cy="625231"/>
          </a:xfrm>
          <a:custGeom>
            <a:rect b="b" l="l" r="r" t="t"/>
            <a:pathLst>
              <a:path extrusionOk="0" h="625231" w="5366564">
                <a:moveTo>
                  <a:pt x="34735" y="0"/>
                </a:moveTo>
                <a:lnTo>
                  <a:pt x="5331826" y="0"/>
                </a:lnTo>
                <a:cubicBezTo>
                  <a:pt x="5351011" y="0"/>
                  <a:pt x="5366564" y="15553"/>
                  <a:pt x="5366564" y="34738"/>
                </a:cubicBezTo>
                <a:lnTo>
                  <a:pt x="5366564" y="590493"/>
                </a:lnTo>
                <a:cubicBezTo>
                  <a:pt x="5366564" y="609678"/>
                  <a:pt x="5351011" y="625231"/>
                  <a:pt x="5331826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512342" y="1728068"/>
            <a:ext cx="34735" cy="625231"/>
          </a:xfrm>
          <a:custGeom>
            <a:rect b="b" l="l" r="r" t="t"/>
            <a:pathLst>
              <a:path extrusionOk="0" h="625231" w="34735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633915" y="1832274"/>
            <a:ext cx="5210256" cy="20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Hyperplane</a:t>
            </a:r>
            <a:endParaRPr b="0" i="0" sz="1600" u="none" cap="none" strike="noStrike"/>
          </a:p>
        </p:txBody>
      </p:sp>
      <p:sp>
        <p:nvSpPr>
          <p:cNvPr id="395" name="Google Shape;395;p11"/>
          <p:cNvSpPr/>
          <p:nvPr/>
        </p:nvSpPr>
        <p:spPr>
          <a:xfrm>
            <a:off x="633915" y="2075419"/>
            <a:ext cx="5201573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decision boundary separating classes. Represented by wx + b = 0.</a:t>
            </a:r>
            <a:endParaRPr b="0" i="0" sz="1600" u="none" cap="none" strike="noStrike"/>
          </a:p>
        </p:txBody>
      </p:sp>
      <p:sp>
        <p:nvSpPr>
          <p:cNvPr id="396" name="Google Shape;396;p11"/>
          <p:cNvSpPr/>
          <p:nvPr/>
        </p:nvSpPr>
        <p:spPr>
          <a:xfrm>
            <a:off x="512342" y="2422769"/>
            <a:ext cx="5366564" cy="625231"/>
          </a:xfrm>
          <a:custGeom>
            <a:rect b="b" l="l" r="r" t="t"/>
            <a:pathLst>
              <a:path extrusionOk="0" h="625231" w="5366564">
                <a:moveTo>
                  <a:pt x="34735" y="0"/>
                </a:moveTo>
                <a:lnTo>
                  <a:pt x="5331826" y="0"/>
                </a:lnTo>
                <a:cubicBezTo>
                  <a:pt x="5351011" y="0"/>
                  <a:pt x="5366564" y="15553"/>
                  <a:pt x="5366564" y="34738"/>
                </a:cubicBezTo>
                <a:lnTo>
                  <a:pt x="5366564" y="590493"/>
                </a:lnTo>
                <a:cubicBezTo>
                  <a:pt x="5366564" y="609678"/>
                  <a:pt x="5351011" y="625231"/>
                  <a:pt x="5331826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512342" y="2422769"/>
            <a:ext cx="34735" cy="625231"/>
          </a:xfrm>
          <a:custGeom>
            <a:rect b="b" l="l" r="r" t="t"/>
            <a:pathLst>
              <a:path extrusionOk="0" h="625231" w="34735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633915" y="2526974"/>
            <a:ext cx="5210256" cy="20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Vectors</a:t>
            </a:r>
            <a:endParaRPr b="0" i="0" sz="1600" u="none" cap="none" strike="noStrike"/>
          </a:p>
        </p:txBody>
      </p:sp>
      <p:sp>
        <p:nvSpPr>
          <p:cNvPr id="399" name="Google Shape;399;p11"/>
          <p:cNvSpPr/>
          <p:nvPr/>
        </p:nvSpPr>
        <p:spPr>
          <a:xfrm>
            <a:off x="633915" y="2770120"/>
            <a:ext cx="5201573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data points closest to the hyperplane that determine its position and orientation.</a:t>
            </a:r>
            <a:endParaRPr b="0" i="0" sz="1600" u="none" cap="none" strike="noStrike"/>
          </a:p>
        </p:txBody>
      </p:sp>
      <p:sp>
        <p:nvSpPr>
          <p:cNvPr id="400" name="Google Shape;400;p11"/>
          <p:cNvSpPr/>
          <p:nvPr/>
        </p:nvSpPr>
        <p:spPr>
          <a:xfrm>
            <a:off x="512342" y="3117470"/>
            <a:ext cx="5366564" cy="625231"/>
          </a:xfrm>
          <a:custGeom>
            <a:rect b="b" l="l" r="r" t="t"/>
            <a:pathLst>
              <a:path extrusionOk="0" h="625231" w="5366564">
                <a:moveTo>
                  <a:pt x="34735" y="0"/>
                </a:moveTo>
                <a:lnTo>
                  <a:pt x="5331826" y="0"/>
                </a:lnTo>
                <a:cubicBezTo>
                  <a:pt x="5351011" y="0"/>
                  <a:pt x="5366564" y="15553"/>
                  <a:pt x="5366564" y="34738"/>
                </a:cubicBezTo>
                <a:lnTo>
                  <a:pt x="5366564" y="590493"/>
                </a:lnTo>
                <a:cubicBezTo>
                  <a:pt x="5366564" y="609678"/>
                  <a:pt x="5351011" y="625231"/>
                  <a:pt x="5331826" y="625231"/>
                </a:cubicBez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512342" y="3117470"/>
            <a:ext cx="34735" cy="625231"/>
          </a:xfrm>
          <a:custGeom>
            <a:rect b="b" l="l" r="r" t="t"/>
            <a:pathLst>
              <a:path extrusionOk="0" h="625231" w="34735">
                <a:moveTo>
                  <a:pt x="34735" y="0"/>
                </a:moveTo>
                <a:lnTo>
                  <a:pt x="34735" y="0"/>
                </a:lnTo>
                <a:lnTo>
                  <a:pt x="34735" y="625231"/>
                </a:lnTo>
                <a:lnTo>
                  <a:pt x="34735" y="625231"/>
                </a:lnTo>
                <a:cubicBezTo>
                  <a:pt x="15551" y="625231"/>
                  <a:pt x="0" y="609679"/>
                  <a:pt x="0" y="59049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633915" y="3221675"/>
            <a:ext cx="5210256" cy="20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Margin</a:t>
            </a:r>
            <a:endParaRPr b="0" i="0" sz="1600" u="none" cap="none" strike="noStrike"/>
          </a:p>
        </p:txBody>
      </p:sp>
      <p:sp>
        <p:nvSpPr>
          <p:cNvPr id="403" name="Google Shape;403;p11"/>
          <p:cNvSpPr/>
          <p:nvPr/>
        </p:nvSpPr>
        <p:spPr>
          <a:xfrm>
            <a:off x="633915" y="3464821"/>
            <a:ext cx="5201573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Distance between hyperplane and support vectors. SVM maximizes this margin.</a:t>
            </a:r>
            <a:endParaRPr b="0" i="0" sz="1600" u="none" cap="none" strike="noStrike"/>
          </a:p>
        </p:txBody>
      </p:sp>
      <p:sp>
        <p:nvSpPr>
          <p:cNvPr id="404" name="Google Shape;404;p11"/>
          <p:cNvSpPr/>
          <p:nvPr/>
        </p:nvSpPr>
        <p:spPr>
          <a:xfrm>
            <a:off x="351692" y="3998872"/>
            <a:ext cx="5670496" cy="1745436"/>
          </a:xfrm>
          <a:custGeom>
            <a:rect b="b" l="l" r="r" t="t"/>
            <a:pathLst>
              <a:path extrusionOk="0" h="1745436" w="5670496">
                <a:moveTo>
                  <a:pt x="69468" y="0"/>
                </a:moveTo>
                <a:lnTo>
                  <a:pt x="5601027" y="0"/>
                </a:lnTo>
                <a:cubicBezTo>
                  <a:pt x="5639394" y="0"/>
                  <a:pt x="5670496" y="31102"/>
                  <a:pt x="5670496" y="69468"/>
                </a:cubicBezTo>
                <a:lnTo>
                  <a:pt x="5670496" y="1675968"/>
                </a:lnTo>
                <a:cubicBezTo>
                  <a:pt x="5670496" y="1714334"/>
                  <a:pt x="5639394" y="1745436"/>
                  <a:pt x="5601027" y="1745436"/>
                </a:cubicBezTo>
                <a:lnTo>
                  <a:pt x="69468" y="1745436"/>
                </a:lnTo>
                <a:cubicBezTo>
                  <a:pt x="31102" y="1745436"/>
                  <a:pt x="0" y="1714334"/>
                  <a:pt x="0" y="1675968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516684" y="4176889"/>
            <a:ext cx="173675" cy="173675"/>
          </a:xfrm>
          <a:custGeom>
            <a:rect b="b" l="l" r="r" t="t"/>
            <a:pathLst>
              <a:path extrusionOk="0" h="173675" w="173675">
                <a:moveTo>
                  <a:pt x="151966" y="86838"/>
                </a:moveTo>
                <a:cubicBezTo>
                  <a:pt x="151966" y="50892"/>
                  <a:pt x="122783" y="21709"/>
                  <a:pt x="86838" y="21709"/>
                </a:cubicBezTo>
                <a:cubicBezTo>
                  <a:pt x="50892" y="21709"/>
                  <a:pt x="21709" y="50892"/>
                  <a:pt x="21709" y="86838"/>
                </a:cubicBezTo>
                <a:cubicBezTo>
                  <a:pt x="21709" y="122783"/>
                  <a:pt x="50892" y="151966"/>
                  <a:pt x="86838" y="151966"/>
                </a:cubicBezTo>
                <a:cubicBezTo>
                  <a:pt x="122783" y="151966"/>
                  <a:pt x="151966" y="122783"/>
                  <a:pt x="151966" y="86838"/>
                </a:cubicBezTo>
                <a:close/>
                <a:moveTo>
                  <a:pt x="0" y="86838"/>
                </a:moveTo>
                <a:cubicBezTo>
                  <a:pt x="0" y="38911"/>
                  <a:pt x="38911" y="0"/>
                  <a:pt x="86838" y="0"/>
                </a:cubicBezTo>
                <a:cubicBezTo>
                  <a:pt x="134765" y="0"/>
                  <a:pt x="173675" y="38911"/>
                  <a:pt x="173675" y="86838"/>
                </a:cubicBezTo>
                <a:cubicBezTo>
                  <a:pt x="173675" y="134765"/>
                  <a:pt x="134765" y="173675"/>
                  <a:pt x="86838" y="173675"/>
                </a:cubicBezTo>
                <a:cubicBezTo>
                  <a:pt x="38911" y="173675"/>
                  <a:pt x="0" y="134765"/>
                  <a:pt x="0" y="86838"/>
                </a:cubicBezTo>
                <a:close/>
                <a:moveTo>
                  <a:pt x="86838" y="113974"/>
                </a:moveTo>
                <a:cubicBezTo>
                  <a:pt x="101815" y="113974"/>
                  <a:pt x="113974" y="101815"/>
                  <a:pt x="113974" y="86838"/>
                </a:cubicBezTo>
                <a:cubicBezTo>
                  <a:pt x="113974" y="71860"/>
                  <a:pt x="101815" y="59701"/>
                  <a:pt x="86838" y="59701"/>
                </a:cubicBezTo>
                <a:cubicBezTo>
                  <a:pt x="71860" y="59701"/>
                  <a:pt x="59701" y="71860"/>
                  <a:pt x="59701" y="86838"/>
                </a:cubicBezTo>
                <a:cubicBezTo>
                  <a:pt x="59701" y="101815"/>
                  <a:pt x="71860" y="113974"/>
                  <a:pt x="86838" y="113974"/>
                </a:cubicBezTo>
                <a:close/>
                <a:moveTo>
                  <a:pt x="86838" y="37991"/>
                </a:moveTo>
                <a:cubicBezTo>
                  <a:pt x="113797" y="37991"/>
                  <a:pt x="135684" y="59879"/>
                  <a:pt x="135684" y="86838"/>
                </a:cubicBezTo>
                <a:cubicBezTo>
                  <a:pt x="135684" y="113797"/>
                  <a:pt x="113797" y="135684"/>
                  <a:pt x="86838" y="135684"/>
                </a:cubicBezTo>
                <a:cubicBezTo>
                  <a:pt x="59879" y="135684"/>
                  <a:pt x="37991" y="113797"/>
                  <a:pt x="37991" y="86838"/>
                </a:cubicBezTo>
                <a:cubicBezTo>
                  <a:pt x="37991" y="59879"/>
                  <a:pt x="59879" y="37991"/>
                  <a:pt x="86838" y="37991"/>
                </a:cubicBezTo>
                <a:close/>
                <a:moveTo>
                  <a:pt x="75983" y="86838"/>
                </a:moveTo>
                <a:cubicBezTo>
                  <a:pt x="75983" y="80847"/>
                  <a:pt x="80847" y="75983"/>
                  <a:pt x="86838" y="75983"/>
                </a:cubicBezTo>
                <a:cubicBezTo>
                  <a:pt x="92828" y="75983"/>
                  <a:pt x="97692" y="80847"/>
                  <a:pt x="97692" y="86838"/>
                </a:cubicBezTo>
                <a:cubicBezTo>
                  <a:pt x="97692" y="92828"/>
                  <a:pt x="92828" y="97692"/>
                  <a:pt x="86838" y="97692"/>
                </a:cubicBezTo>
                <a:cubicBezTo>
                  <a:pt x="80847" y="97692"/>
                  <a:pt x="75983" y="92828"/>
                  <a:pt x="75983" y="8683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712068" y="4142154"/>
            <a:ext cx="5253675" cy="243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8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Optimization Goal</a:t>
            </a:r>
            <a:endParaRPr b="0" i="0" sz="1600" u="none" cap="none" strike="noStrike"/>
          </a:p>
        </p:txBody>
      </p:sp>
      <p:sp>
        <p:nvSpPr>
          <p:cNvPr id="407" name="Google Shape;407;p11"/>
          <p:cNvSpPr/>
          <p:nvPr/>
        </p:nvSpPr>
        <p:spPr>
          <a:xfrm>
            <a:off x="494974" y="4489504"/>
            <a:ext cx="5453402" cy="451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finds the hyperplane that </a:t>
            </a:r>
            <a:r>
              <a:rPr b="0" i="0" lang="en-US" sz="1094" u="none" cap="none" strike="noStrike">
                <a:solidFill>
                  <a:srgbClr val="F0F2F5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maximizes the margin </a:t>
            </a:r>
            <a:r>
              <a:rPr b="0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while minimizing classification errors.</a:t>
            </a:r>
            <a:endParaRPr b="0" i="0" sz="1600" u="none" cap="none" strike="noStrike"/>
          </a:p>
        </p:txBody>
      </p:sp>
      <p:sp>
        <p:nvSpPr>
          <p:cNvPr id="408" name="Google Shape;408;p11"/>
          <p:cNvSpPr/>
          <p:nvPr/>
        </p:nvSpPr>
        <p:spPr>
          <a:xfrm>
            <a:off x="494974" y="5010530"/>
            <a:ext cx="5383932" cy="590496"/>
          </a:xfrm>
          <a:custGeom>
            <a:rect b="b" l="l" r="r" t="t"/>
            <a:pathLst>
              <a:path extrusionOk="0" h="590496" w="5383932">
                <a:moveTo>
                  <a:pt x="34733" y="0"/>
                </a:moveTo>
                <a:lnTo>
                  <a:pt x="5349199" y="0"/>
                </a:lnTo>
                <a:cubicBezTo>
                  <a:pt x="5368381" y="0"/>
                  <a:pt x="5383932" y="15550"/>
                  <a:pt x="5383932" y="34733"/>
                </a:cubicBezTo>
                <a:lnTo>
                  <a:pt x="5383932" y="555763"/>
                </a:lnTo>
                <a:cubicBezTo>
                  <a:pt x="5383932" y="574945"/>
                  <a:pt x="5368381" y="590496"/>
                  <a:pt x="5349199" y="590496"/>
                </a:cubicBezTo>
                <a:lnTo>
                  <a:pt x="34733" y="590496"/>
                </a:lnTo>
                <a:cubicBezTo>
                  <a:pt x="15550" y="590496"/>
                  <a:pt x="0" y="574945"/>
                  <a:pt x="0" y="555763"/>
                </a:cubicBezTo>
                <a:lnTo>
                  <a:pt x="0" y="34733"/>
                </a:lnTo>
                <a:cubicBezTo>
                  <a:pt x="0" y="15550"/>
                  <a:pt x="15550" y="0"/>
                  <a:pt x="3473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599179" y="5114735"/>
            <a:ext cx="5236308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Maximize Margin?</a:t>
            </a:r>
            <a:endParaRPr b="0" i="0" sz="1600" u="none" cap="none" strike="noStrike"/>
          </a:p>
        </p:txBody>
      </p:sp>
      <p:sp>
        <p:nvSpPr>
          <p:cNvPr id="410" name="Google Shape;410;p11"/>
          <p:cNvSpPr/>
          <p:nvPr/>
        </p:nvSpPr>
        <p:spPr>
          <a:xfrm>
            <a:off x="599179" y="5323145"/>
            <a:ext cx="5236308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Larger margins improve generalization to unseen data, reducing overfitting.</a:t>
            </a:r>
            <a:endParaRPr b="0" i="0" sz="1600" u="none" cap="none" strike="noStrike"/>
          </a:p>
        </p:txBody>
      </p:sp>
      <p:sp>
        <p:nvSpPr>
          <p:cNvPr id="411" name="Google Shape;411;p11"/>
          <p:cNvSpPr/>
          <p:nvPr/>
        </p:nvSpPr>
        <p:spPr>
          <a:xfrm>
            <a:off x="6171712" y="1237436"/>
            <a:ext cx="5670496" cy="2335932"/>
          </a:xfrm>
          <a:custGeom>
            <a:rect b="b" l="l" r="r" t="t"/>
            <a:pathLst>
              <a:path extrusionOk="0" h="2335932" w="5670496">
                <a:moveTo>
                  <a:pt x="69471" y="0"/>
                </a:moveTo>
                <a:lnTo>
                  <a:pt x="5601025" y="0"/>
                </a:lnTo>
                <a:cubicBezTo>
                  <a:pt x="5639393" y="0"/>
                  <a:pt x="5670496" y="31103"/>
                  <a:pt x="5670496" y="69471"/>
                </a:cubicBezTo>
                <a:lnTo>
                  <a:pt x="5670496" y="2266461"/>
                </a:lnTo>
                <a:cubicBezTo>
                  <a:pt x="5670496" y="2304829"/>
                  <a:pt x="5639393" y="2335932"/>
                  <a:pt x="5601025" y="2335932"/>
                </a:cubicBezTo>
                <a:lnTo>
                  <a:pt x="69471" y="2335932"/>
                </a:lnTo>
                <a:cubicBezTo>
                  <a:pt x="31103" y="2335932"/>
                  <a:pt x="0" y="2304829"/>
                  <a:pt x="0" y="2266461"/>
                </a:cubicBezTo>
                <a:lnTo>
                  <a:pt x="0" y="69471"/>
                </a:lnTo>
                <a:cubicBezTo>
                  <a:pt x="0" y="31103"/>
                  <a:pt x="31103" y="0"/>
                  <a:pt x="69471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6275917" y="1380718"/>
            <a:ext cx="5462085" cy="243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1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Linear vs. Non-Linear SVM</a:t>
            </a:r>
            <a:endParaRPr b="0" i="0" sz="1600" u="none" cap="none" strike="noStrike"/>
          </a:p>
        </p:txBody>
      </p:sp>
      <p:pic>
        <p:nvPicPr>
          <p:cNvPr descr="preencoded.png" id="413" name="Google Shape;4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4994" y="1693333"/>
            <a:ext cx="4845538" cy="173675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414" name="Google Shape;4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4994" y="1693333"/>
            <a:ext cx="4845538" cy="173675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415" name="Google Shape;4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4994" y="1693333"/>
            <a:ext cx="4845538" cy="173675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16" name="Google Shape;416;p11"/>
          <p:cNvSpPr/>
          <p:nvPr/>
        </p:nvSpPr>
        <p:spPr>
          <a:xfrm>
            <a:off x="6171712" y="3686256"/>
            <a:ext cx="5670496" cy="1641231"/>
          </a:xfrm>
          <a:custGeom>
            <a:rect b="b" l="l" r="r" t="t"/>
            <a:pathLst>
              <a:path extrusionOk="0" h="1641231" w="5670496">
                <a:moveTo>
                  <a:pt x="69473" y="0"/>
                </a:moveTo>
                <a:lnTo>
                  <a:pt x="5601022" y="0"/>
                </a:lnTo>
                <a:cubicBezTo>
                  <a:pt x="5639366" y="0"/>
                  <a:pt x="5670496" y="31130"/>
                  <a:pt x="5670496" y="69473"/>
                </a:cubicBezTo>
                <a:lnTo>
                  <a:pt x="5670496" y="1571757"/>
                </a:lnTo>
                <a:cubicBezTo>
                  <a:pt x="5670496" y="1610101"/>
                  <a:pt x="5639366" y="1641231"/>
                  <a:pt x="5601022" y="1641231"/>
                </a:cubicBezTo>
                <a:lnTo>
                  <a:pt x="69473" y="1641231"/>
                </a:lnTo>
                <a:cubicBezTo>
                  <a:pt x="31130" y="1641231"/>
                  <a:pt x="0" y="1610101"/>
                  <a:pt x="0" y="1571757"/>
                </a:cubicBezTo>
                <a:lnTo>
                  <a:pt x="0" y="69473"/>
                </a:lnTo>
                <a:cubicBezTo>
                  <a:pt x="0" y="31130"/>
                  <a:pt x="31130" y="0"/>
                  <a:pt x="69473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6336703" y="3864274"/>
            <a:ext cx="173675" cy="173675"/>
          </a:xfrm>
          <a:custGeom>
            <a:rect b="b" l="l" r="r" t="t"/>
            <a:pathLst>
              <a:path extrusionOk="0" h="173675" w="173675">
                <a:moveTo>
                  <a:pt x="135175" y="4138"/>
                </a:moveTo>
                <a:lnTo>
                  <a:pt x="105257" y="34057"/>
                </a:lnTo>
                <a:lnTo>
                  <a:pt x="139619" y="68419"/>
                </a:lnTo>
                <a:lnTo>
                  <a:pt x="169537" y="38500"/>
                </a:lnTo>
                <a:cubicBezTo>
                  <a:pt x="172183" y="35821"/>
                  <a:pt x="173675" y="32225"/>
                  <a:pt x="173675" y="28494"/>
                </a:cubicBezTo>
                <a:cubicBezTo>
                  <a:pt x="173675" y="24762"/>
                  <a:pt x="172183" y="21167"/>
                  <a:pt x="169537" y="18487"/>
                </a:cubicBezTo>
                <a:lnTo>
                  <a:pt x="155188" y="4138"/>
                </a:lnTo>
                <a:cubicBezTo>
                  <a:pt x="152509" y="1493"/>
                  <a:pt x="148913" y="0"/>
                  <a:pt x="145182" y="0"/>
                </a:cubicBezTo>
                <a:cubicBezTo>
                  <a:pt x="141450" y="0"/>
                  <a:pt x="137855" y="1493"/>
                  <a:pt x="135175" y="4138"/>
                </a:cubicBezTo>
                <a:close/>
                <a:moveTo>
                  <a:pt x="93757" y="45556"/>
                </a:moveTo>
                <a:lnTo>
                  <a:pt x="4138" y="135175"/>
                </a:lnTo>
                <a:cubicBezTo>
                  <a:pt x="1493" y="137855"/>
                  <a:pt x="0" y="141450"/>
                  <a:pt x="0" y="145182"/>
                </a:cubicBezTo>
                <a:cubicBezTo>
                  <a:pt x="0" y="148913"/>
                  <a:pt x="1493" y="152509"/>
                  <a:pt x="4138" y="155188"/>
                </a:cubicBezTo>
                <a:lnTo>
                  <a:pt x="18487" y="169537"/>
                </a:lnTo>
                <a:cubicBezTo>
                  <a:pt x="21167" y="172183"/>
                  <a:pt x="24762" y="173675"/>
                  <a:pt x="28494" y="173675"/>
                </a:cubicBezTo>
                <a:cubicBezTo>
                  <a:pt x="32225" y="173675"/>
                  <a:pt x="35821" y="172183"/>
                  <a:pt x="38500" y="169537"/>
                </a:cubicBezTo>
                <a:lnTo>
                  <a:pt x="128119" y="79918"/>
                </a:lnTo>
                <a:lnTo>
                  <a:pt x="93757" y="45556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6532088" y="3829538"/>
            <a:ext cx="5253675" cy="243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8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The Kernel Trick</a:t>
            </a:r>
            <a:endParaRPr b="0" i="0" sz="1600" u="none" cap="none" strike="noStrike"/>
          </a:p>
        </p:txBody>
      </p:sp>
      <p:sp>
        <p:nvSpPr>
          <p:cNvPr id="419" name="Google Shape;419;p11"/>
          <p:cNvSpPr/>
          <p:nvPr/>
        </p:nvSpPr>
        <p:spPr>
          <a:xfrm>
            <a:off x="6314994" y="4176889"/>
            <a:ext cx="5453402" cy="451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non-linear data, SVM uses the </a:t>
            </a:r>
            <a:r>
              <a:rPr b="0" i="0" lang="en-US" sz="1094" u="none" cap="none" strike="noStrike">
                <a:solidFill>
                  <a:srgbClr val="F0F2F5"/>
                </a:solidFill>
                <a:highlight>
                  <a:srgbClr val="4DB59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kernel trick </a:t>
            </a:r>
            <a:r>
              <a:rPr b="0" i="0" lang="en-US" sz="1094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transform data into higher dimensions where linear separation is possible.</a:t>
            </a:r>
            <a:endParaRPr b="0" i="0" sz="1600" u="none" cap="none" strike="noStrike"/>
          </a:p>
        </p:txBody>
      </p:sp>
      <p:sp>
        <p:nvSpPr>
          <p:cNvPr id="420" name="Google Shape;420;p11"/>
          <p:cNvSpPr/>
          <p:nvPr/>
        </p:nvSpPr>
        <p:spPr>
          <a:xfrm>
            <a:off x="6314994" y="4697915"/>
            <a:ext cx="1745436" cy="486291"/>
          </a:xfrm>
          <a:custGeom>
            <a:rect b="b" l="l" r="r" t="t"/>
            <a:pathLst>
              <a:path extrusionOk="0" h="486291" w="1745436">
                <a:moveTo>
                  <a:pt x="34736" y="0"/>
                </a:moveTo>
                <a:lnTo>
                  <a:pt x="1710700" y="0"/>
                </a:lnTo>
                <a:cubicBezTo>
                  <a:pt x="1729884" y="0"/>
                  <a:pt x="1745436" y="15552"/>
                  <a:pt x="1745436" y="34736"/>
                </a:cubicBezTo>
                <a:lnTo>
                  <a:pt x="1745436" y="451555"/>
                </a:lnTo>
                <a:cubicBezTo>
                  <a:pt x="1745436" y="470739"/>
                  <a:pt x="1729884" y="486291"/>
                  <a:pt x="1710700" y="486291"/>
                </a:cubicBezTo>
                <a:lnTo>
                  <a:pt x="34736" y="486291"/>
                </a:lnTo>
                <a:cubicBezTo>
                  <a:pt x="15552" y="486291"/>
                  <a:pt x="0" y="470739"/>
                  <a:pt x="0" y="451555"/>
                </a:cubicBezTo>
                <a:lnTo>
                  <a:pt x="0" y="34736"/>
                </a:lnTo>
                <a:cubicBezTo>
                  <a:pt x="0" y="15552"/>
                  <a:pt x="15552" y="0"/>
                  <a:pt x="3473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6354071" y="4767385"/>
            <a:ext cx="1667282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Kernel</a:t>
            </a:r>
            <a:endParaRPr b="0" i="0" sz="1600" u="none" cap="none" strike="noStrike"/>
          </a:p>
        </p:txBody>
      </p:sp>
      <p:sp>
        <p:nvSpPr>
          <p:cNvPr id="422" name="Google Shape;422;p11"/>
          <p:cNvSpPr/>
          <p:nvPr/>
        </p:nvSpPr>
        <p:spPr>
          <a:xfrm>
            <a:off x="6358412" y="4975795"/>
            <a:ext cx="1658598" cy="13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Straight line separation</a:t>
            </a:r>
            <a:endParaRPr b="0" i="0" sz="1600" u="none" cap="none" strike="noStrike"/>
          </a:p>
        </p:txBody>
      </p:sp>
      <p:sp>
        <p:nvSpPr>
          <p:cNvPr id="423" name="Google Shape;423;p11"/>
          <p:cNvSpPr/>
          <p:nvPr/>
        </p:nvSpPr>
        <p:spPr>
          <a:xfrm>
            <a:off x="8133427" y="4697915"/>
            <a:ext cx="1745436" cy="486291"/>
          </a:xfrm>
          <a:custGeom>
            <a:rect b="b" l="l" r="r" t="t"/>
            <a:pathLst>
              <a:path extrusionOk="0" h="486291" w="1745436">
                <a:moveTo>
                  <a:pt x="34736" y="0"/>
                </a:moveTo>
                <a:lnTo>
                  <a:pt x="1710700" y="0"/>
                </a:lnTo>
                <a:cubicBezTo>
                  <a:pt x="1729884" y="0"/>
                  <a:pt x="1745436" y="15552"/>
                  <a:pt x="1745436" y="34736"/>
                </a:cubicBezTo>
                <a:lnTo>
                  <a:pt x="1745436" y="451555"/>
                </a:lnTo>
                <a:cubicBezTo>
                  <a:pt x="1745436" y="470739"/>
                  <a:pt x="1729884" y="486291"/>
                  <a:pt x="1710700" y="486291"/>
                </a:cubicBezTo>
                <a:lnTo>
                  <a:pt x="34736" y="486291"/>
                </a:lnTo>
                <a:cubicBezTo>
                  <a:pt x="15552" y="486291"/>
                  <a:pt x="0" y="470739"/>
                  <a:pt x="0" y="451555"/>
                </a:cubicBezTo>
                <a:lnTo>
                  <a:pt x="0" y="34736"/>
                </a:lnTo>
                <a:cubicBezTo>
                  <a:pt x="0" y="15552"/>
                  <a:pt x="15552" y="0"/>
                  <a:pt x="3473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8172504" y="4767385"/>
            <a:ext cx="1667282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RBF Kernel</a:t>
            </a:r>
            <a:endParaRPr b="0" i="0" sz="1600" u="none" cap="none" strike="noStrike"/>
          </a:p>
        </p:txBody>
      </p:sp>
      <p:sp>
        <p:nvSpPr>
          <p:cNvPr id="425" name="Google Shape;425;p11"/>
          <p:cNvSpPr/>
          <p:nvPr/>
        </p:nvSpPr>
        <p:spPr>
          <a:xfrm>
            <a:off x="8176846" y="4975795"/>
            <a:ext cx="1658598" cy="13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 non-linear patterns</a:t>
            </a:r>
            <a:endParaRPr b="0" i="0" sz="1600" u="none" cap="none" strike="noStrike"/>
          </a:p>
        </p:txBody>
      </p:sp>
      <p:sp>
        <p:nvSpPr>
          <p:cNvPr id="426" name="Google Shape;426;p11"/>
          <p:cNvSpPr/>
          <p:nvPr/>
        </p:nvSpPr>
        <p:spPr>
          <a:xfrm>
            <a:off x="9951861" y="4697915"/>
            <a:ext cx="1745436" cy="486291"/>
          </a:xfrm>
          <a:custGeom>
            <a:rect b="b" l="l" r="r" t="t"/>
            <a:pathLst>
              <a:path extrusionOk="0" h="486291" w="1745436">
                <a:moveTo>
                  <a:pt x="34736" y="0"/>
                </a:moveTo>
                <a:lnTo>
                  <a:pt x="1710700" y="0"/>
                </a:lnTo>
                <a:cubicBezTo>
                  <a:pt x="1729884" y="0"/>
                  <a:pt x="1745436" y="15552"/>
                  <a:pt x="1745436" y="34736"/>
                </a:cubicBezTo>
                <a:lnTo>
                  <a:pt x="1745436" y="451555"/>
                </a:lnTo>
                <a:cubicBezTo>
                  <a:pt x="1745436" y="470739"/>
                  <a:pt x="1729884" y="486291"/>
                  <a:pt x="1710700" y="486291"/>
                </a:cubicBezTo>
                <a:lnTo>
                  <a:pt x="34736" y="486291"/>
                </a:lnTo>
                <a:cubicBezTo>
                  <a:pt x="15552" y="486291"/>
                  <a:pt x="0" y="470739"/>
                  <a:pt x="0" y="451555"/>
                </a:cubicBezTo>
                <a:lnTo>
                  <a:pt x="0" y="34736"/>
                </a:lnTo>
                <a:cubicBezTo>
                  <a:pt x="0" y="15552"/>
                  <a:pt x="15552" y="0"/>
                  <a:pt x="3473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9990938" y="4767385"/>
            <a:ext cx="1667282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7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Polynomial</a:t>
            </a:r>
            <a:endParaRPr b="0" i="0" sz="1600" u="none" cap="none" strike="noStrike"/>
          </a:p>
        </p:txBody>
      </p:sp>
      <p:sp>
        <p:nvSpPr>
          <p:cNvPr id="428" name="Google Shape;428;p11"/>
          <p:cNvSpPr/>
          <p:nvPr/>
        </p:nvSpPr>
        <p:spPr>
          <a:xfrm>
            <a:off x="9995280" y="4975795"/>
            <a:ext cx="1658598" cy="13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Curved decision boundaries</a:t>
            </a:r>
            <a:endParaRPr b="0" i="0" sz="1600" u="none" cap="none" strike="noStrike"/>
          </a:p>
        </p:txBody>
      </p:sp>
      <p:sp>
        <p:nvSpPr>
          <p:cNvPr id="429" name="Google Shape;429;p11"/>
          <p:cNvSpPr/>
          <p:nvPr/>
        </p:nvSpPr>
        <p:spPr>
          <a:xfrm>
            <a:off x="6167370" y="5436034"/>
            <a:ext cx="2804855" cy="1076786"/>
          </a:xfrm>
          <a:custGeom>
            <a:rect b="b" l="l" r="r" t="t"/>
            <a:pathLst>
              <a:path extrusionOk="0" h="1076786" w="2804855">
                <a:moveTo>
                  <a:pt x="69474" y="0"/>
                </a:moveTo>
                <a:lnTo>
                  <a:pt x="2735380" y="0"/>
                </a:lnTo>
                <a:cubicBezTo>
                  <a:pt x="2773750" y="0"/>
                  <a:pt x="2804855" y="31105"/>
                  <a:pt x="2804855" y="69474"/>
                </a:cubicBezTo>
                <a:lnTo>
                  <a:pt x="2804855" y="1007312"/>
                </a:lnTo>
                <a:cubicBezTo>
                  <a:pt x="2804855" y="1045682"/>
                  <a:pt x="2773750" y="1076786"/>
                  <a:pt x="2735380" y="1076786"/>
                </a:cubicBezTo>
                <a:lnTo>
                  <a:pt x="69474" y="1076786"/>
                </a:lnTo>
                <a:cubicBezTo>
                  <a:pt x="31105" y="1076786"/>
                  <a:pt x="0" y="1045682"/>
                  <a:pt x="0" y="1007312"/>
                </a:cubicBezTo>
                <a:lnTo>
                  <a:pt x="0" y="69474"/>
                </a:lnTo>
                <a:cubicBezTo>
                  <a:pt x="0" y="31105"/>
                  <a:pt x="31105" y="0"/>
                  <a:pt x="69474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6271575" y="5540239"/>
            <a:ext cx="2665915" cy="20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/>
          </a:p>
        </p:txBody>
      </p:sp>
      <p:sp>
        <p:nvSpPr>
          <p:cNvPr id="431" name="Google Shape;431;p11"/>
          <p:cNvSpPr/>
          <p:nvPr/>
        </p:nvSpPr>
        <p:spPr>
          <a:xfrm>
            <a:off x="6271575" y="581812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Effective in high-dimensional spaces</a:t>
            </a:r>
            <a:endParaRPr b="0" i="0" sz="1600" u="none" cap="none" strike="noStrike"/>
          </a:p>
        </p:txBody>
      </p:sp>
      <p:sp>
        <p:nvSpPr>
          <p:cNvPr id="432" name="Google Shape;432;p11"/>
          <p:cNvSpPr/>
          <p:nvPr/>
        </p:nvSpPr>
        <p:spPr>
          <a:xfrm>
            <a:off x="6271575" y="602653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Versatile kernel functions</a:t>
            </a:r>
            <a:endParaRPr b="0" i="0" sz="1600" u="none" cap="none" strike="noStrike"/>
          </a:p>
        </p:txBody>
      </p:sp>
      <p:sp>
        <p:nvSpPr>
          <p:cNvPr id="433" name="Google Shape;433;p11"/>
          <p:cNvSpPr/>
          <p:nvPr/>
        </p:nvSpPr>
        <p:spPr>
          <a:xfrm>
            <a:off x="6271575" y="623494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Robust to outliers</a:t>
            </a:r>
            <a:endParaRPr b="0" i="0" sz="1600" u="none" cap="none" strike="noStrike"/>
          </a:p>
        </p:txBody>
      </p:sp>
      <p:sp>
        <p:nvSpPr>
          <p:cNvPr id="434" name="Google Shape;434;p11"/>
          <p:cNvSpPr/>
          <p:nvPr/>
        </p:nvSpPr>
        <p:spPr>
          <a:xfrm>
            <a:off x="9042644" y="5436034"/>
            <a:ext cx="2804855" cy="1076786"/>
          </a:xfrm>
          <a:custGeom>
            <a:rect b="b" l="l" r="r" t="t"/>
            <a:pathLst>
              <a:path extrusionOk="0" h="1076786" w="2804855">
                <a:moveTo>
                  <a:pt x="69474" y="0"/>
                </a:moveTo>
                <a:lnTo>
                  <a:pt x="2735380" y="0"/>
                </a:lnTo>
                <a:cubicBezTo>
                  <a:pt x="2773750" y="0"/>
                  <a:pt x="2804855" y="31105"/>
                  <a:pt x="2804855" y="69474"/>
                </a:cubicBezTo>
                <a:lnTo>
                  <a:pt x="2804855" y="1007312"/>
                </a:lnTo>
                <a:cubicBezTo>
                  <a:pt x="2804855" y="1045682"/>
                  <a:pt x="2773750" y="1076786"/>
                  <a:pt x="2735380" y="1076786"/>
                </a:cubicBezTo>
                <a:lnTo>
                  <a:pt x="69474" y="1076786"/>
                </a:lnTo>
                <a:cubicBezTo>
                  <a:pt x="31105" y="1076786"/>
                  <a:pt x="0" y="1045682"/>
                  <a:pt x="0" y="1007312"/>
                </a:cubicBezTo>
                <a:lnTo>
                  <a:pt x="0" y="69474"/>
                </a:lnTo>
                <a:cubicBezTo>
                  <a:pt x="0" y="31105"/>
                  <a:pt x="31105" y="0"/>
                  <a:pt x="69474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9146849" y="5540239"/>
            <a:ext cx="2665915" cy="208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4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b="0" i="0" sz="1600" u="none" cap="none" strike="noStrike"/>
          </a:p>
        </p:txBody>
      </p:sp>
      <p:sp>
        <p:nvSpPr>
          <p:cNvPr id="436" name="Google Shape;436;p11"/>
          <p:cNvSpPr/>
          <p:nvPr/>
        </p:nvSpPr>
        <p:spPr>
          <a:xfrm>
            <a:off x="9146849" y="581812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Computationally expensive</a:t>
            </a:r>
            <a:endParaRPr b="0" i="0" sz="1600" u="none" cap="none" strike="noStrike"/>
          </a:p>
        </p:txBody>
      </p:sp>
      <p:sp>
        <p:nvSpPr>
          <p:cNvPr id="437" name="Google Shape;437;p11"/>
          <p:cNvSpPr/>
          <p:nvPr/>
        </p:nvSpPr>
        <p:spPr>
          <a:xfrm>
            <a:off x="9146849" y="602653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Difficult to interpret</a:t>
            </a:r>
            <a:endParaRPr b="0" i="0" sz="1600" u="none" cap="none" strike="noStrike"/>
          </a:p>
        </p:txBody>
      </p:sp>
      <p:sp>
        <p:nvSpPr>
          <p:cNvPr id="438" name="Google Shape;438;p11"/>
          <p:cNvSpPr/>
          <p:nvPr/>
        </p:nvSpPr>
        <p:spPr>
          <a:xfrm>
            <a:off x="9146849" y="6234940"/>
            <a:ext cx="2657231" cy="173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7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Sensitive to hyperparameters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"/>
          <p:cNvSpPr/>
          <p:nvPr/>
        </p:nvSpPr>
        <p:spPr>
          <a:xfrm>
            <a:off x="321469" y="321469"/>
            <a:ext cx="1785938" cy="261937"/>
          </a:xfrm>
          <a:custGeom>
            <a:rect b="b" l="l" r="r" t="t"/>
            <a:pathLst>
              <a:path extrusionOk="0" h="261937" w="1785938">
                <a:moveTo>
                  <a:pt x="130969" y="0"/>
                </a:moveTo>
                <a:lnTo>
                  <a:pt x="1654969" y="0"/>
                </a:lnTo>
                <a:cubicBezTo>
                  <a:pt x="1727252" y="0"/>
                  <a:pt x="1785938" y="58685"/>
                  <a:pt x="1785938" y="130969"/>
                </a:cubicBezTo>
                <a:lnTo>
                  <a:pt x="1785938" y="130969"/>
                </a:lnTo>
                <a:cubicBezTo>
                  <a:pt x="1785938" y="203252"/>
                  <a:pt x="1727252" y="261937"/>
                  <a:pt x="1654969" y="261937"/>
                </a:cubicBezTo>
                <a:lnTo>
                  <a:pt x="130969" y="261937"/>
                </a:lnTo>
                <a:cubicBezTo>
                  <a:pt x="58685" y="261937"/>
                  <a:pt x="0" y="203252"/>
                  <a:pt x="0" y="130969"/>
                </a:cubicBezTo>
                <a:lnTo>
                  <a:pt x="0" y="130969"/>
                </a:lnTo>
                <a:cubicBezTo>
                  <a:pt x="0" y="58685"/>
                  <a:pt x="58685" y="0"/>
                  <a:pt x="130969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20688" y="396875"/>
            <a:ext cx="1643931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VECTOR MACHINES</a:t>
            </a:r>
            <a:endParaRPr b="0" i="0" sz="1600" u="none" cap="none" strike="noStrike"/>
          </a:p>
        </p:txBody>
      </p:sp>
      <p:sp>
        <p:nvSpPr>
          <p:cNvPr id="446" name="Google Shape;446;p1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Hyperparameters, Kernels &amp; When to Choose</a:t>
            </a:r>
            <a:endParaRPr b="0" i="0" sz="1600" u="none" cap="none" strike="noStrike"/>
          </a:p>
        </p:txBody>
      </p:sp>
      <p:sp>
        <p:nvSpPr>
          <p:cNvPr id="447" name="Google Shape;447;p12"/>
          <p:cNvSpPr/>
          <p:nvPr/>
        </p:nvSpPr>
        <p:spPr>
          <a:xfrm>
            <a:off x="321469" y="1131094"/>
            <a:ext cx="5707063" cy="2960688"/>
          </a:xfrm>
          <a:custGeom>
            <a:rect b="b" l="l" r="r" t="t"/>
            <a:pathLst>
              <a:path extrusionOk="0" h="2960688" w="5707063">
                <a:moveTo>
                  <a:pt x="63507" y="0"/>
                </a:moveTo>
                <a:lnTo>
                  <a:pt x="5643556" y="0"/>
                </a:lnTo>
                <a:cubicBezTo>
                  <a:pt x="5678630" y="0"/>
                  <a:pt x="5707063" y="28433"/>
                  <a:pt x="5707063" y="63507"/>
                </a:cubicBezTo>
                <a:lnTo>
                  <a:pt x="5707063" y="2897181"/>
                </a:lnTo>
                <a:cubicBezTo>
                  <a:pt x="5707063" y="2932255"/>
                  <a:pt x="5678630" y="2960688"/>
                  <a:pt x="5643556" y="2960688"/>
                </a:cubicBezTo>
                <a:lnTo>
                  <a:pt x="63507" y="2960688"/>
                </a:lnTo>
                <a:cubicBezTo>
                  <a:pt x="28433" y="2960688"/>
                  <a:pt x="0" y="2932255"/>
                  <a:pt x="0" y="2897181"/>
                </a:cubicBezTo>
                <a:lnTo>
                  <a:pt x="0" y="63507"/>
                </a:lnTo>
                <a:cubicBezTo>
                  <a:pt x="0" y="28456"/>
                  <a:pt x="28456" y="0"/>
                  <a:pt x="63507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504031" y="1325563"/>
            <a:ext cx="158750" cy="158750"/>
          </a:xfrm>
          <a:custGeom>
            <a:rect b="b" l="l" r="r" t="t"/>
            <a:pathLst>
              <a:path extrusionOk="0" h="158750" w="158750">
                <a:moveTo>
                  <a:pt x="9922" y="19844"/>
                </a:moveTo>
                <a:cubicBezTo>
                  <a:pt x="4434" y="19844"/>
                  <a:pt x="0" y="24278"/>
                  <a:pt x="0" y="29766"/>
                </a:cubicBezTo>
                <a:cubicBezTo>
                  <a:pt x="0" y="35254"/>
                  <a:pt x="4434" y="39688"/>
                  <a:pt x="9922" y="39688"/>
                </a:cubicBezTo>
                <a:lnTo>
                  <a:pt x="36804" y="39688"/>
                </a:lnTo>
                <a:cubicBezTo>
                  <a:pt x="40618" y="48462"/>
                  <a:pt x="49361" y="54570"/>
                  <a:pt x="59531" y="54570"/>
                </a:cubicBezTo>
                <a:cubicBezTo>
                  <a:pt x="69701" y="54570"/>
                  <a:pt x="78445" y="48462"/>
                  <a:pt x="82259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82259" y="19844"/>
                </a:lnTo>
                <a:cubicBezTo>
                  <a:pt x="78445" y="11069"/>
                  <a:pt x="69701" y="4961"/>
                  <a:pt x="59531" y="4961"/>
                </a:cubicBezTo>
                <a:cubicBezTo>
                  <a:pt x="49361" y="4961"/>
                  <a:pt x="40618" y="11069"/>
                  <a:pt x="36804" y="19844"/>
                </a:cubicBezTo>
                <a:lnTo>
                  <a:pt x="9922" y="19844"/>
                </a:lnTo>
                <a:close/>
                <a:moveTo>
                  <a:pt x="9922" y="69453"/>
                </a:move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86413" y="89297"/>
                </a:lnTo>
                <a:cubicBezTo>
                  <a:pt x="90227" y="98072"/>
                  <a:pt x="98971" y="104180"/>
                  <a:pt x="109141" y="104180"/>
                </a:cubicBezTo>
                <a:cubicBezTo>
                  <a:pt x="119311" y="104180"/>
                  <a:pt x="128054" y="98072"/>
                  <a:pt x="131868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131868" y="69453"/>
                </a:lnTo>
                <a:cubicBezTo>
                  <a:pt x="128054" y="60678"/>
                  <a:pt x="119311" y="54570"/>
                  <a:pt x="109141" y="54570"/>
                </a:cubicBezTo>
                <a:cubicBezTo>
                  <a:pt x="98971" y="54570"/>
                  <a:pt x="90227" y="60678"/>
                  <a:pt x="86413" y="69453"/>
                </a:cubicBezTo>
                <a:lnTo>
                  <a:pt x="9922" y="69453"/>
                </a:lnTo>
                <a:close/>
                <a:moveTo>
                  <a:pt x="9922" y="119062"/>
                </a:moveTo>
                <a:cubicBezTo>
                  <a:pt x="4434" y="119062"/>
                  <a:pt x="0" y="123496"/>
                  <a:pt x="0" y="128984"/>
                </a:cubicBezTo>
                <a:cubicBezTo>
                  <a:pt x="0" y="134472"/>
                  <a:pt x="4434" y="138906"/>
                  <a:pt x="9922" y="138906"/>
                </a:cubicBezTo>
                <a:lnTo>
                  <a:pt x="26882" y="138906"/>
                </a:lnTo>
                <a:cubicBezTo>
                  <a:pt x="30696" y="147681"/>
                  <a:pt x="39439" y="153789"/>
                  <a:pt x="49609" y="153789"/>
                </a:cubicBezTo>
                <a:cubicBezTo>
                  <a:pt x="59779" y="153789"/>
                  <a:pt x="68523" y="147681"/>
                  <a:pt x="72337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72337" y="119062"/>
                </a:lnTo>
                <a:cubicBezTo>
                  <a:pt x="68523" y="110288"/>
                  <a:pt x="59779" y="104180"/>
                  <a:pt x="49609" y="104180"/>
                </a:cubicBezTo>
                <a:cubicBezTo>
                  <a:pt x="39439" y="104180"/>
                  <a:pt x="30696" y="110288"/>
                  <a:pt x="26882" y="119062"/>
                </a:cubicBezTo>
                <a:lnTo>
                  <a:pt x="9922" y="119062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682625" y="1293813"/>
            <a:ext cx="526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Critical Hyperparameters</a:t>
            </a:r>
            <a:endParaRPr b="0" i="0" sz="1600" u="none" cap="none" strike="noStrike"/>
          </a:p>
        </p:txBody>
      </p:sp>
      <p:sp>
        <p:nvSpPr>
          <p:cNvPr id="450" name="Google Shape;450;p12"/>
          <p:cNvSpPr/>
          <p:nvPr/>
        </p:nvSpPr>
        <p:spPr>
          <a:xfrm>
            <a:off x="500063" y="1611313"/>
            <a:ext cx="5365750" cy="1111250"/>
          </a:xfrm>
          <a:custGeom>
            <a:rect b="b" l="l" r="r" t="t"/>
            <a:pathLst>
              <a:path extrusionOk="0" h="1111250" w="5365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1079502"/>
                </a:lnTo>
                <a:cubicBezTo>
                  <a:pt x="5365750" y="1097036"/>
                  <a:pt x="5351536" y="1111250"/>
                  <a:pt x="5334002" y="1111250"/>
                </a:cubicBezTo>
                <a:lnTo>
                  <a:pt x="31748" y="1111250"/>
                </a:lnTo>
                <a:cubicBezTo>
                  <a:pt x="14214" y="1111250"/>
                  <a:pt x="0" y="1097036"/>
                  <a:pt x="0" y="1079502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500063" y="1611313"/>
            <a:ext cx="31750" cy="1111250"/>
          </a:xfrm>
          <a:custGeom>
            <a:rect b="b" l="l" r="r" t="t"/>
            <a:pathLst>
              <a:path extrusionOk="0" h="1111250" w="317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42938" y="1738313"/>
            <a:ext cx="5159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 (Regularization Parameter)</a:t>
            </a:r>
            <a:endParaRPr b="0" i="0" sz="1600" u="none" cap="none" strike="noStrike"/>
          </a:p>
        </p:txBody>
      </p:sp>
      <p:sp>
        <p:nvSpPr>
          <p:cNvPr id="453" name="Google Shape;453;p12"/>
          <p:cNvSpPr/>
          <p:nvPr/>
        </p:nvSpPr>
        <p:spPr>
          <a:xfrm>
            <a:off x="642938" y="1992313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Balances margin maximization and misclassification penalty.</a:t>
            </a:r>
            <a:endParaRPr b="0" i="0" sz="1600" u="none" cap="none" strike="noStrike"/>
          </a:p>
        </p:txBody>
      </p:sp>
      <p:sp>
        <p:nvSpPr>
          <p:cNvPr id="454" name="Google Shape;454;p12"/>
          <p:cNvSpPr/>
          <p:nvPr/>
        </p:nvSpPr>
        <p:spPr>
          <a:xfrm>
            <a:off x="642938" y="2214563"/>
            <a:ext cx="2516188" cy="381000"/>
          </a:xfrm>
          <a:custGeom>
            <a:rect b="b" l="l" r="r" t="t"/>
            <a:pathLst>
              <a:path extrusionOk="0" h="381000" w="2516188">
                <a:moveTo>
                  <a:pt x="31749" y="0"/>
                </a:moveTo>
                <a:lnTo>
                  <a:pt x="2484439" y="0"/>
                </a:lnTo>
                <a:cubicBezTo>
                  <a:pt x="2501973" y="0"/>
                  <a:pt x="2516187" y="14214"/>
                  <a:pt x="2516187" y="31749"/>
                </a:cubicBezTo>
                <a:lnTo>
                  <a:pt x="2516188" y="349251"/>
                </a:lnTo>
                <a:cubicBezTo>
                  <a:pt x="2516187" y="366786"/>
                  <a:pt x="2501973" y="381000"/>
                  <a:pt x="248443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706438" y="22780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C</a:t>
            </a:r>
            <a:endParaRPr b="0" i="0" sz="1600" u="none" cap="none" strike="noStrike"/>
          </a:p>
        </p:txBody>
      </p:sp>
      <p:sp>
        <p:nvSpPr>
          <p:cNvPr id="456" name="Google Shape;456;p12"/>
          <p:cNvSpPr/>
          <p:nvPr/>
        </p:nvSpPr>
        <p:spPr>
          <a:xfrm>
            <a:off x="706438" y="24050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Stricter penalty, smaller margin</a:t>
            </a:r>
            <a:endParaRPr b="0" i="0" sz="1600" u="none" cap="none" strike="noStrike"/>
          </a:p>
        </p:txBody>
      </p:sp>
      <p:sp>
        <p:nvSpPr>
          <p:cNvPr id="457" name="Google Shape;457;p12"/>
          <p:cNvSpPr/>
          <p:nvPr/>
        </p:nvSpPr>
        <p:spPr>
          <a:xfrm>
            <a:off x="3222625" y="2214563"/>
            <a:ext cx="2516188" cy="381000"/>
          </a:xfrm>
          <a:custGeom>
            <a:rect b="b" l="l" r="r" t="t"/>
            <a:pathLst>
              <a:path extrusionOk="0" h="381000" w="2516188">
                <a:moveTo>
                  <a:pt x="31749" y="0"/>
                </a:moveTo>
                <a:lnTo>
                  <a:pt x="2484439" y="0"/>
                </a:lnTo>
                <a:cubicBezTo>
                  <a:pt x="2501973" y="0"/>
                  <a:pt x="2516187" y="14214"/>
                  <a:pt x="2516187" y="31749"/>
                </a:cubicBezTo>
                <a:lnTo>
                  <a:pt x="2516188" y="349251"/>
                </a:lnTo>
                <a:cubicBezTo>
                  <a:pt x="2516187" y="366786"/>
                  <a:pt x="2501973" y="381000"/>
                  <a:pt x="248443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3286125" y="22780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C</a:t>
            </a:r>
            <a:endParaRPr b="0" i="0" sz="1600" u="none" cap="none" strike="noStrike"/>
          </a:p>
        </p:txBody>
      </p:sp>
      <p:sp>
        <p:nvSpPr>
          <p:cNvPr id="459" name="Google Shape;459;p12"/>
          <p:cNvSpPr/>
          <p:nvPr/>
        </p:nvSpPr>
        <p:spPr>
          <a:xfrm>
            <a:off x="3286125" y="24050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tolerance, larger margin</a:t>
            </a:r>
            <a:endParaRPr b="0" i="0" sz="1600" u="none" cap="none" strike="noStrike"/>
          </a:p>
        </p:txBody>
      </p:sp>
      <p:sp>
        <p:nvSpPr>
          <p:cNvPr id="460" name="Google Shape;460;p12"/>
          <p:cNvSpPr/>
          <p:nvPr/>
        </p:nvSpPr>
        <p:spPr>
          <a:xfrm>
            <a:off x="500063" y="2817813"/>
            <a:ext cx="5365750" cy="1111250"/>
          </a:xfrm>
          <a:custGeom>
            <a:rect b="b" l="l" r="r" t="t"/>
            <a:pathLst>
              <a:path extrusionOk="0" h="1111250" w="5365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1079502"/>
                </a:lnTo>
                <a:cubicBezTo>
                  <a:pt x="5365750" y="1097036"/>
                  <a:pt x="5351536" y="1111250"/>
                  <a:pt x="5334002" y="1111250"/>
                </a:cubicBezTo>
                <a:lnTo>
                  <a:pt x="31748" y="1111250"/>
                </a:lnTo>
                <a:cubicBezTo>
                  <a:pt x="14214" y="1111250"/>
                  <a:pt x="0" y="1097036"/>
                  <a:pt x="0" y="1079502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500063" y="2817813"/>
            <a:ext cx="31750" cy="1111250"/>
          </a:xfrm>
          <a:custGeom>
            <a:rect b="b" l="l" r="r" t="t"/>
            <a:pathLst>
              <a:path extrusionOk="0" h="1111250" w="31750">
                <a:moveTo>
                  <a:pt x="31750" y="0"/>
                </a:moveTo>
                <a:lnTo>
                  <a:pt x="31750" y="0"/>
                </a:lnTo>
                <a:lnTo>
                  <a:pt x="31750" y="1111250"/>
                </a:lnTo>
                <a:lnTo>
                  <a:pt x="31750" y="1111250"/>
                </a:lnTo>
                <a:cubicBezTo>
                  <a:pt x="14227" y="1111250"/>
                  <a:pt x="0" y="1097023"/>
                  <a:pt x="0" y="107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642938" y="2944813"/>
            <a:ext cx="5159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Gamma (γ)</a:t>
            </a:r>
            <a:endParaRPr b="0" i="0" sz="1600" u="none" cap="none" strike="noStrike"/>
          </a:p>
        </p:txBody>
      </p:sp>
      <p:sp>
        <p:nvSpPr>
          <p:cNvPr id="463" name="Google Shape;463;p12"/>
          <p:cNvSpPr/>
          <p:nvPr/>
        </p:nvSpPr>
        <p:spPr>
          <a:xfrm>
            <a:off x="642938" y="3198813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Defines influence of single training examples for RBF kernel.</a:t>
            </a:r>
            <a:endParaRPr b="0" i="0" sz="1600" u="none" cap="none" strike="noStrike"/>
          </a:p>
        </p:txBody>
      </p:sp>
      <p:sp>
        <p:nvSpPr>
          <p:cNvPr id="464" name="Google Shape;464;p12"/>
          <p:cNvSpPr/>
          <p:nvPr/>
        </p:nvSpPr>
        <p:spPr>
          <a:xfrm>
            <a:off x="642938" y="3421063"/>
            <a:ext cx="2516188" cy="381000"/>
          </a:xfrm>
          <a:custGeom>
            <a:rect b="b" l="l" r="r" t="t"/>
            <a:pathLst>
              <a:path extrusionOk="0" h="381000" w="2516188">
                <a:moveTo>
                  <a:pt x="31749" y="0"/>
                </a:moveTo>
                <a:lnTo>
                  <a:pt x="2484439" y="0"/>
                </a:lnTo>
                <a:cubicBezTo>
                  <a:pt x="2501973" y="0"/>
                  <a:pt x="2516187" y="14214"/>
                  <a:pt x="2516187" y="31749"/>
                </a:cubicBezTo>
                <a:lnTo>
                  <a:pt x="2516188" y="349251"/>
                </a:lnTo>
                <a:cubicBezTo>
                  <a:pt x="2516187" y="366786"/>
                  <a:pt x="2501973" y="381000"/>
                  <a:pt x="248443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706438" y="34845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Gamma</a:t>
            </a:r>
            <a:endParaRPr b="0" i="0" sz="1600" u="none" cap="none" strike="noStrike"/>
          </a:p>
        </p:txBody>
      </p:sp>
      <p:sp>
        <p:nvSpPr>
          <p:cNvPr id="466" name="Google Shape;466;p12"/>
          <p:cNvSpPr/>
          <p:nvPr/>
        </p:nvSpPr>
        <p:spPr>
          <a:xfrm>
            <a:off x="706438" y="36115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Tries to fit every example</a:t>
            </a:r>
            <a:endParaRPr b="0" i="0" sz="1600" u="none" cap="none" strike="noStrike"/>
          </a:p>
        </p:txBody>
      </p:sp>
      <p:sp>
        <p:nvSpPr>
          <p:cNvPr id="467" name="Google Shape;467;p12"/>
          <p:cNvSpPr/>
          <p:nvPr/>
        </p:nvSpPr>
        <p:spPr>
          <a:xfrm>
            <a:off x="3222625" y="3421063"/>
            <a:ext cx="2516188" cy="381000"/>
          </a:xfrm>
          <a:custGeom>
            <a:rect b="b" l="l" r="r" t="t"/>
            <a:pathLst>
              <a:path extrusionOk="0" h="381000" w="2516188">
                <a:moveTo>
                  <a:pt x="31749" y="0"/>
                </a:moveTo>
                <a:lnTo>
                  <a:pt x="2484439" y="0"/>
                </a:lnTo>
                <a:cubicBezTo>
                  <a:pt x="2501973" y="0"/>
                  <a:pt x="2516187" y="14214"/>
                  <a:pt x="2516187" y="31749"/>
                </a:cubicBezTo>
                <a:lnTo>
                  <a:pt x="2516188" y="349251"/>
                </a:lnTo>
                <a:cubicBezTo>
                  <a:pt x="2516187" y="366786"/>
                  <a:pt x="2501973" y="381000"/>
                  <a:pt x="2484439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3286125" y="34845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Gamma</a:t>
            </a:r>
            <a:endParaRPr b="0" i="0" sz="1600" u="none" cap="none" strike="noStrike"/>
          </a:p>
        </p:txBody>
      </p:sp>
      <p:sp>
        <p:nvSpPr>
          <p:cNvPr id="469" name="Google Shape;469;p12"/>
          <p:cNvSpPr/>
          <p:nvPr/>
        </p:nvSpPr>
        <p:spPr>
          <a:xfrm>
            <a:off x="3286125" y="3611563"/>
            <a:ext cx="2436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Generalized decision boundary</a:t>
            </a:r>
            <a:endParaRPr b="0" i="0" sz="1600" u="none" cap="none" strike="noStrike"/>
          </a:p>
        </p:txBody>
      </p:sp>
      <p:sp>
        <p:nvSpPr>
          <p:cNvPr id="470" name="Google Shape;470;p12"/>
          <p:cNvSpPr/>
          <p:nvPr/>
        </p:nvSpPr>
        <p:spPr>
          <a:xfrm>
            <a:off x="6163469" y="1131094"/>
            <a:ext cx="5707063" cy="3151188"/>
          </a:xfrm>
          <a:custGeom>
            <a:rect b="b" l="l" r="r" t="t"/>
            <a:pathLst>
              <a:path extrusionOk="0" h="3151188" w="5707063">
                <a:moveTo>
                  <a:pt x="63496" y="0"/>
                </a:moveTo>
                <a:lnTo>
                  <a:pt x="5643566" y="0"/>
                </a:lnTo>
                <a:cubicBezTo>
                  <a:pt x="5678634" y="0"/>
                  <a:pt x="5707062" y="28428"/>
                  <a:pt x="5707062" y="63496"/>
                </a:cubicBezTo>
                <a:lnTo>
                  <a:pt x="5707063" y="3087691"/>
                </a:lnTo>
                <a:cubicBezTo>
                  <a:pt x="5707062" y="3122759"/>
                  <a:pt x="5678634" y="3151188"/>
                  <a:pt x="5643566" y="3151188"/>
                </a:cubicBezTo>
                <a:lnTo>
                  <a:pt x="63496" y="3151188"/>
                </a:lnTo>
                <a:cubicBezTo>
                  <a:pt x="28428" y="3151188"/>
                  <a:pt x="0" y="3122759"/>
                  <a:pt x="0" y="3087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6326188" y="1325563"/>
            <a:ext cx="198438" cy="158750"/>
          </a:xfrm>
          <a:custGeom>
            <a:rect b="b" l="l" r="r" t="t"/>
            <a:pathLst>
              <a:path extrusionOk="0" h="158750" w="198438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6524625" y="1293813"/>
            <a:ext cx="526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Kernel Types Comparison</a:t>
            </a:r>
            <a:endParaRPr b="0" i="0" sz="1600" u="none" cap="none" strike="noStrike"/>
          </a:p>
        </p:txBody>
      </p:sp>
      <p:sp>
        <p:nvSpPr>
          <p:cNvPr id="473" name="Google Shape;473;p12"/>
          <p:cNvSpPr/>
          <p:nvPr/>
        </p:nvSpPr>
        <p:spPr>
          <a:xfrm>
            <a:off x="6342063" y="1611313"/>
            <a:ext cx="5365750" cy="793750"/>
          </a:xfrm>
          <a:custGeom>
            <a:rect b="b" l="l" r="r" t="t"/>
            <a:pathLst>
              <a:path extrusionOk="0" h="793750" w="5365750">
                <a:moveTo>
                  <a:pt x="31750" y="0"/>
                </a:moveTo>
                <a:lnTo>
                  <a:pt x="5334000" y="0"/>
                </a:lnTo>
                <a:cubicBezTo>
                  <a:pt x="5351523" y="0"/>
                  <a:pt x="5365750" y="14227"/>
                  <a:pt x="5365750" y="31750"/>
                </a:cubicBezTo>
                <a:lnTo>
                  <a:pt x="5365750" y="762000"/>
                </a:lnTo>
                <a:cubicBezTo>
                  <a:pt x="5365750" y="779523"/>
                  <a:pt x="5351523" y="793750"/>
                  <a:pt x="5334000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6342063" y="1611313"/>
            <a:ext cx="31750" cy="793750"/>
          </a:xfrm>
          <a:custGeom>
            <a:rect b="b" l="l" r="r" t="t"/>
            <a:pathLst>
              <a:path extrusionOk="0" h="793750" w="31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6453188" y="1706563"/>
            <a:ext cx="522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Kernel</a:t>
            </a:r>
            <a:endParaRPr b="0" i="0" sz="1600" u="none" cap="none" strike="noStrike"/>
          </a:p>
        </p:txBody>
      </p:sp>
      <p:sp>
        <p:nvSpPr>
          <p:cNvPr id="476" name="Google Shape;476;p12"/>
          <p:cNvSpPr/>
          <p:nvPr/>
        </p:nvSpPr>
        <p:spPr>
          <a:xfrm>
            <a:off x="6453188" y="1928813"/>
            <a:ext cx="5214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 Large datasets, linearly separable data</a:t>
            </a:r>
            <a:endParaRPr b="0" i="0" sz="1600" u="none" cap="none" strike="noStrike"/>
          </a:p>
        </p:txBody>
      </p:sp>
      <p:sp>
        <p:nvSpPr>
          <p:cNvPr id="477" name="Google Shape;477;p12"/>
          <p:cNvSpPr/>
          <p:nvPr/>
        </p:nvSpPr>
        <p:spPr>
          <a:xfrm>
            <a:off x="6453188" y="2119313"/>
            <a:ext cx="5159375" cy="190500"/>
          </a:xfrm>
          <a:custGeom>
            <a:rect b="b" l="l" r="r" t="t"/>
            <a:pathLst>
              <a:path extrusionOk="0" h="190500" w="5159375">
                <a:moveTo>
                  <a:pt x="31751" y="0"/>
                </a:moveTo>
                <a:lnTo>
                  <a:pt x="5127624" y="0"/>
                </a:lnTo>
                <a:cubicBezTo>
                  <a:pt x="5145160" y="0"/>
                  <a:pt x="5159375" y="14215"/>
                  <a:pt x="5159375" y="31751"/>
                </a:cubicBezTo>
                <a:lnTo>
                  <a:pt x="5159375" y="158749"/>
                </a:lnTo>
                <a:cubicBezTo>
                  <a:pt x="5159375" y="176285"/>
                  <a:pt x="5145160" y="190500"/>
                  <a:pt x="5127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6484938" y="2151063"/>
            <a:ext cx="51435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0F2F5"/>
                </a:solidFill>
                <a:latin typeface="Arial"/>
                <a:ea typeface="Arial"/>
                <a:cs typeface="Arial"/>
                <a:sym typeface="Arial"/>
              </a:rPr>
              <a:t>K(x,y) = x·y</a:t>
            </a:r>
            <a:endParaRPr b="0" i="0" sz="1600" u="none" cap="none" strike="noStrike"/>
          </a:p>
        </p:txBody>
      </p:sp>
      <p:sp>
        <p:nvSpPr>
          <p:cNvPr id="479" name="Google Shape;479;p12"/>
          <p:cNvSpPr/>
          <p:nvPr/>
        </p:nvSpPr>
        <p:spPr>
          <a:xfrm>
            <a:off x="6342063" y="2468563"/>
            <a:ext cx="5365750" cy="793750"/>
          </a:xfrm>
          <a:custGeom>
            <a:rect b="b" l="l" r="r" t="t"/>
            <a:pathLst>
              <a:path extrusionOk="0" h="793750" w="5365750">
                <a:moveTo>
                  <a:pt x="31750" y="0"/>
                </a:moveTo>
                <a:lnTo>
                  <a:pt x="5334000" y="0"/>
                </a:lnTo>
                <a:cubicBezTo>
                  <a:pt x="5351523" y="0"/>
                  <a:pt x="5365750" y="14227"/>
                  <a:pt x="5365750" y="31750"/>
                </a:cubicBezTo>
                <a:lnTo>
                  <a:pt x="5365750" y="762000"/>
                </a:lnTo>
                <a:cubicBezTo>
                  <a:pt x="5365750" y="779523"/>
                  <a:pt x="5351523" y="793750"/>
                  <a:pt x="5334000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6342063" y="2468563"/>
            <a:ext cx="31750" cy="793750"/>
          </a:xfrm>
          <a:custGeom>
            <a:rect b="b" l="l" r="r" t="t"/>
            <a:pathLst>
              <a:path extrusionOk="0" h="793750" w="31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6453188" y="2563813"/>
            <a:ext cx="522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RBF Kernel (Default)</a:t>
            </a:r>
            <a:endParaRPr b="0" i="0" sz="1600" u="none" cap="none" strike="noStrike"/>
          </a:p>
        </p:txBody>
      </p:sp>
      <p:sp>
        <p:nvSpPr>
          <p:cNvPr id="482" name="Google Shape;482;p12"/>
          <p:cNvSpPr/>
          <p:nvPr/>
        </p:nvSpPr>
        <p:spPr>
          <a:xfrm>
            <a:off x="6453188" y="2786063"/>
            <a:ext cx="5214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 Non-linear patterns, general-purpose use</a:t>
            </a:r>
            <a:endParaRPr b="0" i="0" sz="1600" u="none" cap="none" strike="noStrike"/>
          </a:p>
        </p:txBody>
      </p:sp>
      <p:sp>
        <p:nvSpPr>
          <p:cNvPr id="483" name="Google Shape;483;p12"/>
          <p:cNvSpPr/>
          <p:nvPr/>
        </p:nvSpPr>
        <p:spPr>
          <a:xfrm>
            <a:off x="6453188" y="2976563"/>
            <a:ext cx="5159375" cy="190500"/>
          </a:xfrm>
          <a:custGeom>
            <a:rect b="b" l="l" r="r" t="t"/>
            <a:pathLst>
              <a:path extrusionOk="0" h="190500" w="5159375">
                <a:moveTo>
                  <a:pt x="31751" y="0"/>
                </a:moveTo>
                <a:lnTo>
                  <a:pt x="5127624" y="0"/>
                </a:lnTo>
                <a:cubicBezTo>
                  <a:pt x="5145160" y="0"/>
                  <a:pt x="5159375" y="14215"/>
                  <a:pt x="5159375" y="31751"/>
                </a:cubicBezTo>
                <a:lnTo>
                  <a:pt x="5159375" y="158749"/>
                </a:lnTo>
                <a:cubicBezTo>
                  <a:pt x="5159375" y="176285"/>
                  <a:pt x="5145160" y="190500"/>
                  <a:pt x="5127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6484938" y="3008313"/>
            <a:ext cx="51435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0F2F5"/>
                </a:solidFill>
                <a:latin typeface="Arial"/>
                <a:ea typeface="Arial"/>
                <a:cs typeface="Arial"/>
                <a:sym typeface="Arial"/>
              </a:rPr>
              <a:t>K(x,y) = exp(-γ||x-y||²)</a:t>
            </a:r>
            <a:endParaRPr b="0" i="0" sz="1600" u="none" cap="none" strike="noStrike"/>
          </a:p>
        </p:txBody>
      </p:sp>
      <p:sp>
        <p:nvSpPr>
          <p:cNvPr id="485" name="Google Shape;485;p12"/>
          <p:cNvSpPr/>
          <p:nvPr/>
        </p:nvSpPr>
        <p:spPr>
          <a:xfrm>
            <a:off x="6342063" y="3325813"/>
            <a:ext cx="5365750" cy="793750"/>
          </a:xfrm>
          <a:custGeom>
            <a:rect b="b" l="l" r="r" t="t"/>
            <a:pathLst>
              <a:path extrusionOk="0" h="793750" w="5365750">
                <a:moveTo>
                  <a:pt x="31750" y="0"/>
                </a:moveTo>
                <a:lnTo>
                  <a:pt x="5334000" y="0"/>
                </a:lnTo>
                <a:cubicBezTo>
                  <a:pt x="5351523" y="0"/>
                  <a:pt x="5365750" y="14227"/>
                  <a:pt x="5365750" y="31750"/>
                </a:cubicBezTo>
                <a:lnTo>
                  <a:pt x="5365750" y="762000"/>
                </a:lnTo>
                <a:cubicBezTo>
                  <a:pt x="5365750" y="779523"/>
                  <a:pt x="5351523" y="793750"/>
                  <a:pt x="5334000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6342063" y="3325813"/>
            <a:ext cx="31750" cy="793750"/>
          </a:xfrm>
          <a:custGeom>
            <a:rect b="b" l="l" r="r" t="t"/>
            <a:pathLst>
              <a:path extrusionOk="0" h="793750" w="31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6453188" y="3421063"/>
            <a:ext cx="522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Polynomial Kernel</a:t>
            </a:r>
            <a:endParaRPr b="0" i="0" sz="1600" u="none" cap="none" strike="noStrike"/>
          </a:p>
        </p:txBody>
      </p:sp>
      <p:sp>
        <p:nvSpPr>
          <p:cNvPr id="488" name="Google Shape;488;p12"/>
          <p:cNvSpPr/>
          <p:nvPr/>
        </p:nvSpPr>
        <p:spPr>
          <a:xfrm>
            <a:off x="6453188" y="3643313"/>
            <a:ext cx="5214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 Specific curved patterns, controlled complexity</a:t>
            </a:r>
            <a:endParaRPr b="0" i="0" sz="1600" u="none" cap="none" strike="noStrike"/>
          </a:p>
        </p:txBody>
      </p:sp>
      <p:sp>
        <p:nvSpPr>
          <p:cNvPr id="489" name="Google Shape;489;p12"/>
          <p:cNvSpPr/>
          <p:nvPr/>
        </p:nvSpPr>
        <p:spPr>
          <a:xfrm>
            <a:off x="6453188" y="3833812"/>
            <a:ext cx="5159375" cy="190500"/>
          </a:xfrm>
          <a:custGeom>
            <a:rect b="b" l="l" r="r" t="t"/>
            <a:pathLst>
              <a:path extrusionOk="0" h="190500" w="5159375">
                <a:moveTo>
                  <a:pt x="31751" y="0"/>
                </a:moveTo>
                <a:lnTo>
                  <a:pt x="5127624" y="0"/>
                </a:lnTo>
                <a:cubicBezTo>
                  <a:pt x="5145160" y="0"/>
                  <a:pt x="5159375" y="14215"/>
                  <a:pt x="5159375" y="31751"/>
                </a:cubicBezTo>
                <a:lnTo>
                  <a:pt x="5159375" y="158749"/>
                </a:lnTo>
                <a:cubicBezTo>
                  <a:pt x="5159375" y="176285"/>
                  <a:pt x="5145160" y="190500"/>
                  <a:pt x="5127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6C7A8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6484938" y="3865563"/>
            <a:ext cx="51435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0F2F5"/>
                </a:solidFill>
                <a:latin typeface="Arial"/>
                <a:ea typeface="Arial"/>
                <a:cs typeface="Arial"/>
                <a:sym typeface="Arial"/>
              </a:rPr>
              <a:t>K(x,y) = (x·y + c)ᵈ</a:t>
            </a:r>
            <a:endParaRPr b="0" i="0" sz="1600" u="none" cap="none" strike="noStrike"/>
          </a:p>
        </p:txBody>
      </p:sp>
      <p:sp>
        <p:nvSpPr>
          <p:cNvPr id="491" name="Google Shape;491;p12"/>
          <p:cNvSpPr/>
          <p:nvPr/>
        </p:nvSpPr>
        <p:spPr>
          <a:xfrm>
            <a:off x="6163469" y="4417219"/>
            <a:ext cx="5707063" cy="2135188"/>
          </a:xfrm>
          <a:custGeom>
            <a:rect b="b" l="l" r="r" t="t"/>
            <a:pathLst>
              <a:path extrusionOk="0" h="2135188" w="5707063">
                <a:moveTo>
                  <a:pt x="63500" y="0"/>
                </a:moveTo>
                <a:lnTo>
                  <a:pt x="5643562" y="0"/>
                </a:lnTo>
                <a:cubicBezTo>
                  <a:pt x="5678632" y="0"/>
                  <a:pt x="5707063" y="28430"/>
                  <a:pt x="5707063" y="63500"/>
                </a:cubicBezTo>
                <a:lnTo>
                  <a:pt x="5707063" y="2071687"/>
                </a:lnTo>
                <a:cubicBezTo>
                  <a:pt x="5707063" y="2106757"/>
                  <a:pt x="5678632" y="2135188"/>
                  <a:pt x="5643562" y="2135188"/>
                </a:cubicBezTo>
                <a:lnTo>
                  <a:pt x="63500" y="2135188"/>
                </a:lnTo>
                <a:cubicBezTo>
                  <a:pt x="28430" y="2135188"/>
                  <a:pt x="0" y="2106757"/>
                  <a:pt x="0" y="2071687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6258719" y="4548188"/>
            <a:ext cx="5516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Kernel Decision Boundaries</a:t>
            </a:r>
            <a:endParaRPr b="0" i="0" sz="1600" u="none" cap="none" strike="noStrike"/>
          </a:p>
        </p:txBody>
      </p:sp>
      <p:pic>
        <p:nvPicPr>
          <p:cNvPr descr="preencoded.png" id="493" name="Google Shape;4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4438" y="4833938"/>
            <a:ext cx="4429125" cy="1587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494" name="Google Shape;4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4438" y="4833938"/>
            <a:ext cx="4429125" cy="1587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495" name="Google Shape;4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4438" y="4833938"/>
            <a:ext cx="4429125" cy="1587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kimi-web-img.moonshot.cn/img/miro.medium.com/abdd6e4e04af98abed162dacdd8db98707959948.png" id="501" name="Google Shape;501;p1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2" name="Google Shape;502;p1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89803"/>
                </a:srgbClr>
              </a:gs>
              <a:gs pos="100000">
                <a:srgbClr val="1A1D21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503" name="Google Shape;503;p13"/>
          <p:cNvSpPr/>
          <p:nvPr/>
        </p:nvSpPr>
        <p:spPr>
          <a:xfrm>
            <a:off x="390525" y="1609725"/>
            <a:ext cx="752475" cy="552450"/>
          </a:xfrm>
          <a:custGeom>
            <a:rect b="b" l="l" r="r" t="t"/>
            <a:pathLst>
              <a:path extrusionOk="0" h="552450" w="752475">
                <a:moveTo>
                  <a:pt x="276225" y="0"/>
                </a:moveTo>
                <a:lnTo>
                  <a:pt x="476250" y="0"/>
                </a:lnTo>
                <a:cubicBezTo>
                  <a:pt x="628703" y="0"/>
                  <a:pt x="752475" y="123772"/>
                  <a:pt x="752475" y="276225"/>
                </a:cubicBezTo>
                <a:lnTo>
                  <a:pt x="752475" y="276225"/>
                </a:lnTo>
                <a:cubicBezTo>
                  <a:pt x="752475" y="428678"/>
                  <a:pt x="628703" y="552450"/>
                  <a:pt x="476250" y="552450"/>
                </a:cubicBezTo>
                <a:lnTo>
                  <a:pt x="276225" y="552450"/>
                </a:lnTo>
                <a:cubicBezTo>
                  <a:pt x="123772" y="552450"/>
                  <a:pt x="0" y="428678"/>
                  <a:pt x="0" y="276225"/>
                </a:cubicBezTo>
                <a:lnTo>
                  <a:pt x="0" y="276225"/>
                </a:lnTo>
                <a:cubicBezTo>
                  <a:pt x="0" y="123772"/>
                  <a:pt x="123772" y="0"/>
                  <a:pt x="276225" y="0"/>
                </a:cubicBezTo>
                <a:close/>
              </a:path>
            </a:pathLst>
          </a:custGeom>
          <a:solidFill>
            <a:srgbClr val="4DB59A">
              <a:alpha val="29803"/>
            </a:srgbClr>
          </a:solidFill>
          <a:ln cap="flat" cmpd="sng" w="254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628650" y="1733550"/>
            <a:ext cx="390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b="0" i="0" sz="1600" u="none" cap="none" strike="noStrike"/>
          </a:p>
        </p:txBody>
      </p:sp>
      <p:sp>
        <p:nvSpPr>
          <p:cNvPr id="505" name="Google Shape;505;p13"/>
          <p:cNvSpPr/>
          <p:nvPr/>
        </p:nvSpPr>
        <p:spPr>
          <a:xfrm>
            <a:off x="381000" y="2400300"/>
            <a:ext cx="11715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Practical Implementation</a:t>
            </a:r>
            <a:endParaRPr b="0" i="0" sz="1600" u="none" cap="none" strike="noStrike"/>
          </a:p>
        </p:txBody>
      </p:sp>
      <p:sp>
        <p:nvSpPr>
          <p:cNvPr id="506" name="Google Shape;506;p13"/>
          <p:cNvSpPr/>
          <p:nvPr/>
        </p:nvSpPr>
        <p:spPr>
          <a:xfrm>
            <a:off x="381000" y="3343275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Building a Customer Churn Prediction Model</a:t>
            </a:r>
            <a:endParaRPr b="0" i="0" sz="1600" u="none" cap="none" strike="noStrike"/>
          </a:p>
        </p:txBody>
      </p:sp>
      <p:sp>
        <p:nvSpPr>
          <p:cNvPr id="507" name="Google Shape;507;p13"/>
          <p:cNvSpPr/>
          <p:nvPr/>
        </p:nvSpPr>
        <p:spPr>
          <a:xfrm>
            <a:off x="381000" y="3990975"/>
            <a:ext cx="6496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 let's apply our knowledge to build a </a:t>
            </a:r>
            <a:r>
              <a:rPr b="1" i="0" lang="en-US" sz="15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churn prediction model</a:t>
            </a:r>
            <a:r>
              <a:rPr b="0" i="0" lang="en-US" sz="15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using all three algorithms.</a:t>
            </a:r>
            <a:endParaRPr b="0" i="0" sz="1600" u="none" cap="none" strike="noStrike"/>
          </a:p>
        </p:txBody>
      </p:sp>
      <p:sp>
        <p:nvSpPr>
          <p:cNvPr id="508" name="Google Shape;508;p13"/>
          <p:cNvSpPr/>
          <p:nvPr/>
        </p:nvSpPr>
        <p:spPr>
          <a:xfrm>
            <a:off x="381000" y="4724400"/>
            <a:ext cx="64865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We'll cover the complete workflow: feature engineering, data preprocessing, model training, evaluation, and deployment strategies.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"/>
          <p:cNvSpPr/>
          <p:nvPr/>
        </p:nvSpPr>
        <p:spPr>
          <a:xfrm>
            <a:off x="385763" y="385763"/>
            <a:ext cx="1552575" cy="314325"/>
          </a:xfrm>
          <a:custGeom>
            <a:rect b="b" l="l" r="r" t="t"/>
            <a:pathLst>
              <a:path extrusionOk="0" h="314325" w="1552575">
                <a:moveTo>
                  <a:pt x="157163" y="0"/>
                </a:moveTo>
                <a:lnTo>
                  <a:pt x="1395413" y="0"/>
                </a:lnTo>
                <a:cubicBezTo>
                  <a:pt x="1482153" y="0"/>
                  <a:pt x="1552575" y="70422"/>
                  <a:pt x="1552575" y="157163"/>
                </a:cubicBezTo>
                <a:lnTo>
                  <a:pt x="1552575" y="157163"/>
                </a:lnTo>
                <a:cubicBezTo>
                  <a:pt x="1552575" y="243903"/>
                  <a:pt x="1482153" y="314325"/>
                  <a:pt x="139541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504825" y="476250"/>
            <a:ext cx="13830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CHURN PREDICTION</a:t>
            </a:r>
            <a:endParaRPr b="0" i="0" sz="1600" u="none" cap="none" strike="noStrike"/>
          </a:p>
        </p:txBody>
      </p:sp>
      <p:sp>
        <p:nvSpPr>
          <p:cNvPr id="516" name="Google Shape;516;p14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Understanding the Business Problem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385763" y="1357313"/>
            <a:ext cx="5629275" cy="2200275"/>
          </a:xfrm>
          <a:custGeom>
            <a:rect b="b" l="l" r="r" t="t"/>
            <a:pathLst>
              <a:path extrusionOk="0" h="2200275" w="5629275">
                <a:moveTo>
                  <a:pt x="76196" y="0"/>
                </a:moveTo>
                <a:lnTo>
                  <a:pt x="5553079" y="0"/>
                </a:lnTo>
                <a:cubicBezTo>
                  <a:pt x="5595161" y="0"/>
                  <a:pt x="5629275" y="34114"/>
                  <a:pt x="5629275" y="76196"/>
                </a:cubicBezTo>
                <a:lnTo>
                  <a:pt x="5629275" y="2124079"/>
                </a:lnTo>
                <a:cubicBezTo>
                  <a:pt x="5629275" y="2166161"/>
                  <a:pt x="5595161" y="2200275"/>
                  <a:pt x="5553079" y="2200275"/>
                </a:cubicBezTo>
                <a:lnTo>
                  <a:pt x="76196" y="2200275"/>
                </a:lnTo>
                <a:cubicBezTo>
                  <a:pt x="34114" y="2200275"/>
                  <a:pt x="0" y="2166161"/>
                  <a:pt x="0" y="21240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42925" y="1552575"/>
            <a:ext cx="238125" cy="190500"/>
          </a:xfrm>
          <a:custGeom>
            <a:rect b="b" l="l" r="r" t="t"/>
            <a:pathLst>
              <a:path extrusionOk="0" h="190500" w="238125">
                <a:moveTo>
                  <a:pt x="50750" y="47625"/>
                </a:moveTo>
                <a:cubicBezTo>
                  <a:pt x="50750" y="31674"/>
                  <a:pt x="59260" y="16934"/>
                  <a:pt x="73075" y="8958"/>
                </a:cubicBezTo>
                <a:cubicBezTo>
                  <a:pt x="86889" y="983"/>
                  <a:pt x="103909" y="983"/>
                  <a:pt x="117723" y="8958"/>
                </a:cubicBezTo>
                <a:cubicBezTo>
                  <a:pt x="131537" y="16934"/>
                  <a:pt x="140047" y="31674"/>
                  <a:pt x="140047" y="47625"/>
                </a:cubicBezTo>
                <a:cubicBezTo>
                  <a:pt x="140047" y="72267"/>
                  <a:pt x="120041" y="92273"/>
                  <a:pt x="95399" y="92273"/>
                </a:cubicBezTo>
                <a:cubicBezTo>
                  <a:pt x="70757" y="92273"/>
                  <a:pt x="50750" y="72267"/>
                  <a:pt x="50750" y="47625"/>
                </a:cubicBezTo>
                <a:close/>
                <a:moveTo>
                  <a:pt x="18008" y="179450"/>
                </a:moveTo>
                <a:cubicBezTo>
                  <a:pt x="18008" y="142801"/>
                  <a:pt x="47699" y="113109"/>
                  <a:pt x="84348" y="113109"/>
                </a:cubicBezTo>
                <a:lnTo>
                  <a:pt x="106449" y="113109"/>
                </a:lnTo>
                <a:cubicBezTo>
                  <a:pt x="143098" y="113109"/>
                  <a:pt x="172789" y="142801"/>
                  <a:pt x="172789" y="179450"/>
                </a:cubicBezTo>
                <a:cubicBezTo>
                  <a:pt x="172789" y="185551"/>
                  <a:pt x="167841" y="190500"/>
                  <a:pt x="1617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lose/>
                <a:moveTo>
                  <a:pt x="227819" y="46174"/>
                </a:moveTo>
                <a:cubicBezTo>
                  <a:pt x="231316" y="49671"/>
                  <a:pt x="231316" y="55327"/>
                  <a:pt x="227819" y="58787"/>
                </a:cubicBezTo>
                <a:lnTo>
                  <a:pt x="215205" y="71400"/>
                </a:lnTo>
                <a:lnTo>
                  <a:pt x="227819" y="84013"/>
                </a:lnTo>
                <a:cubicBezTo>
                  <a:pt x="231316" y="87511"/>
                  <a:pt x="231316" y="93166"/>
                  <a:pt x="227819" y="96627"/>
                </a:cubicBezTo>
                <a:cubicBezTo>
                  <a:pt x="224321" y="100087"/>
                  <a:pt x="218666" y="100124"/>
                  <a:pt x="215205" y="96627"/>
                </a:cubicBezTo>
                <a:lnTo>
                  <a:pt x="202592" y="84013"/>
                </a:lnTo>
                <a:lnTo>
                  <a:pt x="189979" y="96627"/>
                </a:lnTo>
                <a:cubicBezTo>
                  <a:pt x="186482" y="100124"/>
                  <a:pt x="180826" y="100124"/>
                  <a:pt x="177366" y="96627"/>
                </a:cubicBezTo>
                <a:cubicBezTo>
                  <a:pt x="173906" y="93129"/>
                  <a:pt x="173868" y="87474"/>
                  <a:pt x="177366" y="84013"/>
                </a:cubicBezTo>
                <a:lnTo>
                  <a:pt x="189979" y="71400"/>
                </a:lnTo>
                <a:lnTo>
                  <a:pt x="177366" y="58787"/>
                </a:lnTo>
                <a:cubicBezTo>
                  <a:pt x="173868" y="55290"/>
                  <a:pt x="173868" y="49634"/>
                  <a:pt x="177366" y="46174"/>
                </a:cubicBezTo>
                <a:cubicBezTo>
                  <a:pt x="180863" y="42714"/>
                  <a:pt x="186519" y="42676"/>
                  <a:pt x="189979" y="46174"/>
                </a:cubicBezTo>
                <a:lnTo>
                  <a:pt x="202592" y="58787"/>
                </a:lnTo>
                <a:lnTo>
                  <a:pt x="215205" y="46174"/>
                </a:lnTo>
                <a:cubicBezTo>
                  <a:pt x="218703" y="42676"/>
                  <a:pt x="224358" y="42676"/>
                  <a:pt x="227819" y="46174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781050" y="1514475"/>
            <a:ext cx="517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What is Customer Churn?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42925" y="1895475"/>
            <a:ext cx="53911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churn occurs when customers </a:t>
            </a:r>
            <a:r>
              <a:rPr b="0" i="0" lang="en-US" sz="1200" u="none" cap="none" strike="noStrike">
                <a:solidFill>
                  <a:schemeClr val="accent6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stop using a company's products or services 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includes subscription cancellations, account closures, or prolonged inactivity.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61975" y="2752725"/>
            <a:ext cx="5295900" cy="647700"/>
          </a:xfrm>
          <a:custGeom>
            <a:rect b="b" l="l" r="r" t="t"/>
            <a:pathLst>
              <a:path extrusionOk="0" h="647700" w="5295900">
                <a:moveTo>
                  <a:pt x="38098" y="0"/>
                </a:moveTo>
                <a:lnTo>
                  <a:pt x="5257802" y="0"/>
                </a:lnTo>
                <a:cubicBezTo>
                  <a:pt x="5278829" y="0"/>
                  <a:pt x="5295900" y="17071"/>
                  <a:pt x="5295900" y="38098"/>
                </a:cubicBezTo>
                <a:lnTo>
                  <a:pt x="5295900" y="609602"/>
                </a:lnTo>
                <a:cubicBezTo>
                  <a:pt x="5295900" y="630643"/>
                  <a:pt x="5278843" y="647700"/>
                  <a:pt x="52578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561975" y="2752725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695325" y="2867025"/>
            <a:ext cx="5114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Impact:</a:t>
            </a:r>
            <a:endParaRPr b="0" i="0" sz="1600" u="none" cap="none" strike="noStrike"/>
          </a:p>
        </p:txBody>
      </p:sp>
      <p:sp>
        <p:nvSpPr>
          <p:cNvPr id="524" name="Google Shape;524;p14"/>
          <p:cNvSpPr/>
          <p:nvPr/>
        </p:nvSpPr>
        <p:spPr>
          <a:xfrm>
            <a:off x="695325" y="3095625"/>
            <a:ext cx="5114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Acquiring new customers costs </a:t>
            </a:r>
            <a:r>
              <a:rPr b="1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5x more</a:t>
            </a:r>
            <a:r>
              <a:rPr b="0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than retaining existing ones.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85763" y="3681413"/>
            <a:ext cx="5629275" cy="2219325"/>
          </a:xfrm>
          <a:custGeom>
            <a:rect b="b" l="l" r="r" t="t"/>
            <a:pathLst>
              <a:path extrusionOk="0" h="2219325" w="5629275">
                <a:moveTo>
                  <a:pt x="76189" y="0"/>
                </a:moveTo>
                <a:lnTo>
                  <a:pt x="5553086" y="0"/>
                </a:lnTo>
                <a:cubicBezTo>
                  <a:pt x="5595136" y="0"/>
                  <a:pt x="5629275" y="34139"/>
                  <a:pt x="5629275" y="76189"/>
                </a:cubicBezTo>
                <a:lnTo>
                  <a:pt x="5629275" y="2143136"/>
                </a:lnTo>
                <a:cubicBezTo>
                  <a:pt x="5629275" y="2185214"/>
                  <a:pt x="5595164" y="2219325"/>
                  <a:pt x="555308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566738" y="38766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781050" y="3838575"/>
            <a:ext cx="517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Common Churn Indicators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42925" y="4219575"/>
            <a:ext cx="2619375" cy="723900"/>
          </a:xfrm>
          <a:custGeom>
            <a:rect b="b" l="l" r="r" t="t"/>
            <a:pathLst>
              <a:path extrusionOk="0" h="723900" w="2619375">
                <a:moveTo>
                  <a:pt x="38099" y="0"/>
                </a:moveTo>
                <a:lnTo>
                  <a:pt x="2581276" y="0"/>
                </a:lnTo>
                <a:cubicBezTo>
                  <a:pt x="2602303" y="0"/>
                  <a:pt x="2619375" y="17072"/>
                  <a:pt x="2619375" y="38099"/>
                </a:cubicBezTo>
                <a:lnTo>
                  <a:pt x="2619375" y="685801"/>
                </a:lnTo>
                <a:cubicBezTo>
                  <a:pt x="2619375" y="706828"/>
                  <a:pt x="2602303" y="723900"/>
                  <a:pt x="25812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/>
          <p:nvPr/>
        </p:nvSpPr>
        <p:spPr>
          <a:xfrm>
            <a:off x="638175" y="43338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619125" y="45243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 Engagement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619125" y="4714875"/>
            <a:ext cx="2524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usage</a:t>
            </a:r>
            <a:endParaRPr b="0" i="0" sz="1600" u="none" cap="none" strike="noStrike"/>
          </a:p>
        </p:txBody>
      </p:sp>
      <p:sp>
        <p:nvSpPr>
          <p:cNvPr id="532" name="Google Shape;532;p14"/>
          <p:cNvSpPr/>
          <p:nvPr/>
        </p:nvSpPr>
        <p:spPr>
          <a:xfrm>
            <a:off x="3238500" y="4219575"/>
            <a:ext cx="2619375" cy="723900"/>
          </a:xfrm>
          <a:custGeom>
            <a:rect b="b" l="l" r="r" t="t"/>
            <a:pathLst>
              <a:path extrusionOk="0" h="723900" w="2619375">
                <a:moveTo>
                  <a:pt x="38099" y="0"/>
                </a:moveTo>
                <a:lnTo>
                  <a:pt x="2581276" y="0"/>
                </a:lnTo>
                <a:cubicBezTo>
                  <a:pt x="2602303" y="0"/>
                  <a:pt x="2619375" y="17072"/>
                  <a:pt x="2619375" y="38099"/>
                </a:cubicBezTo>
                <a:lnTo>
                  <a:pt x="2619375" y="685801"/>
                </a:lnTo>
                <a:cubicBezTo>
                  <a:pt x="2619375" y="706828"/>
                  <a:pt x="2602303" y="723900"/>
                  <a:pt x="25812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3324225" y="4333875"/>
            <a:ext cx="171450" cy="152400"/>
          </a:xfrm>
          <a:custGeom>
            <a:rect b="b" l="l" r="r" t="t"/>
            <a:pathLst>
              <a:path extrusionOk="0" h="152400" w="17145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3314700" y="45243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Complaints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3314700" y="4714875"/>
            <a:ext cx="2524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tickets</a:t>
            </a:r>
            <a:endParaRPr b="0" i="0" sz="1600" u="none" cap="none" strike="noStrike"/>
          </a:p>
        </p:txBody>
      </p:sp>
      <p:sp>
        <p:nvSpPr>
          <p:cNvPr id="536" name="Google Shape;536;p14"/>
          <p:cNvSpPr/>
          <p:nvPr/>
        </p:nvSpPr>
        <p:spPr>
          <a:xfrm>
            <a:off x="542925" y="5019675"/>
            <a:ext cx="2619375" cy="723900"/>
          </a:xfrm>
          <a:custGeom>
            <a:rect b="b" l="l" r="r" t="t"/>
            <a:pathLst>
              <a:path extrusionOk="0" h="723900" w="2619375">
                <a:moveTo>
                  <a:pt x="38099" y="0"/>
                </a:moveTo>
                <a:lnTo>
                  <a:pt x="2581276" y="0"/>
                </a:lnTo>
                <a:cubicBezTo>
                  <a:pt x="2602303" y="0"/>
                  <a:pt x="2619375" y="17072"/>
                  <a:pt x="2619375" y="38099"/>
                </a:cubicBezTo>
                <a:lnTo>
                  <a:pt x="2619375" y="685801"/>
                </a:lnTo>
                <a:cubicBezTo>
                  <a:pt x="2619375" y="706828"/>
                  <a:pt x="2602303" y="723900"/>
                  <a:pt x="25812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638175" y="5133975"/>
            <a:ext cx="152400" cy="152400"/>
          </a:xfrm>
          <a:custGeom>
            <a:rect b="b" l="l" r="r" t="t"/>
            <a:pathLst>
              <a:path extrusionOk="0" h="152400" w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619125" y="53244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Subscription Cancellations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619125" y="5514975"/>
            <a:ext cx="2524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Turning off auto-renew</a:t>
            </a:r>
            <a:endParaRPr b="0" i="0" sz="1600" u="none" cap="none" strike="noStrike"/>
          </a:p>
        </p:txBody>
      </p:sp>
      <p:sp>
        <p:nvSpPr>
          <p:cNvPr id="540" name="Google Shape;540;p14"/>
          <p:cNvSpPr/>
          <p:nvPr/>
        </p:nvSpPr>
        <p:spPr>
          <a:xfrm>
            <a:off x="3238500" y="5019675"/>
            <a:ext cx="2619375" cy="723900"/>
          </a:xfrm>
          <a:custGeom>
            <a:rect b="b" l="l" r="r" t="t"/>
            <a:pathLst>
              <a:path extrusionOk="0" h="723900" w="2619375">
                <a:moveTo>
                  <a:pt x="38099" y="0"/>
                </a:moveTo>
                <a:lnTo>
                  <a:pt x="2581276" y="0"/>
                </a:lnTo>
                <a:cubicBezTo>
                  <a:pt x="2602303" y="0"/>
                  <a:pt x="2619375" y="17072"/>
                  <a:pt x="2619375" y="38099"/>
                </a:cubicBezTo>
                <a:lnTo>
                  <a:pt x="2619375" y="685801"/>
                </a:lnTo>
                <a:cubicBezTo>
                  <a:pt x="2619375" y="706828"/>
                  <a:pt x="2602303" y="723900"/>
                  <a:pt x="25812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3314700" y="5133975"/>
            <a:ext cx="190500" cy="152400"/>
          </a:xfrm>
          <a:custGeom>
            <a:rect b="b" l="l" r="r" t="t"/>
            <a:pathLst>
              <a:path extrusionOk="0" h="152400" w="1905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3314700" y="53244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Decreased Transactions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3314700" y="5514975"/>
            <a:ext cx="2524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purchase frequency</a:t>
            </a:r>
            <a:endParaRPr b="0" i="0" sz="1600" u="none" cap="none" strike="noStrike"/>
          </a:p>
        </p:txBody>
      </p:sp>
      <p:sp>
        <p:nvSpPr>
          <p:cNvPr id="544" name="Google Shape;544;p14"/>
          <p:cNvSpPr/>
          <p:nvPr/>
        </p:nvSpPr>
        <p:spPr>
          <a:xfrm>
            <a:off x="6176963" y="1357313"/>
            <a:ext cx="5629275" cy="2562225"/>
          </a:xfrm>
          <a:custGeom>
            <a:rect b="b" l="l" r="r" t="t"/>
            <a:pathLst>
              <a:path extrusionOk="0" h="2562225" w="5629275">
                <a:moveTo>
                  <a:pt x="76201" y="0"/>
                </a:moveTo>
                <a:lnTo>
                  <a:pt x="5553074" y="0"/>
                </a:lnTo>
                <a:cubicBezTo>
                  <a:pt x="5595131" y="0"/>
                  <a:pt x="5629275" y="34144"/>
                  <a:pt x="5629275" y="76201"/>
                </a:cubicBezTo>
                <a:lnTo>
                  <a:pt x="5629275" y="2486024"/>
                </a:lnTo>
                <a:cubicBezTo>
                  <a:pt x="5629275" y="2528081"/>
                  <a:pt x="5595131" y="2562225"/>
                  <a:pt x="555307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6291263" y="1514475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Typical Churn Rates by Industry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pic>
        <p:nvPicPr>
          <p:cNvPr descr="preencoded.png" id="546" name="Google Shape;5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57375"/>
            <a:ext cx="5314950" cy="1905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547" name="Google Shape;54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57375"/>
            <a:ext cx="5314950" cy="1905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548" name="Google Shape;54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57375"/>
            <a:ext cx="5314950" cy="1905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49" name="Google Shape;549;p14"/>
          <p:cNvSpPr/>
          <p:nvPr/>
        </p:nvSpPr>
        <p:spPr>
          <a:xfrm>
            <a:off x="6176963" y="4043363"/>
            <a:ext cx="5629275" cy="2295525"/>
          </a:xfrm>
          <a:custGeom>
            <a:rect b="b" l="l" r="r" t="t"/>
            <a:pathLst>
              <a:path extrusionOk="0" h="2295525" w="5629275">
                <a:moveTo>
                  <a:pt x="76211" y="0"/>
                </a:moveTo>
                <a:lnTo>
                  <a:pt x="5553064" y="0"/>
                </a:lnTo>
                <a:cubicBezTo>
                  <a:pt x="5595154" y="0"/>
                  <a:pt x="5629275" y="34121"/>
                  <a:pt x="5629275" y="76211"/>
                </a:cubicBezTo>
                <a:lnTo>
                  <a:pt x="5629275" y="2219314"/>
                </a:lnTo>
                <a:cubicBezTo>
                  <a:pt x="5629275" y="2261404"/>
                  <a:pt x="5595154" y="2295525"/>
                  <a:pt x="55530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6334125" y="4238625"/>
            <a:ext cx="238125" cy="190500"/>
          </a:xfrm>
          <a:custGeom>
            <a:rect b="b" l="l" r="r" t="t"/>
            <a:pathLst>
              <a:path extrusionOk="0" h="190500" w="238125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6572250" y="4200525"/>
            <a:ext cx="517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ML Approach to Churn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6334125" y="4581525"/>
            <a:ext cx="53911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Instead of reacting after customers leave, we </a:t>
            </a:r>
            <a:r>
              <a:rPr b="0" i="0" lang="en-US" sz="1200" u="none" cap="none" strike="noStrike">
                <a:solidFill>
                  <a:schemeClr val="accent6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predict churn probability 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enable proactive retention.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6334125" y="5191125"/>
            <a:ext cx="5314950" cy="990600"/>
          </a:xfrm>
          <a:custGeom>
            <a:rect b="b" l="l" r="r" t="t"/>
            <a:pathLst>
              <a:path extrusionOk="0" h="990600" w="5314950">
                <a:moveTo>
                  <a:pt x="38098" y="0"/>
                </a:moveTo>
                <a:lnTo>
                  <a:pt x="5276852" y="0"/>
                </a:lnTo>
                <a:cubicBezTo>
                  <a:pt x="5297893" y="0"/>
                  <a:pt x="5314950" y="17057"/>
                  <a:pt x="5314950" y="38098"/>
                </a:cubicBezTo>
                <a:lnTo>
                  <a:pt x="5314950" y="952502"/>
                </a:lnTo>
                <a:cubicBezTo>
                  <a:pt x="5314950" y="973543"/>
                  <a:pt x="5297893" y="990600"/>
                  <a:pt x="527685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6448425" y="5305425"/>
            <a:ext cx="5153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Workflow:</a:t>
            </a:r>
            <a:endParaRPr b="0" i="0" sz="1600" u="none" cap="none" strike="noStrike"/>
          </a:p>
        </p:txBody>
      </p:sp>
      <p:sp>
        <p:nvSpPr>
          <p:cNvPr id="555" name="Google Shape;555;p14"/>
          <p:cNvSpPr/>
          <p:nvPr/>
        </p:nvSpPr>
        <p:spPr>
          <a:xfrm>
            <a:off x="6448425" y="55721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6419850" y="5572125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557" name="Google Shape;557;p14"/>
          <p:cNvSpPr/>
          <p:nvPr/>
        </p:nvSpPr>
        <p:spPr>
          <a:xfrm>
            <a:off x="6419850" y="5915025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 b="0" i="0" sz="16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7081838" y="5762625"/>
            <a:ext cx="114300" cy="114300"/>
          </a:xfrm>
          <a:custGeom>
            <a:rect b="b" l="l" r="r" t="t"/>
            <a:pathLst>
              <a:path extrusionOk="0" h="114300" w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7581900" y="55721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7553325" y="5572125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561" name="Google Shape;561;p14"/>
          <p:cNvSpPr/>
          <p:nvPr/>
        </p:nvSpPr>
        <p:spPr>
          <a:xfrm>
            <a:off x="7496175" y="5915025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</a:t>
            </a:r>
            <a:endParaRPr b="0" i="0" sz="16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8272463" y="5762625"/>
            <a:ext cx="114300" cy="114300"/>
          </a:xfrm>
          <a:custGeom>
            <a:rect b="b" l="l" r="r" t="t"/>
            <a:pathLst>
              <a:path extrusionOk="0" h="114300" w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8763000" y="55721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734425" y="5572125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565" name="Google Shape;565;p14"/>
          <p:cNvSpPr/>
          <p:nvPr/>
        </p:nvSpPr>
        <p:spPr>
          <a:xfrm>
            <a:off x="8686800" y="5915025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</a:t>
            </a:r>
            <a:endParaRPr b="0" i="0" sz="16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9444038" y="5762625"/>
            <a:ext cx="114300" cy="114300"/>
          </a:xfrm>
          <a:custGeom>
            <a:rect b="b" l="l" r="r" t="t"/>
            <a:pathLst>
              <a:path extrusionOk="0" h="114300" w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9996488" y="55721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9967913" y="5572125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569" name="Google Shape;569;p14"/>
          <p:cNvSpPr/>
          <p:nvPr/>
        </p:nvSpPr>
        <p:spPr>
          <a:xfrm>
            <a:off x="9858375" y="5915025"/>
            <a:ext cx="581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b="0" i="0" sz="16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10739438" y="5762625"/>
            <a:ext cx="114300" cy="114300"/>
          </a:xfrm>
          <a:custGeom>
            <a:rect b="b" l="l" r="r" t="t"/>
            <a:pathLst>
              <a:path extrusionOk="0" h="114300" w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11206163" y="5572125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11177588" y="5572125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573" name="Google Shape;573;p14"/>
          <p:cNvSpPr/>
          <p:nvPr/>
        </p:nvSpPr>
        <p:spPr>
          <a:xfrm>
            <a:off x="11153775" y="5915025"/>
            <a:ext cx="409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</a:t>
            </a:r>
            <a:endParaRPr b="0" i="0" sz="1600" u="none" cap="none" strike="noStrike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5"/>
          <p:cNvSpPr/>
          <p:nvPr/>
        </p:nvSpPr>
        <p:spPr>
          <a:xfrm>
            <a:off x="382476" y="382476"/>
            <a:ext cx="1709335" cy="311647"/>
          </a:xfrm>
          <a:custGeom>
            <a:rect b="b" l="l" r="r" t="t"/>
            <a:pathLst>
              <a:path extrusionOk="0" h="311647" w="1709335">
                <a:moveTo>
                  <a:pt x="155823" y="0"/>
                </a:moveTo>
                <a:lnTo>
                  <a:pt x="1553512" y="0"/>
                </a:lnTo>
                <a:cubicBezTo>
                  <a:pt x="1639571" y="0"/>
                  <a:pt x="1709335" y="69765"/>
                  <a:pt x="1709335" y="155823"/>
                </a:cubicBezTo>
                <a:lnTo>
                  <a:pt x="1709335" y="155823"/>
                </a:lnTo>
                <a:cubicBezTo>
                  <a:pt x="1709335" y="241882"/>
                  <a:pt x="1639571" y="311647"/>
                  <a:pt x="1553512" y="311647"/>
                </a:cubicBezTo>
                <a:lnTo>
                  <a:pt x="155823" y="311647"/>
                </a:lnTo>
                <a:cubicBezTo>
                  <a:pt x="69822" y="311647"/>
                  <a:pt x="0" y="241825"/>
                  <a:pt x="0" y="155823"/>
                </a:cubicBezTo>
                <a:lnTo>
                  <a:pt x="0" y="155823"/>
                </a:lnTo>
                <a:cubicBezTo>
                  <a:pt x="0" y="69822"/>
                  <a:pt x="69822" y="0"/>
                  <a:pt x="155823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500524" y="472192"/>
            <a:ext cx="1542297" cy="151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 b="0" i="0" sz="1600" u="none" cap="none" strike="noStrike"/>
          </a:p>
        </p:txBody>
      </p:sp>
      <p:sp>
        <p:nvSpPr>
          <p:cNvPr id="581" name="Google Shape;581;p15"/>
          <p:cNvSpPr/>
          <p:nvPr/>
        </p:nvSpPr>
        <p:spPr>
          <a:xfrm>
            <a:off x="377754" y="812170"/>
            <a:ext cx="11606482" cy="377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7" u="none" cap="none" strike="noStrike">
                <a:solidFill>
                  <a:srgbClr val="0B5394"/>
                </a:solidFill>
                <a:latin typeface="Liter"/>
                <a:ea typeface="Liter"/>
                <a:cs typeface="Liter"/>
                <a:sym typeface="Liter"/>
              </a:rPr>
              <a:t>Feature Engineering: The Secret Sauce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382476" y="1345747"/>
            <a:ext cx="5628530" cy="2011538"/>
          </a:xfrm>
          <a:custGeom>
            <a:rect b="b" l="l" r="r" t="t"/>
            <a:pathLst>
              <a:path extrusionOk="0" h="2011538" w="5628530">
                <a:moveTo>
                  <a:pt x="75553" y="0"/>
                </a:moveTo>
                <a:lnTo>
                  <a:pt x="5552976" y="0"/>
                </a:lnTo>
                <a:cubicBezTo>
                  <a:pt x="5594703" y="0"/>
                  <a:pt x="5628530" y="33826"/>
                  <a:pt x="5628530" y="75553"/>
                </a:cubicBezTo>
                <a:lnTo>
                  <a:pt x="5628530" y="1935985"/>
                </a:lnTo>
                <a:cubicBezTo>
                  <a:pt x="5628530" y="1977712"/>
                  <a:pt x="5594703" y="2011538"/>
                  <a:pt x="5552976" y="2011538"/>
                </a:cubicBezTo>
                <a:lnTo>
                  <a:pt x="75553" y="2011538"/>
                </a:lnTo>
                <a:cubicBezTo>
                  <a:pt x="33826" y="2011538"/>
                  <a:pt x="0" y="1977712"/>
                  <a:pt x="0" y="1935985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599684" y="1577122"/>
            <a:ext cx="188877" cy="188877"/>
          </a:xfrm>
          <a:custGeom>
            <a:rect b="b" l="l" r="r" t="t"/>
            <a:pathLst>
              <a:path extrusionOk="0" h="188877" w="188877">
                <a:moveTo>
                  <a:pt x="147007" y="4501"/>
                </a:moveTo>
                <a:lnTo>
                  <a:pt x="114470" y="37038"/>
                </a:lnTo>
                <a:lnTo>
                  <a:pt x="151839" y="74407"/>
                </a:lnTo>
                <a:lnTo>
                  <a:pt x="184376" y="41870"/>
                </a:lnTo>
                <a:cubicBezTo>
                  <a:pt x="187254" y="38956"/>
                  <a:pt x="188877" y="35046"/>
                  <a:pt x="188877" y="30988"/>
                </a:cubicBezTo>
                <a:cubicBezTo>
                  <a:pt x="188877" y="26930"/>
                  <a:pt x="187254" y="23019"/>
                  <a:pt x="184376" y="20105"/>
                </a:cubicBezTo>
                <a:lnTo>
                  <a:pt x="168772" y="4501"/>
                </a:lnTo>
                <a:cubicBezTo>
                  <a:pt x="165857" y="1623"/>
                  <a:pt x="161947" y="0"/>
                  <a:pt x="157889" y="0"/>
                </a:cubicBezTo>
                <a:cubicBezTo>
                  <a:pt x="153831" y="0"/>
                  <a:pt x="149921" y="1623"/>
                  <a:pt x="147007" y="4501"/>
                </a:cubicBezTo>
                <a:close/>
                <a:moveTo>
                  <a:pt x="101964" y="49543"/>
                </a:moveTo>
                <a:lnTo>
                  <a:pt x="4501" y="147007"/>
                </a:lnTo>
                <a:cubicBezTo>
                  <a:pt x="1623" y="149921"/>
                  <a:pt x="0" y="153831"/>
                  <a:pt x="0" y="157889"/>
                </a:cubicBezTo>
                <a:cubicBezTo>
                  <a:pt x="0" y="161947"/>
                  <a:pt x="1623" y="165857"/>
                  <a:pt x="4501" y="168772"/>
                </a:cubicBezTo>
                <a:lnTo>
                  <a:pt x="20105" y="184376"/>
                </a:lnTo>
                <a:cubicBezTo>
                  <a:pt x="23019" y="187254"/>
                  <a:pt x="26930" y="188877"/>
                  <a:pt x="30988" y="188877"/>
                </a:cubicBezTo>
                <a:cubicBezTo>
                  <a:pt x="35046" y="188877"/>
                  <a:pt x="38956" y="187254"/>
                  <a:pt x="41870" y="184376"/>
                </a:cubicBezTo>
                <a:lnTo>
                  <a:pt x="139334" y="86913"/>
                </a:lnTo>
                <a:lnTo>
                  <a:pt x="101964" y="49543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812170" y="1539346"/>
            <a:ext cx="5099675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7" u="none" cap="none" strike="noStrike">
                <a:solidFill>
                  <a:srgbClr val="0B5394"/>
                </a:solidFill>
                <a:latin typeface="Liter"/>
                <a:ea typeface="Liter"/>
                <a:cs typeface="Liter"/>
                <a:sym typeface="Liter"/>
              </a:rPr>
              <a:t>What is Feature Engineering?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576074" y="1917100"/>
            <a:ext cx="5316883" cy="49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of creating </a:t>
            </a:r>
            <a:r>
              <a:rPr b="0" i="0" lang="en-US" sz="1190" u="none" cap="none" strike="noStrike">
                <a:solidFill>
                  <a:srgbClr val="0B5394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predictive variables </a:t>
            </a:r>
            <a:r>
              <a:rPr b="0" i="0" lang="en-US" sz="1190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raw data. It's the most creative and impactful part of machine learning.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594962" y="2521506"/>
            <a:ext cx="5222445" cy="642181"/>
          </a:xfrm>
          <a:custGeom>
            <a:rect b="b" l="l" r="r" t="t"/>
            <a:pathLst>
              <a:path extrusionOk="0" h="642181" w="5222445">
                <a:moveTo>
                  <a:pt x="37773" y="0"/>
                </a:moveTo>
                <a:lnTo>
                  <a:pt x="5184672" y="0"/>
                </a:lnTo>
                <a:cubicBezTo>
                  <a:pt x="5205533" y="0"/>
                  <a:pt x="5222445" y="16912"/>
                  <a:pt x="5222445" y="37773"/>
                </a:cubicBezTo>
                <a:lnTo>
                  <a:pt x="5222445" y="604408"/>
                </a:lnTo>
                <a:cubicBezTo>
                  <a:pt x="5222445" y="625270"/>
                  <a:pt x="5205533" y="642181"/>
                  <a:pt x="5184672" y="642181"/>
                </a:cubicBezTo>
                <a:lnTo>
                  <a:pt x="37773" y="642181"/>
                </a:lnTo>
                <a:cubicBezTo>
                  <a:pt x="16912" y="642181"/>
                  <a:pt x="0" y="625270"/>
                  <a:pt x="0" y="604408"/>
                </a:cubicBezTo>
                <a:lnTo>
                  <a:pt x="0" y="37773"/>
                </a:lnTo>
                <a:cubicBezTo>
                  <a:pt x="0" y="16926"/>
                  <a:pt x="16926" y="0"/>
                  <a:pt x="3777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594962" y="2521506"/>
            <a:ext cx="37775" cy="642181"/>
          </a:xfrm>
          <a:custGeom>
            <a:rect b="b" l="l" r="r" t="t"/>
            <a:pathLst>
              <a:path extrusionOk="0" h="642181" w="37775">
                <a:moveTo>
                  <a:pt x="37775" y="0"/>
                </a:moveTo>
                <a:lnTo>
                  <a:pt x="37775" y="0"/>
                </a:lnTo>
                <a:lnTo>
                  <a:pt x="37775" y="642181"/>
                </a:lnTo>
                <a:lnTo>
                  <a:pt x="37775" y="642181"/>
                </a:lnTo>
                <a:cubicBezTo>
                  <a:pt x="16927" y="642181"/>
                  <a:pt x="0" y="625255"/>
                  <a:pt x="0" y="604406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727176" y="2634832"/>
            <a:ext cx="5043012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It Matters:</a:t>
            </a:r>
            <a:endParaRPr b="0" i="0" sz="1600" u="none" cap="none" strike="noStrike"/>
          </a:p>
        </p:txBody>
      </p:sp>
      <p:sp>
        <p:nvSpPr>
          <p:cNvPr id="589" name="Google Shape;589;p15"/>
          <p:cNvSpPr/>
          <p:nvPr/>
        </p:nvSpPr>
        <p:spPr>
          <a:xfrm>
            <a:off x="727176" y="2861484"/>
            <a:ext cx="5043012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Good features can outperform complex algorithms. "Garbage in, garbage out."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382476" y="3517831"/>
            <a:ext cx="5628530" cy="2955923"/>
          </a:xfrm>
          <a:custGeom>
            <a:rect b="b" l="l" r="r" t="t"/>
            <a:pathLst>
              <a:path extrusionOk="0" h="2955923" w="5628530">
                <a:moveTo>
                  <a:pt x="75553" y="0"/>
                </a:moveTo>
                <a:lnTo>
                  <a:pt x="5552976" y="0"/>
                </a:lnTo>
                <a:cubicBezTo>
                  <a:pt x="5594703" y="0"/>
                  <a:pt x="5628530" y="33826"/>
                  <a:pt x="5628530" y="75553"/>
                </a:cubicBezTo>
                <a:lnTo>
                  <a:pt x="5628530" y="2880369"/>
                </a:lnTo>
                <a:cubicBezTo>
                  <a:pt x="5628530" y="2922096"/>
                  <a:pt x="5594703" y="2955923"/>
                  <a:pt x="5552976" y="2955923"/>
                </a:cubicBezTo>
                <a:lnTo>
                  <a:pt x="75553" y="2955923"/>
                </a:lnTo>
                <a:cubicBezTo>
                  <a:pt x="33826" y="2955923"/>
                  <a:pt x="0" y="2922096"/>
                  <a:pt x="0" y="2880369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599684" y="3749205"/>
            <a:ext cx="188877" cy="188877"/>
          </a:xfrm>
          <a:custGeom>
            <a:rect b="b" l="l" r="r" t="t"/>
            <a:pathLst>
              <a:path extrusionOk="0" h="188877" w="188877">
                <a:moveTo>
                  <a:pt x="85769" y="1918"/>
                </a:moveTo>
                <a:cubicBezTo>
                  <a:pt x="91266" y="-627"/>
                  <a:pt x="97611" y="-627"/>
                  <a:pt x="103108" y="1918"/>
                </a:cubicBezTo>
                <a:lnTo>
                  <a:pt x="183749" y="39177"/>
                </a:lnTo>
                <a:cubicBezTo>
                  <a:pt x="186885" y="40616"/>
                  <a:pt x="188877" y="43752"/>
                  <a:pt x="188877" y="47219"/>
                </a:cubicBezTo>
                <a:cubicBezTo>
                  <a:pt x="188877" y="50687"/>
                  <a:pt x="186885" y="53823"/>
                  <a:pt x="183749" y="55261"/>
                </a:cubicBezTo>
                <a:lnTo>
                  <a:pt x="103108" y="92520"/>
                </a:lnTo>
                <a:cubicBezTo>
                  <a:pt x="97611" y="95066"/>
                  <a:pt x="91266" y="95066"/>
                  <a:pt x="85769" y="92520"/>
                </a:cubicBezTo>
                <a:lnTo>
                  <a:pt x="5128" y="55261"/>
                </a:lnTo>
                <a:cubicBezTo>
                  <a:pt x="1992" y="53786"/>
                  <a:pt x="0" y="50650"/>
                  <a:pt x="0" y="47219"/>
                </a:cubicBezTo>
                <a:cubicBezTo>
                  <a:pt x="0" y="43788"/>
                  <a:pt x="1992" y="40616"/>
                  <a:pt x="5128" y="39177"/>
                </a:cubicBezTo>
                <a:lnTo>
                  <a:pt x="85769" y="1918"/>
                </a:lnTo>
                <a:close/>
                <a:moveTo>
                  <a:pt x="17744" y="80568"/>
                </a:moveTo>
                <a:lnTo>
                  <a:pt x="78354" y="108567"/>
                </a:lnTo>
                <a:cubicBezTo>
                  <a:pt x="88573" y="113289"/>
                  <a:pt x="100341" y="113289"/>
                  <a:pt x="110559" y="108567"/>
                </a:cubicBezTo>
                <a:lnTo>
                  <a:pt x="171170" y="80568"/>
                </a:lnTo>
                <a:lnTo>
                  <a:pt x="183749" y="86396"/>
                </a:lnTo>
                <a:cubicBezTo>
                  <a:pt x="186885" y="87835"/>
                  <a:pt x="188877" y="90971"/>
                  <a:pt x="188877" y="94438"/>
                </a:cubicBezTo>
                <a:cubicBezTo>
                  <a:pt x="188877" y="97906"/>
                  <a:pt x="186885" y="101042"/>
                  <a:pt x="183749" y="102480"/>
                </a:cubicBezTo>
                <a:lnTo>
                  <a:pt x="103108" y="139739"/>
                </a:lnTo>
                <a:cubicBezTo>
                  <a:pt x="97611" y="142285"/>
                  <a:pt x="91266" y="142285"/>
                  <a:pt x="85769" y="139739"/>
                </a:cubicBezTo>
                <a:lnTo>
                  <a:pt x="5128" y="102480"/>
                </a:lnTo>
                <a:cubicBezTo>
                  <a:pt x="1992" y="101005"/>
                  <a:pt x="0" y="97869"/>
                  <a:pt x="0" y="94438"/>
                </a:cubicBezTo>
                <a:cubicBezTo>
                  <a:pt x="0" y="91008"/>
                  <a:pt x="1992" y="87835"/>
                  <a:pt x="5128" y="86396"/>
                </a:cubicBezTo>
                <a:lnTo>
                  <a:pt x="17707" y="80568"/>
                </a:lnTo>
                <a:close/>
                <a:moveTo>
                  <a:pt x="5128" y="133616"/>
                </a:moveTo>
                <a:lnTo>
                  <a:pt x="17707" y="127787"/>
                </a:lnTo>
                <a:lnTo>
                  <a:pt x="78317" y="155787"/>
                </a:lnTo>
                <a:cubicBezTo>
                  <a:pt x="88536" y="160508"/>
                  <a:pt x="100304" y="160508"/>
                  <a:pt x="110522" y="155787"/>
                </a:cubicBezTo>
                <a:lnTo>
                  <a:pt x="171133" y="127787"/>
                </a:lnTo>
                <a:lnTo>
                  <a:pt x="183712" y="133616"/>
                </a:lnTo>
                <a:cubicBezTo>
                  <a:pt x="186848" y="135054"/>
                  <a:pt x="188840" y="138190"/>
                  <a:pt x="188840" y="141658"/>
                </a:cubicBezTo>
                <a:cubicBezTo>
                  <a:pt x="188840" y="145125"/>
                  <a:pt x="186848" y="148261"/>
                  <a:pt x="183712" y="149700"/>
                </a:cubicBezTo>
                <a:lnTo>
                  <a:pt x="103071" y="186959"/>
                </a:lnTo>
                <a:cubicBezTo>
                  <a:pt x="97574" y="189504"/>
                  <a:pt x="91229" y="189504"/>
                  <a:pt x="85732" y="186959"/>
                </a:cubicBezTo>
                <a:lnTo>
                  <a:pt x="5128" y="149700"/>
                </a:lnTo>
                <a:cubicBezTo>
                  <a:pt x="1992" y="148224"/>
                  <a:pt x="0" y="145088"/>
                  <a:pt x="0" y="141658"/>
                </a:cubicBezTo>
                <a:cubicBezTo>
                  <a:pt x="0" y="138227"/>
                  <a:pt x="1992" y="135054"/>
                  <a:pt x="5128" y="133616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812170" y="3711430"/>
            <a:ext cx="5099675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7" u="none" cap="none" strike="noStrike">
                <a:solidFill>
                  <a:srgbClr val="0B5394"/>
                </a:solidFill>
                <a:latin typeface="Liter"/>
                <a:ea typeface="Liter"/>
                <a:cs typeface="Liter"/>
                <a:sym typeface="Liter"/>
              </a:rPr>
              <a:t>Key Feature Categories for Churn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576074" y="4089184"/>
            <a:ext cx="5241332" cy="679957"/>
          </a:xfrm>
          <a:custGeom>
            <a:rect b="b" l="l" r="r" t="t"/>
            <a:pathLst>
              <a:path extrusionOk="0" h="679957" w="5241332">
                <a:moveTo>
                  <a:pt x="37778" y="0"/>
                </a:moveTo>
                <a:lnTo>
                  <a:pt x="5203554" y="0"/>
                </a:lnTo>
                <a:cubicBezTo>
                  <a:pt x="5224418" y="0"/>
                  <a:pt x="5241332" y="16914"/>
                  <a:pt x="5241332" y="37778"/>
                </a:cubicBezTo>
                <a:lnTo>
                  <a:pt x="5241332" y="642178"/>
                </a:lnTo>
                <a:cubicBezTo>
                  <a:pt x="5241332" y="663043"/>
                  <a:pt x="5224418" y="679957"/>
                  <a:pt x="5203554" y="679957"/>
                </a:cubicBezTo>
                <a:lnTo>
                  <a:pt x="37778" y="679957"/>
                </a:lnTo>
                <a:cubicBezTo>
                  <a:pt x="16928" y="679957"/>
                  <a:pt x="0" y="663029"/>
                  <a:pt x="0" y="642178"/>
                </a:cubicBezTo>
                <a:lnTo>
                  <a:pt x="0" y="37778"/>
                </a:lnTo>
                <a:cubicBezTo>
                  <a:pt x="0" y="16928"/>
                  <a:pt x="16928" y="0"/>
                  <a:pt x="3777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689400" y="4202510"/>
            <a:ext cx="5090231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RFM Analysis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689400" y="4466937"/>
            <a:ext cx="508078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Recency, Frequency, Monetary value</a:t>
            </a:r>
            <a:endParaRPr b="0" i="0" sz="1600" u="none" cap="none" strike="noStrike"/>
          </a:p>
        </p:txBody>
      </p:sp>
      <p:sp>
        <p:nvSpPr>
          <p:cNvPr id="596" name="Google Shape;596;p15"/>
          <p:cNvSpPr/>
          <p:nvPr/>
        </p:nvSpPr>
        <p:spPr>
          <a:xfrm>
            <a:off x="576074" y="4844691"/>
            <a:ext cx="5241332" cy="679957"/>
          </a:xfrm>
          <a:custGeom>
            <a:rect b="b" l="l" r="r" t="t"/>
            <a:pathLst>
              <a:path extrusionOk="0" h="679957" w="5241332">
                <a:moveTo>
                  <a:pt x="37778" y="0"/>
                </a:moveTo>
                <a:lnTo>
                  <a:pt x="5203554" y="0"/>
                </a:lnTo>
                <a:cubicBezTo>
                  <a:pt x="5224418" y="0"/>
                  <a:pt x="5241332" y="16914"/>
                  <a:pt x="5241332" y="37778"/>
                </a:cubicBezTo>
                <a:lnTo>
                  <a:pt x="5241332" y="642178"/>
                </a:lnTo>
                <a:cubicBezTo>
                  <a:pt x="5241332" y="663043"/>
                  <a:pt x="5224418" y="679957"/>
                  <a:pt x="5203554" y="679957"/>
                </a:cubicBezTo>
                <a:lnTo>
                  <a:pt x="37778" y="679957"/>
                </a:lnTo>
                <a:cubicBezTo>
                  <a:pt x="16928" y="679957"/>
                  <a:pt x="0" y="663029"/>
                  <a:pt x="0" y="642178"/>
                </a:cubicBezTo>
                <a:lnTo>
                  <a:pt x="0" y="37778"/>
                </a:lnTo>
                <a:cubicBezTo>
                  <a:pt x="0" y="16928"/>
                  <a:pt x="16928" y="0"/>
                  <a:pt x="3777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689400" y="4958017"/>
            <a:ext cx="5090231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Time-Based Features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689400" y="5222445"/>
            <a:ext cx="508078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Subscription duration, trends</a:t>
            </a:r>
            <a:endParaRPr b="0" i="0" sz="1600" u="none" cap="none" strike="noStrike"/>
          </a:p>
        </p:txBody>
      </p:sp>
      <p:sp>
        <p:nvSpPr>
          <p:cNvPr id="599" name="Google Shape;599;p15"/>
          <p:cNvSpPr/>
          <p:nvPr/>
        </p:nvSpPr>
        <p:spPr>
          <a:xfrm>
            <a:off x="576074" y="5600198"/>
            <a:ext cx="5241332" cy="679957"/>
          </a:xfrm>
          <a:custGeom>
            <a:rect b="b" l="l" r="r" t="t"/>
            <a:pathLst>
              <a:path extrusionOk="0" h="679957" w="5241332">
                <a:moveTo>
                  <a:pt x="37778" y="0"/>
                </a:moveTo>
                <a:lnTo>
                  <a:pt x="5203554" y="0"/>
                </a:lnTo>
                <a:cubicBezTo>
                  <a:pt x="5224418" y="0"/>
                  <a:pt x="5241332" y="16914"/>
                  <a:pt x="5241332" y="37778"/>
                </a:cubicBezTo>
                <a:lnTo>
                  <a:pt x="5241332" y="642178"/>
                </a:lnTo>
                <a:cubicBezTo>
                  <a:pt x="5241332" y="663043"/>
                  <a:pt x="5224418" y="679957"/>
                  <a:pt x="5203554" y="679957"/>
                </a:cubicBezTo>
                <a:lnTo>
                  <a:pt x="37778" y="679957"/>
                </a:lnTo>
                <a:cubicBezTo>
                  <a:pt x="16928" y="679957"/>
                  <a:pt x="0" y="663029"/>
                  <a:pt x="0" y="642178"/>
                </a:cubicBezTo>
                <a:lnTo>
                  <a:pt x="0" y="37778"/>
                </a:lnTo>
                <a:cubicBezTo>
                  <a:pt x="0" y="16928"/>
                  <a:pt x="16928" y="0"/>
                  <a:pt x="3777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689400" y="5713524"/>
            <a:ext cx="5090231" cy="22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Engagement Metrics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689400" y="5977952"/>
            <a:ext cx="5080787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 frequency, feature usage</a:t>
            </a:r>
            <a:endParaRPr b="0" i="0" sz="1600" u="none" cap="none" strike="noStrike"/>
          </a:p>
        </p:txBody>
      </p:sp>
      <p:sp>
        <p:nvSpPr>
          <p:cNvPr id="602" name="Google Shape;602;p15"/>
          <p:cNvSpPr/>
          <p:nvPr/>
        </p:nvSpPr>
        <p:spPr>
          <a:xfrm>
            <a:off x="6174649" y="1345747"/>
            <a:ext cx="5628530" cy="3107024"/>
          </a:xfrm>
          <a:custGeom>
            <a:rect b="b" l="l" r="r" t="t"/>
            <a:pathLst>
              <a:path extrusionOk="0" h="3107024" w="5628530">
                <a:moveTo>
                  <a:pt x="75563" y="0"/>
                </a:moveTo>
                <a:lnTo>
                  <a:pt x="5552967" y="0"/>
                </a:lnTo>
                <a:cubicBezTo>
                  <a:pt x="5594699" y="0"/>
                  <a:pt x="5628530" y="33831"/>
                  <a:pt x="5628530" y="75563"/>
                </a:cubicBezTo>
                <a:lnTo>
                  <a:pt x="5628530" y="3031461"/>
                </a:lnTo>
                <a:cubicBezTo>
                  <a:pt x="5628530" y="3073193"/>
                  <a:pt x="5594699" y="3107024"/>
                  <a:pt x="5552967" y="3107024"/>
                </a:cubicBezTo>
                <a:lnTo>
                  <a:pt x="75563" y="3107024"/>
                </a:lnTo>
                <a:cubicBezTo>
                  <a:pt x="33831" y="3107024"/>
                  <a:pt x="0" y="3073193"/>
                  <a:pt x="0" y="3031461"/>
                </a:cubicBezTo>
                <a:lnTo>
                  <a:pt x="0" y="75563"/>
                </a:lnTo>
                <a:cubicBezTo>
                  <a:pt x="0" y="33859"/>
                  <a:pt x="33859" y="0"/>
                  <a:pt x="75563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6287976" y="1501571"/>
            <a:ext cx="5401878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9" u="none" cap="none" strike="noStrike">
                <a:solidFill>
                  <a:srgbClr val="0B5394"/>
                </a:solidFill>
                <a:latin typeface="Liter"/>
                <a:ea typeface="Liter"/>
                <a:cs typeface="Liter"/>
                <a:sym typeface="Liter"/>
              </a:rPr>
              <a:t>Feature Importance in Churn Prediction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pic>
        <p:nvPicPr>
          <p:cNvPr descr="preencoded.png" id="604" name="Google Shape;6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0473" y="1841549"/>
            <a:ext cx="5269664" cy="2455399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605" name="Google Shape;6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473" y="1841549"/>
            <a:ext cx="5269664" cy="2455399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606" name="Google Shape;6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0473" y="1841549"/>
            <a:ext cx="5269664" cy="2455399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07" name="Google Shape;607;p15"/>
          <p:cNvSpPr/>
          <p:nvPr/>
        </p:nvSpPr>
        <p:spPr>
          <a:xfrm>
            <a:off x="6174649" y="4613317"/>
            <a:ext cx="5628530" cy="1407132"/>
          </a:xfrm>
          <a:custGeom>
            <a:rect b="b" l="l" r="r" t="t"/>
            <a:pathLst>
              <a:path extrusionOk="0" h="1407132" w="5628530">
                <a:moveTo>
                  <a:pt x="75549" y="0"/>
                </a:moveTo>
                <a:lnTo>
                  <a:pt x="5552981" y="0"/>
                </a:lnTo>
                <a:cubicBezTo>
                  <a:pt x="5594705" y="0"/>
                  <a:pt x="5628530" y="33824"/>
                  <a:pt x="5628530" y="75549"/>
                </a:cubicBezTo>
                <a:lnTo>
                  <a:pt x="5628530" y="1331584"/>
                </a:lnTo>
                <a:cubicBezTo>
                  <a:pt x="5628530" y="1373308"/>
                  <a:pt x="5594705" y="1407132"/>
                  <a:pt x="5552981" y="1407132"/>
                </a:cubicBezTo>
                <a:lnTo>
                  <a:pt x="75549" y="1407132"/>
                </a:lnTo>
                <a:cubicBezTo>
                  <a:pt x="33824" y="1407132"/>
                  <a:pt x="0" y="1373308"/>
                  <a:pt x="0" y="1331584"/>
                </a:cubicBezTo>
                <a:lnTo>
                  <a:pt x="0" y="75549"/>
                </a:lnTo>
                <a:cubicBezTo>
                  <a:pt x="0" y="33852"/>
                  <a:pt x="33852" y="0"/>
                  <a:pt x="75549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6377692" y="4806916"/>
            <a:ext cx="141658" cy="188877"/>
          </a:xfrm>
          <a:custGeom>
            <a:rect b="b" l="l" r="r" t="t"/>
            <a:pathLst>
              <a:path extrusionOk="0" h="188877" w="141658">
                <a:moveTo>
                  <a:pt x="108051" y="141658"/>
                </a:moveTo>
                <a:cubicBezTo>
                  <a:pt x="110744" y="133431"/>
                  <a:pt x="116130" y="125979"/>
                  <a:pt x="122217" y="119561"/>
                </a:cubicBezTo>
                <a:cubicBezTo>
                  <a:pt x="134280" y="106870"/>
                  <a:pt x="141658" y="89716"/>
                  <a:pt x="141658" y="70829"/>
                </a:cubicBezTo>
                <a:cubicBezTo>
                  <a:pt x="141658" y="31725"/>
                  <a:pt x="109932" y="0"/>
                  <a:pt x="70829" y="0"/>
                </a:cubicBezTo>
                <a:cubicBezTo>
                  <a:pt x="31725" y="0"/>
                  <a:pt x="0" y="31725"/>
                  <a:pt x="0" y="70829"/>
                </a:cubicBezTo>
                <a:cubicBezTo>
                  <a:pt x="0" y="89716"/>
                  <a:pt x="7378" y="106870"/>
                  <a:pt x="19441" y="119561"/>
                </a:cubicBezTo>
                <a:cubicBezTo>
                  <a:pt x="25528" y="125979"/>
                  <a:pt x="30951" y="133431"/>
                  <a:pt x="33607" y="141658"/>
                </a:cubicBezTo>
                <a:lnTo>
                  <a:pt x="108014" y="141658"/>
                </a:lnTo>
                <a:close/>
                <a:moveTo>
                  <a:pt x="106243" y="159365"/>
                </a:moveTo>
                <a:lnTo>
                  <a:pt x="35414" y="159365"/>
                </a:lnTo>
                <a:lnTo>
                  <a:pt x="35414" y="165267"/>
                </a:lnTo>
                <a:cubicBezTo>
                  <a:pt x="35414" y="181573"/>
                  <a:pt x="48621" y="194779"/>
                  <a:pt x="64926" y="194779"/>
                </a:cubicBezTo>
                <a:lnTo>
                  <a:pt x="76731" y="194779"/>
                </a:lnTo>
                <a:cubicBezTo>
                  <a:pt x="93037" y="194779"/>
                  <a:pt x="106243" y="181573"/>
                  <a:pt x="106243" y="165267"/>
                </a:cubicBezTo>
                <a:lnTo>
                  <a:pt x="106243" y="159365"/>
                </a:lnTo>
                <a:close/>
                <a:moveTo>
                  <a:pt x="67878" y="41317"/>
                </a:moveTo>
                <a:cubicBezTo>
                  <a:pt x="53195" y="41317"/>
                  <a:pt x="41317" y="53195"/>
                  <a:pt x="41317" y="67878"/>
                </a:cubicBezTo>
                <a:cubicBezTo>
                  <a:pt x="41317" y="72784"/>
                  <a:pt x="37370" y="76731"/>
                  <a:pt x="32463" y="76731"/>
                </a:cubicBezTo>
                <a:cubicBezTo>
                  <a:pt x="27557" y="76731"/>
                  <a:pt x="23610" y="72784"/>
                  <a:pt x="23610" y="67878"/>
                </a:cubicBezTo>
                <a:cubicBezTo>
                  <a:pt x="23610" y="43420"/>
                  <a:pt x="43420" y="23610"/>
                  <a:pt x="67878" y="23610"/>
                </a:cubicBezTo>
                <a:cubicBezTo>
                  <a:pt x="72784" y="23610"/>
                  <a:pt x="76731" y="27557"/>
                  <a:pt x="76731" y="32463"/>
                </a:cubicBezTo>
                <a:cubicBezTo>
                  <a:pt x="76731" y="37370"/>
                  <a:pt x="72784" y="41317"/>
                  <a:pt x="67878" y="41317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6566569" y="4769140"/>
            <a:ext cx="5175225" cy="264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7" u="none" cap="none" strike="noStrike">
                <a:solidFill>
                  <a:srgbClr val="0B5394"/>
                </a:solidFill>
                <a:latin typeface="Liter"/>
                <a:ea typeface="Liter"/>
                <a:cs typeface="Liter"/>
                <a:sym typeface="Liter"/>
              </a:rPr>
              <a:t>Feature Engineering Tips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6358804" y="5184669"/>
            <a:ext cx="132214" cy="151101"/>
          </a:xfrm>
          <a:custGeom>
            <a:rect b="b" l="l" r="r" t="t"/>
            <a:pathLst>
              <a:path extrusionOk="0" h="151101" w="132214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6594900" y="5146894"/>
            <a:ext cx="3324232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lag features:</a:t>
            </a:r>
            <a:r>
              <a:rPr b="0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Compare recent vs. historical behavior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6358804" y="5449097"/>
            <a:ext cx="132214" cy="151101"/>
          </a:xfrm>
          <a:custGeom>
            <a:rect b="b" l="l" r="r" t="t"/>
            <a:pathLst>
              <a:path extrusionOk="0" h="151101" w="132214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6594900" y="5411321"/>
            <a:ext cx="2861484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domain knowledge:</a:t>
            </a:r>
            <a:r>
              <a:rPr b="0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Consult business experts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6358804" y="5713524"/>
            <a:ext cx="132214" cy="151101"/>
          </a:xfrm>
          <a:custGeom>
            <a:rect b="b" l="l" r="r" t="t"/>
            <a:pathLst>
              <a:path extrusionOk="0" h="151101" w="132214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6594900" y="5675749"/>
            <a:ext cx="3352564" cy="188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 outliers:</a:t>
            </a:r>
            <a:r>
              <a:rPr b="0" i="0" lang="en-US" sz="1041" u="none" cap="none" strike="noStrike">
                <a:solidFill>
                  <a:srgbClr val="0B539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Cap extreme values to prevent dominance</a:t>
            </a:r>
            <a:endParaRPr b="0" i="0" sz="1600" u="none" cap="none" strike="noStrike">
              <a:solidFill>
                <a:srgbClr val="0B5394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6"/>
          <p:cNvSpPr/>
          <p:nvPr/>
        </p:nvSpPr>
        <p:spPr>
          <a:xfrm>
            <a:off x="336360" y="336360"/>
            <a:ext cx="1486627" cy="274071"/>
          </a:xfrm>
          <a:custGeom>
            <a:rect b="b" l="l" r="r" t="t"/>
            <a:pathLst>
              <a:path extrusionOk="0" h="274071" w="1486627">
                <a:moveTo>
                  <a:pt x="137035" y="0"/>
                </a:moveTo>
                <a:lnTo>
                  <a:pt x="1349591" y="0"/>
                </a:lnTo>
                <a:cubicBezTo>
                  <a:pt x="1425274" y="0"/>
                  <a:pt x="1486627" y="61353"/>
                  <a:pt x="1486627" y="137035"/>
                </a:cubicBezTo>
                <a:lnTo>
                  <a:pt x="1486627" y="137035"/>
                </a:lnTo>
                <a:cubicBezTo>
                  <a:pt x="1486627" y="212718"/>
                  <a:pt x="1425274" y="274071"/>
                  <a:pt x="1349591" y="274071"/>
                </a:cubicBezTo>
                <a:lnTo>
                  <a:pt x="137035" y="274071"/>
                </a:lnTo>
                <a:cubicBezTo>
                  <a:pt x="61404" y="274071"/>
                  <a:pt x="0" y="212667"/>
                  <a:pt x="0" y="137035"/>
                </a:cubicBezTo>
                <a:lnTo>
                  <a:pt x="0" y="137035"/>
                </a:lnTo>
                <a:cubicBezTo>
                  <a:pt x="0" y="61404"/>
                  <a:pt x="61404" y="0"/>
                  <a:pt x="137035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440174" y="415259"/>
            <a:ext cx="1333889" cy="132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PREPROCESSING</a:t>
            </a:r>
            <a:endParaRPr b="0" i="0" sz="1600" u="none" cap="none" strike="noStrike"/>
          </a:p>
        </p:txBody>
      </p:sp>
      <p:sp>
        <p:nvSpPr>
          <p:cNvPr id="623" name="Google Shape;623;p16"/>
          <p:cNvSpPr/>
          <p:nvPr/>
        </p:nvSpPr>
        <p:spPr>
          <a:xfrm>
            <a:off x="332207" y="714245"/>
            <a:ext cx="11677079" cy="332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4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Data Preprocessing Pipeline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336360" y="1183488"/>
            <a:ext cx="11519281" cy="2034768"/>
          </a:xfrm>
          <a:custGeom>
            <a:rect b="b" l="l" r="r" t="t"/>
            <a:pathLst>
              <a:path extrusionOk="0" h="2034768" w="11519281">
                <a:moveTo>
                  <a:pt x="66435" y="0"/>
                </a:moveTo>
                <a:lnTo>
                  <a:pt x="11452845" y="0"/>
                </a:lnTo>
                <a:cubicBezTo>
                  <a:pt x="11489537" y="0"/>
                  <a:pt x="11519281" y="29744"/>
                  <a:pt x="11519281" y="66435"/>
                </a:cubicBezTo>
                <a:lnTo>
                  <a:pt x="11519281" y="1968333"/>
                </a:lnTo>
                <a:cubicBezTo>
                  <a:pt x="11519281" y="2005024"/>
                  <a:pt x="11489537" y="2034768"/>
                  <a:pt x="11452845" y="2034768"/>
                </a:cubicBezTo>
                <a:lnTo>
                  <a:pt x="66435" y="2034768"/>
                </a:lnTo>
                <a:cubicBezTo>
                  <a:pt x="29744" y="2034768"/>
                  <a:pt x="0" y="2005024"/>
                  <a:pt x="0" y="1968333"/>
                </a:cubicBezTo>
                <a:lnTo>
                  <a:pt x="0" y="66435"/>
                </a:lnTo>
                <a:cubicBezTo>
                  <a:pt x="0" y="29769"/>
                  <a:pt x="29769" y="0"/>
                  <a:pt x="66435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494158" y="1353744"/>
            <a:ext cx="166104" cy="166104"/>
          </a:xfrm>
          <a:custGeom>
            <a:rect b="b" l="l" r="r" t="t"/>
            <a:pathLst>
              <a:path extrusionOk="0" h="166104" w="166104">
                <a:moveTo>
                  <a:pt x="0" y="23358"/>
                </a:moveTo>
                <a:cubicBezTo>
                  <a:pt x="0" y="19076"/>
                  <a:pt x="3471" y="15572"/>
                  <a:pt x="7786" y="15572"/>
                </a:cubicBezTo>
                <a:lnTo>
                  <a:pt x="23358" y="15572"/>
                </a:lnTo>
                <a:cubicBezTo>
                  <a:pt x="27673" y="15572"/>
                  <a:pt x="31144" y="19044"/>
                  <a:pt x="31144" y="23358"/>
                </a:cubicBezTo>
                <a:lnTo>
                  <a:pt x="31144" y="57098"/>
                </a:lnTo>
                <a:lnTo>
                  <a:pt x="38931" y="57098"/>
                </a:lnTo>
                <a:cubicBezTo>
                  <a:pt x="43245" y="57098"/>
                  <a:pt x="46717" y="60569"/>
                  <a:pt x="46717" y="64884"/>
                </a:cubicBezTo>
                <a:cubicBezTo>
                  <a:pt x="46717" y="69199"/>
                  <a:pt x="43245" y="72670"/>
                  <a:pt x="38931" y="72670"/>
                </a:cubicBezTo>
                <a:lnTo>
                  <a:pt x="7786" y="72670"/>
                </a:lnTo>
                <a:cubicBezTo>
                  <a:pt x="3471" y="72670"/>
                  <a:pt x="0" y="69199"/>
                  <a:pt x="0" y="64884"/>
                </a:cubicBezTo>
                <a:cubicBezTo>
                  <a:pt x="0" y="60569"/>
                  <a:pt x="3471" y="57098"/>
                  <a:pt x="7786" y="57098"/>
                </a:cubicBezTo>
                <a:lnTo>
                  <a:pt x="15572" y="57098"/>
                </a:lnTo>
                <a:lnTo>
                  <a:pt x="15572" y="31144"/>
                </a:lnTo>
                <a:lnTo>
                  <a:pt x="7786" y="31144"/>
                </a:lnTo>
                <a:cubicBezTo>
                  <a:pt x="3471" y="31144"/>
                  <a:pt x="0" y="27673"/>
                  <a:pt x="0" y="23358"/>
                </a:cubicBezTo>
                <a:close/>
                <a:moveTo>
                  <a:pt x="9862" y="97716"/>
                </a:moveTo>
                <a:cubicBezTo>
                  <a:pt x="13561" y="94926"/>
                  <a:pt x="18070" y="93433"/>
                  <a:pt x="22709" y="93433"/>
                </a:cubicBezTo>
                <a:lnTo>
                  <a:pt x="24299" y="93433"/>
                </a:lnTo>
                <a:cubicBezTo>
                  <a:pt x="35232" y="93433"/>
                  <a:pt x="44121" y="102322"/>
                  <a:pt x="44121" y="113255"/>
                </a:cubicBezTo>
                <a:cubicBezTo>
                  <a:pt x="44121" y="119614"/>
                  <a:pt x="41072" y="125551"/>
                  <a:pt x="35946" y="129282"/>
                </a:cubicBezTo>
                <a:lnTo>
                  <a:pt x="28160" y="134959"/>
                </a:lnTo>
                <a:lnTo>
                  <a:pt x="38931" y="134959"/>
                </a:lnTo>
                <a:cubicBezTo>
                  <a:pt x="43245" y="134959"/>
                  <a:pt x="46717" y="138430"/>
                  <a:pt x="46717" y="142745"/>
                </a:cubicBezTo>
                <a:cubicBezTo>
                  <a:pt x="46717" y="147060"/>
                  <a:pt x="43245" y="150531"/>
                  <a:pt x="38931" y="150531"/>
                </a:cubicBezTo>
                <a:lnTo>
                  <a:pt x="9506" y="150531"/>
                </a:lnTo>
                <a:cubicBezTo>
                  <a:pt x="4250" y="150531"/>
                  <a:pt x="0" y="146281"/>
                  <a:pt x="0" y="141026"/>
                </a:cubicBezTo>
                <a:cubicBezTo>
                  <a:pt x="0" y="137976"/>
                  <a:pt x="1460" y="135121"/>
                  <a:pt x="3925" y="133337"/>
                </a:cubicBezTo>
                <a:lnTo>
                  <a:pt x="26797" y="116694"/>
                </a:lnTo>
                <a:cubicBezTo>
                  <a:pt x="27900" y="115883"/>
                  <a:pt x="28549" y="114618"/>
                  <a:pt x="28549" y="113255"/>
                </a:cubicBezTo>
                <a:cubicBezTo>
                  <a:pt x="28549" y="110920"/>
                  <a:pt x="26635" y="109005"/>
                  <a:pt x="24299" y="109005"/>
                </a:cubicBezTo>
                <a:lnTo>
                  <a:pt x="22709" y="109005"/>
                </a:lnTo>
                <a:cubicBezTo>
                  <a:pt x="21444" y="109005"/>
                  <a:pt x="20211" y="109427"/>
                  <a:pt x="19206" y="110173"/>
                </a:cubicBezTo>
                <a:lnTo>
                  <a:pt x="12458" y="115234"/>
                </a:lnTo>
                <a:cubicBezTo>
                  <a:pt x="9019" y="117830"/>
                  <a:pt x="4153" y="117116"/>
                  <a:pt x="1557" y="113677"/>
                </a:cubicBezTo>
                <a:cubicBezTo>
                  <a:pt x="-1038" y="110238"/>
                  <a:pt x="-324" y="105372"/>
                  <a:pt x="3114" y="102777"/>
                </a:cubicBezTo>
                <a:lnTo>
                  <a:pt x="9862" y="97716"/>
                </a:lnTo>
                <a:close/>
                <a:moveTo>
                  <a:pt x="72670" y="20763"/>
                </a:moveTo>
                <a:lnTo>
                  <a:pt x="155722" y="20763"/>
                </a:lnTo>
                <a:cubicBezTo>
                  <a:pt x="161464" y="20763"/>
                  <a:pt x="166104" y="25402"/>
                  <a:pt x="166104" y="31144"/>
                </a:cubicBezTo>
                <a:cubicBezTo>
                  <a:pt x="166104" y="36887"/>
                  <a:pt x="161464" y="41526"/>
                  <a:pt x="155722" y="41526"/>
                </a:cubicBezTo>
                <a:lnTo>
                  <a:pt x="72670" y="41526"/>
                </a:lnTo>
                <a:cubicBezTo>
                  <a:pt x="66928" y="41526"/>
                  <a:pt x="62289" y="36887"/>
                  <a:pt x="62289" y="31144"/>
                </a:cubicBezTo>
                <a:cubicBezTo>
                  <a:pt x="62289" y="25402"/>
                  <a:pt x="66928" y="20763"/>
                  <a:pt x="72670" y="20763"/>
                </a:cubicBezTo>
                <a:close/>
                <a:moveTo>
                  <a:pt x="72670" y="72670"/>
                </a:moveTo>
                <a:lnTo>
                  <a:pt x="155722" y="72670"/>
                </a:lnTo>
                <a:cubicBezTo>
                  <a:pt x="161464" y="72670"/>
                  <a:pt x="166104" y="77310"/>
                  <a:pt x="166104" y="83052"/>
                </a:cubicBezTo>
                <a:cubicBezTo>
                  <a:pt x="166104" y="88794"/>
                  <a:pt x="161464" y="93433"/>
                  <a:pt x="155722" y="93433"/>
                </a:cubicBezTo>
                <a:lnTo>
                  <a:pt x="72670" y="93433"/>
                </a:lnTo>
                <a:cubicBezTo>
                  <a:pt x="66928" y="93433"/>
                  <a:pt x="62289" y="88794"/>
                  <a:pt x="62289" y="83052"/>
                </a:cubicBezTo>
                <a:cubicBezTo>
                  <a:pt x="62289" y="77310"/>
                  <a:pt x="66928" y="72670"/>
                  <a:pt x="72670" y="72670"/>
                </a:cubicBezTo>
                <a:close/>
                <a:moveTo>
                  <a:pt x="72670" y="124578"/>
                </a:moveTo>
                <a:lnTo>
                  <a:pt x="155722" y="124578"/>
                </a:lnTo>
                <a:cubicBezTo>
                  <a:pt x="161464" y="124578"/>
                  <a:pt x="166104" y="129217"/>
                  <a:pt x="166104" y="134959"/>
                </a:cubicBezTo>
                <a:cubicBezTo>
                  <a:pt x="166104" y="140701"/>
                  <a:pt x="161464" y="145341"/>
                  <a:pt x="155722" y="145341"/>
                </a:cubicBezTo>
                <a:lnTo>
                  <a:pt x="72670" y="145341"/>
                </a:lnTo>
                <a:cubicBezTo>
                  <a:pt x="66928" y="145341"/>
                  <a:pt x="62289" y="140701"/>
                  <a:pt x="62289" y="134959"/>
                </a:cubicBezTo>
                <a:cubicBezTo>
                  <a:pt x="62289" y="129217"/>
                  <a:pt x="66928" y="124578"/>
                  <a:pt x="72670" y="12457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681025" y="1320523"/>
            <a:ext cx="11120632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Essential Preprocessing Steps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490005" y="1652730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490005" y="1652730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606278" y="1752392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577210" y="1752392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631" name="Google Shape;631;p16"/>
          <p:cNvSpPr/>
          <p:nvPr/>
        </p:nvSpPr>
        <p:spPr>
          <a:xfrm>
            <a:off x="905264" y="1769003"/>
            <a:ext cx="946790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Collection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606278" y="2051379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Gather customer demographics, transactions, and interactions.</a:t>
            </a:r>
            <a:endParaRPr b="0" i="0" sz="1600" u="none" cap="none" strike="noStrike"/>
          </a:p>
        </p:txBody>
      </p:sp>
      <p:sp>
        <p:nvSpPr>
          <p:cNvPr id="633" name="Google Shape;633;p16"/>
          <p:cNvSpPr/>
          <p:nvPr/>
        </p:nvSpPr>
        <p:spPr>
          <a:xfrm>
            <a:off x="4272754" y="1652730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4272754" y="1652730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4389027" y="1752392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4359958" y="1752392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637" name="Google Shape;637;p16"/>
          <p:cNvSpPr/>
          <p:nvPr/>
        </p:nvSpPr>
        <p:spPr>
          <a:xfrm>
            <a:off x="4688013" y="1769003"/>
            <a:ext cx="913569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 Values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4389027" y="2051379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Impute numerical (median) and categorical (mode) data.</a:t>
            </a:r>
            <a:endParaRPr b="0" i="0" sz="1600" u="none" cap="none" strike="noStrike"/>
          </a:p>
        </p:txBody>
      </p:sp>
      <p:sp>
        <p:nvSpPr>
          <p:cNvPr id="639" name="Google Shape;639;p16"/>
          <p:cNvSpPr/>
          <p:nvPr/>
        </p:nvSpPr>
        <p:spPr>
          <a:xfrm>
            <a:off x="8055632" y="1652730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8055632" y="1652730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8171905" y="1752392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8142837" y="1752392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643" name="Google Shape;643;p16"/>
          <p:cNvSpPr/>
          <p:nvPr/>
        </p:nvSpPr>
        <p:spPr>
          <a:xfrm>
            <a:off x="8470891" y="1769003"/>
            <a:ext cx="1278997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Categorical Encoding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8171905" y="2051379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one-hot encoding for plan types and payment methods.</a:t>
            </a:r>
            <a:endParaRPr b="0" i="0" sz="1600" u="none" cap="none" strike="noStrike"/>
          </a:p>
        </p:txBody>
      </p:sp>
      <p:sp>
        <p:nvSpPr>
          <p:cNvPr id="645" name="Google Shape;645;p16"/>
          <p:cNvSpPr/>
          <p:nvPr/>
        </p:nvSpPr>
        <p:spPr>
          <a:xfrm>
            <a:off x="490005" y="2416807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490005" y="2416807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606278" y="2516469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6"/>
          <p:cNvSpPr/>
          <p:nvPr/>
        </p:nvSpPr>
        <p:spPr>
          <a:xfrm>
            <a:off x="577210" y="2516469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649" name="Google Shape;649;p16"/>
          <p:cNvSpPr/>
          <p:nvPr/>
        </p:nvSpPr>
        <p:spPr>
          <a:xfrm>
            <a:off x="905264" y="2533079"/>
            <a:ext cx="946790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Scaling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606278" y="2815455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Apply normalization for SVM and logistic regression.</a:t>
            </a:r>
            <a:endParaRPr b="0" i="0" sz="1600" u="none" cap="none" strike="noStrike"/>
          </a:p>
        </p:txBody>
      </p:sp>
      <p:sp>
        <p:nvSpPr>
          <p:cNvPr id="651" name="Google Shape;651;p16"/>
          <p:cNvSpPr/>
          <p:nvPr/>
        </p:nvSpPr>
        <p:spPr>
          <a:xfrm>
            <a:off x="4272754" y="2416807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6"/>
          <p:cNvSpPr/>
          <p:nvPr/>
        </p:nvSpPr>
        <p:spPr>
          <a:xfrm>
            <a:off x="4272754" y="2416807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4389027" y="2516469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4359958" y="2516469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655" name="Google Shape;655;p16"/>
          <p:cNvSpPr/>
          <p:nvPr/>
        </p:nvSpPr>
        <p:spPr>
          <a:xfrm>
            <a:off x="4688013" y="2533079"/>
            <a:ext cx="963401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Train-Test Split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4389027" y="2815455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temporal split (train on past, test on future).</a:t>
            </a:r>
            <a:endParaRPr b="0" i="0" sz="1600" u="none" cap="none" strike="noStrike"/>
          </a:p>
        </p:txBody>
      </p:sp>
      <p:sp>
        <p:nvSpPr>
          <p:cNvPr id="657" name="Google Shape;657;p16"/>
          <p:cNvSpPr/>
          <p:nvPr/>
        </p:nvSpPr>
        <p:spPr>
          <a:xfrm>
            <a:off x="8055632" y="2416807"/>
            <a:ext cx="3662583" cy="664414"/>
          </a:xfrm>
          <a:custGeom>
            <a:rect b="b" l="l" r="r" t="t"/>
            <a:pathLst>
              <a:path extrusionOk="0" h="664414" w="3662583">
                <a:moveTo>
                  <a:pt x="33221" y="0"/>
                </a:moveTo>
                <a:lnTo>
                  <a:pt x="3629362" y="0"/>
                </a:lnTo>
                <a:cubicBezTo>
                  <a:pt x="3647710" y="0"/>
                  <a:pt x="3662583" y="14873"/>
                  <a:pt x="3662583" y="33221"/>
                </a:cubicBezTo>
                <a:lnTo>
                  <a:pt x="3662583" y="631193"/>
                </a:lnTo>
                <a:cubicBezTo>
                  <a:pt x="3662583" y="649541"/>
                  <a:pt x="3647710" y="664414"/>
                  <a:pt x="362936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6"/>
          <p:cNvSpPr/>
          <p:nvPr/>
        </p:nvSpPr>
        <p:spPr>
          <a:xfrm>
            <a:off x="8055632" y="2416807"/>
            <a:ext cx="33221" cy="664414"/>
          </a:xfrm>
          <a:custGeom>
            <a:rect b="b" l="l" r="r" t="t"/>
            <a:pathLst>
              <a:path extrusionOk="0" h="664414" w="33221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8171905" y="2516469"/>
            <a:ext cx="232545" cy="232545"/>
          </a:xfrm>
          <a:custGeom>
            <a:rect b="b" l="l" r="r" t="t"/>
            <a:pathLst>
              <a:path extrusionOk="0" h="232545" w="232545">
                <a:moveTo>
                  <a:pt x="116272" y="0"/>
                </a:moveTo>
                <a:lnTo>
                  <a:pt x="116272" y="0"/>
                </a:lnTo>
                <a:cubicBezTo>
                  <a:pt x="180488" y="0"/>
                  <a:pt x="232545" y="52057"/>
                  <a:pt x="232545" y="116272"/>
                </a:cubicBezTo>
                <a:lnTo>
                  <a:pt x="232545" y="116272"/>
                </a:lnTo>
                <a:cubicBezTo>
                  <a:pt x="232545" y="180488"/>
                  <a:pt x="180488" y="232545"/>
                  <a:pt x="11627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"/>
          <p:cNvSpPr/>
          <p:nvPr/>
        </p:nvSpPr>
        <p:spPr>
          <a:xfrm>
            <a:off x="8142837" y="2516469"/>
            <a:ext cx="290681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600" u="none" cap="none" strike="noStrike"/>
          </a:p>
        </p:txBody>
      </p:sp>
      <p:sp>
        <p:nvSpPr>
          <p:cNvPr id="661" name="Google Shape;661;p16"/>
          <p:cNvSpPr/>
          <p:nvPr/>
        </p:nvSpPr>
        <p:spPr>
          <a:xfrm>
            <a:off x="8470891" y="2533079"/>
            <a:ext cx="1104589" cy="19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6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 Imbalance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8171905" y="2815455"/>
            <a:ext cx="3504785" cy="16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SMOTE or class weights for balanced datasets.</a:t>
            </a:r>
            <a:endParaRPr b="0" i="0" sz="1600" u="none" cap="none" strike="noStrike"/>
          </a:p>
        </p:txBody>
      </p:sp>
      <p:sp>
        <p:nvSpPr>
          <p:cNvPr id="663" name="Google Shape;663;p16"/>
          <p:cNvSpPr/>
          <p:nvPr/>
        </p:nvSpPr>
        <p:spPr>
          <a:xfrm>
            <a:off x="336360" y="3326223"/>
            <a:ext cx="5705657" cy="3031390"/>
          </a:xfrm>
          <a:custGeom>
            <a:rect b="b" l="l" r="r" t="t"/>
            <a:pathLst>
              <a:path extrusionOk="0" h="3031390" w="5705657">
                <a:moveTo>
                  <a:pt x="66448" y="0"/>
                </a:moveTo>
                <a:lnTo>
                  <a:pt x="5639209" y="0"/>
                </a:lnTo>
                <a:cubicBezTo>
                  <a:pt x="5675907" y="0"/>
                  <a:pt x="5705657" y="29750"/>
                  <a:pt x="5705657" y="66448"/>
                </a:cubicBezTo>
                <a:lnTo>
                  <a:pt x="5705657" y="2964942"/>
                </a:lnTo>
                <a:cubicBezTo>
                  <a:pt x="5705657" y="3001640"/>
                  <a:pt x="5675907" y="3031390"/>
                  <a:pt x="5639209" y="3031390"/>
                </a:cubicBezTo>
                <a:lnTo>
                  <a:pt x="66448" y="3031390"/>
                </a:lnTo>
                <a:cubicBezTo>
                  <a:pt x="29750" y="3031390"/>
                  <a:pt x="0" y="3001640"/>
                  <a:pt x="0" y="2964942"/>
                </a:cubicBezTo>
                <a:lnTo>
                  <a:pt x="0" y="66448"/>
                </a:lnTo>
                <a:cubicBezTo>
                  <a:pt x="0" y="29774"/>
                  <a:pt x="29774" y="0"/>
                  <a:pt x="66448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503501" y="3504785"/>
            <a:ext cx="130807" cy="149493"/>
          </a:xfrm>
          <a:custGeom>
            <a:rect b="b" l="l" r="r" t="t"/>
            <a:pathLst>
              <a:path extrusionOk="0" h="149493" w="130807">
                <a:moveTo>
                  <a:pt x="128412" y="58542"/>
                </a:moveTo>
                <a:cubicBezTo>
                  <a:pt x="126164" y="49520"/>
                  <a:pt x="121901" y="42717"/>
                  <a:pt x="112821" y="42717"/>
                </a:cubicBezTo>
                <a:lnTo>
                  <a:pt x="101112" y="42717"/>
                </a:lnTo>
                <a:lnTo>
                  <a:pt x="101112" y="56556"/>
                </a:lnTo>
                <a:cubicBezTo>
                  <a:pt x="101112" y="67301"/>
                  <a:pt x="92003" y="76352"/>
                  <a:pt x="81608" y="76352"/>
                </a:cubicBezTo>
                <a:lnTo>
                  <a:pt x="50425" y="76352"/>
                </a:lnTo>
                <a:cubicBezTo>
                  <a:pt x="41899" y="76352"/>
                  <a:pt x="34833" y="83652"/>
                  <a:pt x="34833" y="92207"/>
                </a:cubicBezTo>
                <a:lnTo>
                  <a:pt x="34833" y="121930"/>
                </a:lnTo>
                <a:cubicBezTo>
                  <a:pt x="34833" y="130398"/>
                  <a:pt x="42191" y="135361"/>
                  <a:pt x="50425" y="137785"/>
                </a:cubicBezTo>
                <a:cubicBezTo>
                  <a:pt x="60294" y="140675"/>
                  <a:pt x="69783" y="141201"/>
                  <a:pt x="81608" y="137785"/>
                </a:cubicBezTo>
                <a:cubicBezTo>
                  <a:pt x="89462" y="135507"/>
                  <a:pt x="97200" y="130923"/>
                  <a:pt x="97200" y="121930"/>
                </a:cubicBezTo>
                <a:lnTo>
                  <a:pt x="97200" y="110047"/>
                </a:lnTo>
                <a:lnTo>
                  <a:pt x="66046" y="110047"/>
                </a:lnTo>
                <a:lnTo>
                  <a:pt x="66046" y="106076"/>
                </a:lnTo>
                <a:lnTo>
                  <a:pt x="112821" y="106076"/>
                </a:lnTo>
                <a:cubicBezTo>
                  <a:pt x="121901" y="106076"/>
                  <a:pt x="125259" y="99740"/>
                  <a:pt x="128412" y="90251"/>
                </a:cubicBezTo>
                <a:cubicBezTo>
                  <a:pt x="131682" y="80469"/>
                  <a:pt x="131536" y="71068"/>
                  <a:pt x="128412" y="58542"/>
                </a:cubicBezTo>
                <a:close/>
                <a:moveTo>
                  <a:pt x="83564" y="129843"/>
                </a:moveTo>
                <a:cubicBezTo>
                  <a:pt x="81342" y="129999"/>
                  <a:pt x="79219" y="128902"/>
                  <a:pt x="78060" y="126999"/>
                </a:cubicBezTo>
                <a:cubicBezTo>
                  <a:pt x="76902" y="125096"/>
                  <a:pt x="76902" y="122706"/>
                  <a:pt x="78060" y="120803"/>
                </a:cubicBezTo>
                <a:cubicBezTo>
                  <a:pt x="79219" y="118901"/>
                  <a:pt x="81342" y="117804"/>
                  <a:pt x="83564" y="117959"/>
                </a:cubicBezTo>
                <a:cubicBezTo>
                  <a:pt x="85787" y="117804"/>
                  <a:pt x="87910" y="118901"/>
                  <a:pt x="89069" y="120803"/>
                </a:cubicBezTo>
                <a:cubicBezTo>
                  <a:pt x="90227" y="122706"/>
                  <a:pt x="90227" y="125096"/>
                  <a:pt x="89069" y="126999"/>
                </a:cubicBezTo>
                <a:cubicBezTo>
                  <a:pt x="87910" y="128902"/>
                  <a:pt x="85787" y="129999"/>
                  <a:pt x="83564" y="129843"/>
                </a:cubicBezTo>
                <a:close/>
                <a:moveTo>
                  <a:pt x="48994" y="72440"/>
                </a:moveTo>
                <a:lnTo>
                  <a:pt x="80177" y="72440"/>
                </a:lnTo>
                <a:cubicBezTo>
                  <a:pt x="88849" y="72440"/>
                  <a:pt x="95769" y="65286"/>
                  <a:pt x="95769" y="56586"/>
                </a:cubicBezTo>
                <a:lnTo>
                  <a:pt x="95769" y="26833"/>
                </a:lnTo>
                <a:cubicBezTo>
                  <a:pt x="95769" y="18365"/>
                  <a:pt x="88645" y="12030"/>
                  <a:pt x="80177" y="10599"/>
                </a:cubicBezTo>
                <a:cubicBezTo>
                  <a:pt x="69725" y="8876"/>
                  <a:pt x="58367" y="8964"/>
                  <a:pt x="48994" y="10628"/>
                </a:cubicBezTo>
                <a:cubicBezTo>
                  <a:pt x="35797" y="12964"/>
                  <a:pt x="33402" y="17840"/>
                  <a:pt x="33402" y="26862"/>
                </a:cubicBezTo>
                <a:lnTo>
                  <a:pt x="33402" y="38746"/>
                </a:lnTo>
                <a:lnTo>
                  <a:pt x="64615" y="38746"/>
                </a:lnTo>
                <a:lnTo>
                  <a:pt x="64615" y="42717"/>
                </a:lnTo>
                <a:lnTo>
                  <a:pt x="21694" y="42717"/>
                </a:lnTo>
                <a:cubicBezTo>
                  <a:pt x="12613" y="42717"/>
                  <a:pt x="4672" y="48177"/>
                  <a:pt x="2190" y="58542"/>
                </a:cubicBezTo>
                <a:cubicBezTo>
                  <a:pt x="-672" y="70425"/>
                  <a:pt x="-788" y="77842"/>
                  <a:pt x="2190" y="90251"/>
                </a:cubicBezTo>
                <a:cubicBezTo>
                  <a:pt x="4409" y="99477"/>
                  <a:pt x="9694" y="106076"/>
                  <a:pt x="18774" y="106076"/>
                </a:cubicBezTo>
                <a:lnTo>
                  <a:pt x="29490" y="106076"/>
                </a:lnTo>
                <a:lnTo>
                  <a:pt x="29490" y="91827"/>
                </a:lnTo>
                <a:cubicBezTo>
                  <a:pt x="29490" y="81521"/>
                  <a:pt x="38395" y="72440"/>
                  <a:pt x="48994" y="72440"/>
                </a:cubicBezTo>
                <a:close/>
                <a:moveTo>
                  <a:pt x="47067" y="18891"/>
                </a:moveTo>
                <a:cubicBezTo>
                  <a:pt x="50354" y="18891"/>
                  <a:pt x="53023" y="21560"/>
                  <a:pt x="53023" y="24847"/>
                </a:cubicBezTo>
                <a:cubicBezTo>
                  <a:pt x="53023" y="28135"/>
                  <a:pt x="50354" y="30804"/>
                  <a:pt x="47067" y="30804"/>
                </a:cubicBezTo>
                <a:cubicBezTo>
                  <a:pt x="43780" y="30804"/>
                  <a:pt x="41111" y="28135"/>
                  <a:pt x="41111" y="24847"/>
                </a:cubicBezTo>
                <a:cubicBezTo>
                  <a:pt x="41111" y="21560"/>
                  <a:pt x="43780" y="18891"/>
                  <a:pt x="47067" y="18891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6"/>
          <p:cNvSpPr/>
          <p:nvPr/>
        </p:nvSpPr>
        <p:spPr>
          <a:xfrm>
            <a:off x="664414" y="3463259"/>
            <a:ext cx="5315313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7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Preprocessing Code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473395" y="3762245"/>
            <a:ext cx="5431586" cy="2458332"/>
          </a:xfrm>
          <a:custGeom>
            <a:rect b="b" l="l" r="r" t="t"/>
            <a:pathLst>
              <a:path extrusionOk="0" h="2458332" w="5431586">
                <a:moveTo>
                  <a:pt x="33212" y="0"/>
                </a:moveTo>
                <a:lnTo>
                  <a:pt x="5398374" y="0"/>
                </a:lnTo>
                <a:cubicBezTo>
                  <a:pt x="5416716" y="0"/>
                  <a:pt x="5431586" y="14870"/>
                  <a:pt x="5431586" y="33212"/>
                </a:cubicBezTo>
                <a:lnTo>
                  <a:pt x="5431586" y="2425120"/>
                </a:lnTo>
                <a:cubicBezTo>
                  <a:pt x="5431586" y="2443463"/>
                  <a:pt x="5416716" y="2458332"/>
                  <a:pt x="5398374" y="2458332"/>
                </a:cubicBezTo>
                <a:lnTo>
                  <a:pt x="33212" y="2458332"/>
                </a:lnTo>
                <a:cubicBezTo>
                  <a:pt x="14870" y="2458332"/>
                  <a:pt x="0" y="2443463"/>
                  <a:pt x="0" y="2425120"/>
                </a:cubicBezTo>
                <a:lnTo>
                  <a:pt x="0" y="33212"/>
                </a:lnTo>
                <a:cubicBezTo>
                  <a:pt x="0" y="14870"/>
                  <a:pt x="14870" y="0"/>
                  <a:pt x="3321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573057" y="3861907"/>
            <a:ext cx="5282093" cy="2259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# Example preprocessing pipelinefrom sklearn.model_selection import train_test_split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from sklearn.preprocessing import StandardScaler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from imblearn.over_sampling import SMOTE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# Temporal split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X_train, X_test, y_train, y_test = train_test_split(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    X, y, test_size=0.2, shuffle=False)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# Feature scaling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scaler = StandardScaler()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X_train_scaled = scaler.fit_transform(X_train)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X_test_scaled = scaler.transform(X_test)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# Handle imbalance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smote = SMOTE(random_state=42)</a:t>
            </a:r>
            <a:endParaRPr b="0" i="0" sz="1600" u="none" cap="none" strike="noStrike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X_balanced, y_balanced = smote.fit_resample(X_train_scaled, y_train)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6151800" y="3326223"/>
            <a:ext cx="5705657" cy="3031390"/>
          </a:xfrm>
          <a:custGeom>
            <a:rect b="b" l="l" r="r" t="t"/>
            <a:pathLst>
              <a:path extrusionOk="0" h="3031390" w="5705657">
                <a:moveTo>
                  <a:pt x="66448" y="0"/>
                </a:moveTo>
                <a:lnTo>
                  <a:pt x="5639209" y="0"/>
                </a:lnTo>
                <a:cubicBezTo>
                  <a:pt x="5675907" y="0"/>
                  <a:pt x="5705657" y="29750"/>
                  <a:pt x="5705657" y="66448"/>
                </a:cubicBezTo>
                <a:lnTo>
                  <a:pt x="5705657" y="2964942"/>
                </a:lnTo>
                <a:cubicBezTo>
                  <a:pt x="5705657" y="3001640"/>
                  <a:pt x="5675907" y="3031390"/>
                  <a:pt x="5639209" y="3031390"/>
                </a:cubicBezTo>
                <a:lnTo>
                  <a:pt x="66448" y="3031390"/>
                </a:lnTo>
                <a:cubicBezTo>
                  <a:pt x="29750" y="3031390"/>
                  <a:pt x="0" y="3001640"/>
                  <a:pt x="0" y="2964942"/>
                </a:cubicBezTo>
                <a:lnTo>
                  <a:pt x="0" y="66448"/>
                </a:lnTo>
                <a:cubicBezTo>
                  <a:pt x="0" y="29774"/>
                  <a:pt x="29774" y="0"/>
                  <a:pt x="66448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6318942" y="3504785"/>
            <a:ext cx="130807" cy="149493"/>
          </a:xfrm>
          <a:custGeom>
            <a:rect b="b" l="l" r="r" t="t"/>
            <a:pathLst>
              <a:path extrusionOk="0" h="149493" w="130807">
                <a:moveTo>
                  <a:pt x="130807" y="60089"/>
                </a:moveTo>
                <a:cubicBezTo>
                  <a:pt x="126485" y="62951"/>
                  <a:pt x="121522" y="65257"/>
                  <a:pt x="116354" y="67097"/>
                </a:cubicBezTo>
                <a:cubicBezTo>
                  <a:pt x="102631" y="72002"/>
                  <a:pt x="84615" y="74747"/>
                  <a:pt x="65403" y="74747"/>
                </a:cubicBezTo>
                <a:cubicBezTo>
                  <a:pt x="46191" y="74747"/>
                  <a:pt x="28147" y="71973"/>
                  <a:pt x="14453" y="67097"/>
                </a:cubicBezTo>
                <a:cubicBezTo>
                  <a:pt x="9314" y="65257"/>
                  <a:pt x="4321" y="62951"/>
                  <a:pt x="0" y="60089"/>
                </a:cubicBezTo>
                <a:lnTo>
                  <a:pt x="0" y="84090"/>
                </a:lnTo>
                <a:cubicBezTo>
                  <a:pt x="0" y="96995"/>
                  <a:pt x="29285" y="107448"/>
                  <a:pt x="65403" y="107448"/>
                </a:cubicBezTo>
                <a:cubicBezTo>
                  <a:pt x="101521" y="107448"/>
                  <a:pt x="130807" y="96995"/>
                  <a:pt x="130807" y="84090"/>
                </a:cubicBezTo>
                <a:lnTo>
                  <a:pt x="130807" y="60089"/>
                </a:lnTo>
                <a:close/>
                <a:moveTo>
                  <a:pt x="130807" y="37373"/>
                </a:moveTo>
                <a:lnTo>
                  <a:pt x="130807" y="23358"/>
                </a:lnTo>
                <a:cubicBezTo>
                  <a:pt x="130807" y="10453"/>
                  <a:pt x="101521" y="0"/>
                  <a:pt x="65403" y="0"/>
                </a:cubicBezTo>
                <a:cubicBezTo>
                  <a:pt x="29285" y="0"/>
                  <a:pt x="0" y="10453"/>
                  <a:pt x="0" y="23358"/>
                </a:cubicBezTo>
                <a:lnTo>
                  <a:pt x="0" y="37373"/>
                </a:lnTo>
                <a:cubicBezTo>
                  <a:pt x="0" y="50279"/>
                  <a:pt x="29285" y="60732"/>
                  <a:pt x="65403" y="60732"/>
                </a:cubicBezTo>
                <a:cubicBezTo>
                  <a:pt x="101521" y="60732"/>
                  <a:pt x="130807" y="50279"/>
                  <a:pt x="130807" y="37373"/>
                </a:cubicBezTo>
                <a:close/>
                <a:moveTo>
                  <a:pt x="116354" y="113813"/>
                </a:moveTo>
                <a:cubicBezTo>
                  <a:pt x="102660" y="118689"/>
                  <a:pt x="84645" y="121463"/>
                  <a:pt x="65403" y="121463"/>
                </a:cubicBezTo>
                <a:cubicBezTo>
                  <a:pt x="46162" y="121463"/>
                  <a:pt x="28147" y="118689"/>
                  <a:pt x="14453" y="113813"/>
                </a:cubicBezTo>
                <a:cubicBezTo>
                  <a:pt x="9314" y="111974"/>
                  <a:pt x="4321" y="109667"/>
                  <a:pt x="0" y="106806"/>
                </a:cubicBezTo>
                <a:lnTo>
                  <a:pt x="0" y="126135"/>
                </a:lnTo>
                <a:cubicBezTo>
                  <a:pt x="0" y="139040"/>
                  <a:pt x="29285" y="149493"/>
                  <a:pt x="65403" y="149493"/>
                </a:cubicBezTo>
                <a:cubicBezTo>
                  <a:pt x="101521" y="149493"/>
                  <a:pt x="130807" y="139040"/>
                  <a:pt x="130807" y="126135"/>
                </a:cubicBezTo>
                <a:lnTo>
                  <a:pt x="130807" y="106806"/>
                </a:lnTo>
                <a:cubicBezTo>
                  <a:pt x="126485" y="109667"/>
                  <a:pt x="121522" y="111974"/>
                  <a:pt x="116354" y="113813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6479855" y="3463259"/>
            <a:ext cx="5315313" cy="23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7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Sample Data Structure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6288836" y="3762245"/>
            <a:ext cx="5431586" cy="822213"/>
          </a:xfrm>
          <a:custGeom>
            <a:rect b="b" l="l" r="r" t="t"/>
            <a:pathLst>
              <a:path extrusionOk="0" h="822213" w="5431586">
                <a:moveTo>
                  <a:pt x="33217" y="0"/>
                </a:moveTo>
                <a:lnTo>
                  <a:pt x="5398368" y="0"/>
                </a:lnTo>
                <a:cubicBezTo>
                  <a:pt x="5416714" y="0"/>
                  <a:pt x="5431586" y="14872"/>
                  <a:pt x="5431586" y="33217"/>
                </a:cubicBezTo>
                <a:lnTo>
                  <a:pt x="5431586" y="788995"/>
                </a:lnTo>
                <a:cubicBezTo>
                  <a:pt x="5431586" y="807341"/>
                  <a:pt x="5416714" y="822213"/>
                  <a:pt x="5398368" y="822213"/>
                </a:cubicBezTo>
                <a:lnTo>
                  <a:pt x="33217" y="822213"/>
                </a:lnTo>
                <a:cubicBezTo>
                  <a:pt x="14872" y="822213"/>
                  <a:pt x="0" y="807341"/>
                  <a:pt x="0" y="788995"/>
                </a:cubicBezTo>
                <a:lnTo>
                  <a:pt x="0" y="33217"/>
                </a:lnTo>
                <a:cubicBezTo>
                  <a:pt x="0" y="14884"/>
                  <a:pt x="14884" y="0"/>
                  <a:pt x="3321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72" name="Google Shape;672;p16"/>
          <p:cNvGraphicFramePr/>
          <p:nvPr/>
        </p:nvGraphicFramePr>
        <p:xfrm>
          <a:off x="6288836" y="3762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{62FF1A8F-5FBD-4735-AD16-0F4CF33D1977}</a:tableStyleId>
              </a:tblPr>
              <a:tblGrid>
                <a:gridCol w="1644425"/>
                <a:gridCol w="1262375"/>
                <a:gridCol w="1494925"/>
                <a:gridCol w="1029850"/>
              </a:tblGrid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CustomerID</a:t>
                      </a:r>
                      <a:endParaRPr sz="700" u="none" cap="none" strike="noStrike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74B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Recency</a:t>
                      </a:r>
                      <a:endParaRPr sz="700" u="none" cap="none" strike="noStrike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74B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Frequency</a:t>
                      </a:r>
                      <a:endParaRPr sz="700" u="none" cap="none" strike="noStrike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74B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Churn</a:t>
                      </a:r>
                      <a:endParaRPr sz="700" u="none" cap="none" strike="noStrike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74B9">
                        <a:alpha val="20000"/>
                      </a:srgbClr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1001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1002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1003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18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>
                          <a:solidFill>
                            <a:schemeClr val="accent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</a:t>
                      </a:r>
                      <a:endParaRPr sz="700">
                        <a:solidFill>
                          <a:schemeClr val="accent6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33225" marB="33225" marR="66450" marL="6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73" name="Google Shape;673;p16"/>
          <p:cNvSpPr/>
          <p:nvPr/>
        </p:nvSpPr>
        <p:spPr>
          <a:xfrm>
            <a:off x="6288836" y="4650899"/>
            <a:ext cx="5481417" cy="132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Churn = 1 (Yes), 0 (No)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7"/>
          <p:cNvSpPr/>
          <p:nvPr/>
        </p:nvSpPr>
        <p:spPr>
          <a:xfrm>
            <a:off x="321469" y="321469"/>
            <a:ext cx="1158875" cy="261937"/>
          </a:xfrm>
          <a:custGeom>
            <a:rect b="b" l="l" r="r" t="t"/>
            <a:pathLst>
              <a:path extrusionOk="0" h="261937" w="1158875">
                <a:moveTo>
                  <a:pt x="130969" y="0"/>
                </a:moveTo>
                <a:lnTo>
                  <a:pt x="1027906" y="0"/>
                </a:lnTo>
                <a:cubicBezTo>
                  <a:pt x="1100190" y="0"/>
                  <a:pt x="1158875" y="58685"/>
                  <a:pt x="1158875" y="130969"/>
                </a:cubicBezTo>
                <a:lnTo>
                  <a:pt x="1158875" y="130969"/>
                </a:lnTo>
                <a:cubicBezTo>
                  <a:pt x="1158875" y="203252"/>
                  <a:pt x="1100190" y="261937"/>
                  <a:pt x="1027906" y="261937"/>
                </a:cubicBezTo>
                <a:lnTo>
                  <a:pt x="130969" y="261937"/>
                </a:lnTo>
                <a:cubicBezTo>
                  <a:pt x="58685" y="261937"/>
                  <a:pt x="0" y="203252"/>
                  <a:pt x="0" y="130969"/>
                </a:cubicBezTo>
                <a:lnTo>
                  <a:pt x="0" y="130969"/>
                </a:lnTo>
                <a:cubicBezTo>
                  <a:pt x="0" y="58685"/>
                  <a:pt x="58685" y="0"/>
                  <a:pt x="130969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420688" y="396875"/>
            <a:ext cx="1014512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TRAINING</a:t>
            </a:r>
            <a:endParaRPr b="0" i="0" sz="1600" u="none" cap="none" strike="noStrike"/>
          </a:p>
        </p:txBody>
      </p:sp>
      <p:sp>
        <p:nvSpPr>
          <p:cNvPr id="681" name="Google Shape;681;p17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Training Three Models: Code Implementation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321469" y="1131094"/>
            <a:ext cx="5707063" cy="2865438"/>
          </a:xfrm>
          <a:custGeom>
            <a:rect b="b" l="l" r="r" t="t"/>
            <a:pathLst>
              <a:path extrusionOk="0" h="2865438" w="5707063">
                <a:moveTo>
                  <a:pt x="63498" y="0"/>
                </a:moveTo>
                <a:lnTo>
                  <a:pt x="5643564" y="0"/>
                </a:lnTo>
                <a:cubicBezTo>
                  <a:pt x="5678633" y="0"/>
                  <a:pt x="5707063" y="28429"/>
                  <a:pt x="5707063" y="63498"/>
                </a:cubicBezTo>
                <a:lnTo>
                  <a:pt x="5707063" y="2801939"/>
                </a:lnTo>
                <a:cubicBezTo>
                  <a:pt x="5707063" y="2837008"/>
                  <a:pt x="5678633" y="2865438"/>
                  <a:pt x="5643564" y="2865438"/>
                </a:cubicBezTo>
                <a:lnTo>
                  <a:pt x="63498" y="2865438"/>
                </a:lnTo>
                <a:cubicBezTo>
                  <a:pt x="28429" y="2865438"/>
                  <a:pt x="0" y="2837008"/>
                  <a:pt x="0" y="280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7"/>
          <p:cNvSpPr/>
          <p:nvPr/>
        </p:nvSpPr>
        <p:spPr>
          <a:xfrm>
            <a:off x="472281" y="1301750"/>
            <a:ext cx="142875" cy="142875"/>
          </a:xfrm>
          <a:custGeom>
            <a:rect b="b" l="l" r="r" t="t"/>
            <a:pathLst>
              <a:path extrusionOk="0" h="142875" w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635000" y="1262063"/>
            <a:ext cx="533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1. Logistic Regression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85" name="Google Shape;685;p17"/>
          <p:cNvSpPr/>
          <p:nvPr/>
        </p:nvSpPr>
        <p:spPr>
          <a:xfrm>
            <a:off x="452438" y="1547813"/>
            <a:ext cx="5445125" cy="1841500"/>
          </a:xfrm>
          <a:custGeom>
            <a:rect b="b" l="l" r="r" t="t"/>
            <a:pathLst>
              <a:path extrusionOk="0" h="1841500" w="5445125">
                <a:moveTo>
                  <a:pt x="31747" y="0"/>
                </a:moveTo>
                <a:lnTo>
                  <a:pt x="5413378" y="0"/>
                </a:lnTo>
                <a:cubicBezTo>
                  <a:pt x="5430911" y="0"/>
                  <a:pt x="5445125" y="14214"/>
                  <a:pt x="5445125" y="31747"/>
                </a:cubicBezTo>
                <a:lnTo>
                  <a:pt x="5445125" y="1809753"/>
                </a:lnTo>
                <a:cubicBezTo>
                  <a:pt x="5445125" y="1827286"/>
                  <a:pt x="5430911" y="1841500"/>
                  <a:pt x="5413378" y="1841500"/>
                </a:cubicBezTo>
                <a:lnTo>
                  <a:pt x="31747" y="1841500"/>
                </a:lnTo>
                <a:cubicBezTo>
                  <a:pt x="14214" y="1841500"/>
                  <a:pt x="0" y="1827286"/>
                  <a:pt x="0" y="180975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7"/>
          <p:cNvSpPr/>
          <p:nvPr/>
        </p:nvSpPr>
        <p:spPr>
          <a:xfrm>
            <a:off x="547688" y="1643063"/>
            <a:ext cx="530225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from sklearn.linear_model import LogisticRegression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from sklearn.metrics import classification_report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Initialize model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lr_model = LogisticRegression(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random_state=42, 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max_iter=1000,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class_weight='balanced')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Train and predict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lr_model.fit(X_train_scaled, y_train)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lr_pred = lr_model.predict(X_test_scaled)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lr_prob = lr_model.predict_proba(X_test_scaled)[:, 1]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452438" y="3452813"/>
            <a:ext cx="5445125" cy="285750"/>
          </a:xfrm>
          <a:custGeom>
            <a:rect b="b" l="l" r="r" t="t"/>
            <a:pathLst>
              <a:path extrusionOk="0" h="285750" w="5445125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254000"/>
                </a:lnTo>
                <a:cubicBezTo>
                  <a:pt x="5445125" y="271535"/>
                  <a:pt x="5430910" y="285750"/>
                  <a:pt x="5413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7"/>
          <p:cNvSpPr/>
          <p:nvPr/>
        </p:nvSpPr>
        <p:spPr>
          <a:xfrm>
            <a:off x="515938" y="3516313"/>
            <a:ext cx="5373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</a:t>
            </a:r>
            <a:r>
              <a:rPr b="0" i="0" lang="en-US" sz="875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Interpretability, baseline model, linear patterns</a:t>
            </a:r>
            <a:endParaRPr b="0" i="0" sz="1600" u="none" cap="none" strike="noStrike"/>
          </a:p>
        </p:txBody>
      </p:sp>
      <p:sp>
        <p:nvSpPr>
          <p:cNvPr id="689" name="Google Shape;689;p17"/>
          <p:cNvSpPr/>
          <p:nvPr/>
        </p:nvSpPr>
        <p:spPr>
          <a:xfrm>
            <a:off x="6163469" y="1131094"/>
            <a:ext cx="5707063" cy="2865438"/>
          </a:xfrm>
          <a:custGeom>
            <a:rect b="b" l="l" r="r" t="t"/>
            <a:pathLst>
              <a:path extrusionOk="0" h="2865438" w="5707063">
                <a:moveTo>
                  <a:pt x="63498" y="0"/>
                </a:moveTo>
                <a:lnTo>
                  <a:pt x="5643564" y="0"/>
                </a:lnTo>
                <a:cubicBezTo>
                  <a:pt x="5678633" y="0"/>
                  <a:pt x="5707063" y="28429"/>
                  <a:pt x="5707063" y="63498"/>
                </a:cubicBezTo>
                <a:lnTo>
                  <a:pt x="5707063" y="2801939"/>
                </a:lnTo>
                <a:cubicBezTo>
                  <a:pt x="5707063" y="2837008"/>
                  <a:pt x="5678633" y="2865438"/>
                  <a:pt x="5643564" y="2865438"/>
                </a:cubicBezTo>
                <a:lnTo>
                  <a:pt x="63498" y="2865438"/>
                </a:lnTo>
                <a:cubicBezTo>
                  <a:pt x="28429" y="2865438"/>
                  <a:pt x="0" y="2837008"/>
                  <a:pt x="0" y="280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7"/>
          <p:cNvSpPr/>
          <p:nvPr/>
        </p:nvSpPr>
        <p:spPr>
          <a:xfrm>
            <a:off x="6314281" y="1301750"/>
            <a:ext cx="142875" cy="142875"/>
          </a:xfrm>
          <a:custGeom>
            <a:rect b="b" l="l" r="r" t="t"/>
            <a:pathLst>
              <a:path extrusionOk="0" h="142875" w="142875">
                <a:moveTo>
                  <a:pt x="53578" y="17859"/>
                </a:moveTo>
                <a:cubicBezTo>
                  <a:pt x="53578" y="12920"/>
                  <a:pt x="57569" y="8930"/>
                  <a:pt x="62508" y="8930"/>
                </a:cubicBezTo>
                <a:lnTo>
                  <a:pt x="80367" y="8930"/>
                </a:lnTo>
                <a:cubicBezTo>
                  <a:pt x="85306" y="8930"/>
                  <a:pt x="89297" y="12920"/>
                  <a:pt x="89297" y="1785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78135" y="44648"/>
                </a:lnTo>
                <a:lnTo>
                  <a:pt x="78135" y="62508"/>
                </a:lnTo>
                <a:lnTo>
                  <a:pt x="111621" y="62508"/>
                </a:lnTo>
                <a:cubicBezTo>
                  <a:pt x="122727" y="62508"/>
                  <a:pt x="131713" y="71493"/>
                  <a:pt x="131713" y="82600"/>
                </a:cubicBezTo>
                <a:lnTo>
                  <a:pt x="131713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16086" y="133945"/>
                </a:lnTo>
                <a:cubicBezTo>
                  <a:pt x="111147" y="133945"/>
                  <a:pt x="107156" y="129955"/>
                  <a:pt x="107156" y="125016"/>
                </a:cubicBezTo>
                <a:lnTo>
                  <a:pt x="107156" y="107156"/>
                </a:lnTo>
                <a:cubicBezTo>
                  <a:pt x="107156" y="102217"/>
                  <a:pt x="111147" y="98227"/>
                  <a:pt x="116086" y="98227"/>
                </a:cubicBezTo>
                <a:lnTo>
                  <a:pt x="118318" y="98227"/>
                </a:lnTo>
                <a:lnTo>
                  <a:pt x="118318" y="82600"/>
                </a:lnTo>
                <a:cubicBezTo>
                  <a:pt x="118318" y="78888"/>
                  <a:pt x="115332" y="75902"/>
                  <a:pt x="111621" y="75902"/>
                </a:cubicBezTo>
                <a:lnTo>
                  <a:pt x="78135" y="75902"/>
                </a:lnTo>
                <a:lnTo>
                  <a:pt x="78135" y="98227"/>
                </a:lnTo>
                <a:lnTo>
                  <a:pt x="80367" y="98227"/>
                </a:lnTo>
                <a:cubicBezTo>
                  <a:pt x="85306" y="98227"/>
                  <a:pt x="89297" y="102217"/>
                  <a:pt x="89297" y="107156"/>
                </a:cubicBezTo>
                <a:lnTo>
                  <a:pt x="89297" y="125016"/>
                </a:lnTo>
                <a:cubicBezTo>
                  <a:pt x="89297" y="129955"/>
                  <a:pt x="85306" y="133945"/>
                  <a:pt x="80367" y="133945"/>
                </a:cubicBezTo>
                <a:lnTo>
                  <a:pt x="62508" y="133945"/>
                </a:lnTo>
                <a:cubicBezTo>
                  <a:pt x="57569" y="133945"/>
                  <a:pt x="53578" y="129955"/>
                  <a:pt x="53578" y="125016"/>
                </a:cubicBezTo>
                <a:lnTo>
                  <a:pt x="53578" y="107156"/>
                </a:lnTo>
                <a:cubicBezTo>
                  <a:pt x="53578" y="102217"/>
                  <a:pt x="57569" y="98227"/>
                  <a:pt x="62508" y="98227"/>
                </a:cubicBezTo>
                <a:lnTo>
                  <a:pt x="64740" y="98227"/>
                </a:lnTo>
                <a:lnTo>
                  <a:pt x="64740" y="75902"/>
                </a:lnTo>
                <a:lnTo>
                  <a:pt x="31254" y="75902"/>
                </a:lnTo>
                <a:cubicBezTo>
                  <a:pt x="27543" y="75902"/>
                  <a:pt x="24557" y="78888"/>
                  <a:pt x="24557" y="82600"/>
                </a:cubicBezTo>
                <a:lnTo>
                  <a:pt x="24557" y="98227"/>
                </a:lnTo>
                <a:lnTo>
                  <a:pt x="26789" y="98227"/>
                </a:lnTo>
                <a:cubicBezTo>
                  <a:pt x="31728" y="98227"/>
                  <a:pt x="35719" y="102217"/>
                  <a:pt x="35719" y="107156"/>
                </a:cubicBezTo>
                <a:lnTo>
                  <a:pt x="35719" y="125016"/>
                </a:lnTo>
                <a:cubicBezTo>
                  <a:pt x="35719" y="129955"/>
                  <a:pt x="31728" y="133945"/>
                  <a:pt x="2678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07156"/>
                </a:lnTo>
                <a:cubicBezTo>
                  <a:pt x="0" y="102217"/>
                  <a:pt x="3990" y="98227"/>
                  <a:pt x="8930" y="98227"/>
                </a:cubicBezTo>
                <a:lnTo>
                  <a:pt x="11162" y="98227"/>
                </a:lnTo>
                <a:lnTo>
                  <a:pt x="11162" y="82600"/>
                </a:lnTo>
                <a:cubicBezTo>
                  <a:pt x="11162" y="71493"/>
                  <a:pt x="20148" y="62508"/>
                  <a:pt x="31254" y="62508"/>
                </a:cubicBezTo>
                <a:lnTo>
                  <a:pt x="64740" y="62508"/>
                </a:lnTo>
                <a:lnTo>
                  <a:pt x="64740" y="44648"/>
                </a:lnTo>
                <a:lnTo>
                  <a:pt x="62508" y="44648"/>
                </a:lnTo>
                <a:cubicBezTo>
                  <a:pt x="57569" y="44648"/>
                  <a:pt x="53578" y="40658"/>
                  <a:pt x="53578" y="35719"/>
                </a:cubicBezTo>
                <a:lnTo>
                  <a:pt x="53578" y="17859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6477000" y="1262063"/>
            <a:ext cx="533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2. Decision Tree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6294438" y="1547813"/>
            <a:ext cx="5445125" cy="1968500"/>
          </a:xfrm>
          <a:custGeom>
            <a:rect b="b" l="l" r="r" t="t"/>
            <a:pathLst>
              <a:path extrusionOk="0" h="1968500" w="5445125">
                <a:moveTo>
                  <a:pt x="31752" y="0"/>
                </a:moveTo>
                <a:lnTo>
                  <a:pt x="5413373" y="0"/>
                </a:lnTo>
                <a:cubicBezTo>
                  <a:pt x="5430909" y="0"/>
                  <a:pt x="5445125" y="14216"/>
                  <a:pt x="5445125" y="31752"/>
                </a:cubicBezTo>
                <a:lnTo>
                  <a:pt x="5445125" y="1936748"/>
                </a:lnTo>
                <a:cubicBezTo>
                  <a:pt x="5445125" y="1954284"/>
                  <a:pt x="5430909" y="1968500"/>
                  <a:pt x="5413373" y="1968500"/>
                </a:cubicBezTo>
                <a:lnTo>
                  <a:pt x="31752" y="1968500"/>
                </a:lnTo>
                <a:cubicBezTo>
                  <a:pt x="14216" y="1968500"/>
                  <a:pt x="0" y="1954284"/>
                  <a:pt x="0" y="193674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7"/>
          <p:cNvSpPr/>
          <p:nvPr/>
        </p:nvSpPr>
        <p:spPr>
          <a:xfrm>
            <a:off x="6389688" y="1643063"/>
            <a:ext cx="530225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from sklearn.tree import DecisionTreeClassifier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Initialize model with pruning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dt_model = DecisionTreeClassifier(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max_depth=5,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min_samples_split=20,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min_samples_leaf=10,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random_state=42,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class_weight='balanced')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Train and predict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dt_model.fit(X_train_scaled, y_train)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dt_pred = dt_model.predict(X_test_scaled)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dt_prob = dt_model.predict_proba(X_test_scaled)[:, 1]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6294438" y="3579813"/>
            <a:ext cx="5445125" cy="285750"/>
          </a:xfrm>
          <a:custGeom>
            <a:rect b="b" l="l" r="r" t="t"/>
            <a:pathLst>
              <a:path extrusionOk="0" h="285750" w="5445125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254000"/>
                </a:lnTo>
                <a:cubicBezTo>
                  <a:pt x="5445125" y="271535"/>
                  <a:pt x="5430910" y="285750"/>
                  <a:pt x="5413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6357938" y="3643313"/>
            <a:ext cx="5373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</a:t>
            </a:r>
            <a:r>
              <a:rPr b="0" i="0" lang="en-US" sz="875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Interpretability, non-linear patterns, mixed data types</a:t>
            </a:r>
            <a:endParaRPr b="0" i="0" sz="1600" u="none" cap="none" strike="noStrike"/>
          </a:p>
        </p:txBody>
      </p:sp>
      <p:sp>
        <p:nvSpPr>
          <p:cNvPr id="696" name="Google Shape;696;p17"/>
          <p:cNvSpPr/>
          <p:nvPr/>
        </p:nvSpPr>
        <p:spPr>
          <a:xfrm>
            <a:off x="321469" y="4004469"/>
            <a:ext cx="5707063" cy="2992438"/>
          </a:xfrm>
          <a:custGeom>
            <a:rect b="b" l="l" r="r" t="t"/>
            <a:pathLst>
              <a:path extrusionOk="0" h="2992438" w="5707063">
                <a:moveTo>
                  <a:pt x="63500" y="0"/>
                </a:moveTo>
                <a:lnTo>
                  <a:pt x="5643563" y="0"/>
                </a:lnTo>
                <a:cubicBezTo>
                  <a:pt x="5678633" y="0"/>
                  <a:pt x="5707062" y="28430"/>
                  <a:pt x="5707062" y="63500"/>
                </a:cubicBezTo>
                <a:lnTo>
                  <a:pt x="5707063" y="2928938"/>
                </a:lnTo>
                <a:cubicBezTo>
                  <a:pt x="5707062" y="2964008"/>
                  <a:pt x="5678633" y="2992438"/>
                  <a:pt x="5643563" y="2992438"/>
                </a:cubicBezTo>
                <a:lnTo>
                  <a:pt x="63500" y="2992438"/>
                </a:lnTo>
                <a:cubicBezTo>
                  <a:pt x="28430" y="2992438"/>
                  <a:pt x="0" y="2964008"/>
                  <a:pt x="0" y="292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472281" y="4175125"/>
            <a:ext cx="142875" cy="142875"/>
          </a:xfrm>
          <a:custGeom>
            <a:rect b="b" l="l" r="r" t="t"/>
            <a:pathLst>
              <a:path extrusionOk="0" h="142875" w="142875">
                <a:moveTo>
                  <a:pt x="18390" y="63764"/>
                </a:moveTo>
                <a:cubicBezTo>
                  <a:pt x="22101" y="37812"/>
                  <a:pt x="44453" y="17859"/>
                  <a:pt x="71438" y="17859"/>
                </a:cubicBezTo>
                <a:cubicBezTo>
                  <a:pt x="86227" y="17859"/>
                  <a:pt x="99622" y="23859"/>
                  <a:pt x="109333" y="33542"/>
                </a:cubicBezTo>
                <a:cubicBezTo>
                  <a:pt x="109389" y="33598"/>
                  <a:pt x="109444" y="33654"/>
                  <a:pt x="109500" y="33710"/>
                </a:cubicBezTo>
                <a:lnTo>
                  <a:pt x="111621" y="35719"/>
                </a:lnTo>
                <a:lnTo>
                  <a:pt x="98254" y="35719"/>
                </a:lnTo>
                <a:cubicBezTo>
                  <a:pt x="93315" y="35719"/>
                  <a:pt x="89325" y="39709"/>
                  <a:pt x="89325" y="44648"/>
                </a:cubicBezTo>
                <a:cubicBezTo>
                  <a:pt x="89325" y="49588"/>
                  <a:pt x="93315" y="53578"/>
                  <a:pt x="98254" y="53578"/>
                </a:cubicBezTo>
                <a:lnTo>
                  <a:pt x="133973" y="53578"/>
                </a:lnTo>
                <a:cubicBezTo>
                  <a:pt x="138912" y="53578"/>
                  <a:pt x="142903" y="49588"/>
                  <a:pt x="142903" y="44648"/>
                </a:cubicBezTo>
                <a:lnTo>
                  <a:pt x="142903" y="8930"/>
                </a:lnTo>
                <a:cubicBezTo>
                  <a:pt x="142903" y="3990"/>
                  <a:pt x="138912" y="0"/>
                  <a:pt x="133973" y="0"/>
                </a:cubicBezTo>
                <a:cubicBezTo>
                  <a:pt x="129034" y="0"/>
                  <a:pt x="125044" y="3990"/>
                  <a:pt x="125044" y="8930"/>
                </a:cubicBezTo>
                <a:lnTo>
                  <a:pt x="125044" y="23831"/>
                </a:lnTo>
                <a:lnTo>
                  <a:pt x="121890" y="20845"/>
                </a:lnTo>
                <a:cubicBezTo>
                  <a:pt x="108970" y="7981"/>
                  <a:pt x="91111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lose/>
                <a:moveTo>
                  <a:pt x="142149" y="81623"/>
                </a:moveTo>
                <a:cubicBezTo>
                  <a:pt x="142847" y="76740"/>
                  <a:pt x="139443" y="72219"/>
                  <a:pt x="134587" y="71521"/>
                </a:cubicBezTo>
                <a:cubicBezTo>
                  <a:pt x="129732" y="70824"/>
                  <a:pt x="125183" y="74228"/>
                  <a:pt x="124485" y="79084"/>
                </a:cubicBezTo>
                <a:cubicBezTo>
                  <a:pt x="120774" y="105035"/>
                  <a:pt x="98422" y="124988"/>
                  <a:pt x="71438" y="124988"/>
                </a:cubicBezTo>
                <a:cubicBezTo>
                  <a:pt x="56648" y="124988"/>
                  <a:pt x="43253" y="118988"/>
                  <a:pt x="33542" y="109305"/>
                </a:cubicBezTo>
                <a:cubicBezTo>
                  <a:pt x="33486" y="109249"/>
                  <a:pt x="33431" y="109193"/>
                  <a:pt x="33375" y="109138"/>
                </a:cubicBezTo>
                <a:lnTo>
                  <a:pt x="31254" y="107128"/>
                </a:lnTo>
                <a:lnTo>
                  <a:pt x="44621" y="107128"/>
                </a:lnTo>
                <a:cubicBezTo>
                  <a:pt x="49560" y="107128"/>
                  <a:pt x="53550" y="103138"/>
                  <a:pt x="53550" y="98199"/>
                </a:cubicBezTo>
                <a:cubicBezTo>
                  <a:pt x="53550" y="93259"/>
                  <a:pt x="49560" y="89269"/>
                  <a:pt x="44621" y="89269"/>
                </a:cubicBezTo>
                <a:lnTo>
                  <a:pt x="8930" y="89297"/>
                </a:lnTo>
                <a:cubicBezTo>
                  <a:pt x="6558" y="89297"/>
                  <a:pt x="4270" y="90246"/>
                  <a:pt x="2595" y="91948"/>
                </a:cubicBezTo>
                <a:cubicBezTo>
                  <a:pt x="921" y="93650"/>
                  <a:pt x="-28" y="95910"/>
                  <a:pt x="0" y="98310"/>
                </a:cubicBezTo>
                <a:lnTo>
                  <a:pt x="279" y="133750"/>
                </a:lnTo>
                <a:cubicBezTo>
                  <a:pt x="307" y="138689"/>
                  <a:pt x="4353" y="142652"/>
                  <a:pt x="9292" y="142596"/>
                </a:cubicBezTo>
                <a:cubicBezTo>
                  <a:pt x="14232" y="142540"/>
                  <a:pt x="18194" y="138522"/>
                  <a:pt x="18138" y="133583"/>
                </a:cubicBezTo>
                <a:lnTo>
                  <a:pt x="18027" y="119211"/>
                </a:lnTo>
                <a:lnTo>
                  <a:pt x="21013" y="122030"/>
                </a:lnTo>
                <a:cubicBezTo>
                  <a:pt x="33933" y="134894"/>
                  <a:pt x="51764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635000" y="4135438"/>
            <a:ext cx="533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3. Support Vector Machine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452438" y="4421188"/>
            <a:ext cx="5445125" cy="2095500"/>
          </a:xfrm>
          <a:custGeom>
            <a:rect b="b" l="l" r="r" t="t"/>
            <a:pathLst>
              <a:path extrusionOk="0" h="2095500" w="5445125">
                <a:moveTo>
                  <a:pt x="31747" y="0"/>
                </a:moveTo>
                <a:lnTo>
                  <a:pt x="5413378" y="0"/>
                </a:lnTo>
                <a:cubicBezTo>
                  <a:pt x="5430911" y="0"/>
                  <a:pt x="5445125" y="14214"/>
                  <a:pt x="5445125" y="31747"/>
                </a:cubicBezTo>
                <a:lnTo>
                  <a:pt x="5445125" y="2063753"/>
                </a:lnTo>
                <a:cubicBezTo>
                  <a:pt x="5445125" y="2081286"/>
                  <a:pt x="5430911" y="2095500"/>
                  <a:pt x="5413378" y="2095500"/>
                </a:cubicBezTo>
                <a:lnTo>
                  <a:pt x="31747" y="2095500"/>
                </a:lnTo>
                <a:cubicBezTo>
                  <a:pt x="14214" y="2095500"/>
                  <a:pt x="0" y="2081286"/>
                  <a:pt x="0" y="2063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7"/>
          <p:cNvSpPr/>
          <p:nvPr/>
        </p:nvSpPr>
        <p:spPr>
          <a:xfrm>
            <a:off x="547688" y="4516438"/>
            <a:ext cx="53022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from sklearn.svm import SVC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Initialize model with RBF kernel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svm_model = SVC(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kernel='rbf',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C=1.0,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gamma='scale',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probability=True,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random_state=42,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    class_weight='balanced')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 Train and predict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svm_model.fit(X_train_scaled, y_train)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svm_pred = svm_model.predict(X_test_scaled)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svm_prob = svm_model.predict_proba(X_test_scaled)[:, 1]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701" name="Google Shape;701;p17"/>
          <p:cNvSpPr/>
          <p:nvPr/>
        </p:nvSpPr>
        <p:spPr>
          <a:xfrm>
            <a:off x="452438" y="6580188"/>
            <a:ext cx="5445125" cy="285750"/>
          </a:xfrm>
          <a:custGeom>
            <a:rect b="b" l="l" r="r" t="t"/>
            <a:pathLst>
              <a:path extrusionOk="0" h="285750" w="5445125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254000"/>
                </a:lnTo>
                <a:cubicBezTo>
                  <a:pt x="5445125" y="271535"/>
                  <a:pt x="5430910" y="285750"/>
                  <a:pt x="541337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7"/>
          <p:cNvSpPr/>
          <p:nvPr/>
        </p:nvSpPr>
        <p:spPr>
          <a:xfrm>
            <a:off x="515938" y="6643688"/>
            <a:ext cx="5373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for:</a:t>
            </a:r>
            <a:r>
              <a:rPr b="0" i="0" lang="en-US" sz="875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accuracy, non-linear patterns, high-dimensional data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6163469" y="4004469"/>
            <a:ext cx="5707063" cy="2992438"/>
          </a:xfrm>
          <a:custGeom>
            <a:rect b="b" l="l" r="r" t="t"/>
            <a:pathLst>
              <a:path extrusionOk="0" h="2992438" w="5707063">
                <a:moveTo>
                  <a:pt x="63500" y="0"/>
                </a:moveTo>
                <a:lnTo>
                  <a:pt x="5643563" y="0"/>
                </a:lnTo>
                <a:cubicBezTo>
                  <a:pt x="5678633" y="0"/>
                  <a:pt x="5707062" y="28430"/>
                  <a:pt x="5707062" y="63500"/>
                </a:cubicBezTo>
                <a:lnTo>
                  <a:pt x="5707063" y="2928938"/>
                </a:lnTo>
                <a:cubicBezTo>
                  <a:pt x="5707062" y="2964008"/>
                  <a:pt x="5678633" y="2992438"/>
                  <a:pt x="5643563" y="2992438"/>
                </a:cubicBezTo>
                <a:lnTo>
                  <a:pt x="63500" y="2992438"/>
                </a:lnTo>
                <a:cubicBezTo>
                  <a:pt x="28430" y="2992438"/>
                  <a:pt x="0" y="2964008"/>
                  <a:pt x="0" y="292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6314281" y="4175125"/>
            <a:ext cx="142875" cy="142875"/>
          </a:xfrm>
          <a:custGeom>
            <a:rect b="b" l="l" r="r" t="t"/>
            <a:pathLst>
              <a:path extrusionOk="0" h="142875" w="142875"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80367" y="26789"/>
                </a:moveTo>
                <a:cubicBezTo>
                  <a:pt x="80367" y="21861"/>
                  <a:pt x="76366" y="17859"/>
                  <a:pt x="71438" y="17859"/>
                </a:cubicBezTo>
                <a:cubicBezTo>
                  <a:pt x="66509" y="17859"/>
                  <a:pt x="62508" y="21861"/>
                  <a:pt x="62508" y="26789"/>
                </a:cubicBezTo>
                <a:cubicBezTo>
                  <a:pt x="62508" y="31717"/>
                  <a:pt x="66509" y="35719"/>
                  <a:pt x="71438" y="35719"/>
                </a:cubicBezTo>
                <a:cubicBezTo>
                  <a:pt x="76366" y="35719"/>
                  <a:pt x="80367" y="31717"/>
                  <a:pt x="80367" y="26789"/>
                </a:cubicBezTo>
                <a:close/>
                <a:moveTo>
                  <a:pt x="71438" y="116086"/>
                </a:moveTo>
                <a:cubicBezTo>
                  <a:pt x="81288" y="116086"/>
                  <a:pt x="89297" y="108077"/>
                  <a:pt x="89297" y="98227"/>
                </a:cubicBezTo>
                <a:cubicBezTo>
                  <a:pt x="89297" y="93706"/>
                  <a:pt x="87623" y="89548"/>
                  <a:pt x="84832" y="86423"/>
                </a:cubicBezTo>
                <a:lnTo>
                  <a:pt x="104226" y="47662"/>
                </a:lnTo>
                <a:cubicBezTo>
                  <a:pt x="105873" y="44341"/>
                  <a:pt x="104533" y="40323"/>
                  <a:pt x="101240" y="38677"/>
                </a:cubicBezTo>
                <a:cubicBezTo>
                  <a:pt x="97948" y="37030"/>
                  <a:pt x="93901" y="38370"/>
                  <a:pt x="92255" y="41663"/>
                </a:cubicBezTo>
                <a:lnTo>
                  <a:pt x="72861" y="80423"/>
                </a:lnTo>
                <a:cubicBezTo>
                  <a:pt x="72386" y="80395"/>
                  <a:pt x="71912" y="80367"/>
                  <a:pt x="71438" y="80367"/>
                </a:cubicBezTo>
                <a:cubicBezTo>
                  <a:pt x="61587" y="80367"/>
                  <a:pt x="53578" y="88376"/>
                  <a:pt x="53578" y="98227"/>
                </a:cubicBezTo>
                <a:cubicBezTo>
                  <a:pt x="53578" y="108077"/>
                  <a:pt x="61587" y="116086"/>
                  <a:pt x="71438" y="116086"/>
                </a:cubicBezTo>
                <a:close/>
                <a:moveTo>
                  <a:pt x="49113" y="40184"/>
                </a:moveTo>
                <a:cubicBezTo>
                  <a:pt x="49113" y="35255"/>
                  <a:pt x="45112" y="31254"/>
                  <a:pt x="40184" y="31254"/>
                </a:cubicBezTo>
                <a:cubicBezTo>
                  <a:pt x="35255" y="31254"/>
                  <a:pt x="31254" y="35255"/>
                  <a:pt x="31254" y="40184"/>
                </a:cubicBezTo>
                <a:cubicBezTo>
                  <a:pt x="31254" y="45112"/>
                  <a:pt x="35255" y="49113"/>
                  <a:pt x="40184" y="49113"/>
                </a:cubicBezTo>
                <a:cubicBezTo>
                  <a:pt x="45112" y="49113"/>
                  <a:pt x="49113" y="45112"/>
                  <a:pt x="49113" y="40184"/>
                </a:cubicBezTo>
                <a:close/>
                <a:moveTo>
                  <a:pt x="26789" y="80367"/>
                </a:moveTo>
                <a:cubicBezTo>
                  <a:pt x="31717" y="80367"/>
                  <a:pt x="35719" y="76366"/>
                  <a:pt x="35719" y="71438"/>
                </a:cubicBezTo>
                <a:cubicBezTo>
                  <a:pt x="35719" y="66509"/>
                  <a:pt x="31717" y="62508"/>
                  <a:pt x="26789" y="62508"/>
                </a:cubicBezTo>
                <a:cubicBezTo>
                  <a:pt x="21861" y="62508"/>
                  <a:pt x="17859" y="66509"/>
                  <a:pt x="17859" y="71438"/>
                </a:cubicBezTo>
                <a:cubicBezTo>
                  <a:pt x="17859" y="76366"/>
                  <a:pt x="21861" y="80367"/>
                  <a:pt x="26789" y="80367"/>
                </a:cubicBezTo>
                <a:close/>
                <a:moveTo>
                  <a:pt x="125016" y="71438"/>
                </a:moveTo>
                <a:cubicBezTo>
                  <a:pt x="125016" y="66509"/>
                  <a:pt x="121014" y="62508"/>
                  <a:pt x="116086" y="62508"/>
                </a:cubicBezTo>
                <a:cubicBezTo>
                  <a:pt x="111158" y="62508"/>
                  <a:pt x="107156" y="66509"/>
                  <a:pt x="107156" y="71438"/>
                </a:cubicBezTo>
                <a:cubicBezTo>
                  <a:pt x="107156" y="76366"/>
                  <a:pt x="111158" y="80367"/>
                  <a:pt x="116086" y="80367"/>
                </a:cubicBezTo>
                <a:cubicBezTo>
                  <a:pt x="121014" y="80367"/>
                  <a:pt x="125016" y="76366"/>
                  <a:pt x="125016" y="7143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7"/>
          <p:cNvSpPr/>
          <p:nvPr/>
        </p:nvSpPr>
        <p:spPr>
          <a:xfrm>
            <a:off x="6477000" y="4135438"/>
            <a:ext cx="533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Training Time Comparison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pic>
        <p:nvPicPr>
          <p:cNvPr descr="preencoded.png" id="706" name="Google Shape;7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4438" y="4421188"/>
            <a:ext cx="4429125" cy="142875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707" name="Google Shape;7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4438" y="4421188"/>
            <a:ext cx="4429125" cy="142875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708" name="Google Shape;7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4438" y="4421188"/>
            <a:ext cx="4429125" cy="142875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8"/>
          <p:cNvSpPr/>
          <p:nvPr/>
        </p:nvSpPr>
        <p:spPr>
          <a:xfrm>
            <a:off x="385763" y="385763"/>
            <a:ext cx="1609725" cy="314325"/>
          </a:xfrm>
          <a:custGeom>
            <a:rect b="b" l="l" r="r" t="t"/>
            <a:pathLst>
              <a:path extrusionOk="0" h="314325" w="1609725">
                <a:moveTo>
                  <a:pt x="157163" y="0"/>
                </a:moveTo>
                <a:lnTo>
                  <a:pt x="1452563" y="0"/>
                </a:lnTo>
                <a:cubicBezTo>
                  <a:pt x="1539303" y="0"/>
                  <a:pt x="1609725" y="70422"/>
                  <a:pt x="1609725" y="157163"/>
                </a:cubicBezTo>
                <a:lnTo>
                  <a:pt x="1609725" y="157163"/>
                </a:lnTo>
                <a:cubicBezTo>
                  <a:pt x="1609725" y="243903"/>
                  <a:pt x="1539303" y="314325"/>
                  <a:pt x="14525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504825" y="476250"/>
            <a:ext cx="14402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EVALUATION</a:t>
            </a:r>
            <a:endParaRPr b="0" i="0" sz="1600" u="none" cap="none" strike="noStrike"/>
          </a:p>
        </p:txBody>
      </p:sp>
      <p:sp>
        <p:nvSpPr>
          <p:cNvPr id="716" name="Google Shape;716;p18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83F04"/>
                </a:solidFill>
                <a:latin typeface="Liter"/>
                <a:ea typeface="Liter"/>
                <a:cs typeface="Liter"/>
                <a:sym typeface="Liter"/>
              </a:rPr>
              <a:t>Model Evaluation: Understanding the Metrics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385763" y="1319213"/>
            <a:ext cx="5629275" cy="2409825"/>
          </a:xfrm>
          <a:custGeom>
            <a:rect b="b" l="l" r="r" t="t"/>
            <a:pathLst>
              <a:path extrusionOk="0" h="2409825" w="5629275">
                <a:moveTo>
                  <a:pt x="76199" y="0"/>
                </a:moveTo>
                <a:lnTo>
                  <a:pt x="5553076" y="0"/>
                </a:lnTo>
                <a:cubicBezTo>
                  <a:pt x="5595160" y="0"/>
                  <a:pt x="5629275" y="34115"/>
                  <a:pt x="5629275" y="76199"/>
                </a:cubicBezTo>
                <a:lnTo>
                  <a:pt x="5629275" y="2333626"/>
                </a:lnTo>
                <a:cubicBezTo>
                  <a:pt x="5629275" y="2375710"/>
                  <a:pt x="5595160" y="2409825"/>
                  <a:pt x="5553076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 cap="flat" cmpd="sng" w="12700">
            <a:solidFill>
              <a:srgbClr val="3274B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578644" y="1514475"/>
            <a:ext cx="166688" cy="190500"/>
          </a:xfrm>
          <a:custGeom>
            <a:rect b="b" l="l" r="r" t="t"/>
            <a:pathLst>
              <a:path extrusionOk="0" h="190500" w="166688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781050" y="1476375"/>
            <a:ext cx="517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83F04"/>
                </a:solidFill>
                <a:latin typeface="Liter"/>
                <a:ea typeface="Liter"/>
                <a:cs typeface="Liter"/>
                <a:sym typeface="Liter"/>
              </a:rPr>
              <a:t>Confusion Matrix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542925" y="1857375"/>
            <a:ext cx="5314950" cy="1714500"/>
          </a:xfrm>
          <a:custGeom>
            <a:rect b="b" l="l" r="r" t="t"/>
            <a:pathLst>
              <a:path extrusionOk="0" h="1714500" w="5314950">
                <a:moveTo>
                  <a:pt x="76192" y="0"/>
                </a:moveTo>
                <a:lnTo>
                  <a:pt x="5238758" y="0"/>
                </a:lnTo>
                <a:cubicBezTo>
                  <a:pt x="5280838" y="0"/>
                  <a:pt x="5314950" y="34112"/>
                  <a:pt x="5314950" y="76192"/>
                </a:cubicBezTo>
                <a:lnTo>
                  <a:pt x="5314950" y="1638308"/>
                </a:lnTo>
                <a:cubicBezTo>
                  <a:pt x="5314950" y="1680388"/>
                  <a:pt x="5280838" y="1714500"/>
                  <a:pt x="523875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8"/>
          <p:cNvSpPr/>
          <p:nvPr/>
        </p:nvSpPr>
        <p:spPr>
          <a:xfrm>
            <a:off x="2286000" y="1971675"/>
            <a:ext cx="895350" cy="609600"/>
          </a:xfrm>
          <a:custGeom>
            <a:rect b="b" l="l" r="r" t="t"/>
            <a:pathLst>
              <a:path extrusionOk="0" h="609600" w="895350">
                <a:moveTo>
                  <a:pt x="38100" y="0"/>
                </a:moveTo>
                <a:lnTo>
                  <a:pt x="857250" y="0"/>
                </a:lnTo>
                <a:cubicBezTo>
                  <a:pt x="878278" y="0"/>
                  <a:pt x="895350" y="17072"/>
                  <a:pt x="895350" y="38100"/>
                </a:cubicBezTo>
                <a:lnTo>
                  <a:pt x="895350" y="571500"/>
                </a:lnTo>
                <a:cubicBezTo>
                  <a:pt x="895350" y="592528"/>
                  <a:pt x="878278" y="609600"/>
                  <a:pt x="8572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2333625" y="204787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Negative</a:t>
            </a:r>
            <a:endParaRPr b="0" i="0" sz="1600" u="none" cap="none" strike="noStrike"/>
          </a:p>
        </p:txBody>
      </p:sp>
      <p:sp>
        <p:nvSpPr>
          <p:cNvPr id="723" name="Google Shape;723;p18"/>
          <p:cNvSpPr/>
          <p:nvPr/>
        </p:nvSpPr>
        <p:spPr>
          <a:xfrm>
            <a:off x="2305050" y="2200275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600" u="none" cap="none" strike="noStrike"/>
          </a:p>
        </p:txBody>
      </p:sp>
      <p:sp>
        <p:nvSpPr>
          <p:cNvPr id="724" name="Google Shape;724;p18"/>
          <p:cNvSpPr/>
          <p:nvPr/>
        </p:nvSpPr>
        <p:spPr>
          <a:xfrm>
            <a:off x="3219450" y="1971675"/>
            <a:ext cx="895350" cy="609600"/>
          </a:xfrm>
          <a:custGeom>
            <a:rect b="b" l="l" r="r" t="t"/>
            <a:pathLst>
              <a:path extrusionOk="0" h="609600" w="895350">
                <a:moveTo>
                  <a:pt x="38100" y="0"/>
                </a:moveTo>
                <a:lnTo>
                  <a:pt x="857250" y="0"/>
                </a:lnTo>
                <a:cubicBezTo>
                  <a:pt x="878278" y="0"/>
                  <a:pt x="895350" y="17072"/>
                  <a:pt x="895350" y="38100"/>
                </a:cubicBezTo>
                <a:lnTo>
                  <a:pt x="895350" y="571500"/>
                </a:lnTo>
                <a:cubicBezTo>
                  <a:pt x="895350" y="592528"/>
                  <a:pt x="878278" y="609600"/>
                  <a:pt x="8572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274B9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8"/>
          <p:cNvSpPr/>
          <p:nvPr/>
        </p:nvSpPr>
        <p:spPr>
          <a:xfrm>
            <a:off x="3267075" y="204787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</a:t>
            </a:r>
            <a:endParaRPr b="0" i="0" sz="1600" u="none" cap="none" strike="noStrike"/>
          </a:p>
        </p:txBody>
      </p:sp>
      <p:sp>
        <p:nvSpPr>
          <p:cNvPr id="726" name="Google Shape;726;p18"/>
          <p:cNvSpPr/>
          <p:nvPr/>
        </p:nvSpPr>
        <p:spPr>
          <a:xfrm>
            <a:off x="3238500" y="2200275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727" name="Google Shape;727;p18"/>
          <p:cNvSpPr/>
          <p:nvPr/>
        </p:nvSpPr>
        <p:spPr>
          <a:xfrm>
            <a:off x="2286000" y="2619375"/>
            <a:ext cx="895350" cy="609600"/>
          </a:xfrm>
          <a:custGeom>
            <a:rect b="b" l="l" r="r" t="t"/>
            <a:pathLst>
              <a:path extrusionOk="0" h="609600" w="895350">
                <a:moveTo>
                  <a:pt x="38100" y="0"/>
                </a:moveTo>
                <a:lnTo>
                  <a:pt x="857250" y="0"/>
                </a:lnTo>
                <a:cubicBezTo>
                  <a:pt x="878278" y="0"/>
                  <a:pt x="895350" y="17072"/>
                  <a:pt x="895350" y="38100"/>
                </a:cubicBezTo>
                <a:lnTo>
                  <a:pt x="895350" y="571500"/>
                </a:lnTo>
                <a:cubicBezTo>
                  <a:pt x="895350" y="592528"/>
                  <a:pt x="878278" y="609600"/>
                  <a:pt x="8572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59A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8"/>
          <p:cNvSpPr/>
          <p:nvPr/>
        </p:nvSpPr>
        <p:spPr>
          <a:xfrm>
            <a:off x="2333625" y="269557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Negative</a:t>
            </a:r>
            <a:endParaRPr b="0" i="0" sz="1600" u="none" cap="none" strike="noStrike"/>
          </a:p>
        </p:txBody>
      </p:sp>
      <p:sp>
        <p:nvSpPr>
          <p:cNvPr id="729" name="Google Shape;729;p18"/>
          <p:cNvSpPr/>
          <p:nvPr/>
        </p:nvSpPr>
        <p:spPr>
          <a:xfrm>
            <a:off x="2305050" y="2847975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730" name="Google Shape;730;p18"/>
          <p:cNvSpPr/>
          <p:nvPr/>
        </p:nvSpPr>
        <p:spPr>
          <a:xfrm>
            <a:off x="3219450" y="2619375"/>
            <a:ext cx="895350" cy="609600"/>
          </a:xfrm>
          <a:custGeom>
            <a:rect b="b" l="l" r="r" t="t"/>
            <a:pathLst>
              <a:path extrusionOk="0" h="609600" w="895350">
                <a:moveTo>
                  <a:pt x="38100" y="0"/>
                </a:moveTo>
                <a:lnTo>
                  <a:pt x="857250" y="0"/>
                </a:lnTo>
                <a:cubicBezTo>
                  <a:pt x="878278" y="0"/>
                  <a:pt x="895350" y="17072"/>
                  <a:pt x="895350" y="38100"/>
                </a:cubicBezTo>
                <a:lnTo>
                  <a:pt x="895350" y="571500"/>
                </a:lnTo>
                <a:cubicBezTo>
                  <a:pt x="895350" y="592528"/>
                  <a:pt x="878278" y="609600"/>
                  <a:pt x="8572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59A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/>
          <p:nvPr/>
        </p:nvSpPr>
        <p:spPr>
          <a:xfrm>
            <a:off x="3267075" y="269557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</a:t>
            </a:r>
            <a:endParaRPr b="0" i="0" sz="1600" u="none" cap="none" strike="noStrike"/>
          </a:p>
        </p:txBody>
      </p:sp>
      <p:sp>
        <p:nvSpPr>
          <p:cNvPr id="732" name="Google Shape;732;p18"/>
          <p:cNvSpPr/>
          <p:nvPr/>
        </p:nvSpPr>
        <p:spPr>
          <a:xfrm>
            <a:off x="3238500" y="2847975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600" u="none" cap="none" strike="noStrike"/>
          </a:p>
        </p:txBody>
      </p:sp>
      <p:sp>
        <p:nvSpPr>
          <p:cNvPr id="733" name="Google Shape;733;p18"/>
          <p:cNvSpPr/>
          <p:nvPr/>
        </p:nvSpPr>
        <p:spPr>
          <a:xfrm>
            <a:off x="2224088" y="330517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vs. Predicted Classes (Example)</a:t>
            </a:r>
            <a:endParaRPr b="0" i="0" sz="1600" u="none" cap="none" strike="noStrike"/>
          </a:p>
        </p:txBody>
      </p:sp>
      <p:sp>
        <p:nvSpPr>
          <p:cNvPr id="734" name="Google Shape;734;p18"/>
          <p:cNvSpPr/>
          <p:nvPr/>
        </p:nvSpPr>
        <p:spPr>
          <a:xfrm>
            <a:off x="385763" y="3852863"/>
            <a:ext cx="5629275" cy="2295525"/>
          </a:xfrm>
          <a:custGeom>
            <a:rect b="b" l="l" r="r" t="t"/>
            <a:pathLst>
              <a:path extrusionOk="0" h="2295525" w="5629275">
                <a:moveTo>
                  <a:pt x="76211" y="0"/>
                </a:moveTo>
                <a:lnTo>
                  <a:pt x="5553064" y="0"/>
                </a:lnTo>
                <a:cubicBezTo>
                  <a:pt x="5595154" y="0"/>
                  <a:pt x="5629275" y="34121"/>
                  <a:pt x="5629275" y="76211"/>
                </a:cubicBezTo>
                <a:lnTo>
                  <a:pt x="5629275" y="2219314"/>
                </a:lnTo>
                <a:cubicBezTo>
                  <a:pt x="5629275" y="2261404"/>
                  <a:pt x="5595154" y="2295525"/>
                  <a:pt x="55530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4DB59A">
              <a:alpha val="9803"/>
            </a:srgbClr>
          </a:solidFill>
          <a:ln cap="flat" cmpd="sng" w="12700">
            <a:solidFill>
              <a:srgbClr val="4DB59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590550" y="4048125"/>
            <a:ext cx="142875" cy="190500"/>
          </a:xfrm>
          <a:custGeom>
            <a:rect b="b" l="l" r="r" t="t"/>
            <a:pathLst>
              <a:path extrusionOk="0"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781050" y="4010025"/>
            <a:ext cx="517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83F04"/>
                </a:solidFill>
                <a:latin typeface="Liter"/>
                <a:ea typeface="Liter"/>
                <a:cs typeface="Liter"/>
                <a:sym typeface="Liter"/>
              </a:rPr>
              <a:t>Key Metrics Formulas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542925" y="4391025"/>
            <a:ext cx="5314950" cy="342900"/>
          </a:xfrm>
          <a:custGeom>
            <a:rect b="b" l="l" r="r" t="t"/>
            <a:pathLst>
              <a:path extrusionOk="0" h="342900" w="531495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04800"/>
                </a:lnTo>
                <a:cubicBezTo>
                  <a:pt x="5314950" y="325842"/>
                  <a:pt x="5297892" y="342900"/>
                  <a:pt x="52768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8"/>
          <p:cNvSpPr/>
          <p:nvPr/>
        </p:nvSpPr>
        <p:spPr>
          <a:xfrm>
            <a:off x="619125" y="4467225"/>
            <a:ext cx="522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 = (TP+TN)/(TP+TN+FP+FN)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39" name="Google Shape;739;p18"/>
          <p:cNvSpPr/>
          <p:nvPr/>
        </p:nvSpPr>
        <p:spPr>
          <a:xfrm>
            <a:off x="542925" y="4810125"/>
            <a:ext cx="5314950" cy="342900"/>
          </a:xfrm>
          <a:custGeom>
            <a:rect b="b" l="l" r="r" t="t"/>
            <a:pathLst>
              <a:path extrusionOk="0" h="342900" w="531495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04800"/>
                </a:lnTo>
                <a:cubicBezTo>
                  <a:pt x="5314950" y="325842"/>
                  <a:pt x="5297892" y="342900"/>
                  <a:pt x="52768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619125" y="4886325"/>
            <a:ext cx="522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 = TP/(TP+FP)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542925" y="5229225"/>
            <a:ext cx="5314950" cy="342900"/>
          </a:xfrm>
          <a:custGeom>
            <a:rect b="b" l="l" r="r" t="t"/>
            <a:pathLst>
              <a:path extrusionOk="0" h="342900" w="531495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04800"/>
                </a:lnTo>
                <a:cubicBezTo>
                  <a:pt x="5314950" y="325842"/>
                  <a:pt x="5297892" y="342900"/>
                  <a:pt x="52768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619125" y="5305425"/>
            <a:ext cx="522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= TP/(TP+FN)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43" name="Google Shape;743;p18"/>
          <p:cNvSpPr/>
          <p:nvPr/>
        </p:nvSpPr>
        <p:spPr>
          <a:xfrm>
            <a:off x="542925" y="5648325"/>
            <a:ext cx="5314950" cy="342900"/>
          </a:xfrm>
          <a:custGeom>
            <a:rect b="b" l="l" r="r" t="t"/>
            <a:pathLst>
              <a:path extrusionOk="0" h="342900" w="5314950">
                <a:moveTo>
                  <a:pt x="38100" y="0"/>
                </a:moveTo>
                <a:lnTo>
                  <a:pt x="5276850" y="0"/>
                </a:lnTo>
                <a:cubicBezTo>
                  <a:pt x="5297892" y="0"/>
                  <a:pt x="5314950" y="17058"/>
                  <a:pt x="5314950" y="38100"/>
                </a:cubicBezTo>
                <a:lnTo>
                  <a:pt x="5314950" y="304800"/>
                </a:lnTo>
                <a:cubicBezTo>
                  <a:pt x="5314950" y="325842"/>
                  <a:pt x="5297892" y="342900"/>
                  <a:pt x="52768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619125" y="5724525"/>
            <a:ext cx="522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 = 2×(Precision×Recall)/(Precision+Recall)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45" name="Google Shape;745;p18"/>
          <p:cNvSpPr/>
          <p:nvPr/>
        </p:nvSpPr>
        <p:spPr>
          <a:xfrm>
            <a:off x="6176963" y="1319213"/>
            <a:ext cx="5629275" cy="2752725"/>
          </a:xfrm>
          <a:custGeom>
            <a:rect b="b" l="l" r="r" t="t"/>
            <a:pathLst>
              <a:path extrusionOk="0" h="2752725" w="5629275">
                <a:moveTo>
                  <a:pt x="76195" y="0"/>
                </a:moveTo>
                <a:lnTo>
                  <a:pt x="5553080" y="0"/>
                </a:lnTo>
                <a:cubicBezTo>
                  <a:pt x="5595133" y="0"/>
                  <a:pt x="5629275" y="34142"/>
                  <a:pt x="5629275" y="76195"/>
                </a:cubicBezTo>
                <a:lnTo>
                  <a:pt x="5629275" y="2676530"/>
                </a:lnTo>
                <a:cubicBezTo>
                  <a:pt x="5629275" y="2718611"/>
                  <a:pt x="5595161" y="2752725"/>
                  <a:pt x="5553080" y="2752725"/>
                </a:cubicBezTo>
                <a:lnTo>
                  <a:pt x="76195" y="2752725"/>
                </a:lnTo>
                <a:cubicBezTo>
                  <a:pt x="34142" y="2752725"/>
                  <a:pt x="0" y="2718583"/>
                  <a:pt x="0" y="26765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6291263" y="1476375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83F04"/>
                </a:solidFill>
                <a:latin typeface="Liter"/>
                <a:ea typeface="Liter"/>
                <a:cs typeface="Liter"/>
                <a:sym typeface="Liter"/>
              </a:rPr>
              <a:t>ROC Curve Comparison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pic>
        <p:nvPicPr>
          <p:cNvPr descr="preencoded.png" id="747" name="Google Shape;7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19275"/>
            <a:ext cx="5314950" cy="2095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748" name="Google Shape;7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9275"/>
            <a:ext cx="5314950" cy="2095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749" name="Google Shape;7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19275"/>
            <a:ext cx="5314950" cy="2095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750" name="Google Shape;750;p18"/>
          <p:cNvSpPr/>
          <p:nvPr/>
        </p:nvSpPr>
        <p:spPr>
          <a:xfrm>
            <a:off x="6172200" y="4191000"/>
            <a:ext cx="5638800" cy="1485900"/>
          </a:xfrm>
          <a:custGeom>
            <a:rect b="b" l="l" r="r" t="t"/>
            <a:pathLst>
              <a:path extrusionOk="0" h="1485900" w="5638800">
                <a:moveTo>
                  <a:pt x="76197" y="0"/>
                </a:moveTo>
                <a:lnTo>
                  <a:pt x="5562603" y="0"/>
                </a:lnTo>
                <a:cubicBezTo>
                  <a:pt x="5604685" y="0"/>
                  <a:pt x="5638800" y="34115"/>
                  <a:pt x="5638800" y="76197"/>
                </a:cubicBezTo>
                <a:lnTo>
                  <a:pt x="5638800" y="1409703"/>
                </a:lnTo>
                <a:cubicBezTo>
                  <a:pt x="5638800" y="1451785"/>
                  <a:pt x="5604685" y="1485900"/>
                  <a:pt x="55626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274B9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6343650" y="4381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6515100" y="4343400"/>
            <a:ext cx="521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83F04"/>
                </a:solidFill>
                <a:latin typeface="Liter"/>
                <a:ea typeface="Liter"/>
                <a:cs typeface="Liter"/>
                <a:sym typeface="Liter"/>
              </a:rPr>
              <a:t>Metric Guidelines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6324600" y="4648200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Accuracy:</a:t>
            </a: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Good for balanced datasets, misleading for imbalanced.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6324600" y="4876800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Precision:</a:t>
            </a: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Important when false positives are costly.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55" name="Google Shape;755;p18"/>
          <p:cNvSpPr/>
          <p:nvPr/>
        </p:nvSpPr>
        <p:spPr>
          <a:xfrm>
            <a:off x="6324600" y="5105400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Recall:</a:t>
            </a: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Critical when false negatives are costly.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  <p:sp>
        <p:nvSpPr>
          <p:cNvPr id="756" name="Google Shape;756;p18"/>
          <p:cNvSpPr/>
          <p:nvPr/>
        </p:nvSpPr>
        <p:spPr>
          <a:xfrm>
            <a:off x="6324600" y="5334000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ROC-AUC:</a:t>
            </a:r>
            <a:r>
              <a:rPr b="0" i="0" lang="en-US" sz="1050" u="none" cap="none" strike="noStrike">
                <a:solidFill>
                  <a:srgbClr val="783F0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Target 70-80% for good churn models.</a:t>
            </a:r>
            <a:endParaRPr b="0" i="0" sz="1600" u="none" cap="none" strike="noStrike">
              <a:solidFill>
                <a:srgbClr val="783F04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9"/>
          <p:cNvSpPr/>
          <p:nvPr/>
        </p:nvSpPr>
        <p:spPr>
          <a:xfrm>
            <a:off x="377793" y="377793"/>
            <a:ext cx="1632441" cy="307832"/>
          </a:xfrm>
          <a:custGeom>
            <a:rect b="b" l="l" r="r" t="t"/>
            <a:pathLst>
              <a:path extrusionOk="0" h="307832" w="1632441">
                <a:moveTo>
                  <a:pt x="153916" y="0"/>
                </a:moveTo>
                <a:lnTo>
                  <a:pt x="1478525" y="0"/>
                </a:lnTo>
                <a:cubicBezTo>
                  <a:pt x="1563530" y="0"/>
                  <a:pt x="1632441" y="68910"/>
                  <a:pt x="1632441" y="153916"/>
                </a:cubicBezTo>
                <a:lnTo>
                  <a:pt x="1632441" y="153916"/>
                </a:lnTo>
                <a:cubicBezTo>
                  <a:pt x="1632441" y="238921"/>
                  <a:pt x="1563530" y="307832"/>
                  <a:pt x="1478525" y="307832"/>
                </a:cubicBezTo>
                <a:lnTo>
                  <a:pt x="153916" y="307832"/>
                </a:lnTo>
                <a:cubicBezTo>
                  <a:pt x="68967" y="307832"/>
                  <a:pt x="0" y="238864"/>
                  <a:pt x="0" y="153916"/>
                </a:cubicBezTo>
                <a:lnTo>
                  <a:pt x="0" y="153916"/>
                </a:lnTo>
                <a:cubicBezTo>
                  <a:pt x="0" y="68967"/>
                  <a:pt x="68967" y="0"/>
                  <a:pt x="153916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494396" y="466412"/>
            <a:ext cx="14664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COMPARISON</a:t>
            </a:r>
            <a:endParaRPr b="0" i="0" sz="1600" u="none" cap="none" strike="noStrike"/>
          </a:p>
        </p:txBody>
      </p:sp>
      <p:sp>
        <p:nvSpPr>
          <p:cNvPr id="764" name="Google Shape;764;p19"/>
          <p:cNvSpPr/>
          <p:nvPr/>
        </p:nvSpPr>
        <p:spPr>
          <a:xfrm>
            <a:off x="373129" y="802228"/>
            <a:ext cx="11613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4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Comparing Model Performance: Who Wins?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377793" y="1329273"/>
            <a:ext cx="11436413" cy="3787262"/>
          </a:xfrm>
          <a:custGeom>
            <a:rect b="b" l="l" r="r" t="t"/>
            <a:pathLst>
              <a:path extrusionOk="0" h="3787262" w="11436413">
                <a:moveTo>
                  <a:pt x="74609" y="0"/>
                </a:moveTo>
                <a:lnTo>
                  <a:pt x="11361804" y="0"/>
                </a:lnTo>
                <a:cubicBezTo>
                  <a:pt x="11403010" y="0"/>
                  <a:pt x="11436413" y="33404"/>
                  <a:pt x="11436413" y="74609"/>
                </a:cubicBezTo>
                <a:lnTo>
                  <a:pt x="11436413" y="3712653"/>
                </a:lnTo>
                <a:cubicBezTo>
                  <a:pt x="11436413" y="3753859"/>
                  <a:pt x="11403010" y="3787262"/>
                  <a:pt x="11361804" y="3787262"/>
                </a:cubicBezTo>
                <a:lnTo>
                  <a:pt x="74609" y="3787262"/>
                </a:lnTo>
                <a:cubicBezTo>
                  <a:pt x="33404" y="3787262"/>
                  <a:pt x="0" y="3753859"/>
                  <a:pt x="0" y="3712653"/>
                </a:cubicBezTo>
                <a:lnTo>
                  <a:pt x="0" y="74609"/>
                </a:lnTo>
                <a:cubicBezTo>
                  <a:pt x="0" y="33431"/>
                  <a:pt x="33431" y="0"/>
                  <a:pt x="74609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>
            <a:off x="485068" y="1483189"/>
            <a:ext cx="11221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9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Performance Comparison Table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graphicFrame>
        <p:nvGraphicFramePr>
          <p:cNvPr id="767" name="Google Shape;767;p19"/>
          <p:cNvGraphicFramePr/>
          <p:nvPr/>
        </p:nvGraphicFramePr>
        <p:xfrm>
          <a:off x="531709" y="185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{62FF1A8F-5FBD-4735-AD16-0F4CF33D1977}</a:tableStyleId>
              </a:tblPr>
              <a:tblGrid>
                <a:gridCol w="3059650"/>
                <a:gridCol w="3358175"/>
                <a:gridCol w="2574600"/>
                <a:gridCol w="2136175"/>
              </a:tblGrid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Metric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Logistic Regression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Decision Tree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SVM (RBF)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Accuracy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82.5%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85.2%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87.1%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274B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Precision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78.3%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81.7%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84.5%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Recall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74.8%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79.2%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82.3%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F1-Score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76.5%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80.4%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83.4%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ROC-AUC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0.79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0.82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0.85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Training Time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0.5s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1.2s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8.5s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Prediction Speed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Very Fast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Medium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Interpretability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Excellent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Excellent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4DB59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Poor</a:t>
                      </a:r>
                      <a:endParaRPr sz="1000">
                        <a:solidFill>
                          <a:srgbClr val="4DB59A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4625" marB="74625" marR="111950" marL="11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68" name="Google Shape;768;p19"/>
          <p:cNvSpPr/>
          <p:nvPr/>
        </p:nvSpPr>
        <p:spPr>
          <a:xfrm>
            <a:off x="377793" y="5275116"/>
            <a:ext cx="3731293" cy="1203342"/>
          </a:xfrm>
          <a:custGeom>
            <a:rect b="b" l="l" r="r" t="t"/>
            <a:pathLst>
              <a:path extrusionOk="0" h="1203342" w="3731293">
                <a:moveTo>
                  <a:pt x="74631" y="0"/>
                </a:moveTo>
                <a:lnTo>
                  <a:pt x="3656662" y="0"/>
                </a:lnTo>
                <a:cubicBezTo>
                  <a:pt x="3697879" y="0"/>
                  <a:pt x="3731293" y="33414"/>
                  <a:pt x="3731293" y="74631"/>
                </a:cubicBezTo>
                <a:lnTo>
                  <a:pt x="3731293" y="1128711"/>
                </a:lnTo>
                <a:cubicBezTo>
                  <a:pt x="3731293" y="1169928"/>
                  <a:pt x="3697879" y="1203342"/>
                  <a:pt x="3656662" y="1203342"/>
                </a:cubicBezTo>
                <a:lnTo>
                  <a:pt x="74631" y="1203342"/>
                </a:lnTo>
                <a:cubicBezTo>
                  <a:pt x="33414" y="1203342"/>
                  <a:pt x="0" y="1169928"/>
                  <a:pt x="0" y="1128711"/>
                </a:cubicBezTo>
                <a:lnTo>
                  <a:pt x="0" y="74631"/>
                </a:lnTo>
                <a:cubicBezTo>
                  <a:pt x="0" y="33441"/>
                  <a:pt x="33441" y="0"/>
                  <a:pt x="74631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507223" y="5438360"/>
            <a:ext cx="188897" cy="167908"/>
          </a:xfrm>
          <a:custGeom>
            <a:rect b="b" l="l" r="r" t="t"/>
            <a:pathLst>
              <a:path extrusionOk="0" h="167908" w="188897">
                <a:moveTo>
                  <a:pt x="101499" y="-6198"/>
                </a:moveTo>
                <a:cubicBezTo>
                  <a:pt x="100155" y="-8822"/>
                  <a:pt x="97433" y="-10494"/>
                  <a:pt x="94481" y="-10494"/>
                </a:cubicBezTo>
                <a:cubicBezTo>
                  <a:pt x="91530" y="-10494"/>
                  <a:pt x="88808" y="-8822"/>
                  <a:pt x="87463" y="-6198"/>
                </a:cubicBezTo>
                <a:lnTo>
                  <a:pt x="63326" y="41092"/>
                </a:lnTo>
                <a:lnTo>
                  <a:pt x="10888" y="49421"/>
                </a:lnTo>
                <a:cubicBezTo>
                  <a:pt x="7969" y="49881"/>
                  <a:pt x="5542" y="51947"/>
                  <a:pt x="4624" y="54767"/>
                </a:cubicBezTo>
                <a:cubicBezTo>
                  <a:pt x="3706" y="57587"/>
                  <a:pt x="4460" y="60670"/>
                  <a:pt x="6526" y="62769"/>
                </a:cubicBezTo>
                <a:lnTo>
                  <a:pt x="44043" y="100319"/>
                </a:lnTo>
                <a:lnTo>
                  <a:pt x="35779" y="152757"/>
                </a:lnTo>
                <a:cubicBezTo>
                  <a:pt x="35320" y="155676"/>
                  <a:pt x="36533" y="158627"/>
                  <a:pt x="38927" y="160365"/>
                </a:cubicBezTo>
                <a:cubicBezTo>
                  <a:pt x="41321" y="162104"/>
                  <a:pt x="44469" y="162366"/>
                  <a:pt x="47126" y="161021"/>
                </a:cubicBezTo>
                <a:lnTo>
                  <a:pt x="94481" y="136950"/>
                </a:lnTo>
                <a:lnTo>
                  <a:pt x="141804" y="161021"/>
                </a:lnTo>
                <a:cubicBezTo>
                  <a:pt x="144427" y="162366"/>
                  <a:pt x="147608" y="162104"/>
                  <a:pt x="150002" y="160365"/>
                </a:cubicBezTo>
                <a:cubicBezTo>
                  <a:pt x="152396" y="158627"/>
                  <a:pt x="153610" y="155709"/>
                  <a:pt x="153151" y="152757"/>
                </a:cubicBezTo>
                <a:lnTo>
                  <a:pt x="144854" y="100319"/>
                </a:lnTo>
                <a:lnTo>
                  <a:pt x="182371" y="62769"/>
                </a:lnTo>
                <a:cubicBezTo>
                  <a:pt x="184469" y="60670"/>
                  <a:pt x="185191" y="57587"/>
                  <a:pt x="184273" y="54767"/>
                </a:cubicBezTo>
                <a:cubicBezTo>
                  <a:pt x="183354" y="51947"/>
                  <a:pt x="180960" y="49881"/>
                  <a:pt x="178009" y="49421"/>
                </a:cubicBezTo>
                <a:lnTo>
                  <a:pt x="125603" y="41092"/>
                </a:lnTo>
                <a:lnTo>
                  <a:pt x="101499" y="-6198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708946" y="5391718"/>
            <a:ext cx="3367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2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Best Overall Performance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494396" y="5727535"/>
            <a:ext cx="3572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SVM (RBF Kernel)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494396" y="5988725"/>
            <a:ext cx="356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Highest accuracy, precision, recall, and AUC. Best for maximum predictive power.</a:t>
            </a:r>
            <a:endParaRPr b="0" i="0" sz="1600" u="none" cap="none" strike="noStrike"/>
          </a:p>
        </p:txBody>
      </p:sp>
      <p:sp>
        <p:nvSpPr>
          <p:cNvPr id="773" name="Google Shape;773;p19"/>
          <p:cNvSpPr/>
          <p:nvPr/>
        </p:nvSpPr>
        <p:spPr>
          <a:xfrm>
            <a:off x="4229187" y="5275116"/>
            <a:ext cx="3731293" cy="1203342"/>
          </a:xfrm>
          <a:custGeom>
            <a:rect b="b" l="l" r="r" t="t"/>
            <a:pathLst>
              <a:path extrusionOk="0" h="1203342" w="3731293">
                <a:moveTo>
                  <a:pt x="74631" y="0"/>
                </a:moveTo>
                <a:lnTo>
                  <a:pt x="3656662" y="0"/>
                </a:lnTo>
                <a:cubicBezTo>
                  <a:pt x="3697879" y="0"/>
                  <a:pt x="3731293" y="33414"/>
                  <a:pt x="3731293" y="74631"/>
                </a:cubicBezTo>
                <a:lnTo>
                  <a:pt x="3731293" y="1128711"/>
                </a:lnTo>
                <a:cubicBezTo>
                  <a:pt x="3731293" y="1169928"/>
                  <a:pt x="3697879" y="1203342"/>
                  <a:pt x="3656662" y="1203342"/>
                </a:cubicBezTo>
                <a:lnTo>
                  <a:pt x="74631" y="1203342"/>
                </a:lnTo>
                <a:cubicBezTo>
                  <a:pt x="33414" y="1203342"/>
                  <a:pt x="0" y="1169928"/>
                  <a:pt x="0" y="1128711"/>
                </a:cubicBezTo>
                <a:lnTo>
                  <a:pt x="0" y="74631"/>
                </a:lnTo>
                <a:cubicBezTo>
                  <a:pt x="0" y="33441"/>
                  <a:pt x="33441" y="0"/>
                  <a:pt x="74631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4358617" y="5438360"/>
            <a:ext cx="188897" cy="167908"/>
          </a:xfrm>
          <a:custGeom>
            <a:rect b="b" l="l" r="r" t="t"/>
            <a:pathLst>
              <a:path extrusionOk="0" h="167908" w="188897">
                <a:moveTo>
                  <a:pt x="94448" y="10494"/>
                </a:moveTo>
                <a:cubicBezTo>
                  <a:pt x="67950" y="10494"/>
                  <a:pt x="46732" y="22563"/>
                  <a:pt x="31286" y="36927"/>
                </a:cubicBezTo>
                <a:cubicBezTo>
                  <a:pt x="15938" y="51192"/>
                  <a:pt x="5673" y="68213"/>
                  <a:pt x="787" y="79920"/>
                </a:cubicBezTo>
                <a:cubicBezTo>
                  <a:pt x="-295" y="82511"/>
                  <a:pt x="-295" y="85397"/>
                  <a:pt x="787" y="87988"/>
                </a:cubicBezTo>
                <a:cubicBezTo>
                  <a:pt x="5673" y="99695"/>
                  <a:pt x="15938" y="116749"/>
                  <a:pt x="31286" y="130982"/>
                </a:cubicBezTo>
                <a:cubicBezTo>
                  <a:pt x="46732" y="145313"/>
                  <a:pt x="67950" y="157414"/>
                  <a:pt x="94448" y="157414"/>
                </a:cubicBezTo>
                <a:cubicBezTo>
                  <a:pt x="120946" y="157414"/>
                  <a:pt x="142164" y="145346"/>
                  <a:pt x="157611" y="130982"/>
                </a:cubicBezTo>
                <a:cubicBezTo>
                  <a:pt x="172959" y="116716"/>
                  <a:pt x="183223" y="99695"/>
                  <a:pt x="188110" y="87988"/>
                </a:cubicBezTo>
                <a:cubicBezTo>
                  <a:pt x="189192" y="85397"/>
                  <a:pt x="189192" y="82511"/>
                  <a:pt x="188110" y="79920"/>
                </a:cubicBezTo>
                <a:cubicBezTo>
                  <a:pt x="183223" y="68213"/>
                  <a:pt x="172959" y="51160"/>
                  <a:pt x="157611" y="36927"/>
                </a:cubicBezTo>
                <a:cubicBezTo>
                  <a:pt x="142164" y="22595"/>
                  <a:pt x="120946" y="10494"/>
                  <a:pt x="94448" y="10494"/>
                </a:cubicBezTo>
                <a:close/>
                <a:moveTo>
                  <a:pt x="47224" y="83954"/>
                </a:moveTo>
                <a:cubicBezTo>
                  <a:pt x="47224" y="57890"/>
                  <a:pt x="68385" y="36730"/>
                  <a:pt x="94448" y="36730"/>
                </a:cubicBezTo>
                <a:cubicBezTo>
                  <a:pt x="120512" y="36730"/>
                  <a:pt x="141673" y="57890"/>
                  <a:pt x="141673" y="83954"/>
                </a:cubicBezTo>
                <a:cubicBezTo>
                  <a:pt x="141673" y="110018"/>
                  <a:pt x="120512" y="131178"/>
                  <a:pt x="94448" y="131178"/>
                </a:cubicBezTo>
                <a:cubicBezTo>
                  <a:pt x="68385" y="131178"/>
                  <a:pt x="47224" y="110018"/>
                  <a:pt x="47224" y="83954"/>
                </a:cubicBezTo>
                <a:close/>
                <a:moveTo>
                  <a:pt x="94448" y="62966"/>
                </a:moveTo>
                <a:cubicBezTo>
                  <a:pt x="94448" y="74542"/>
                  <a:pt x="85036" y="83954"/>
                  <a:pt x="73460" y="83954"/>
                </a:cubicBezTo>
                <a:cubicBezTo>
                  <a:pt x="69688" y="83954"/>
                  <a:pt x="66147" y="82970"/>
                  <a:pt x="63064" y="81199"/>
                </a:cubicBezTo>
                <a:cubicBezTo>
                  <a:pt x="62736" y="84774"/>
                  <a:pt x="63031" y="88447"/>
                  <a:pt x="64015" y="92087"/>
                </a:cubicBezTo>
                <a:cubicBezTo>
                  <a:pt x="68508" y="108878"/>
                  <a:pt x="85791" y="118848"/>
                  <a:pt x="102581" y="114355"/>
                </a:cubicBezTo>
                <a:cubicBezTo>
                  <a:pt x="119372" y="109862"/>
                  <a:pt x="129342" y="92579"/>
                  <a:pt x="124849" y="75788"/>
                </a:cubicBezTo>
                <a:cubicBezTo>
                  <a:pt x="120848" y="60801"/>
                  <a:pt x="106648" y="51258"/>
                  <a:pt x="91694" y="52570"/>
                </a:cubicBezTo>
                <a:cubicBezTo>
                  <a:pt x="93432" y="55620"/>
                  <a:pt x="94448" y="59161"/>
                  <a:pt x="94448" y="62966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4560340" y="5391718"/>
            <a:ext cx="3367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2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Best Interpretability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76" name="Google Shape;776;p19"/>
          <p:cNvSpPr/>
          <p:nvPr/>
        </p:nvSpPr>
        <p:spPr>
          <a:xfrm>
            <a:off x="4345790" y="5727535"/>
            <a:ext cx="3572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Logistic Regression &amp; Decision Tree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4345790" y="5988725"/>
            <a:ext cx="356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Transparent models for business understanding and stakeholder communication.</a:t>
            </a:r>
            <a:endParaRPr b="0" i="0" sz="1600" u="none" cap="none" strike="noStrike"/>
          </a:p>
        </p:txBody>
      </p:sp>
      <p:sp>
        <p:nvSpPr>
          <p:cNvPr id="778" name="Google Shape;778;p19"/>
          <p:cNvSpPr/>
          <p:nvPr/>
        </p:nvSpPr>
        <p:spPr>
          <a:xfrm>
            <a:off x="8080727" y="5275116"/>
            <a:ext cx="3731293" cy="1203342"/>
          </a:xfrm>
          <a:custGeom>
            <a:rect b="b" l="l" r="r" t="t"/>
            <a:pathLst>
              <a:path extrusionOk="0" h="1203342" w="3731293">
                <a:moveTo>
                  <a:pt x="74631" y="0"/>
                </a:moveTo>
                <a:lnTo>
                  <a:pt x="3656662" y="0"/>
                </a:lnTo>
                <a:cubicBezTo>
                  <a:pt x="3697879" y="0"/>
                  <a:pt x="3731293" y="33414"/>
                  <a:pt x="3731293" y="74631"/>
                </a:cubicBezTo>
                <a:lnTo>
                  <a:pt x="3731293" y="1128711"/>
                </a:lnTo>
                <a:cubicBezTo>
                  <a:pt x="3731293" y="1169928"/>
                  <a:pt x="3697879" y="1203342"/>
                  <a:pt x="3656662" y="1203342"/>
                </a:cubicBezTo>
                <a:lnTo>
                  <a:pt x="74631" y="1203342"/>
                </a:lnTo>
                <a:cubicBezTo>
                  <a:pt x="33414" y="1203342"/>
                  <a:pt x="0" y="1169928"/>
                  <a:pt x="0" y="1128711"/>
                </a:cubicBezTo>
                <a:lnTo>
                  <a:pt x="0" y="74631"/>
                </a:lnTo>
                <a:cubicBezTo>
                  <a:pt x="0" y="33441"/>
                  <a:pt x="33441" y="0"/>
                  <a:pt x="74631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8199662" y="5438360"/>
            <a:ext cx="209885" cy="167908"/>
          </a:xfrm>
          <a:custGeom>
            <a:rect b="b" l="l" r="r" t="t"/>
            <a:pathLst>
              <a:path extrusionOk="0" h="167908" w="209885">
                <a:moveTo>
                  <a:pt x="125931" y="10494"/>
                </a:moveTo>
                <a:lnTo>
                  <a:pt x="167908" y="10494"/>
                </a:lnTo>
                <a:cubicBezTo>
                  <a:pt x="173713" y="10494"/>
                  <a:pt x="178402" y="15184"/>
                  <a:pt x="178402" y="20989"/>
                </a:cubicBezTo>
                <a:cubicBezTo>
                  <a:pt x="178402" y="26793"/>
                  <a:pt x="173713" y="31483"/>
                  <a:pt x="167908" y="31483"/>
                </a:cubicBezTo>
                <a:lnTo>
                  <a:pt x="130654" y="31483"/>
                </a:lnTo>
                <a:cubicBezTo>
                  <a:pt x="128948" y="39944"/>
                  <a:pt x="123144" y="46929"/>
                  <a:pt x="115437" y="50274"/>
                </a:cubicBezTo>
                <a:lnTo>
                  <a:pt x="115437" y="146920"/>
                </a:lnTo>
                <a:lnTo>
                  <a:pt x="167908" y="146920"/>
                </a:lnTo>
                <a:cubicBezTo>
                  <a:pt x="173713" y="146920"/>
                  <a:pt x="178402" y="151609"/>
                  <a:pt x="178402" y="157414"/>
                </a:cubicBezTo>
                <a:cubicBezTo>
                  <a:pt x="178402" y="163219"/>
                  <a:pt x="173713" y="167908"/>
                  <a:pt x="167908" y="167908"/>
                </a:cubicBezTo>
                <a:lnTo>
                  <a:pt x="41977" y="167908"/>
                </a:lnTo>
                <a:cubicBezTo>
                  <a:pt x="36172" y="167908"/>
                  <a:pt x="31483" y="163219"/>
                  <a:pt x="31483" y="157414"/>
                </a:cubicBezTo>
                <a:cubicBezTo>
                  <a:pt x="31483" y="151609"/>
                  <a:pt x="36172" y="146920"/>
                  <a:pt x="41977" y="146920"/>
                </a:cubicBezTo>
                <a:lnTo>
                  <a:pt x="94448" y="146920"/>
                </a:lnTo>
                <a:lnTo>
                  <a:pt x="94448" y="50274"/>
                </a:lnTo>
                <a:cubicBezTo>
                  <a:pt x="86742" y="46896"/>
                  <a:pt x="80937" y="39911"/>
                  <a:pt x="79232" y="31483"/>
                </a:cubicBezTo>
                <a:lnTo>
                  <a:pt x="41977" y="31483"/>
                </a:lnTo>
                <a:cubicBezTo>
                  <a:pt x="36172" y="31483"/>
                  <a:pt x="31483" y="26793"/>
                  <a:pt x="31483" y="20989"/>
                </a:cubicBezTo>
                <a:cubicBezTo>
                  <a:pt x="31483" y="15184"/>
                  <a:pt x="36172" y="10494"/>
                  <a:pt x="41977" y="10494"/>
                </a:cubicBezTo>
                <a:lnTo>
                  <a:pt x="83954" y="10494"/>
                </a:lnTo>
                <a:cubicBezTo>
                  <a:pt x="88742" y="4132"/>
                  <a:pt x="96350" y="0"/>
                  <a:pt x="104943" y="0"/>
                </a:cubicBezTo>
                <a:cubicBezTo>
                  <a:pt x="113535" y="0"/>
                  <a:pt x="121143" y="4132"/>
                  <a:pt x="125931" y="10494"/>
                </a:cubicBezTo>
                <a:close/>
                <a:moveTo>
                  <a:pt x="144165" y="104943"/>
                </a:moveTo>
                <a:lnTo>
                  <a:pt x="191651" y="104943"/>
                </a:lnTo>
                <a:lnTo>
                  <a:pt x="167908" y="64212"/>
                </a:lnTo>
                <a:lnTo>
                  <a:pt x="144165" y="104943"/>
                </a:lnTo>
                <a:close/>
                <a:moveTo>
                  <a:pt x="167908" y="136425"/>
                </a:moveTo>
                <a:cubicBezTo>
                  <a:pt x="147280" y="136425"/>
                  <a:pt x="130129" y="125275"/>
                  <a:pt x="126587" y="110550"/>
                </a:cubicBezTo>
                <a:cubicBezTo>
                  <a:pt x="125734" y="106943"/>
                  <a:pt x="126915" y="103237"/>
                  <a:pt x="128784" y="100023"/>
                </a:cubicBezTo>
                <a:lnTo>
                  <a:pt x="160005" y="46503"/>
                </a:lnTo>
                <a:cubicBezTo>
                  <a:pt x="161644" y="43682"/>
                  <a:pt x="164662" y="41977"/>
                  <a:pt x="167908" y="41977"/>
                </a:cubicBezTo>
                <a:cubicBezTo>
                  <a:pt x="171155" y="41977"/>
                  <a:pt x="174172" y="43715"/>
                  <a:pt x="175812" y="46503"/>
                </a:cubicBezTo>
                <a:lnTo>
                  <a:pt x="207032" y="100023"/>
                </a:lnTo>
                <a:cubicBezTo>
                  <a:pt x="208901" y="103237"/>
                  <a:pt x="210082" y="106943"/>
                  <a:pt x="209229" y="110550"/>
                </a:cubicBezTo>
                <a:cubicBezTo>
                  <a:pt x="205688" y="125242"/>
                  <a:pt x="188536" y="136425"/>
                  <a:pt x="167908" y="136425"/>
                </a:cubicBezTo>
                <a:close/>
                <a:moveTo>
                  <a:pt x="41584" y="64212"/>
                </a:moveTo>
                <a:lnTo>
                  <a:pt x="17840" y="104943"/>
                </a:lnTo>
                <a:lnTo>
                  <a:pt x="65360" y="104943"/>
                </a:lnTo>
                <a:lnTo>
                  <a:pt x="41584" y="64212"/>
                </a:lnTo>
                <a:close/>
                <a:moveTo>
                  <a:pt x="295" y="110550"/>
                </a:moveTo>
                <a:cubicBezTo>
                  <a:pt x="-558" y="106943"/>
                  <a:pt x="623" y="103237"/>
                  <a:pt x="2492" y="100023"/>
                </a:cubicBezTo>
                <a:lnTo>
                  <a:pt x="33713" y="46503"/>
                </a:lnTo>
                <a:cubicBezTo>
                  <a:pt x="35353" y="43682"/>
                  <a:pt x="38370" y="41977"/>
                  <a:pt x="41616" y="41977"/>
                </a:cubicBezTo>
                <a:cubicBezTo>
                  <a:pt x="44863" y="41977"/>
                  <a:pt x="47880" y="43715"/>
                  <a:pt x="49520" y="46503"/>
                </a:cubicBezTo>
                <a:lnTo>
                  <a:pt x="80740" y="100023"/>
                </a:lnTo>
                <a:cubicBezTo>
                  <a:pt x="82610" y="103237"/>
                  <a:pt x="83790" y="106943"/>
                  <a:pt x="82937" y="110550"/>
                </a:cubicBezTo>
                <a:cubicBezTo>
                  <a:pt x="79396" y="125242"/>
                  <a:pt x="62244" y="136425"/>
                  <a:pt x="41616" y="136425"/>
                </a:cubicBezTo>
                <a:cubicBezTo>
                  <a:pt x="20989" y="136425"/>
                  <a:pt x="3837" y="125275"/>
                  <a:pt x="295" y="11055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8411879" y="5391718"/>
            <a:ext cx="3367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2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Best Balance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8197330" y="5727535"/>
            <a:ext cx="3572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Tree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8197330" y="5988725"/>
            <a:ext cx="356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Good performance with interpretability. Fast training and handles mixed data types well.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0"/>
          <p:cNvSpPr/>
          <p:nvPr/>
        </p:nvSpPr>
        <p:spPr>
          <a:xfrm>
            <a:off x="347975" y="347975"/>
            <a:ext cx="1692617" cy="283535"/>
          </a:xfrm>
          <a:custGeom>
            <a:rect b="b" l="l" r="r" t="t"/>
            <a:pathLst>
              <a:path extrusionOk="0" h="283535" w="1692617">
                <a:moveTo>
                  <a:pt x="141767" y="0"/>
                </a:moveTo>
                <a:lnTo>
                  <a:pt x="1550850" y="0"/>
                </a:lnTo>
                <a:cubicBezTo>
                  <a:pt x="1629146" y="0"/>
                  <a:pt x="1692617" y="63471"/>
                  <a:pt x="1692617" y="141767"/>
                </a:cubicBezTo>
                <a:lnTo>
                  <a:pt x="1692617" y="141767"/>
                </a:lnTo>
                <a:cubicBezTo>
                  <a:pt x="1692617" y="220063"/>
                  <a:pt x="1629146" y="283535"/>
                  <a:pt x="1550850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0"/>
          <p:cNvSpPr/>
          <p:nvPr/>
        </p:nvSpPr>
        <p:spPr>
          <a:xfrm>
            <a:off x="455374" y="429598"/>
            <a:ext cx="1540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7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TECHNIQUES</a:t>
            </a:r>
            <a:endParaRPr b="0" i="0" sz="1600" u="none" cap="none" strike="noStrike"/>
          </a:p>
        </p:txBody>
      </p:sp>
      <p:sp>
        <p:nvSpPr>
          <p:cNvPr id="790" name="Google Shape;790;p20"/>
          <p:cNvSpPr/>
          <p:nvPr/>
        </p:nvSpPr>
        <p:spPr>
          <a:xfrm>
            <a:off x="343679" y="738909"/>
            <a:ext cx="116592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6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Handling Class Imbalance: The SMOTE Technique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347975" y="1224355"/>
            <a:ext cx="5670698" cy="1830089"/>
          </a:xfrm>
          <a:custGeom>
            <a:rect b="b" l="l" r="r" t="t"/>
            <a:pathLst>
              <a:path extrusionOk="0" h="1830089" w="5670698">
                <a:moveTo>
                  <a:pt x="68738" y="0"/>
                </a:moveTo>
                <a:lnTo>
                  <a:pt x="5601960" y="0"/>
                </a:lnTo>
                <a:cubicBezTo>
                  <a:pt x="5639923" y="0"/>
                  <a:pt x="5670698" y="30775"/>
                  <a:pt x="5670698" y="68738"/>
                </a:cubicBezTo>
                <a:lnTo>
                  <a:pt x="5670698" y="1761351"/>
                </a:lnTo>
                <a:cubicBezTo>
                  <a:pt x="5670698" y="1799314"/>
                  <a:pt x="5639923" y="1830089"/>
                  <a:pt x="5601960" y="1830089"/>
                </a:cubicBezTo>
                <a:lnTo>
                  <a:pt x="68738" y="1830089"/>
                </a:lnTo>
                <a:cubicBezTo>
                  <a:pt x="30775" y="1830089"/>
                  <a:pt x="0" y="1799314"/>
                  <a:pt x="0" y="1761351"/>
                </a:cubicBezTo>
                <a:lnTo>
                  <a:pt x="0" y="68738"/>
                </a:lnTo>
                <a:cubicBezTo>
                  <a:pt x="0" y="30775"/>
                  <a:pt x="30775" y="0"/>
                  <a:pt x="68738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0"/>
          <p:cNvSpPr/>
          <p:nvPr/>
        </p:nvSpPr>
        <p:spPr>
          <a:xfrm>
            <a:off x="524110" y="1434858"/>
            <a:ext cx="214799" cy="171839"/>
          </a:xfrm>
          <a:custGeom>
            <a:rect b="b" l="l" r="r" t="t"/>
            <a:pathLst>
              <a:path extrusionOk="0" h="171839" w="214799">
                <a:moveTo>
                  <a:pt x="128879" y="10740"/>
                </a:moveTo>
                <a:lnTo>
                  <a:pt x="171839" y="10740"/>
                </a:lnTo>
                <a:cubicBezTo>
                  <a:pt x="177780" y="10740"/>
                  <a:pt x="182579" y="15539"/>
                  <a:pt x="182579" y="21480"/>
                </a:cubicBezTo>
                <a:cubicBezTo>
                  <a:pt x="182579" y="27420"/>
                  <a:pt x="177780" y="32220"/>
                  <a:pt x="171839" y="32220"/>
                </a:cubicBezTo>
                <a:lnTo>
                  <a:pt x="133712" y="32220"/>
                </a:lnTo>
                <a:cubicBezTo>
                  <a:pt x="131967" y="40879"/>
                  <a:pt x="126027" y="48028"/>
                  <a:pt x="118140" y="51451"/>
                </a:cubicBezTo>
                <a:lnTo>
                  <a:pt x="118140" y="150359"/>
                </a:lnTo>
                <a:lnTo>
                  <a:pt x="171839" y="150359"/>
                </a:lnTo>
                <a:cubicBezTo>
                  <a:pt x="177780" y="150359"/>
                  <a:pt x="182579" y="155159"/>
                  <a:pt x="182579" y="161099"/>
                </a:cubicBezTo>
                <a:cubicBezTo>
                  <a:pt x="182579" y="167040"/>
                  <a:pt x="177780" y="171839"/>
                  <a:pt x="171839" y="171839"/>
                </a:cubicBezTo>
                <a:lnTo>
                  <a:pt x="42960" y="171839"/>
                </a:lnTo>
                <a:cubicBezTo>
                  <a:pt x="37019" y="171839"/>
                  <a:pt x="32220" y="167040"/>
                  <a:pt x="32220" y="161099"/>
                </a:cubicBezTo>
                <a:cubicBezTo>
                  <a:pt x="32220" y="155159"/>
                  <a:pt x="37019" y="150359"/>
                  <a:pt x="42960" y="150359"/>
                </a:cubicBezTo>
                <a:lnTo>
                  <a:pt x="96660" y="150359"/>
                </a:lnTo>
                <a:lnTo>
                  <a:pt x="96660" y="51451"/>
                </a:lnTo>
                <a:cubicBezTo>
                  <a:pt x="88772" y="47994"/>
                  <a:pt x="82832" y="40845"/>
                  <a:pt x="81087" y="32220"/>
                </a:cubicBezTo>
                <a:lnTo>
                  <a:pt x="42960" y="32220"/>
                </a:lnTo>
                <a:cubicBezTo>
                  <a:pt x="37019" y="32220"/>
                  <a:pt x="32220" y="27420"/>
                  <a:pt x="32220" y="21480"/>
                </a:cubicBezTo>
                <a:cubicBezTo>
                  <a:pt x="32220" y="15539"/>
                  <a:pt x="37019" y="10740"/>
                  <a:pt x="42960" y="10740"/>
                </a:cubicBezTo>
                <a:lnTo>
                  <a:pt x="85920" y="10740"/>
                </a:lnTo>
                <a:cubicBezTo>
                  <a:pt x="90820" y="4229"/>
                  <a:pt x="98606" y="0"/>
                  <a:pt x="107400" y="0"/>
                </a:cubicBezTo>
                <a:cubicBezTo>
                  <a:pt x="116193" y="0"/>
                  <a:pt x="123979" y="4229"/>
                  <a:pt x="128879" y="10740"/>
                </a:cubicBezTo>
                <a:close/>
                <a:moveTo>
                  <a:pt x="147540" y="107400"/>
                </a:moveTo>
                <a:lnTo>
                  <a:pt x="196138" y="107400"/>
                </a:lnTo>
                <a:lnTo>
                  <a:pt x="171839" y="65715"/>
                </a:lnTo>
                <a:lnTo>
                  <a:pt x="147540" y="107400"/>
                </a:lnTo>
                <a:close/>
                <a:moveTo>
                  <a:pt x="171839" y="139619"/>
                </a:moveTo>
                <a:cubicBezTo>
                  <a:pt x="150729" y="139619"/>
                  <a:pt x="133175" y="128208"/>
                  <a:pt x="129551" y="113139"/>
                </a:cubicBezTo>
                <a:cubicBezTo>
                  <a:pt x="128678" y="109447"/>
                  <a:pt x="129886" y="105654"/>
                  <a:pt x="131799" y="102365"/>
                </a:cubicBezTo>
                <a:lnTo>
                  <a:pt x="163751" y="47591"/>
                </a:lnTo>
                <a:cubicBezTo>
                  <a:pt x="165429" y="44705"/>
                  <a:pt x="168517" y="42960"/>
                  <a:pt x="171839" y="42960"/>
                </a:cubicBezTo>
                <a:cubicBezTo>
                  <a:pt x="175162" y="42960"/>
                  <a:pt x="178250" y="44739"/>
                  <a:pt x="179928" y="47591"/>
                </a:cubicBezTo>
                <a:lnTo>
                  <a:pt x="211879" y="102365"/>
                </a:lnTo>
                <a:cubicBezTo>
                  <a:pt x="213792" y="105654"/>
                  <a:pt x="215001" y="109447"/>
                  <a:pt x="214128" y="113139"/>
                </a:cubicBezTo>
                <a:cubicBezTo>
                  <a:pt x="210503" y="128175"/>
                  <a:pt x="192950" y="139619"/>
                  <a:pt x="171839" y="139619"/>
                </a:cubicBezTo>
                <a:close/>
                <a:moveTo>
                  <a:pt x="42557" y="65715"/>
                </a:moveTo>
                <a:lnTo>
                  <a:pt x="18258" y="107400"/>
                </a:lnTo>
                <a:lnTo>
                  <a:pt x="66890" y="107400"/>
                </a:lnTo>
                <a:lnTo>
                  <a:pt x="42557" y="65715"/>
                </a:lnTo>
                <a:close/>
                <a:moveTo>
                  <a:pt x="302" y="113139"/>
                </a:moveTo>
                <a:cubicBezTo>
                  <a:pt x="-571" y="109447"/>
                  <a:pt x="638" y="105654"/>
                  <a:pt x="2551" y="102365"/>
                </a:cubicBezTo>
                <a:lnTo>
                  <a:pt x="34502" y="47591"/>
                </a:lnTo>
                <a:cubicBezTo>
                  <a:pt x="36180" y="44705"/>
                  <a:pt x="39268" y="42960"/>
                  <a:pt x="42591" y="42960"/>
                </a:cubicBezTo>
                <a:cubicBezTo>
                  <a:pt x="45913" y="42960"/>
                  <a:pt x="49001" y="44739"/>
                  <a:pt x="50679" y="47591"/>
                </a:cubicBezTo>
                <a:lnTo>
                  <a:pt x="82631" y="102365"/>
                </a:lnTo>
                <a:cubicBezTo>
                  <a:pt x="84544" y="105654"/>
                  <a:pt x="85752" y="109447"/>
                  <a:pt x="84879" y="113139"/>
                </a:cubicBezTo>
                <a:cubicBezTo>
                  <a:pt x="81254" y="128175"/>
                  <a:pt x="63701" y="139619"/>
                  <a:pt x="42591" y="139619"/>
                </a:cubicBezTo>
                <a:cubicBezTo>
                  <a:pt x="21480" y="139619"/>
                  <a:pt x="3927" y="128208"/>
                  <a:pt x="302" y="113139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0"/>
          <p:cNvSpPr/>
          <p:nvPr/>
        </p:nvSpPr>
        <p:spPr>
          <a:xfrm>
            <a:off x="738909" y="1400490"/>
            <a:ext cx="5189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3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The Imbalance Problem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524110" y="1744169"/>
            <a:ext cx="5387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Churn datasets typically have </a:t>
            </a:r>
            <a:r>
              <a:rPr b="0" i="0" lang="en-US" sz="1082" u="none" cap="none" strike="noStrike">
                <a:solidFill>
                  <a:srgbClr val="4DB59A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10-30% churn rate </a:t>
            </a:r>
            <a:r>
              <a:rPr b="0" i="0" lang="en-US" sz="1082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causing models to favor the majority class and ignore churners.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541294" y="2294055"/>
            <a:ext cx="5301243" cy="584254"/>
          </a:xfrm>
          <a:custGeom>
            <a:rect b="b" l="l" r="r" t="t"/>
            <a:pathLst>
              <a:path extrusionOk="0" h="584254" w="5301243">
                <a:moveTo>
                  <a:pt x="34366" y="0"/>
                </a:moveTo>
                <a:lnTo>
                  <a:pt x="5266877" y="0"/>
                </a:lnTo>
                <a:cubicBezTo>
                  <a:pt x="5285857" y="0"/>
                  <a:pt x="5301243" y="15386"/>
                  <a:pt x="5301243" y="34366"/>
                </a:cubicBezTo>
                <a:lnTo>
                  <a:pt x="5301243" y="549888"/>
                </a:lnTo>
                <a:cubicBezTo>
                  <a:pt x="5301243" y="568868"/>
                  <a:pt x="5285857" y="584254"/>
                  <a:pt x="5266877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0"/>
          <p:cNvSpPr/>
          <p:nvPr/>
        </p:nvSpPr>
        <p:spPr>
          <a:xfrm>
            <a:off x="541294" y="2294055"/>
            <a:ext cx="34368" cy="584254"/>
          </a:xfrm>
          <a:custGeom>
            <a:rect b="b" l="l" r="r" t="t"/>
            <a:pathLst>
              <a:path extrusionOk="0" h="584254" w="34368">
                <a:moveTo>
                  <a:pt x="34368" y="0"/>
                </a:moveTo>
                <a:lnTo>
                  <a:pt x="34368" y="0"/>
                </a:lnTo>
                <a:lnTo>
                  <a:pt x="34368" y="584254"/>
                </a:lnTo>
                <a:lnTo>
                  <a:pt x="34368" y="584254"/>
                </a:lnTo>
                <a:cubicBezTo>
                  <a:pt x="15387" y="584254"/>
                  <a:pt x="0" y="568867"/>
                  <a:pt x="0" y="549886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"/>
          <p:cNvSpPr/>
          <p:nvPr/>
        </p:nvSpPr>
        <p:spPr>
          <a:xfrm>
            <a:off x="661581" y="2397159"/>
            <a:ext cx="5138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Impact:</a:t>
            </a:r>
            <a:endParaRPr b="0" i="0" sz="1600" u="none" cap="none" strike="noStrike"/>
          </a:p>
        </p:txBody>
      </p:sp>
      <p:sp>
        <p:nvSpPr>
          <p:cNvPr id="798" name="Google Shape;798;p20"/>
          <p:cNvSpPr/>
          <p:nvPr/>
        </p:nvSpPr>
        <p:spPr>
          <a:xfrm>
            <a:off x="661581" y="2603366"/>
            <a:ext cx="51381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accuracy but low recall—models predict "no churn" for everyone, missing the point.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347975" y="3200507"/>
            <a:ext cx="5670698" cy="2242503"/>
          </a:xfrm>
          <a:custGeom>
            <a:rect b="b" l="l" r="r" t="t"/>
            <a:pathLst>
              <a:path extrusionOk="0" h="2242503" w="5670698">
                <a:moveTo>
                  <a:pt x="68733" y="0"/>
                </a:moveTo>
                <a:lnTo>
                  <a:pt x="5601965" y="0"/>
                </a:lnTo>
                <a:cubicBezTo>
                  <a:pt x="5639925" y="0"/>
                  <a:pt x="5670698" y="30773"/>
                  <a:pt x="5670698" y="68733"/>
                </a:cubicBezTo>
                <a:lnTo>
                  <a:pt x="5670698" y="2173770"/>
                </a:lnTo>
                <a:cubicBezTo>
                  <a:pt x="5670698" y="2211730"/>
                  <a:pt x="5639925" y="2242503"/>
                  <a:pt x="5601965" y="2242503"/>
                </a:cubicBezTo>
                <a:lnTo>
                  <a:pt x="68733" y="2242503"/>
                </a:lnTo>
                <a:cubicBezTo>
                  <a:pt x="30773" y="2242503"/>
                  <a:pt x="0" y="2211730"/>
                  <a:pt x="0" y="2173770"/>
                </a:cubicBezTo>
                <a:lnTo>
                  <a:pt x="0" y="68733"/>
                </a:lnTo>
                <a:cubicBezTo>
                  <a:pt x="0" y="30798"/>
                  <a:pt x="30798" y="0"/>
                  <a:pt x="68733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0"/>
          <p:cNvSpPr/>
          <p:nvPr/>
        </p:nvSpPr>
        <p:spPr>
          <a:xfrm>
            <a:off x="545590" y="3411011"/>
            <a:ext cx="171839" cy="171839"/>
          </a:xfrm>
          <a:custGeom>
            <a:rect b="b" l="l" r="r" t="t"/>
            <a:pathLst>
              <a:path extrusionOk="0" h="171839" w="171839">
                <a:moveTo>
                  <a:pt x="133746" y="4095"/>
                </a:moveTo>
                <a:lnTo>
                  <a:pt x="104144" y="33697"/>
                </a:lnTo>
                <a:lnTo>
                  <a:pt x="138143" y="67695"/>
                </a:lnTo>
                <a:lnTo>
                  <a:pt x="167745" y="38093"/>
                </a:lnTo>
                <a:cubicBezTo>
                  <a:pt x="170363" y="35442"/>
                  <a:pt x="171839" y="31884"/>
                  <a:pt x="171839" y="28192"/>
                </a:cubicBezTo>
                <a:cubicBezTo>
                  <a:pt x="171839" y="24501"/>
                  <a:pt x="170363" y="20943"/>
                  <a:pt x="167745" y="18291"/>
                </a:cubicBezTo>
                <a:lnTo>
                  <a:pt x="153548" y="4095"/>
                </a:lnTo>
                <a:cubicBezTo>
                  <a:pt x="150896" y="1477"/>
                  <a:pt x="147339" y="0"/>
                  <a:pt x="143647" y="0"/>
                </a:cubicBezTo>
                <a:cubicBezTo>
                  <a:pt x="139955" y="0"/>
                  <a:pt x="136397" y="1477"/>
                  <a:pt x="133746" y="4095"/>
                </a:cubicBezTo>
                <a:close/>
                <a:moveTo>
                  <a:pt x="92766" y="45074"/>
                </a:moveTo>
                <a:lnTo>
                  <a:pt x="4095" y="133746"/>
                </a:lnTo>
                <a:cubicBezTo>
                  <a:pt x="1477" y="136397"/>
                  <a:pt x="0" y="139955"/>
                  <a:pt x="0" y="143647"/>
                </a:cubicBezTo>
                <a:cubicBezTo>
                  <a:pt x="0" y="147339"/>
                  <a:pt x="1477" y="150896"/>
                  <a:pt x="4095" y="153548"/>
                </a:cubicBezTo>
                <a:lnTo>
                  <a:pt x="18291" y="167745"/>
                </a:lnTo>
                <a:cubicBezTo>
                  <a:pt x="20943" y="170363"/>
                  <a:pt x="24501" y="171839"/>
                  <a:pt x="28192" y="171839"/>
                </a:cubicBezTo>
                <a:cubicBezTo>
                  <a:pt x="31884" y="171839"/>
                  <a:pt x="35442" y="170363"/>
                  <a:pt x="38093" y="167745"/>
                </a:cubicBezTo>
                <a:lnTo>
                  <a:pt x="126765" y="79073"/>
                </a:lnTo>
                <a:lnTo>
                  <a:pt x="92766" y="45074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0"/>
          <p:cNvSpPr/>
          <p:nvPr/>
        </p:nvSpPr>
        <p:spPr>
          <a:xfrm>
            <a:off x="738909" y="3376643"/>
            <a:ext cx="5189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3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SMOTE Solution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524110" y="3720321"/>
            <a:ext cx="5387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F0F2F5"/>
                </a:solidFill>
                <a:highlight>
                  <a:srgbClr val="4DB59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SMOTE </a:t>
            </a:r>
            <a:r>
              <a:rPr b="0" i="0" lang="en-US" sz="1082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r>
              <a:rPr b="0" i="0" lang="en-US" sz="1082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reates synthetic minority class examples by interpolating between existing ones.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524110" y="4270207"/>
            <a:ext cx="5318427" cy="996668"/>
          </a:xfrm>
          <a:custGeom>
            <a:rect b="b" l="l" r="r" t="t"/>
            <a:pathLst>
              <a:path extrusionOk="0" h="996668" w="5318427">
                <a:moveTo>
                  <a:pt x="34365" y="0"/>
                </a:moveTo>
                <a:lnTo>
                  <a:pt x="5284062" y="0"/>
                </a:lnTo>
                <a:cubicBezTo>
                  <a:pt x="5303041" y="0"/>
                  <a:pt x="5318427" y="15386"/>
                  <a:pt x="5318427" y="34365"/>
                </a:cubicBezTo>
                <a:lnTo>
                  <a:pt x="5318427" y="962303"/>
                </a:lnTo>
                <a:cubicBezTo>
                  <a:pt x="5318427" y="981282"/>
                  <a:pt x="5303041" y="996668"/>
                  <a:pt x="5284062" y="996668"/>
                </a:cubicBezTo>
                <a:lnTo>
                  <a:pt x="34365" y="996668"/>
                </a:lnTo>
                <a:cubicBezTo>
                  <a:pt x="15386" y="996668"/>
                  <a:pt x="0" y="981282"/>
                  <a:pt x="0" y="962303"/>
                </a:cubicBezTo>
                <a:lnTo>
                  <a:pt x="0" y="34365"/>
                </a:lnTo>
                <a:cubicBezTo>
                  <a:pt x="0" y="15386"/>
                  <a:pt x="15386" y="0"/>
                  <a:pt x="3436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627214" y="4373311"/>
            <a:ext cx="51723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7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Works:</a:t>
            </a:r>
            <a:endParaRPr b="0" i="0" sz="1600" u="none" cap="none" strike="noStrike"/>
          </a:p>
        </p:txBody>
      </p:sp>
      <p:sp>
        <p:nvSpPr>
          <p:cNvPr id="805" name="Google Shape;805;p20"/>
          <p:cNvSpPr/>
          <p:nvPr/>
        </p:nvSpPr>
        <p:spPr>
          <a:xfrm>
            <a:off x="627214" y="4579518"/>
            <a:ext cx="51723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DB59A"/>
              </a:buClr>
              <a:buSzPts val="947"/>
              <a:buFont typeface="Calibri"/>
              <a:buAutoNum type="arabicPeriod"/>
            </a:pPr>
            <a:r>
              <a:rPr b="0" i="0" lang="en-US" sz="94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Identifies a minority class sample.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Clr>
                <a:srgbClr val="4DB59A"/>
              </a:buClr>
              <a:buSzPts val="947"/>
              <a:buFont typeface="Calibri"/>
              <a:buAutoNum type="arabicPeriod"/>
            </a:pPr>
            <a:r>
              <a:rPr b="0" i="0" lang="en-US" sz="94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Finds its k nearest neighbors (k=5).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-254000" lvl="0" marL="254000" marR="0" rtl="0" algn="l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Clr>
                <a:srgbClr val="4DB59A"/>
              </a:buClr>
              <a:buSzPts val="947"/>
              <a:buFont typeface="Calibri"/>
              <a:buAutoNum type="arabicPeriod"/>
            </a:pPr>
            <a:r>
              <a:rPr b="0" i="0" lang="en-US" sz="947" u="none" cap="none" strike="noStrike">
                <a:solidFill>
                  <a:srgbClr val="4DB5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Creates synthetic points along the lines connecting it to its neighbors.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6167555" y="1224355"/>
            <a:ext cx="5670698" cy="2311239"/>
          </a:xfrm>
          <a:custGeom>
            <a:rect b="b" l="l" r="r" t="t"/>
            <a:pathLst>
              <a:path extrusionOk="0" h="2311239" w="5670698">
                <a:moveTo>
                  <a:pt x="68736" y="0"/>
                </a:moveTo>
                <a:lnTo>
                  <a:pt x="5601961" y="0"/>
                </a:lnTo>
                <a:cubicBezTo>
                  <a:pt x="5639923" y="0"/>
                  <a:pt x="5670698" y="30774"/>
                  <a:pt x="5670698" y="68736"/>
                </a:cubicBezTo>
                <a:lnTo>
                  <a:pt x="5670698" y="2242503"/>
                </a:lnTo>
                <a:cubicBezTo>
                  <a:pt x="5670698" y="2280439"/>
                  <a:pt x="5639898" y="2311239"/>
                  <a:pt x="5601961" y="2311239"/>
                </a:cubicBezTo>
                <a:lnTo>
                  <a:pt x="68736" y="2311239"/>
                </a:lnTo>
                <a:cubicBezTo>
                  <a:pt x="30774" y="2311239"/>
                  <a:pt x="0" y="2280465"/>
                  <a:pt x="0" y="2242503"/>
                </a:cubicBezTo>
                <a:lnTo>
                  <a:pt x="0" y="68736"/>
                </a:lnTo>
                <a:cubicBezTo>
                  <a:pt x="0" y="30800"/>
                  <a:pt x="30800" y="0"/>
                  <a:pt x="68736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0"/>
          <p:cNvSpPr/>
          <p:nvPr/>
        </p:nvSpPr>
        <p:spPr>
          <a:xfrm>
            <a:off x="6270659" y="1366123"/>
            <a:ext cx="54645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8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Before vs. After SMOTE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pic>
        <p:nvPicPr>
          <p:cNvPr descr="preencoded.png" id="808" name="Google Shape;8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22" y="1675433"/>
            <a:ext cx="4794300" cy="171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09" name="Google Shape;8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22" y="1675433"/>
            <a:ext cx="4794300" cy="171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10" name="Google Shape;8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22" y="1682595"/>
            <a:ext cx="4794300" cy="171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11" name="Google Shape;811;p20"/>
          <p:cNvSpPr/>
          <p:nvPr/>
        </p:nvSpPr>
        <p:spPr>
          <a:xfrm>
            <a:off x="6167555" y="3681658"/>
            <a:ext cx="5670698" cy="2826757"/>
          </a:xfrm>
          <a:custGeom>
            <a:rect b="b" l="l" r="r" t="t"/>
            <a:pathLst>
              <a:path extrusionOk="0" h="2826757" w="5670698">
                <a:moveTo>
                  <a:pt x="68747" y="0"/>
                </a:moveTo>
                <a:lnTo>
                  <a:pt x="5601951" y="0"/>
                </a:lnTo>
                <a:cubicBezTo>
                  <a:pt x="5639919" y="0"/>
                  <a:pt x="5670698" y="30779"/>
                  <a:pt x="5670698" y="68747"/>
                </a:cubicBezTo>
                <a:lnTo>
                  <a:pt x="5670698" y="2758010"/>
                </a:lnTo>
                <a:cubicBezTo>
                  <a:pt x="5670698" y="2795978"/>
                  <a:pt x="5639919" y="2826757"/>
                  <a:pt x="5601951" y="2826757"/>
                </a:cubicBezTo>
                <a:lnTo>
                  <a:pt x="68747" y="2826757"/>
                </a:lnTo>
                <a:cubicBezTo>
                  <a:pt x="30779" y="2826757"/>
                  <a:pt x="0" y="2795978"/>
                  <a:pt x="0" y="2758010"/>
                </a:cubicBezTo>
                <a:lnTo>
                  <a:pt x="0" y="68747"/>
                </a:lnTo>
                <a:cubicBezTo>
                  <a:pt x="0" y="30804"/>
                  <a:pt x="30804" y="0"/>
                  <a:pt x="68747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0"/>
          <p:cNvSpPr/>
          <p:nvPr/>
        </p:nvSpPr>
        <p:spPr>
          <a:xfrm>
            <a:off x="6354430" y="3892161"/>
            <a:ext cx="193319" cy="171839"/>
          </a:xfrm>
          <a:custGeom>
            <a:rect b="b" l="l" r="r" t="t"/>
            <a:pathLst>
              <a:path extrusionOk="0" h="171839" w="193319">
                <a:moveTo>
                  <a:pt x="121093" y="403"/>
                </a:moveTo>
                <a:cubicBezTo>
                  <a:pt x="115387" y="-1242"/>
                  <a:pt x="109447" y="2081"/>
                  <a:pt x="107802" y="7786"/>
                </a:cubicBezTo>
                <a:lnTo>
                  <a:pt x="64842" y="158146"/>
                </a:lnTo>
                <a:cubicBezTo>
                  <a:pt x="63198" y="163851"/>
                  <a:pt x="66521" y="169792"/>
                  <a:pt x="72226" y="171437"/>
                </a:cubicBezTo>
                <a:cubicBezTo>
                  <a:pt x="77932" y="173081"/>
                  <a:pt x="83872" y="169758"/>
                  <a:pt x="85517" y="164053"/>
                </a:cubicBezTo>
                <a:lnTo>
                  <a:pt x="128477" y="13693"/>
                </a:lnTo>
                <a:cubicBezTo>
                  <a:pt x="130121" y="7988"/>
                  <a:pt x="126799" y="2047"/>
                  <a:pt x="121093" y="403"/>
                </a:cubicBezTo>
                <a:close/>
                <a:moveTo>
                  <a:pt x="142774" y="46081"/>
                </a:moveTo>
                <a:cubicBezTo>
                  <a:pt x="138579" y="50276"/>
                  <a:pt x="138579" y="57090"/>
                  <a:pt x="142774" y="61285"/>
                </a:cubicBezTo>
                <a:lnTo>
                  <a:pt x="167409" y="85920"/>
                </a:lnTo>
                <a:lnTo>
                  <a:pt x="142774" y="110554"/>
                </a:lnTo>
                <a:cubicBezTo>
                  <a:pt x="138579" y="114750"/>
                  <a:pt x="138579" y="121563"/>
                  <a:pt x="142774" y="125758"/>
                </a:cubicBezTo>
                <a:cubicBezTo>
                  <a:pt x="146970" y="129953"/>
                  <a:pt x="153783" y="129953"/>
                  <a:pt x="157978" y="125758"/>
                </a:cubicBezTo>
                <a:lnTo>
                  <a:pt x="190198" y="93538"/>
                </a:lnTo>
                <a:cubicBezTo>
                  <a:pt x="194393" y="89343"/>
                  <a:pt x="194393" y="82530"/>
                  <a:pt x="190198" y="78335"/>
                </a:cubicBezTo>
                <a:lnTo>
                  <a:pt x="157978" y="46115"/>
                </a:lnTo>
                <a:cubicBezTo>
                  <a:pt x="153783" y="41919"/>
                  <a:pt x="146970" y="41919"/>
                  <a:pt x="142774" y="46115"/>
                </a:cubicBezTo>
                <a:close/>
                <a:moveTo>
                  <a:pt x="50578" y="46081"/>
                </a:moveTo>
                <a:cubicBezTo>
                  <a:pt x="46383" y="41886"/>
                  <a:pt x="39570" y="41886"/>
                  <a:pt x="35375" y="46081"/>
                </a:cubicBezTo>
                <a:lnTo>
                  <a:pt x="3155" y="78301"/>
                </a:lnTo>
                <a:cubicBezTo>
                  <a:pt x="-1040" y="82496"/>
                  <a:pt x="-1040" y="89309"/>
                  <a:pt x="3155" y="93505"/>
                </a:cubicBezTo>
                <a:lnTo>
                  <a:pt x="35375" y="125725"/>
                </a:lnTo>
                <a:cubicBezTo>
                  <a:pt x="39570" y="129920"/>
                  <a:pt x="46383" y="129920"/>
                  <a:pt x="50578" y="125725"/>
                </a:cubicBezTo>
                <a:cubicBezTo>
                  <a:pt x="54774" y="121529"/>
                  <a:pt x="54774" y="114716"/>
                  <a:pt x="50578" y="110521"/>
                </a:cubicBezTo>
                <a:lnTo>
                  <a:pt x="25944" y="85920"/>
                </a:lnTo>
                <a:lnTo>
                  <a:pt x="50545" y="61285"/>
                </a:lnTo>
                <a:cubicBezTo>
                  <a:pt x="54740" y="57090"/>
                  <a:pt x="54740" y="50276"/>
                  <a:pt x="50545" y="4608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0"/>
          <p:cNvSpPr/>
          <p:nvPr/>
        </p:nvSpPr>
        <p:spPr>
          <a:xfrm>
            <a:off x="6558489" y="3857793"/>
            <a:ext cx="5189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3" u="none" cap="none" strike="noStrike">
                <a:solidFill>
                  <a:srgbClr val="4DB59A"/>
                </a:solidFill>
                <a:latin typeface="Liter"/>
                <a:ea typeface="Liter"/>
                <a:cs typeface="Liter"/>
                <a:sym typeface="Liter"/>
              </a:rPr>
              <a:t>SMOTE Implementation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6343690" y="4201471"/>
            <a:ext cx="5318427" cy="2130808"/>
          </a:xfrm>
          <a:custGeom>
            <a:rect b="b" l="l" r="r" t="t"/>
            <a:pathLst>
              <a:path extrusionOk="0" h="2130808" w="5318427">
                <a:moveTo>
                  <a:pt x="34370" y="0"/>
                </a:moveTo>
                <a:lnTo>
                  <a:pt x="5284057" y="0"/>
                </a:lnTo>
                <a:cubicBezTo>
                  <a:pt x="5303039" y="0"/>
                  <a:pt x="5318427" y="15388"/>
                  <a:pt x="5318427" y="34370"/>
                </a:cubicBezTo>
                <a:lnTo>
                  <a:pt x="5318427" y="2096438"/>
                </a:lnTo>
                <a:cubicBezTo>
                  <a:pt x="5318427" y="2115420"/>
                  <a:pt x="5303039" y="2130808"/>
                  <a:pt x="5284057" y="2130808"/>
                </a:cubicBezTo>
                <a:lnTo>
                  <a:pt x="34370" y="2130808"/>
                </a:lnTo>
                <a:cubicBezTo>
                  <a:pt x="15388" y="2130808"/>
                  <a:pt x="0" y="2115420"/>
                  <a:pt x="0" y="2096438"/>
                </a:cubicBezTo>
                <a:lnTo>
                  <a:pt x="0" y="34370"/>
                </a:lnTo>
                <a:cubicBezTo>
                  <a:pt x="0" y="15388"/>
                  <a:pt x="15388" y="0"/>
                  <a:pt x="3437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0"/>
          <p:cNvSpPr/>
          <p:nvPr/>
        </p:nvSpPr>
        <p:spPr>
          <a:xfrm>
            <a:off x="6446794" y="4304575"/>
            <a:ext cx="5163900" cy="19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from imblearn.over_sampling import SMOTE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from sklearn.metrics import classification_report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# Apply SMOTE to training data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smote = SMOTE(random_state=42)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X_balanced, y_balanced = smote.fit_resample(X_train, y_train)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# Check new distribution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print(f"Original: {y_train.value_counts()}")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print(f"Balanced: {y_balanced.value_counts()}")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# Train model on balanced data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model.fit(X_balanced, y_balanced)</a:t>
            </a:r>
            <a:endParaRPr b="0" i="0" sz="1600" u="none" cap="none" strike="noStrike">
              <a:solidFill>
                <a:srgbClr val="4DB59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4DB59A"/>
                </a:solidFill>
                <a:latin typeface="Arial"/>
                <a:ea typeface="Arial"/>
                <a:cs typeface="Arial"/>
                <a:sym typeface="Arial"/>
              </a:rPr>
              <a:t>predictions = model.predict(X_test)</a:t>
            </a:r>
            <a:endParaRPr b="0" i="0" sz="1600" u="none" cap="none" strike="noStrike">
              <a:solidFill>
                <a:srgbClr val="4DB59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1"/>
          <p:cNvSpPr/>
          <p:nvPr/>
        </p:nvSpPr>
        <p:spPr>
          <a:xfrm>
            <a:off x="364410" y="364410"/>
            <a:ext cx="1799557" cy="296927"/>
          </a:xfrm>
          <a:custGeom>
            <a:rect b="b" l="l" r="r" t="t"/>
            <a:pathLst>
              <a:path extrusionOk="0" h="296927" w="1799557">
                <a:moveTo>
                  <a:pt x="148463" y="0"/>
                </a:moveTo>
                <a:lnTo>
                  <a:pt x="1651094" y="0"/>
                </a:lnTo>
                <a:cubicBezTo>
                  <a:pt x="1733088" y="0"/>
                  <a:pt x="1799557" y="66469"/>
                  <a:pt x="1799557" y="148463"/>
                </a:cubicBezTo>
                <a:lnTo>
                  <a:pt x="1799557" y="148463"/>
                </a:lnTo>
                <a:cubicBezTo>
                  <a:pt x="1799557" y="230458"/>
                  <a:pt x="1733088" y="296927"/>
                  <a:pt x="1651094" y="296927"/>
                </a:cubicBezTo>
                <a:lnTo>
                  <a:pt x="148463" y="296927"/>
                </a:lnTo>
                <a:cubicBezTo>
                  <a:pt x="66524" y="296927"/>
                  <a:pt x="0" y="230403"/>
                  <a:pt x="0" y="148463"/>
                </a:cubicBezTo>
                <a:lnTo>
                  <a:pt x="0" y="148463"/>
                </a:lnTo>
                <a:cubicBezTo>
                  <a:pt x="0" y="66524"/>
                  <a:pt x="66524" y="0"/>
                  <a:pt x="148463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1"/>
          <p:cNvSpPr/>
          <p:nvPr/>
        </p:nvSpPr>
        <p:spPr>
          <a:xfrm>
            <a:off x="476883" y="449889"/>
            <a:ext cx="1635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2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OPTIMIZATION</a:t>
            </a:r>
            <a:endParaRPr b="0" i="0" sz="1600" u="none" cap="none" strike="noStrike"/>
          </a:p>
        </p:txBody>
      </p:sp>
      <p:sp>
        <p:nvSpPr>
          <p:cNvPr id="823" name="Google Shape;823;p21"/>
          <p:cNvSpPr/>
          <p:nvPr/>
        </p:nvSpPr>
        <p:spPr>
          <a:xfrm>
            <a:off x="359911" y="773810"/>
            <a:ext cx="1163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Threshold Optimization: Beyond the Default 0.5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24" name="Google Shape;824;p21"/>
          <p:cNvSpPr/>
          <p:nvPr/>
        </p:nvSpPr>
        <p:spPr>
          <a:xfrm>
            <a:off x="364410" y="1282185"/>
            <a:ext cx="5650610" cy="2600360"/>
          </a:xfrm>
          <a:custGeom>
            <a:rect b="b" l="l" r="r" t="t"/>
            <a:pathLst>
              <a:path extrusionOk="0" h="2600360" w="5650610">
                <a:moveTo>
                  <a:pt x="71978" y="0"/>
                </a:moveTo>
                <a:lnTo>
                  <a:pt x="5578632" y="0"/>
                </a:lnTo>
                <a:cubicBezTo>
                  <a:pt x="5618384" y="0"/>
                  <a:pt x="5650610" y="32226"/>
                  <a:pt x="5650610" y="71978"/>
                </a:cubicBezTo>
                <a:lnTo>
                  <a:pt x="5650610" y="2528382"/>
                </a:lnTo>
                <a:cubicBezTo>
                  <a:pt x="5650610" y="2568135"/>
                  <a:pt x="5618384" y="2600360"/>
                  <a:pt x="5578632" y="2600360"/>
                </a:cubicBezTo>
                <a:lnTo>
                  <a:pt x="71978" y="2600360"/>
                </a:lnTo>
                <a:cubicBezTo>
                  <a:pt x="32226" y="2600360"/>
                  <a:pt x="0" y="2568135"/>
                  <a:pt x="0" y="2528382"/>
                </a:cubicBezTo>
                <a:lnTo>
                  <a:pt x="0" y="71978"/>
                </a:lnTo>
                <a:cubicBezTo>
                  <a:pt x="0" y="32252"/>
                  <a:pt x="32252" y="0"/>
                  <a:pt x="71978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1"/>
          <p:cNvSpPr/>
          <p:nvPr/>
        </p:nvSpPr>
        <p:spPr>
          <a:xfrm>
            <a:off x="571359" y="1502630"/>
            <a:ext cx="179956" cy="179956"/>
          </a:xfrm>
          <a:custGeom>
            <a:rect b="b" l="l" r="r" t="t"/>
            <a:pathLst>
              <a:path extrusionOk="0" h="179956" w="179956">
                <a:moveTo>
                  <a:pt x="11247" y="22494"/>
                </a:moveTo>
                <a:cubicBezTo>
                  <a:pt x="5026" y="22494"/>
                  <a:pt x="0" y="27521"/>
                  <a:pt x="0" y="33742"/>
                </a:cubicBezTo>
                <a:cubicBezTo>
                  <a:pt x="0" y="39963"/>
                  <a:pt x="5026" y="44989"/>
                  <a:pt x="11247" y="44989"/>
                </a:cubicBezTo>
                <a:lnTo>
                  <a:pt x="41720" y="44989"/>
                </a:lnTo>
                <a:cubicBezTo>
                  <a:pt x="46043" y="54936"/>
                  <a:pt x="55955" y="61860"/>
                  <a:pt x="67483" y="61860"/>
                </a:cubicBezTo>
                <a:cubicBezTo>
                  <a:pt x="79012" y="61860"/>
                  <a:pt x="88923" y="54936"/>
                  <a:pt x="93247" y="44989"/>
                </a:cubicBezTo>
                <a:lnTo>
                  <a:pt x="168708" y="44989"/>
                </a:lnTo>
                <a:cubicBezTo>
                  <a:pt x="174930" y="44989"/>
                  <a:pt x="179956" y="39963"/>
                  <a:pt x="179956" y="33742"/>
                </a:cubicBezTo>
                <a:cubicBezTo>
                  <a:pt x="179956" y="27521"/>
                  <a:pt x="174930" y="22494"/>
                  <a:pt x="168708" y="22494"/>
                </a:cubicBezTo>
                <a:lnTo>
                  <a:pt x="93247" y="22494"/>
                </a:lnTo>
                <a:cubicBezTo>
                  <a:pt x="88923" y="12548"/>
                  <a:pt x="79012" y="5624"/>
                  <a:pt x="67483" y="5624"/>
                </a:cubicBezTo>
                <a:cubicBezTo>
                  <a:pt x="55955" y="5624"/>
                  <a:pt x="46043" y="12548"/>
                  <a:pt x="41720" y="22494"/>
                </a:cubicBezTo>
                <a:lnTo>
                  <a:pt x="11247" y="22494"/>
                </a:lnTo>
                <a:close/>
                <a:moveTo>
                  <a:pt x="11247" y="78731"/>
                </a:moveTo>
                <a:cubicBezTo>
                  <a:pt x="5026" y="78731"/>
                  <a:pt x="0" y="83757"/>
                  <a:pt x="0" y="89978"/>
                </a:cubicBezTo>
                <a:cubicBezTo>
                  <a:pt x="0" y="96199"/>
                  <a:pt x="5026" y="101225"/>
                  <a:pt x="11247" y="101225"/>
                </a:cubicBezTo>
                <a:lnTo>
                  <a:pt x="97956" y="101225"/>
                </a:lnTo>
                <a:cubicBezTo>
                  <a:pt x="102280" y="111172"/>
                  <a:pt x="112191" y="118096"/>
                  <a:pt x="123720" y="118096"/>
                </a:cubicBezTo>
                <a:cubicBezTo>
                  <a:pt x="135248" y="118096"/>
                  <a:pt x="145160" y="111172"/>
                  <a:pt x="149483" y="101225"/>
                </a:cubicBezTo>
                <a:lnTo>
                  <a:pt x="168708" y="101225"/>
                </a:lnTo>
                <a:cubicBezTo>
                  <a:pt x="174930" y="101225"/>
                  <a:pt x="179956" y="96199"/>
                  <a:pt x="179956" y="89978"/>
                </a:cubicBezTo>
                <a:cubicBezTo>
                  <a:pt x="179956" y="83757"/>
                  <a:pt x="174930" y="78731"/>
                  <a:pt x="168708" y="78731"/>
                </a:cubicBezTo>
                <a:lnTo>
                  <a:pt x="149483" y="78731"/>
                </a:lnTo>
                <a:cubicBezTo>
                  <a:pt x="145160" y="68784"/>
                  <a:pt x="135248" y="61860"/>
                  <a:pt x="123720" y="61860"/>
                </a:cubicBezTo>
                <a:cubicBezTo>
                  <a:pt x="112191" y="61860"/>
                  <a:pt x="102280" y="68784"/>
                  <a:pt x="97956" y="78731"/>
                </a:cubicBezTo>
                <a:lnTo>
                  <a:pt x="11247" y="78731"/>
                </a:lnTo>
                <a:close/>
                <a:moveTo>
                  <a:pt x="11247" y="134967"/>
                </a:moveTo>
                <a:cubicBezTo>
                  <a:pt x="5026" y="134967"/>
                  <a:pt x="0" y="139993"/>
                  <a:pt x="0" y="146214"/>
                </a:cubicBezTo>
                <a:cubicBezTo>
                  <a:pt x="0" y="152435"/>
                  <a:pt x="5026" y="157461"/>
                  <a:pt x="11247" y="157461"/>
                </a:cubicBezTo>
                <a:lnTo>
                  <a:pt x="30473" y="157461"/>
                </a:lnTo>
                <a:cubicBezTo>
                  <a:pt x="34796" y="167408"/>
                  <a:pt x="44708" y="174332"/>
                  <a:pt x="56236" y="174332"/>
                </a:cubicBezTo>
                <a:cubicBezTo>
                  <a:pt x="67765" y="174332"/>
                  <a:pt x="77676" y="167408"/>
                  <a:pt x="81999" y="157461"/>
                </a:cubicBezTo>
                <a:lnTo>
                  <a:pt x="168708" y="157461"/>
                </a:lnTo>
                <a:cubicBezTo>
                  <a:pt x="174930" y="157461"/>
                  <a:pt x="179956" y="152435"/>
                  <a:pt x="179956" y="146214"/>
                </a:cubicBezTo>
                <a:cubicBezTo>
                  <a:pt x="179956" y="139993"/>
                  <a:pt x="174930" y="134967"/>
                  <a:pt x="168708" y="134967"/>
                </a:cubicBezTo>
                <a:lnTo>
                  <a:pt x="81999" y="134967"/>
                </a:lnTo>
                <a:cubicBezTo>
                  <a:pt x="77676" y="125020"/>
                  <a:pt x="67765" y="118096"/>
                  <a:pt x="56236" y="118096"/>
                </a:cubicBezTo>
                <a:cubicBezTo>
                  <a:pt x="44708" y="118096"/>
                  <a:pt x="34796" y="125020"/>
                  <a:pt x="30473" y="134967"/>
                </a:cubicBezTo>
                <a:lnTo>
                  <a:pt x="11247" y="134967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1"/>
          <p:cNvSpPr/>
          <p:nvPr/>
        </p:nvSpPr>
        <p:spPr>
          <a:xfrm>
            <a:off x="773810" y="1466639"/>
            <a:ext cx="5146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7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Classification Threshold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27" name="Google Shape;827;p21"/>
          <p:cNvSpPr/>
          <p:nvPr/>
        </p:nvSpPr>
        <p:spPr>
          <a:xfrm>
            <a:off x="548865" y="1826551"/>
            <a:ext cx="5353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Models output probabilities. The </a:t>
            </a:r>
            <a:r>
              <a:rPr b="0" i="0" lang="en-US" sz="1134" u="none" cap="none" strike="noStrike"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threshold</a:t>
            </a:r>
            <a:r>
              <a:rPr b="0" i="0" lang="en-US" sz="1134" u="none" cap="none" strike="noStrike">
                <a:solidFill>
                  <a:srgbClr val="3274B9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determines when to predict the positive class (churn).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28" name="Google Shape;828;p21"/>
          <p:cNvSpPr/>
          <p:nvPr/>
        </p:nvSpPr>
        <p:spPr>
          <a:xfrm>
            <a:off x="566861" y="2402409"/>
            <a:ext cx="5263705" cy="611849"/>
          </a:xfrm>
          <a:custGeom>
            <a:rect b="b" l="l" r="r" t="t"/>
            <a:pathLst>
              <a:path extrusionOk="0" h="611849" w="5263705">
                <a:moveTo>
                  <a:pt x="35989" y="0"/>
                </a:moveTo>
                <a:lnTo>
                  <a:pt x="5227716" y="0"/>
                </a:lnTo>
                <a:cubicBezTo>
                  <a:pt x="5247592" y="0"/>
                  <a:pt x="5263705" y="16113"/>
                  <a:pt x="5263705" y="35989"/>
                </a:cubicBezTo>
                <a:lnTo>
                  <a:pt x="5263705" y="575860"/>
                </a:lnTo>
                <a:cubicBezTo>
                  <a:pt x="5263705" y="595737"/>
                  <a:pt x="5247592" y="611849"/>
                  <a:pt x="5227716" y="611849"/>
                </a:cubicBezTo>
                <a:lnTo>
                  <a:pt x="35989" y="611849"/>
                </a:lnTo>
                <a:cubicBezTo>
                  <a:pt x="16113" y="611849"/>
                  <a:pt x="0" y="595737"/>
                  <a:pt x="0" y="575860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1"/>
          <p:cNvSpPr/>
          <p:nvPr/>
        </p:nvSpPr>
        <p:spPr>
          <a:xfrm>
            <a:off x="566861" y="2402409"/>
            <a:ext cx="35991" cy="611849"/>
          </a:xfrm>
          <a:custGeom>
            <a:rect b="b" l="l" r="r" t="t"/>
            <a:pathLst>
              <a:path extrusionOk="0" h="611849" w="35991">
                <a:moveTo>
                  <a:pt x="35991" y="0"/>
                </a:moveTo>
                <a:lnTo>
                  <a:pt x="35991" y="0"/>
                </a:lnTo>
                <a:lnTo>
                  <a:pt x="35991" y="611849"/>
                </a:lnTo>
                <a:lnTo>
                  <a:pt x="35991" y="611849"/>
                </a:lnTo>
                <a:cubicBezTo>
                  <a:pt x="16114" y="611849"/>
                  <a:pt x="0" y="595736"/>
                  <a:pt x="0" y="57585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1"/>
          <p:cNvSpPr/>
          <p:nvPr/>
        </p:nvSpPr>
        <p:spPr>
          <a:xfrm>
            <a:off x="692830" y="2510382"/>
            <a:ext cx="5101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Default: 0.5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692830" y="2726329"/>
            <a:ext cx="5092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 churn if probability ≥ 50%</a:t>
            </a:r>
            <a:endParaRPr b="0" i="0" sz="1600" u="none" cap="none" strike="noStrike"/>
          </a:p>
        </p:txBody>
      </p:sp>
      <p:sp>
        <p:nvSpPr>
          <p:cNvPr id="832" name="Google Shape;832;p21"/>
          <p:cNvSpPr/>
          <p:nvPr/>
        </p:nvSpPr>
        <p:spPr>
          <a:xfrm>
            <a:off x="566861" y="3086241"/>
            <a:ext cx="5263705" cy="611849"/>
          </a:xfrm>
          <a:custGeom>
            <a:rect b="b" l="l" r="r" t="t"/>
            <a:pathLst>
              <a:path extrusionOk="0" h="611849" w="5263705">
                <a:moveTo>
                  <a:pt x="35989" y="0"/>
                </a:moveTo>
                <a:lnTo>
                  <a:pt x="5227716" y="0"/>
                </a:lnTo>
                <a:cubicBezTo>
                  <a:pt x="5247592" y="0"/>
                  <a:pt x="5263705" y="16113"/>
                  <a:pt x="5263705" y="35989"/>
                </a:cubicBezTo>
                <a:lnTo>
                  <a:pt x="5263705" y="575860"/>
                </a:lnTo>
                <a:cubicBezTo>
                  <a:pt x="5263705" y="595737"/>
                  <a:pt x="5247592" y="611849"/>
                  <a:pt x="5227716" y="611849"/>
                </a:cubicBezTo>
                <a:lnTo>
                  <a:pt x="35989" y="611849"/>
                </a:lnTo>
                <a:cubicBezTo>
                  <a:pt x="16113" y="611849"/>
                  <a:pt x="0" y="595737"/>
                  <a:pt x="0" y="575860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1"/>
          <p:cNvSpPr/>
          <p:nvPr/>
        </p:nvSpPr>
        <p:spPr>
          <a:xfrm>
            <a:off x="566861" y="3086241"/>
            <a:ext cx="35991" cy="611849"/>
          </a:xfrm>
          <a:custGeom>
            <a:rect b="b" l="l" r="r" t="t"/>
            <a:pathLst>
              <a:path extrusionOk="0" h="611849" w="35991">
                <a:moveTo>
                  <a:pt x="35991" y="0"/>
                </a:moveTo>
                <a:lnTo>
                  <a:pt x="35991" y="0"/>
                </a:lnTo>
                <a:lnTo>
                  <a:pt x="35991" y="611849"/>
                </a:lnTo>
                <a:lnTo>
                  <a:pt x="35991" y="611849"/>
                </a:lnTo>
                <a:cubicBezTo>
                  <a:pt x="16114" y="611849"/>
                  <a:pt x="0" y="595736"/>
                  <a:pt x="0" y="57585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1"/>
          <p:cNvSpPr/>
          <p:nvPr/>
        </p:nvSpPr>
        <p:spPr>
          <a:xfrm>
            <a:off x="692830" y="3194214"/>
            <a:ext cx="5101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Custom: 0.2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692830" y="3410161"/>
            <a:ext cx="5092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 churn if probability ≥ 20% (higher recall)</a:t>
            </a:r>
            <a:endParaRPr b="0" i="0" sz="1600" u="none" cap="none" strike="noStrike"/>
          </a:p>
        </p:txBody>
      </p:sp>
      <p:sp>
        <p:nvSpPr>
          <p:cNvPr id="836" name="Google Shape;836;p21"/>
          <p:cNvSpPr/>
          <p:nvPr/>
        </p:nvSpPr>
        <p:spPr>
          <a:xfrm>
            <a:off x="364410" y="4035507"/>
            <a:ext cx="5650610" cy="2096484"/>
          </a:xfrm>
          <a:custGeom>
            <a:rect b="b" l="l" r="r" t="t"/>
            <a:pathLst>
              <a:path extrusionOk="0" h="2096484" w="5650610">
                <a:moveTo>
                  <a:pt x="71972" y="0"/>
                </a:moveTo>
                <a:lnTo>
                  <a:pt x="5578637" y="0"/>
                </a:lnTo>
                <a:cubicBezTo>
                  <a:pt x="5618386" y="0"/>
                  <a:pt x="5650610" y="32223"/>
                  <a:pt x="5650610" y="71972"/>
                </a:cubicBezTo>
                <a:lnTo>
                  <a:pt x="5650610" y="2024512"/>
                </a:lnTo>
                <a:cubicBezTo>
                  <a:pt x="5650610" y="2064261"/>
                  <a:pt x="5618386" y="2096484"/>
                  <a:pt x="5578637" y="2096484"/>
                </a:cubicBezTo>
                <a:lnTo>
                  <a:pt x="71972" y="2096484"/>
                </a:lnTo>
                <a:cubicBezTo>
                  <a:pt x="32223" y="2096484"/>
                  <a:pt x="0" y="2064261"/>
                  <a:pt x="0" y="2024512"/>
                </a:cubicBezTo>
                <a:lnTo>
                  <a:pt x="0" y="71972"/>
                </a:lnTo>
                <a:cubicBezTo>
                  <a:pt x="0" y="32250"/>
                  <a:pt x="32250" y="0"/>
                  <a:pt x="71972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1"/>
          <p:cNvSpPr/>
          <p:nvPr/>
        </p:nvSpPr>
        <p:spPr>
          <a:xfrm>
            <a:off x="571359" y="4255953"/>
            <a:ext cx="179956" cy="179956"/>
          </a:xfrm>
          <a:custGeom>
            <a:rect b="b" l="l" r="r" t="t"/>
            <a:pathLst>
              <a:path extrusionOk="0" h="179956" w="179956">
                <a:moveTo>
                  <a:pt x="22494" y="22494"/>
                </a:moveTo>
                <a:cubicBezTo>
                  <a:pt x="22494" y="16273"/>
                  <a:pt x="17468" y="11247"/>
                  <a:pt x="11247" y="11247"/>
                </a:cubicBezTo>
                <a:cubicBezTo>
                  <a:pt x="5026" y="11247"/>
                  <a:pt x="0" y="16273"/>
                  <a:pt x="0" y="22494"/>
                </a:cubicBezTo>
                <a:lnTo>
                  <a:pt x="0" y="140590"/>
                </a:lnTo>
                <a:cubicBezTo>
                  <a:pt x="0" y="156126"/>
                  <a:pt x="12583" y="168708"/>
                  <a:pt x="28118" y="168708"/>
                </a:cubicBezTo>
                <a:lnTo>
                  <a:pt x="168708" y="168708"/>
                </a:lnTo>
                <a:cubicBezTo>
                  <a:pt x="174930" y="168708"/>
                  <a:pt x="179956" y="163682"/>
                  <a:pt x="179956" y="157461"/>
                </a:cubicBezTo>
                <a:cubicBezTo>
                  <a:pt x="179956" y="151240"/>
                  <a:pt x="174930" y="146214"/>
                  <a:pt x="168708" y="146214"/>
                </a:cubicBezTo>
                <a:lnTo>
                  <a:pt x="28118" y="146214"/>
                </a:lnTo>
                <a:cubicBezTo>
                  <a:pt x="25025" y="146214"/>
                  <a:pt x="22494" y="143683"/>
                  <a:pt x="22494" y="140590"/>
                </a:cubicBezTo>
                <a:lnTo>
                  <a:pt x="22494" y="22494"/>
                </a:lnTo>
                <a:close/>
                <a:moveTo>
                  <a:pt x="165405" y="52932"/>
                </a:moveTo>
                <a:cubicBezTo>
                  <a:pt x="169798" y="48539"/>
                  <a:pt x="169798" y="41404"/>
                  <a:pt x="165405" y="37010"/>
                </a:cubicBezTo>
                <a:cubicBezTo>
                  <a:pt x="161011" y="32617"/>
                  <a:pt x="153876" y="32617"/>
                  <a:pt x="149483" y="37010"/>
                </a:cubicBezTo>
                <a:lnTo>
                  <a:pt x="112472" y="74056"/>
                </a:lnTo>
                <a:lnTo>
                  <a:pt x="92298" y="53916"/>
                </a:lnTo>
                <a:cubicBezTo>
                  <a:pt x="87904" y="49523"/>
                  <a:pt x="80769" y="49523"/>
                  <a:pt x="76376" y="53916"/>
                </a:cubicBezTo>
                <a:lnTo>
                  <a:pt x="42634" y="87658"/>
                </a:lnTo>
                <a:cubicBezTo>
                  <a:pt x="38241" y="92052"/>
                  <a:pt x="38241" y="99187"/>
                  <a:pt x="42634" y="103580"/>
                </a:cubicBezTo>
                <a:cubicBezTo>
                  <a:pt x="47027" y="107973"/>
                  <a:pt x="54162" y="107973"/>
                  <a:pt x="58556" y="103580"/>
                </a:cubicBezTo>
                <a:lnTo>
                  <a:pt x="84354" y="77782"/>
                </a:lnTo>
                <a:lnTo>
                  <a:pt x="104529" y="97956"/>
                </a:lnTo>
                <a:cubicBezTo>
                  <a:pt x="108922" y="102350"/>
                  <a:pt x="116057" y="102350"/>
                  <a:pt x="120451" y="97956"/>
                </a:cubicBezTo>
                <a:lnTo>
                  <a:pt x="165440" y="52967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1"/>
          <p:cNvSpPr/>
          <p:nvPr/>
        </p:nvSpPr>
        <p:spPr>
          <a:xfrm>
            <a:off x="773810" y="4219962"/>
            <a:ext cx="5146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7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Business-Driven Selection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548865" y="4579873"/>
            <a:ext cx="5281700" cy="647841"/>
          </a:xfrm>
          <a:custGeom>
            <a:rect b="b" l="l" r="r" t="t"/>
            <a:pathLst>
              <a:path extrusionOk="0" h="647841" w="5281700">
                <a:moveTo>
                  <a:pt x="35994" y="0"/>
                </a:moveTo>
                <a:lnTo>
                  <a:pt x="5245706" y="0"/>
                </a:lnTo>
                <a:cubicBezTo>
                  <a:pt x="5265585" y="0"/>
                  <a:pt x="5281700" y="16115"/>
                  <a:pt x="5281700" y="35994"/>
                </a:cubicBezTo>
                <a:lnTo>
                  <a:pt x="5281700" y="611847"/>
                </a:lnTo>
                <a:cubicBezTo>
                  <a:pt x="5281700" y="631726"/>
                  <a:pt x="5265585" y="647841"/>
                  <a:pt x="5245706" y="647841"/>
                </a:cubicBezTo>
                <a:lnTo>
                  <a:pt x="35994" y="647841"/>
                </a:lnTo>
                <a:cubicBezTo>
                  <a:pt x="16115" y="647841"/>
                  <a:pt x="0" y="631726"/>
                  <a:pt x="0" y="611847"/>
                </a:cubicBezTo>
                <a:lnTo>
                  <a:pt x="0" y="35994"/>
                </a:lnTo>
                <a:cubicBezTo>
                  <a:pt x="0" y="16115"/>
                  <a:pt x="16115" y="0"/>
                  <a:pt x="35994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1"/>
          <p:cNvSpPr/>
          <p:nvPr/>
        </p:nvSpPr>
        <p:spPr>
          <a:xfrm>
            <a:off x="656838" y="4687846"/>
            <a:ext cx="5137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Retention Cost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656838" y="4939785"/>
            <a:ext cx="512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lower threshold (e.g., 0.2) to catch more churners.</a:t>
            </a:r>
            <a:endParaRPr b="0" i="0" sz="1600" u="none" cap="none" strike="noStrike"/>
          </a:p>
        </p:txBody>
      </p:sp>
      <p:sp>
        <p:nvSpPr>
          <p:cNvPr id="842" name="Google Shape;842;p21"/>
          <p:cNvSpPr/>
          <p:nvPr/>
        </p:nvSpPr>
        <p:spPr>
          <a:xfrm>
            <a:off x="548865" y="5299696"/>
            <a:ext cx="5281700" cy="647841"/>
          </a:xfrm>
          <a:custGeom>
            <a:rect b="b" l="l" r="r" t="t"/>
            <a:pathLst>
              <a:path extrusionOk="0" h="647841" w="5281700">
                <a:moveTo>
                  <a:pt x="35994" y="0"/>
                </a:moveTo>
                <a:lnTo>
                  <a:pt x="5245706" y="0"/>
                </a:lnTo>
                <a:cubicBezTo>
                  <a:pt x="5265585" y="0"/>
                  <a:pt x="5281700" y="16115"/>
                  <a:pt x="5281700" y="35994"/>
                </a:cubicBezTo>
                <a:lnTo>
                  <a:pt x="5281700" y="611847"/>
                </a:lnTo>
                <a:cubicBezTo>
                  <a:pt x="5281700" y="631726"/>
                  <a:pt x="5265585" y="647841"/>
                  <a:pt x="5245706" y="647841"/>
                </a:cubicBezTo>
                <a:lnTo>
                  <a:pt x="35994" y="647841"/>
                </a:lnTo>
                <a:cubicBezTo>
                  <a:pt x="16115" y="647841"/>
                  <a:pt x="0" y="631726"/>
                  <a:pt x="0" y="611847"/>
                </a:cubicBezTo>
                <a:lnTo>
                  <a:pt x="0" y="35994"/>
                </a:lnTo>
                <a:cubicBezTo>
                  <a:pt x="0" y="16115"/>
                  <a:pt x="16115" y="0"/>
                  <a:pt x="35994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1"/>
          <p:cNvSpPr/>
          <p:nvPr/>
        </p:nvSpPr>
        <p:spPr>
          <a:xfrm>
            <a:off x="656838" y="5407669"/>
            <a:ext cx="5137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Retention Cost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656838" y="5659607"/>
            <a:ext cx="5128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higher threshold (e.g., 0.7) to focus on high-confidence cases.</a:t>
            </a:r>
            <a:endParaRPr b="0" i="0" sz="1600" u="none" cap="none" strike="noStrike"/>
          </a:p>
        </p:txBody>
      </p:sp>
      <p:sp>
        <p:nvSpPr>
          <p:cNvPr id="845" name="Google Shape;845;p21"/>
          <p:cNvSpPr/>
          <p:nvPr/>
        </p:nvSpPr>
        <p:spPr>
          <a:xfrm>
            <a:off x="6170935" y="1282185"/>
            <a:ext cx="5650610" cy="2780316"/>
          </a:xfrm>
          <a:custGeom>
            <a:rect b="b" l="l" r="r" t="t"/>
            <a:pathLst>
              <a:path extrusionOk="0" h="2780316" w="5650610">
                <a:moveTo>
                  <a:pt x="71982" y="0"/>
                </a:moveTo>
                <a:lnTo>
                  <a:pt x="5578627" y="0"/>
                </a:lnTo>
                <a:cubicBezTo>
                  <a:pt x="5618382" y="0"/>
                  <a:pt x="5650610" y="32228"/>
                  <a:pt x="5650610" y="71982"/>
                </a:cubicBezTo>
                <a:lnTo>
                  <a:pt x="5650610" y="2708333"/>
                </a:lnTo>
                <a:cubicBezTo>
                  <a:pt x="5650610" y="2748088"/>
                  <a:pt x="5618382" y="2780316"/>
                  <a:pt x="5578627" y="2780316"/>
                </a:cubicBezTo>
                <a:lnTo>
                  <a:pt x="71982" y="2780316"/>
                </a:lnTo>
                <a:cubicBezTo>
                  <a:pt x="32228" y="2780316"/>
                  <a:pt x="0" y="2748088"/>
                  <a:pt x="0" y="2708333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1"/>
          <p:cNvSpPr/>
          <p:nvPr/>
        </p:nvSpPr>
        <p:spPr>
          <a:xfrm>
            <a:off x="6278908" y="1430648"/>
            <a:ext cx="5434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Precision-Recall Tradeoff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pic>
        <p:nvPicPr>
          <p:cNvPr descr="preencoded.png" id="847" name="Google Shape;8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398" y="1754568"/>
            <a:ext cx="5020800" cy="215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48" name="Google Shape;8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9398" y="1754568"/>
            <a:ext cx="5020800" cy="215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49" name="Google Shape;8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398" y="1754568"/>
            <a:ext cx="5020800" cy="215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50" name="Google Shape;850;p21"/>
          <p:cNvSpPr/>
          <p:nvPr/>
        </p:nvSpPr>
        <p:spPr>
          <a:xfrm>
            <a:off x="6170935" y="4215463"/>
            <a:ext cx="5650610" cy="2276440"/>
          </a:xfrm>
          <a:custGeom>
            <a:rect b="b" l="l" r="r" t="t"/>
            <a:pathLst>
              <a:path extrusionOk="0" h="2276440" w="5650610">
                <a:moveTo>
                  <a:pt x="71981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1"/>
                </a:cubicBezTo>
                <a:lnTo>
                  <a:pt x="5650610" y="2204459"/>
                </a:lnTo>
                <a:cubicBezTo>
                  <a:pt x="5650610" y="2244213"/>
                  <a:pt x="5618383" y="2276440"/>
                  <a:pt x="5578629" y="2276440"/>
                </a:cubicBezTo>
                <a:lnTo>
                  <a:pt x="71981" y="2276440"/>
                </a:lnTo>
                <a:cubicBezTo>
                  <a:pt x="32227" y="2276440"/>
                  <a:pt x="0" y="2244213"/>
                  <a:pt x="0" y="2204459"/>
                </a:cubicBezTo>
                <a:lnTo>
                  <a:pt x="0" y="71981"/>
                </a:lnTo>
                <a:cubicBezTo>
                  <a:pt x="0" y="32254"/>
                  <a:pt x="32254" y="0"/>
                  <a:pt x="71981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1"/>
          <p:cNvSpPr/>
          <p:nvPr/>
        </p:nvSpPr>
        <p:spPr>
          <a:xfrm>
            <a:off x="6331770" y="4408915"/>
            <a:ext cx="182205" cy="161960"/>
          </a:xfrm>
          <a:custGeom>
            <a:rect b="b" l="l" r="r" t="t"/>
            <a:pathLst>
              <a:path extrusionOk="0" h="161960" w="182205">
                <a:moveTo>
                  <a:pt x="114131" y="380"/>
                </a:moveTo>
                <a:cubicBezTo>
                  <a:pt x="108754" y="-1170"/>
                  <a:pt x="103155" y="1961"/>
                  <a:pt x="101605" y="7339"/>
                </a:cubicBezTo>
                <a:lnTo>
                  <a:pt x="61115" y="149054"/>
                </a:lnTo>
                <a:cubicBezTo>
                  <a:pt x="59565" y="154432"/>
                  <a:pt x="62696" y="160031"/>
                  <a:pt x="68074" y="161581"/>
                </a:cubicBezTo>
                <a:cubicBezTo>
                  <a:pt x="73451" y="163131"/>
                  <a:pt x="79050" y="159999"/>
                  <a:pt x="80600" y="154621"/>
                </a:cubicBezTo>
                <a:lnTo>
                  <a:pt x="121091" y="12906"/>
                </a:lnTo>
                <a:cubicBezTo>
                  <a:pt x="122641" y="7529"/>
                  <a:pt x="119509" y="1930"/>
                  <a:pt x="114131" y="380"/>
                </a:cubicBezTo>
                <a:close/>
                <a:moveTo>
                  <a:pt x="134566" y="43432"/>
                </a:moveTo>
                <a:cubicBezTo>
                  <a:pt x="130612" y="47386"/>
                  <a:pt x="130612" y="53807"/>
                  <a:pt x="134566" y="57762"/>
                </a:cubicBezTo>
                <a:lnTo>
                  <a:pt x="157785" y="80980"/>
                </a:lnTo>
                <a:lnTo>
                  <a:pt x="134566" y="104199"/>
                </a:lnTo>
                <a:cubicBezTo>
                  <a:pt x="130612" y="108153"/>
                  <a:pt x="130612" y="114574"/>
                  <a:pt x="134566" y="118528"/>
                </a:cubicBezTo>
                <a:cubicBezTo>
                  <a:pt x="138520" y="122482"/>
                  <a:pt x="144942" y="122482"/>
                  <a:pt x="148896" y="118528"/>
                </a:cubicBezTo>
                <a:lnTo>
                  <a:pt x="179263" y="88161"/>
                </a:lnTo>
                <a:cubicBezTo>
                  <a:pt x="183217" y="84207"/>
                  <a:pt x="183217" y="77785"/>
                  <a:pt x="179263" y="73831"/>
                </a:cubicBezTo>
                <a:lnTo>
                  <a:pt x="148896" y="43464"/>
                </a:lnTo>
                <a:cubicBezTo>
                  <a:pt x="144942" y="39509"/>
                  <a:pt x="138520" y="39509"/>
                  <a:pt x="134566" y="43464"/>
                </a:cubicBezTo>
                <a:close/>
                <a:moveTo>
                  <a:pt x="47671" y="43432"/>
                </a:moveTo>
                <a:cubicBezTo>
                  <a:pt x="43717" y="39478"/>
                  <a:pt x="37295" y="39478"/>
                  <a:pt x="33341" y="43432"/>
                </a:cubicBezTo>
                <a:lnTo>
                  <a:pt x="2973" y="73799"/>
                </a:lnTo>
                <a:cubicBezTo>
                  <a:pt x="-981" y="77754"/>
                  <a:pt x="-981" y="84175"/>
                  <a:pt x="2973" y="88129"/>
                </a:cubicBezTo>
                <a:lnTo>
                  <a:pt x="33341" y="118497"/>
                </a:lnTo>
                <a:cubicBezTo>
                  <a:pt x="37295" y="122451"/>
                  <a:pt x="43717" y="122451"/>
                  <a:pt x="47671" y="118497"/>
                </a:cubicBezTo>
                <a:cubicBezTo>
                  <a:pt x="51625" y="114543"/>
                  <a:pt x="51625" y="108121"/>
                  <a:pt x="47671" y="104167"/>
                </a:cubicBezTo>
                <a:lnTo>
                  <a:pt x="24452" y="80980"/>
                </a:lnTo>
                <a:lnTo>
                  <a:pt x="47639" y="57762"/>
                </a:lnTo>
                <a:cubicBezTo>
                  <a:pt x="51593" y="53807"/>
                  <a:pt x="51593" y="47386"/>
                  <a:pt x="47639" y="43432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1"/>
          <p:cNvSpPr/>
          <p:nvPr/>
        </p:nvSpPr>
        <p:spPr>
          <a:xfrm>
            <a:off x="6526347" y="4363926"/>
            <a:ext cx="5227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Finding Optimal Threshold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853" name="Google Shape;853;p21"/>
          <p:cNvSpPr/>
          <p:nvPr/>
        </p:nvSpPr>
        <p:spPr>
          <a:xfrm>
            <a:off x="6319398" y="4687846"/>
            <a:ext cx="5353683" cy="1655593"/>
          </a:xfrm>
          <a:custGeom>
            <a:rect b="b" l="l" r="r" t="t"/>
            <a:pathLst>
              <a:path extrusionOk="0" h="1655593" w="5353683">
                <a:moveTo>
                  <a:pt x="35993" y="0"/>
                </a:moveTo>
                <a:lnTo>
                  <a:pt x="5317690" y="0"/>
                </a:lnTo>
                <a:cubicBezTo>
                  <a:pt x="5337568" y="0"/>
                  <a:pt x="5353683" y="16114"/>
                  <a:pt x="5353683" y="35993"/>
                </a:cubicBezTo>
                <a:lnTo>
                  <a:pt x="5353683" y="1619600"/>
                </a:lnTo>
                <a:cubicBezTo>
                  <a:pt x="5353683" y="1639478"/>
                  <a:pt x="5337568" y="1655593"/>
                  <a:pt x="5317690" y="1655593"/>
                </a:cubicBezTo>
                <a:lnTo>
                  <a:pt x="35993" y="1655593"/>
                </a:lnTo>
                <a:cubicBezTo>
                  <a:pt x="16114" y="1655593"/>
                  <a:pt x="0" y="1639478"/>
                  <a:pt x="0" y="1619600"/>
                </a:cubicBezTo>
                <a:lnTo>
                  <a:pt x="0" y="35993"/>
                </a:lnTo>
                <a:cubicBezTo>
                  <a:pt x="0" y="16114"/>
                  <a:pt x="16114" y="0"/>
                  <a:pt x="3599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1"/>
          <p:cNvSpPr/>
          <p:nvPr/>
        </p:nvSpPr>
        <p:spPr>
          <a:xfrm>
            <a:off x="6427372" y="4795820"/>
            <a:ext cx="51918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from sklearn.metrics import precision_recall_curve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# Get probability scores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y_scores = model.predict_proba(X_test)[:, 1]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# Calculate precision-recall for all thresholds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precision, recall, thresholds = precision_recall_curve(y_test, y_scores)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# Find threshold that maximizes F1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f1 = 2 * (precision * recall) / (precision + recall)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optimal_idx = np.argmax(f1)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optimal_threshold = thresholds[optimal_idx]</a:t>
            </a:r>
            <a:endParaRPr b="0" i="0" sz="1600" u="none" cap="none" strike="noStrike">
              <a:solidFill>
                <a:srgbClr val="3274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3274B9"/>
                </a:solidFill>
                <a:latin typeface="Arial"/>
                <a:ea typeface="Arial"/>
                <a:cs typeface="Arial"/>
                <a:sym typeface="Arial"/>
              </a:rPr>
              <a:t>print(f"Optimal threshold: {optimal_threshold:.3f}")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2"/>
          <p:cNvSpPr/>
          <p:nvPr/>
        </p:nvSpPr>
        <p:spPr>
          <a:xfrm>
            <a:off x="385763" y="385763"/>
            <a:ext cx="1857375" cy="314325"/>
          </a:xfrm>
          <a:custGeom>
            <a:rect b="b" l="l" r="r" t="t"/>
            <a:pathLst>
              <a:path extrusionOk="0" h="314325" w="1857375">
                <a:moveTo>
                  <a:pt x="157163" y="0"/>
                </a:moveTo>
                <a:lnTo>
                  <a:pt x="1700213" y="0"/>
                </a:lnTo>
                <a:cubicBezTo>
                  <a:pt x="1786953" y="0"/>
                  <a:pt x="1857375" y="70422"/>
                  <a:pt x="1857375" y="157163"/>
                </a:cubicBezTo>
                <a:lnTo>
                  <a:pt x="1857375" y="157163"/>
                </a:lnTo>
                <a:cubicBezTo>
                  <a:pt x="1857375" y="243903"/>
                  <a:pt x="1786953" y="314325"/>
                  <a:pt x="170021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/>
          <p:cNvSpPr/>
          <p:nvPr/>
        </p:nvSpPr>
        <p:spPr>
          <a:xfrm>
            <a:off x="504825" y="476250"/>
            <a:ext cx="168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INTERPRETATION</a:t>
            </a:r>
            <a:endParaRPr b="0" i="0" sz="1600" u="none" cap="none" strike="noStrike"/>
          </a:p>
        </p:txBody>
      </p:sp>
      <p:sp>
        <p:nvSpPr>
          <p:cNvPr id="862" name="Google Shape;862;p22"/>
          <p:cNvSpPr/>
          <p:nvPr/>
        </p:nvSpPr>
        <p:spPr>
          <a:xfrm>
            <a:off x="381000" y="819150"/>
            <a:ext cx="1160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Feature Importance: Understanding What Drives Churn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63" name="Google Shape;863;p22"/>
          <p:cNvSpPr/>
          <p:nvPr/>
        </p:nvSpPr>
        <p:spPr>
          <a:xfrm>
            <a:off x="385763" y="1357313"/>
            <a:ext cx="5629275" cy="2105025"/>
          </a:xfrm>
          <a:custGeom>
            <a:rect b="b" l="l" r="r" t="t"/>
            <a:pathLst>
              <a:path extrusionOk="0" h="2105025" w="5629275">
                <a:moveTo>
                  <a:pt x="76202" y="0"/>
                </a:moveTo>
                <a:lnTo>
                  <a:pt x="5553073" y="0"/>
                </a:lnTo>
                <a:cubicBezTo>
                  <a:pt x="5595158" y="0"/>
                  <a:pt x="5629275" y="34117"/>
                  <a:pt x="5629275" y="76202"/>
                </a:cubicBezTo>
                <a:lnTo>
                  <a:pt x="5629275" y="2028823"/>
                </a:lnTo>
                <a:cubicBezTo>
                  <a:pt x="5629275" y="2070908"/>
                  <a:pt x="5595158" y="2105025"/>
                  <a:pt x="5553073" y="2105025"/>
                </a:cubicBezTo>
                <a:lnTo>
                  <a:pt x="76202" y="2105025"/>
                </a:lnTo>
                <a:cubicBezTo>
                  <a:pt x="34117" y="2105025"/>
                  <a:pt x="0" y="2070908"/>
                  <a:pt x="0" y="2028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/>
          <p:cNvSpPr/>
          <p:nvPr/>
        </p:nvSpPr>
        <p:spPr>
          <a:xfrm>
            <a:off x="628650" y="1590675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2"/>
          <p:cNvSpPr/>
          <p:nvPr/>
        </p:nvSpPr>
        <p:spPr>
          <a:xfrm>
            <a:off x="819150" y="1552575"/>
            <a:ext cx="509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Why Feature Importance?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581025" y="1933575"/>
            <a:ext cx="531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which variables </a:t>
            </a:r>
            <a:r>
              <a:rPr b="0" i="0" lang="en-US" sz="1200" u="none" cap="none" strike="noStrike">
                <a:solidFill>
                  <a:srgbClr val="E1F0EF"/>
                </a:solidFill>
                <a:highlight>
                  <a:srgbClr val="3274B9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most influence predictions </a:t>
            </a:r>
            <a:r>
              <a:rPr b="0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actionable business insights.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67" name="Google Shape;867;p22"/>
          <p:cNvSpPr/>
          <p:nvPr/>
        </p:nvSpPr>
        <p:spPr>
          <a:xfrm>
            <a:off x="608409" y="258127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2"/>
          <p:cNvSpPr/>
          <p:nvPr/>
        </p:nvSpPr>
        <p:spPr>
          <a:xfrm>
            <a:off x="823913" y="2543175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key churn drivers for business strategy</a:t>
            </a:r>
            <a:endParaRPr b="0" i="0" sz="1600" u="none" cap="none" strike="noStrike"/>
          </a:p>
        </p:txBody>
      </p:sp>
      <p:sp>
        <p:nvSpPr>
          <p:cNvPr id="869" name="Google Shape;869;p22"/>
          <p:cNvSpPr/>
          <p:nvPr/>
        </p:nvSpPr>
        <p:spPr>
          <a:xfrm>
            <a:off x="608409" y="284797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823913" y="2809875"/>
            <a:ext cx="245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 feature engineering and selection</a:t>
            </a:r>
            <a:endParaRPr b="0" i="0" sz="1600" u="none" cap="none" strike="noStrike"/>
          </a:p>
        </p:txBody>
      </p:sp>
      <p:sp>
        <p:nvSpPr>
          <p:cNvPr id="871" name="Google Shape;871;p22"/>
          <p:cNvSpPr/>
          <p:nvPr/>
        </p:nvSpPr>
        <p:spPr>
          <a:xfrm>
            <a:off x="608409" y="311467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2"/>
          <p:cNvSpPr/>
          <p:nvPr/>
        </p:nvSpPr>
        <p:spPr>
          <a:xfrm>
            <a:off x="823913" y="3076575"/>
            <a:ext cx="2200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trust with business stakeholders</a:t>
            </a:r>
            <a:endParaRPr b="0" i="0" sz="1600" u="none" cap="none" strike="noStrike"/>
          </a:p>
        </p:txBody>
      </p:sp>
      <p:sp>
        <p:nvSpPr>
          <p:cNvPr id="873" name="Google Shape;873;p22"/>
          <p:cNvSpPr/>
          <p:nvPr/>
        </p:nvSpPr>
        <p:spPr>
          <a:xfrm>
            <a:off x="385763" y="3624263"/>
            <a:ext cx="5629275" cy="2143125"/>
          </a:xfrm>
          <a:custGeom>
            <a:rect b="b" l="l" r="r" t="t"/>
            <a:pathLst>
              <a:path extrusionOk="0" h="2143125" w="5629275">
                <a:moveTo>
                  <a:pt x="76210" y="0"/>
                </a:moveTo>
                <a:lnTo>
                  <a:pt x="5553065" y="0"/>
                </a:lnTo>
                <a:cubicBezTo>
                  <a:pt x="5595155" y="0"/>
                  <a:pt x="5629275" y="34120"/>
                  <a:pt x="5629275" y="76210"/>
                </a:cubicBezTo>
                <a:lnTo>
                  <a:pt x="5629275" y="2066915"/>
                </a:lnTo>
                <a:cubicBezTo>
                  <a:pt x="5629275" y="2109005"/>
                  <a:pt x="5595155" y="2143125"/>
                  <a:pt x="5553065" y="2143125"/>
                </a:cubicBezTo>
                <a:lnTo>
                  <a:pt x="76210" y="2143125"/>
                </a:lnTo>
                <a:cubicBezTo>
                  <a:pt x="34120" y="2143125"/>
                  <a:pt x="0" y="2109005"/>
                  <a:pt x="0" y="2066915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2"/>
          <p:cNvSpPr/>
          <p:nvPr/>
        </p:nvSpPr>
        <p:spPr>
          <a:xfrm>
            <a:off x="592931" y="3857625"/>
            <a:ext cx="214313" cy="190500"/>
          </a:xfrm>
          <a:custGeom>
            <a:rect b="b" l="l" r="r" t="t"/>
            <a:pathLst>
              <a:path extrusionOk="0" h="190500" w="214313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/>
          <p:cNvSpPr/>
          <p:nvPr/>
        </p:nvSpPr>
        <p:spPr>
          <a:xfrm>
            <a:off x="819150" y="3819525"/>
            <a:ext cx="509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How to Extract Importance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76" name="Google Shape;876;p22"/>
          <p:cNvSpPr/>
          <p:nvPr/>
        </p:nvSpPr>
        <p:spPr>
          <a:xfrm>
            <a:off x="600075" y="4200525"/>
            <a:ext cx="5219700" cy="647700"/>
          </a:xfrm>
          <a:custGeom>
            <a:rect b="b" l="l" r="r" t="t"/>
            <a:pathLst>
              <a:path extrusionOk="0" h="647700" w="5219700">
                <a:moveTo>
                  <a:pt x="38098" y="0"/>
                </a:moveTo>
                <a:lnTo>
                  <a:pt x="5181602" y="0"/>
                </a:lnTo>
                <a:cubicBezTo>
                  <a:pt x="5202629" y="0"/>
                  <a:pt x="5219700" y="17071"/>
                  <a:pt x="5219700" y="38098"/>
                </a:cubicBezTo>
                <a:lnTo>
                  <a:pt x="5219700" y="609602"/>
                </a:lnTo>
                <a:cubicBezTo>
                  <a:pt x="5219700" y="630643"/>
                  <a:pt x="5202643" y="647700"/>
                  <a:pt x="51816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2"/>
          <p:cNvSpPr/>
          <p:nvPr/>
        </p:nvSpPr>
        <p:spPr>
          <a:xfrm>
            <a:off x="600075" y="4200525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/>
          <p:cNvSpPr/>
          <p:nvPr/>
        </p:nvSpPr>
        <p:spPr>
          <a:xfrm>
            <a:off x="733425" y="4314825"/>
            <a:ext cx="504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Logistic Regression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79" name="Google Shape;879;p22"/>
          <p:cNvSpPr/>
          <p:nvPr/>
        </p:nvSpPr>
        <p:spPr>
          <a:xfrm>
            <a:off x="733425" y="4543425"/>
            <a:ext cx="503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Examine coefficient magnitude and direction</a:t>
            </a:r>
            <a:endParaRPr b="0" i="0" sz="1600" u="none" cap="none" strike="noStrike"/>
          </a:p>
        </p:txBody>
      </p:sp>
      <p:sp>
        <p:nvSpPr>
          <p:cNvPr id="880" name="Google Shape;880;p22"/>
          <p:cNvSpPr/>
          <p:nvPr/>
        </p:nvSpPr>
        <p:spPr>
          <a:xfrm>
            <a:off x="600075" y="4924425"/>
            <a:ext cx="5219700" cy="647700"/>
          </a:xfrm>
          <a:custGeom>
            <a:rect b="b" l="l" r="r" t="t"/>
            <a:pathLst>
              <a:path extrusionOk="0" h="647700" w="5219700">
                <a:moveTo>
                  <a:pt x="38098" y="0"/>
                </a:moveTo>
                <a:lnTo>
                  <a:pt x="5181602" y="0"/>
                </a:lnTo>
                <a:cubicBezTo>
                  <a:pt x="5202629" y="0"/>
                  <a:pt x="5219700" y="17071"/>
                  <a:pt x="5219700" y="38098"/>
                </a:cubicBezTo>
                <a:lnTo>
                  <a:pt x="5219700" y="609602"/>
                </a:lnTo>
                <a:cubicBezTo>
                  <a:pt x="5219700" y="630643"/>
                  <a:pt x="5202643" y="647700"/>
                  <a:pt x="518160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/>
          <p:cNvSpPr/>
          <p:nvPr/>
        </p:nvSpPr>
        <p:spPr>
          <a:xfrm>
            <a:off x="600075" y="4924425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/>
          <p:cNvSpPr/>
          <p:nvPr/>
        </p:nvSpPr>
        <p:spPr>
          <a:xfrm>
            <a:off x="733425" y="5038725"/>
            <a:ext cx="504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 Tree / Random Forest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83" name="Google Shape;883;p22"/>
          <p:cNvSpPr/>
          <p:nvPr/>
        </p:nvSpPr>
        <p:spPr>
          <a:xfrm>
            <a:off x="733425" y="5267325"/>
            <a:ext cx="503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`feature_importances_` from splits</a:t>
            </a:r>
            <a:endParaRPr b="0" i="0" sz="1600" u="none" cap="none" strike="noStrike"/>
          </a:p>
        </p:txBody>
      </p:sp>
      <p:sp>
        <p:nvSpPr>
          <p:cNvPr id="884" name="Google Shape;884;p22"/>
          <p:cNvSpPr/>
          <p:nvPr/>
        </p:nvSpPr>
        <p:spPr>
          <a:xfrm>
            <a:off x="6176963" y="1357313"/>
            <a:ext cx="5629275" cy="3324225"/>
          </a:xfrm>
          <a:custGeom>
            <a:rect b="b" l="l" r="r" t="t"/>
            <a:pathLst>
              <a:path extrusionOk="0" h="3324225" w="5629275">
                <a:moveTo>
                  <a:pt x="76191" y="0"/>
                </a:moveTo>
                <a:lnTo>
                  <a:pt x="5553084" y="0"/>
                </a:lnTo>
                <a:cubicBezTo>
                  <a:pt x="5595163" y="0"/>
                  <a:pt x="5629275" y="34112"/>
                  <a:pt x="5629275" y="76191"/>
                </a:cubicBezTo>
                <a:lnTo>
                  <a:pt x="5629275" y="3248034"/>
                </a:lnTo>
                <a:cubicBezTo>
                  <a:pt x="5629275" y="3290113"/>
                  <a:pt x="5595163" y="3324225"/>
                  <a:pt x="5553084" y="3324225"/>
                </a:cubicBezTo>
                <a:lnTo>
                  <a:pt x="76191" y="3324225"/>
                </a:lnTo>
                <a:cubicBezTo>
                  <a:pt x="34112" y="3324225"/>
                  <a:pt x="0" y="3290113"/>
                  <a:pt x="0" y="32480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6C7A8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6291263" y="1514475"/>
            <a:ext cx="54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Top Churn Predictors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pic>
        <p:nvPicPr>
          <p:cNvPr descr="preencoded.png" id="886" name="Google Shape;8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57375"/>
            <a:ext cx="5315100" cy="26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87" name="Google Shape;8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57375"/>
            <a:ext cx="5315100" cy="26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888" name="Google Shape;8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57375"/>
            <a:ext cx="5315100" cy="26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89" name="Google Shape;889;p22"/>
          <p:cNvSpPr/>
          <p:nvPr/>
        </p:nvSpPr>
        <p:spPr>
          <a:xfrm>
            <a:off x="6176963" y="4843463"/>
            <a:ext cx="5629275" cy="1304925"/>
          </a:xfrm>
          <a:custGeom>
            <a:rect b="b" l="l" r="r" t="t"/>
            <a:pathLst>
              <a:path extrusionOk="0" h="1304925" w="5629275">
                <a:moveTo>
                  <a:pt x="76195" y="0"/>
                </a:moveTo>
                <a:lnTo>
                  <a:pt x="5553080" y="0"/>
                </a:lnTo>
                <a:cubicBezTo>
                  <a:pt x="5595133" y="0"/>
                  <a:pt x="5629275" y="34142"/>
                  <a:pt x="5629275" y="76195"/>
                </a:cubicBezTo>
                <a:lnTo>
                  <a:pt x="5629275" y="1228730"/>
                </a:lnTo>
                <a:cubicBezTo>
                  <a:pt x="5629275" y="1270783"/>
                  <a:pt x="5595133" y="1304925"/>
                  <a:pt x="555308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"/>
          <p:cNvSpPr/>
          <p:nvPr/>
        </p:nvSpPr>
        <p:spPr>
          <a:xfrm>
            <a:off x="6357938" y="5048250"/>
            <a:ext cx="171450" cy="171450"/>
          </a:xfrm>
          <a:custGeom>
            <a:rect b="b" l="l" r="r" t="t"/>
            <a:pathLst>
              <a:path extrusionOk="0" h="171450" w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2"/>
          <p:cNvSpPr/>
          <p:nvPr/>
        </p:nvSpPr>
        <p:spPr>
          <a:xfrm>
            <a:off x="6553200" y="5000625"/>
            <a:ext cx="518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Business Insights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892" name="Google Shape;892;p22"/>
          <p:cNvSpPr/>
          <p:nvPr/>
        </p:nvSpPr>
        <p:spPr>
          <a:xfrm>
            <a:off x="6334125" y="5343525"/>
            <a:ext cx="5381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Recency:</a:t>
            </a: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Most predictive. Recent activity decline is a red flag.</a:t>
            </a:r>
            <a:endParaRPr b="0" i="0" sz="1600" u="none" cap="none" strike="noStrike"/>
          </a:p>
        </p:txBody>
      </p:sp>
      <p:sp>
        <p:nvSpPr>
          <p:cNvPr id="893" name="Google Shape;893;p22"/>
          <p:cNvSpPr/>
          <p:nvPr/>
        </p:nvSpPr>
        <p:spPr>
          <a:xfrm>
            <a:off x="6334125" y="5572125"/>
            <a:ext cx="5381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Tickets:</a:t>
            </a: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Unresolved issues drive churn. Improve support!</a:t>
            </a:r>
            <a:endParaRPr b="0" i="0" sz="1600" u="none" cap="none" strike="noStrike"/>
          </a:p>
        </p:txBody>
      </p:sp>
      <p:sp>
        <p:nvSpPr>
          <p:cNvPr id="894" name="Google Shape;894;p22"/>
          <p:cNvSpPr/>
          <p:nvPr/>
        </p:nvSpPr>
        <p:spPr>
          <a:xfrm>
            <a:off x="6334125" y="5800725"/>
            <a:ext cx="5381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05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Payment Methods:</a:t>
            </a:r>
            <a:r>
              <a:rPr b="0" i="0" lang="en-US" sz="105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Certain methods indicate higher churn risk.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3"/>
          <p:cNvSpPr/>
          <p:nvPr/>
        </p:nvSpPr>
        <p:spPr>
          <a:xfrm>
            <a:off x="359895" y="359895"/>
            <a:ext cx="1919440" cy="293248"/>
          </a:xfrm>
          <a:custGeom>
            <a:rect b="b" l="l" r="r" t="t"/>
            <a:pathLst>
              <a:path extrusionOk="0" h="293248" w="1919440">
                <a:moveTo>
                  <a:pt x="146624" y="0"/>
                </a:moveTo>
                <a:lnTo>
                  <a:pt x="1772816" y="0"/>
                </a:lnTo>
                <a:cubicBezTo>
                  <a:pt x="1853794" y="0"/>
                  <a:pt x="1919440" y="65646"/>
                  <a:pt x="1919440" y="146624"/>
                </a:cubicBezTo>
                <a:lnTo>
                  <a:pt x="1919440" y="146624"/>
                </a:lnTo>
                <a:cubicBezTo>
                  <a:pt x="1919440" y="227602"/>
                  <a:pt x="1853794" y="293248"/>
                  <a:pt x="1772816" y="293248"/>
                </a:cubicBezTo>
                <a:lnTo>
                  <a:pt x="146624" y="293248"/>
                </a:lnTo>
                <a:cubicBezTo>
                  <a:pt x="65646" y="293248"/>
                  <a:pt x="0" y="227602"/>
                  <a:pt x="0" y="146624"/>
                </a:cubicBezTo>
                <a:lnTo>
                  <a:pt x="0" y="146624"/>
                </a:lnTo>
                <a:cubicBezTo>
                  <a:pt x="0" y="65646"/>
                  <a:pt x="65646" y="0"/>
                  <a:pt x="146624" y="0"/>
                </a:cubicBezTo>
                <a:close/>
              </a:path>
            </a:pathLst>
          </a:custGeom>
          <a:solidFill>
            <a:srgbClr val="4DB59A">
              <a:alpha val="20000"/>
            </a:srgbClr>
          </a:solidFill>
          <a:ln cap="flat" cmpd="sng" w="127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3"/>
          <p:cNvSpPr/>
          <p:nvPr/>
        </p:nvSpPr>
        <p:spPr>
          <a:xfrm>
            <a:off x="470974" y="444315"/>
            <a:ext cx="1756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DEPLOYMENT</a:t>
            </a:r>
            <a:endParaRPr b="0" i="0" sz="1600" u="none" cap="none" strike="noStrike"/>
          </a:p>
        </p:txBody>
      </p:sp>
      <p:sp>
        <p:nvSpPr>
          <p:cNvPr id="902" name="Google Shape;902;p23"/>
          <p:cNvSpPr/>
          <p:nvPr/>
        </p:nvSpPr>
        <p:spPr>
          <a:xfrm>
            <a:off x="355452" y="764222"/>
            <a:ext cx="116412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903" name="Google Shape;903;p23"/>
          <p:cNvSpPr/>
          <p:nvPr/>
        </p:nvSpPr>
        <p:spPr>
          <a:xfrm>
            <a:off x="359895" y="1266297"/>
            <a:ext cx="11472210" cy="1821691"/>
          </a:xfrm>
          <a:custGeom>
            <a:rect b="b" l="l" r="r" t="t"/>
            <a:pathLst>
              <a:path extrusionOk="0" h="1821691" w="11472210">
                <a:moveTo>
                  <a:pt x="71082" y="0"/>
                </a:moveTo>
                <a:lnTo>
                  <a:pt x="11401128" y="0"/>
                </a:lnTo>
                <a:cubicBezTo>
                  <a:pt x="11440385" y="0"/>
                  <a:pt x="11472210" y="31825"/>
                  <a:pt x="11472210" y="71082"/>
                </a:cubicBezTo>
                <a:lnTo>
                  <a:pt x="11472210" y="1750609"/>
                </a:lnTo>
                <a:cubicBezTo>
                  <a:pt x="11472210" y="1789866"/>
                  <a:pt x="11440385" y="1821691"/>
                  <a:pt x="11401128" y="1821691"/>
                </a:cubicBezTo>
                <a:lnTo>
                  <a:pt x="71082" y="1821691"/>
                </a:lnTo>
                <a:cubicBezTo>
                  <a:pt x="31825" y="1821691"/>
                  <a:pt x="0" y="1789866"/>
                  <a:pt x="0" y="1750609"/>
                </a:cubicBezTo>
                <a:lnTo>
                  <a:pt x="0" y="71082"/>
                </a:lnTo>
                <a:cubicBezTo>
                  <a:pt x="0" y="31851"/>
                  <a:pt x="31851" y="0"/>
                  <a:pt x="71082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>
            <a:off x="564280" y="1484012"/>
            <a:ext cx="177726" cy="177726"/>
          </a:xfrm>
          <a:custGeom>
            <a:rect b="b" l="l" r="r" t="t"/>
            <a:pathLst>
              <a:path extrusionOk="0" h="177726" w="177726">
                <a:moveTo>
                  <a:pt x="44431" y="111079"/>
                </a:moveTo>
                <a:lnTo>
                  <a:pt x="8504" y="111079"/>
                </a:lnTo>
                <a:cubicBezTo>
                  <a:pt x="-139" y="111079"/>
                  <a:pt x="-5450" y="101672"/>
                  <a:pt x="-1007" y="94243"/>
                </a:cubicBezTo>
                <a:lnTo>
                  <a:pt x="17356" y="63627"/>
                </a:lnTo>
                <a:cubicBezTo>
                  <a:pt x="20376" y="58594"/>
                  <a:pt x="25791" y="55539"/>
                  <a:pt x="31657" y="55539"/>
                </a:cubicBezTo>
                <a:lnTo>
                  <a:pt x="64634" y="55539"/>
                </a:lnTo>
                <a:cubicBezTo>
                  <a:pt x="91050" y="10795"/>
                  <a:pt x="130448" y="8539"/>
                  <a:pt x="156795" y="12392"/>
                </a:cubicBezTo>
                <a:cubicBezTo>
                  <a:pt x="161238" y="13052"/>
                  <a:pt x="164709" y="16523"/>
                  <a:pt x="165334" y="20931"/>
                </a:cubicBezTo>
                <a:cubicBezTo>
                  <a:pt x="169187" y="47278"/>
                  <a:pt x="166930" y="86676"/>
                  <a:pt x="122187" y="113092"/>
                </a:cubicBezTo>
                <a:lnTo>
                  <a:pt x="122187" y="146069"/>
                </a:lnTo>
                <a:cubicBezTo>
                  <a:pt x="122187" y="151935"/>
                  <a:pt x="119132" y="157350"/>
                  <a:pt x="114099" y="160370"/>
                </a:cubicBezTo>
                <a:lnTo>
                  <a:pt x="83483" y="178733"/>
                </a:lnTo>
                <a:cubicBezTo>
                  <a:pt x="76089" y="183176"/>
                  <a:pt x="66647" y="177830"/>
                  <a:pt x="66647" y="169221"/>
                </a:cubicBezTo>
                <a:lnTo>
                  <a:pt x="66647" y="133294"/>
                </a:lnTo>
                <a:cubicBezTo>
                  <a:pt x="66647" y="121041"/>
                  <a:pt x="56685" y="111079"/>
                  <a:pt x="44431" y="111079"/>
                </a:cubicBezTo>
                <a:lnTo>
                  <a:pt x="44397" y="111079"/>
                </a:lnTo>
                <a:close/>
                <a:moveTo>
                  <a:pt x="138848" y="55539"/>
                </a:moveTo>
                <a:cubicBezTo>
                  <a:pt x="138848" y="46343"/>
                  <a:pt x="131382" y="38878"/>
                  <a:pt x="122187" y="38878"/>
                </a:cubicBezTo>
                <a:cubicBezTo>
                  <a:pt x="112991" y="38878"/>
                  <a:pt x="105525" y="46343"/>
                  <a:pt x="105525" y="55539"/>
                </a:cubicBezTo>
                <a:cubicBezTo>
                  <a:pt x="105525" y="64735"/>
                  <a:pt x="112991" y="72201"/>
                  <a:pt x="122187" y="72201"/>
                </a:cubicBezTo>
                <a:cubicBezTo>
                  <a:pt x="131382" y="72201"/>
                  <a:pt x="138848" y="64735"/>
                  <a:pt x="138848" y="55539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>
            <a:off x="764222" y="1448466"/>
            <a:ext cx="10974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906" name="Google Shape;906;p23"/>
          <p:cNvSpPr/>
          <p:nvPr/>
        </p:nvSpPr>
        <p:spPr>
          <a:xfrm>
            <a:off x="542064" y="1803918"/>
            <a:ext cx="2701434" cy="1101901"/>
          </a:xfrm>
          <a:custGeom>
            <a:rect b="b" l="l" r="r" t="t"/>
            <a:pathLst>
              <a:path extrusionOk="0" h="1101901" w="2701434">
                <a:moveTo>
                  <a:pt x="35547" y="0"/>
                </a:moveTo>
                <a:lnTo>
                  <a:pt x="2665887" y="0"/>
                </a:lnTo>
                <a:cubicBezTo>
                  <a:pt x="2685519" y="0"/>
                  <a:pt x="2701434" y="15915"/>
                  <a:pt x="2701434" y="35547"/>
                </a:cubicBezTo>
                <a:lnTo>
                  <a:pt x="2701434" y="1066354"/>
                </a:lnTo>
                <a:cubicBezTo>
                  <a:pt x="2701434" y="1085986"/>
                  <a:pt x="2685519" y="1101901"/>
                  <a:pt x="2665887" y="1101901"/>
                </a:cubicBezTo>
                <a:lnTo>
                  <a:pt x="35547" y="1101901"/>
                </a:lnTo>
                <a:cubicBezTo>
                  <a:pt x="15915" y="1101901"/>
                  <a:pt x="0" y="1085986"/>
                  <a:pt x="0" y="1066354"/>
                </a:cubicBezTo>
                <a:lnTo>
                  <a:pt x="0" y="35547"/>
                </a:lnTo>
                <a:cubicBezTo>
                  <a:pt x="0" y="15915"/>
                  <a:pt x="15915" y="0"/>
                  <a:pt x="355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3"/>
          <p:cNvSpPr/>
          <p:nvPr/>
        </p:nvSpPr>
        <p:spPr>
          <a:xfrm>
            <a:off x="1677705" y="1910554"/>
            <a:ext cx="426542" cy="426542"/>
          </a:xfrm>
          <a:custGeom>
            <a:rect b="b" l="l" r="r" t="t"/>
            <a:pathLst>
              <a:path extrusionOk="0" h="426542" w="426542">
                <a:moveTo>
                  <a:pt x="213271" y="0"/>
                </a:moveTo>
                <a:lnTo>
                  <a:pt x="213271" y="0"/>
                </a:lnTo>
                <a:cubicBezTo>
                  <a:pt x="330979" y="0"/>
                  <a:pt x="426542" y="95564"/>
                  <a:pt x="426542" y="213271"/>
                </a:cubicBezTo>
                <a:lnTo>
                  <a:pt x="426542" y="213271"/>
                </a:lnTo>
                <a:cubicBezTo>
                  <a:pt x="426542" y="330979"/>
                  <a:pt x="330979" y="426542"/>
                  <a:pt x="213271" y="426542"/>
                </a:cubicBezTo>
                <a:lnTo>
                  <a:pt x="213271" y="426542"/>
                </a:lnTo>
                <a:cubicBezTo>
                  <a:pt x="95564" y="426542"/>
                  <a:pt x="0" y="330979"/>
                  <a:pt x="0" y="213271"/>
                </a:cubicBezTo>
                <a:lnTo>
                  <a:pt x="0" y="213271"/>
                </a:lnTo>
                <a:cubicBezTo>
                  <a:pt x="0" y="95564"/>
                  <a:pt x="95564" y="0"/>
                  <a:pt x="21327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3"/>
          <p:cNvSpPr/>
          <p:nvPr/>
        </p:nvSpPr>
        <p:spPr>
          <a:xfrm>
            <a:off x="1633274" y="1910554"/>
            <a:ext cx="515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909" name="Google Shape;909;p23"/>
          <p:cNvSpPr/>
          <p:nvPr/>
        </p:nvSpPr>
        <p:spPr>
          <a:xfrm>
            <a:off x="622041" y="2657003"/>
            <a:ext cx="25416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Serialize with pickle/joblib</a:t>
            </a:r>
            <a:endParaRPr b="0" i="0" sz="1600" u="none" cap="none" strike="noStrike"/>
          </a:p>
        </p:txBody>
      </p:sp>
      <p:sp>
        <p:nvSpPr>
          <p:cNvPr id="910" name="Google Shape;910;p23"/>
          <p:cNvSpPr/>
          <p:nvPr/>
        </p:nvSpPr>
        <p:spPr>
          <a:xfrm>
            <a:off x="3346663" y="1803918"/>
            <a:ext cx="2701434" cy="1101901"/>
          </a:xfrm>
          <a:custGeom>
            <a:rect b="b" l="l" r="r" t="t"/>
            <a:pathLst>
              <a:path extrusionOk="0" h="1101901" w="2701434">
                <a:moveTo>
                  <a:pt x="35547" y="0"/>
                </a:moveTo>
                <a:lnTo>
                  <a:pt x="2665887" y="0"/>
                </a:lnTo>
                <a:cubicBezTo>
                  <a:pt x="2685519" y="0"/>
                  <a:pt x="2701434" y="15915"/>
                  <a:pt x="2701434" y="35547"/>
                </a:cubicBezTo>
                <a:lnTo>
                  <a:pt x="2701434" y="1066354"/>
                </a:lnTo>
                <a:cubicBezTo>
                  <a:pt x="2701434" y="1085986"/>
                  <a:pt x="2685519" y="1101901"/>
                  <a:pt x="2665887" y="1101901"/>
                </a:cubicBezTo>
                <a:lnTo>
                  <a:pt x="35547" y="1101901"/>
                </a:lnTo>
                <a:cubicBezTo>
                  <a:pt x="15915" y="1101901"/>
                  <a:pt x="0" y="1085986"/>
                  <a:pt x="0" y="1066354"/>
                </a:cubicBezTo>
                <a:lnTo>
                  <a:pt x="0" y="35547"/>
                </a:lnTo>
                <a:cubicBezTo>
                  <a:pt x="0" y="15915"/>
                  <a:pt x="15915" y="0"/>
                  <a:pt x="355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3"/>
          <p:cNvSpPr/>
          <p:nvPr/>
        </p:nvSpPr>
        <p:spPr>
          <a:xfrm>
            <a:off x="4482304" y="1910554"/>
            <a:ext cx="426542" cy="426542"/>
          </a:xfrm>
          <a:custGeom>
            <a:rect b="b" l="l" r="r" t="t"/>
            <a:pathLst>
              <a:path extrusionOk="0" h="426542" w="426542">
                <a:moveTo>
                  <a:pt x="213271" y="0"/>
                </a:moveTo>
                <a:lnTo>
                  <a:pt x="213271" y="0"/>
                </a:lnTo>
                <a:cubicBezTo>
                  <a:pt x="330979" y="0"/>
                  <a:pt x="426542" y="95564"/>
                  <a:pt x="426542" y="213271"/>
                </a:cubicBezTo>
                <a:lnTo>
                  <a:pt x="426542" y="213271"/>
                </a:lnTo>
                <a:cubicBezTo>
                  <a:pt x="426542" y="330979"/>
                  <a:pt x="330979" y="426542"/>
                  <a:pt x="213271" y="426542"/>
                </a:cubicBezTo>
                <a:lnTo>
                  <a:pt x="213271" y="426542"/>
                </a:lnTo>
                <a:cubicBezTo>
                  <a:pt x="95564" y="426542"/>
                  <a:pt x="0" y="330979"/>
                  <a:pt x="0" y="213271"/>
                </a:cubicBezTo>
                <a:lnTo>
                  <a:pt x="0" y="213271"/>
                </a:lnTo>
                <a:cubicBezTo>
                  <a:pt x="0" y="95564"/>
                  <a:pt x="95564" y="0"/>
                  <a:pt x="213271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3"/>
          <p:cNvSpPr/>
          <p:nvPr/>
        </p:nvSpPr>
        <p:spPr>
          <a:xfrm>
            <a:off x="4437872" y="1910554"/>
            <a:ext cx="515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913" name="Google Shape;913;p23"/>
          <p:cNvSpPr/>
          <p:nvPr/>
        </p:nvSpPr>
        <p:spPr>
          <a:xfrm>
            <a:off x="3426640" y="2657003"/>
            <a:ext cx="25416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Preprocessing + model</a:t>
            </a:r>
            <a:endParaRPr b="0" i="0" sz="1600" u="none" cap="none" strike="noStrike"/>
          </a:p>
        </p:txBody>
      </p:sp>
      <p:sp>
        <p:nvSpPr>
          <p:cNvPr id="914" name="Google Shape;914;p23"/>
          <p:cNvSpPr/>
          <p:nvPr/>
        </p:nvSpPr>
        <p:spPr>
          <a:xfrm>
            <a:off x="6151262" y="1803918"/>
            <a:ext cx="2701434" cy="1101901"/>
          </a:xfrm>
          <a:custGeom>
            <a:rect b="b" l="l" r="r" t="t"/>
            <a:pathLst>
              <a:path extrusionOk="0" h="1101901" w="2701434">
                <a:moveTo>
                  <a:pt x="35547" y="0"/>
                </a:moveTo>
                <a:lnTo>
                  <a:pt x="2665887" y="0"/>
                </a:lnTo>
                <a:cubicBezTo>
                  <a:pt x="2685519" y="0"/>
                  <a:pt x="2701434" y="15915"/>
                  <a:pt x="2701434" y="35547"/>
                </a:cubicBezTo>
                <a:lnTo>
                  <a:pt x="2701434" y="1066354"/>
                </a:lnTo>
                <a:cubicBezTo>
                  <a:pt x="2701434" y="1085986"/>
                  <a:pt x="2685519" y="1101901"/>
                  <a:pt x="2665887" y="1101901"/>
                </a:cubicBezTo>
                <a:lnTo>
                  <a:pt x="35547" y="1101901"/>
                </a:lnTo>
                <a:cubicBezTo>
                  <a:pt x="15915" y="1101901"/>
                  <a:pt x="0" y="1085986"/>
                  <a:pt x="0" y="1066354"/>
                </a:cubicBezTo>
                <a:lnTo>
                  <a:pt x="0" y="35547"/>
                </a:lnTo>
                <a:cubicBezTo>
                  <a:pt x="0" y="15915"/>
                  <a:pt x="15915" y="0"/>
                  <a:pt x="355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/>
          <p:cNvSpPr/>
          <p:nvPr/>
        </p:nvSpPr>
        <p:spPr>
          <a:xfrm>
            <a:off x="7286903" y="1910554"/>
            <a:ext cx="426542" cy="426542"/>
          </a:xfrm>
          <a:custGeom>
            <a:rect b="b" l="l" r="r" t="t"/>
            <a:pathLst>
              <a:path extrusionOk="0" h="426542" w="426542">
                <a:moveTo>
                  <a:pt x="213271" y="0"/>
                </a:moveTo>
                <a:lnTo>
                  <a:pt x="213271" y="0"/>
                </a:lnTo>
                <a:cubicBezTo>
                  <a:pt x="330979" y="0"/>
                  <a:pt x="426542" y="95564"/>
                  <a:pt x="426542" y="213271"/>
                </a:cubicBezTo>
                <a:lnTo>
                  <a:pt x="426542" y="213271"/>
                </a:lnTo>
                <a:cubicBezTo>
                  <a:pt x="426542" y="330979"/>
                  <a:pt x="330979" y="426542"/>
                  <a:pt x="213271" y="426542"/>
                </a:cubicBezTo>
                <a:lnTo>
                  <a:pt x="213271" y="426542"/>
                </a:lnTo>
                <a:cubicBezTo>
                  <a:pt x="95564" y="426542"/>
                  <a:pt x="0" y="330979"/>
                  <a:pt x="0" y="213271"/>
                </a:cubicBezTo>
                <a:lnTo>
                  <a:pt x="0" y="213271"/>
                </a:lnTo>
                <a:cubicBezTo>
                  <a:pt x="0" y="95564"/>
                  <a:pt x="95564" y="0"/>
                  <a:pt x="213271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3"/>
          <p:cNvSpPr/>
          <p:nvPr/>
        </p:nvSpPr>
        <p:spPr>
          <a:xfrm>
            <a:off x="7242471" y="1910554"/>
            <a:ext cx="515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917" name="Google Shape;917;p23"/>
          <p:cNvSpPr/>
          <p:nvPr/>
        </p:nvSpPr>
        <p:spPr>
          <a:xfrm>
            <a:off x="6231238" y="2657003"/>
            <a:ext cx="25416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Batch or real-time scoring</a:t>
            </a:r>
            <a:endParaRPr b="0" i="0" sz="1600" u="none" cap="none" strike="noStrike"/>
          </a:p>
        </p:txBody>
      </p:sp>
      <p:sp>
        <p:nvSpPr>
          <p:cNvPr id="918" name="Google Shape;918;p23"/>
          <p:cNvSpPr/>
          <p:nvPr/>
        </p:nvSpPr>
        <p:spPr>
          <a:xfrm>
            <a:off x="8955860" y="1803918"/>
            <a:ext cx="2701434" cy="1101901"/>
          </a:xfrm>
          <a:custGeom>
            <a:rect b="b" l="l" r="r" t="t"/>
            <a:pathLst>
              <a:path extrusionOk="0" h="1101901" w="2701434">
                <a:moveTo>
                  <a:pt x="35547" y="0"/>
                </a:moveTo>
                <a:lnTo>
                  <a:pt x="2665887" y="0"/>
                </a:lnTo>
                <a:cubicBezTo>
                  <a:pt x="2685519" y="0"/>
                  <a:pt x="2701434" y="15915"/>
                  <a:pt x="2701434" y="35547"/>
                </a:cubicBezTo>
                <a:lnTo>
                  <a:pt x="2701434" y="1066354"/>
                </a:lnTo>
                <a:cubicBezTo>
                  <a:pt x="2701434" y="1085986"/>
                  <a:pt x="2685519" y="1101901"/>
                  <a:pt x="2665887" y="1101901"/>
                </a:cubicBezTo>
                <a:lnTo>
                  <a:pt x="35547" y="1101901"/>
                </a:lnTo>
                <a:cubicBezTo>
                  <a:pt x="15915" y="1101901"/>
                  <a:pt x="0" y="1085986"/>
                  <a:pt x="0" y="1066354"/>
                </a:cubicBezTo>
                <a:lnTo>
                  <a:pt x="0" y="35547"/>
                </a:lnTo>
                <a:cubicBezTo>
                  <a:pt x="0" y="15915"/>
                  <a:pt x="15915" y="0"/>
                  <a:pt x="3554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3"/>
          <p:cNvSpPr/>
          <p:nvPr/>
        </p:nvSpPr>
        <p:spPr>
          <a:xfrm>
            <a:off x="10091501" y="1910554"/>
            <a:ext cx="426542" cy="426542"/>
          </a:xfrm>
          <a:custGeom>
            <a:rect b="b" l="l" r="r" t="t"/>
            <a:pathLst>
              <a:path extrusionOk="0" h="426542" w="426542">
                <a:moveTo>
                  <a:pt x="213271" y="0"/>
                </a:moveTo>
                <a:lnTo>
                  <a:pt x="213271" y="0"/>
                </a:lnTo>
                <a:cubicBezTo>
                  <a:pt x="330979" y="0"/>
                  <a:pt x="426542" y="95564"/>
                  <a:pt x="426542" y="213271"/>
                </a:cubicBezTo>
                <a:lnTo>
                  <a:pt x="426542" y="213271"/>
                </a:lnTo>
                <a:cubicBezTo>
                  <a:pt x="426542" y="330979"/>
                  <a:pt x="330979" y="426542"/>
                  <a:pt x="213271" y="426542"/>
                </a:cubicBezTo>
                <a:lnTo>
                  <a:pt x="213271" y="426542"/>
                </a:lnTo>
                <a:cubicBezTo>
                  <a:pt x="95564" y="426542"/>
                  <a:pt x="0" y="330979"/>
                  <a:pt x="0" y="213271"/>
                </a:cubicBezTo>
                <a:lnTo>
                  <a:pt x="0" y="213271"/>
                </a:lnTo>
                <a:cubicBezTo>
                  <a:pt x="0" y="95564"/>
                  <a:pt x="95564" y="0"/>
                  <a:pt x="213271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10047070" y="1910554"/>
            <a:ext cx="515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921" name="Google Shape;921;p23"/>
          <p:cNvSpPr/>
          <p:nvPr/>
        </p:nvSpPr>
        <p:spPr>
          <a:xfrm>
            <a:off x="9035837" y="2657003"/>
            <a:ext cx="25416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performance drift</a:t>
            </a:r>
            <a:endParaRPr b="0" i="0" sz="1600" u="none" cap="none" strike="noStrike"/>
          </a:p>
        </p:txBody>
      </p:sp>
      <p:sp>
        <p:nvSpPr>
          <p:cNvPr id="922" name="Google Shape;922;p23"/>
          <p:cNvSpPr/>
          <p:nvPr/>
        </p:nvSpPr>
        <p:spPr>
          <a:xfrm>
            <a:off x="359895" y="3239055"/>
            <a:ext cx="5660571" cy="3261271"/>
          </a:xfrm>
          <a:custGeom>
            <a:rect b="b" l="l" r="r" t="t"/>
            <a:pathLst>
              <a:path extrusionOk="0" h="3261271" w="5660571">
                <a:moveTo>
                  <a:pt x="71096" y="0"/>
                </a:moveTo>
                <a:lnTo>
                  <a:pt x="5589476" y="0"/>
                </a:lnTo>
                <a:cubicBezTo>
                  <a:pt x="5628715" y="0"/>
                  <a:pt x="5660571" y="31857"/>
                  <a:pt x="5660571" y="71096"/>
                </a:cubicBezTo>
                <a:lnTo>
                  <a:pt x="5660571" y="3190175"/>
                </a:lnTo>
                <a:cubicBezTo>
                  <a:pt x="5660571" y="3229414"/>
                  <a:pt x="5628715" y="3261271"/>
                  <a:pt x="5589476" y="3261271"/>
                </a:cubicBezTo>
                <a:lnTo>
                  <a:pt x="71096" y="3261271"/>
                </a:lnTo>
                <a:cubicBezTo>
                  <a:pt x="31857" y="3261271"/>
                  <a:pt x="0" y="3229414"/>
                  <a:pt x="0" y="3190175"/>
                </a:cubicBezTo>
                <a:lnTo>
                  <a:pt x="0" y="71096"/>
                </a:lnTo>
                <a:cubicBezTo>
                  <a:pt x="0" y="31857"/>
                  <a:pt x="31857" y="0"/>
                  <a:pt x="71096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3"/>
          <p:cNvSpPr/>
          <p:nvPr/>
        </p:nvSpPr>
        <p:spPr>
          <a:xfrm>
            <a:off x="508741" y="3430111"/>
            <a:ext cx="199942" cy="159953"/>
          </a:xfrm>
          <a:custGeom>
            <a:rect b="b" l="l" r="r" t="t"/>
            <a:pathLst>
              <a:path extrusionOk="0" h="159953" w="199942">
                <a:moveTo>
                  <a:pt x="129931" y="65762"/>
                </a:moveTo>
                <a:cubicBezTo>
                  <a:pt x="133742" y="64731"/>
                  <a:pt x="137741" y="66543"/>
                  <a:pt x="139459" y="70073"/>
                </a:cubicBezTo>
                <a:lnTo>
                  <a:pt x="145270" y="81820"/>
                </a:lnTo>
                <a:cubicBezTo>
                  <a:pt x="148488" y="82257"/>
                  <a:pt x="151643" y="83132"/>
                  <a:pt x="154611" y="84350"/>
                </a:cubicBezTo>
                <a:lnTo>
                  <a:pt x="165545" y="77071"/>
                </a:lnTo>
                <a:cubicBezTo>
                  <a:pt x="168826" y="74884"/>
                  <a:pt x="173168" y="75322"/>
                  <a:pt x="175949" y="78102"/>
                </a:cubicBezTo>
                <a:lnTo>
                  <a:pt x="181947" y="84100"/>
                </a:lnTo>
                <a:cubicBezTo>
                  <a:pt x="184727" y="86881"/>
                  <a:pt x="185165" y="91255"/>
                  <a:pt x="182978" y="94504"/>
                </a:cubicBezTo>
                <a:lnTo>
                  <a:pt x="175699" y="105407"/>
                </a:lnTo>
                <a:cubicBezTo>
                  <a:pt x="176292" y="106875"/>
                  <a:pt x="176823" y="108406"/>
                  <a:pt x="177261" y="109999"/>
                </a:cubicBezTo>
                <a:cubicBezTo>
                  <a:pt x="177698" y="111592"/>
                  <a:pt x="177979" y="113155"/>
                  <a:pt x="178198" y="114748"/>
                </a:cubicBezTo>
                <a:lnTo>
                  <a:pt x="189976" y="120559"/>
                </a:lnTo>
                <a:cubicBezTo>
                  <a:pt x="193506" y="122308"/>
                  <a:pt x="195318" y="126307"/>
                  <a:pt x="194287" y="130087"/>
                </a:cubicBezTo>
                <a:lnTo>
                  <a:pt x="192100" y="138272"/>
                </a:lnTo>
                <a:cubicBezTo>
                  <a:pt x="191069" y="142052"/>
                  <a:pt x="187539" y="144614"/>
                  <a:pt x="183603" y="144364"/>
                </a:cubicBezTo>
                <a:lnTo>
                  <a:pt x="170482" y="143521"/>
                </a:lnTo>
                <a:cubicBezTo>
                  <a:pt x="168513" y="146051"/>
                  <a:pt x="166233" y="148394"/>
                  <a:pt x="163640" y="150394"/>
                </a:cubicBezTo>
                <a:lnTo>
                  <a:pt x="164483" y="163484"/>
                </a:lnTo>
                <a:cubicBezTo>
                  <a:pt x="164733" y="167420"/>
                  <a:pt x="162171" y="170981"/>
                  <a:pt x="158391" y="171981"/>
                </a:cubicBezTo>
                <a:lnTo>
                  <a:pt x="150206" y="174168"/>
                </a:lnTo>
                <a:cubicBezTo>
                  <a:pt x="146395" y="175199"/>
                  <a:pt x="142427" y="173387"/>
                  <a:pt x="140678" y="169857"/>
                </a:cubicBezTo>
                <a:lnTo>
                  <a:pt x="134867" y="158110"/>
                </a:lnTo>
                <a:cubicBezTo>
                  <a:pt x="131649" y="157673"/>
                  <a:pt x="128494" y="156798"/>
                  <a:pt x="125526" y="155580"/>
                </a:cubicBezTo>
                <a:lnTo>
                  <a:pt x="114592" y="162859"/>
                </a:lnTo>
                <a:cubicBezTo>
                  <a:pt x="111311" y="165046"/>
                  <a:pt x="106969" y="164608"/>
                  <a:pt x="104188" y="161828"/>
                </a:cubicBezTo>
                <a:lnTo>
                  <a:pt x="98190" y="155830"/>
                </a:lnTo>
                <a:cubicBezTo>
                  <a:pt x="95410" y="153049"/>
                  <a:pt x="94972" y="148707"/>
                  <a:pt x="97159" y="145426"/>
                </a:cubicBezTo>
                <a:lnTo>
                  <a:pt x="104438" y="134492"/>
                </a:lnTo>
                <a:cubicBezTo>
                  <a:pt x="103845" y="133024"/>
                  <a:pt x="103314" y="131493"/>
                  <a:pt x="102876" y="129900"/>
                </a:cubicBezTo>
                <a:cubicBezTo>
                  <a:pt x="102439" y="128306"/>
                  <a:pt x="102158" y="126713"/>
                  <a:pt x="101939" y="125151"/>
                </a:cubicBezTo>
                <a:lnTo>
                  <a:pt x="90161" y="119340"/>
                </a:lnTo>
                <a:cubicBezTo>
                  <a:pt x="86631" y="117591"/>
                  <a:pt x="84850" y="113592"/>
                  <a:pt x="85850" y="109812"/>
                </a:cubicBezTo>
                <a:lnTo>
                  <a:pt x="88037" y="101627"/>
                </a:lnTo>
                <a:cubicBezTo>
                  <a:pt x="89068" y="97846"/>
                  <a:pt x="92598" y="95285"/>
                  <a:pt x="96534" y="95535"/>
                </a:cubicBezTo>
                <a:lnTo>
                  <a:pt x="109624" y="96378"/>
                </a:lnTo>
                <a:cubicBezTo>
                  <a:pt x="111592" y="93848"/>
                  <a:pt x="113873" y="91505"/>
                  <a:pt x="116466" y="89505"/>
                </a:cubicBezTo>
                <a:lnTo>
                  <a:pt x="115623" y="76446"/>
                </a:lnTo>
                <a:cubicBezTo>
                  <a:pt x="115373" y="72510"/>
                  <a:pt x="117934" y="68949"/>
                  <a:pt x="121715" y="67949"/>
                </a:cubicBezTo>
                <a:lnTo>
                  <a:pt x="129900" y="65762"/>
                </a:lnTo>
                <a:close/>
                <a:moveTo>
                  <a:pt x="140084" y="106219"/>
                </a:moveTo>
                <a:cubicBezTo>
                  <a:pt x="132498" y="106228"/>
                  <a:pt x="126345" y="112394"/>
                  <a:pt x="126354" y="119981"/>
                </a:cubicBezTo>
                <a:cubicBezTo>
                  <a:pt x="126362" y="127567"/>
                  <a:pt x="132529" y="133720"/>
                  <a:pt x="140115" y="133711"/>
                </a:cubicBezTo>
                <a:cubicBezTo>
                  <a:pt x="147702" y="133702"/>
                  <a:pt x="153854" y="127536"/>
                  <a:pt x="153846" y="119949"/>
                </a:cubicBezTo>
                <a:cubicBezTo>
                  <a:pt x="153837" y="112363"/>
                  <a:pt x="147671" y="106210"/>
                  <a:pt x="140084" y="106219"/>
                </a:cubicBezTo>
                <a:close/>
                <a:moveTo>
                  <a:pt x="70261" y="-14215"/>
                </a:moveTo>
                <a:lnTo>
                  <a:pt x="78446" y="-12028"/>
                </a:lnTo>
                <a:cubicBezTo>
                  <a:pt x="82226" y="-10997"/>
                  <a:pt x="84788" y="-7435"/>
                  <a:pt x="84538" y="-3530"/>
                </a:cubicBezTo>
                <a:lnTo>
                  <a:pt x="83694" y="9528"/>
                </a:lnTo>
                <a:cubicBezTo>
                  <a:pt x="86287" y="11528"/>
                  <a:pt x="88568" y="13840"/>
                  <a:pt x="90536" y="16401"/>
                </a:cubicBezTo>
                <a:lnTo>
                  <a:pt x="103657" y="15558"/>
                </a:lnTo>
                <a:cubicBezTo>
                  <a:pt x="107562" y="15308"/>
                  <a:pt x="111124" y="17870"/>
                  <a:pt x="112155" y="21650"/>
                </a:cubicBezTo>
                <a:lnTo>
                  <a:pt x="114342" y="29835"/>
                </a:lnTo>
                <a:cubicBezTo>
                  <a:pt x="115341" y="33615"/>
                  <a:pt x="113561" y="37614"/>
                  <a:pt x="110030" y="39364"/>
                </a:cubicBezTo>
                <a:lnTo>
                  <a:pt x="98253" y="45174"/>
                </a:lnTo>
                <a:cubicBezTo>
                  <a:pt x="98034" y="46768"/>
                  <a:pt x="97722" y="48361"/>
                  <a:pt x="97315" y="49923"/>
                </a:cubicBezTo>
                <a:cubicBezTo>
                  <a:pt x="96909" y="51485"/>
                  <a:pt x="96347" y="53047"/>
                  <a:pt x="95753" y="54515"/>
                </a:cubicBezTo>
                <a:lnTo>
                  <a:pt x="103032" y="65450"/>
                </a:lnTo>
                <a:cubicBezTo>
                  <a:pt x="105219" y="68730"/>
                  <a:pt x="104782" y="73072"/>
                  <a:pt x="102002" y="75853"/>
                </a:cubicBezTo>
                <a:lnTo>
                  <a:pt x="96003" y="81851"/>
                </a:lnTo>
                <a:cubicBezTo>
                  <a:pt x="93223" y="84632"/>
                  <a:pt x="88880" y="85069"/>
                  <a:pt x="85600" y="82882"/>
                </a:cubicBezTo>
                <a:lnTo>
                  <a:pt x="74666" y="75603"/>
                </a:lnTo>
                <a:cubicBezTo>
                  <a:pt x="71698" y="76821"/>
                  <a:pt x="68543" y="77696"/>
                  <a:pt x="65325" y="78133"/>
                </a:cubicBezTo>
                <a:lnTo>
                  <a:pt x="59514" y="89880"/>
                </a:lnTo>
                <a:cubicBezTo>
                  <a:pt x="57764" y="93410"/>
                  <a:pt x="53766" y="95191"/>
                  <a:pt x="49985" y="94191"/>
                </a:cubicBezTo>
                <a:lnTo>
                  <a:pt x="41800" y="92004"/>
                </a:lnTo>
                <a:cubicBezTo>
                  <a:pt x="37989" y="90973"/>
                  <a:pt x="35458" y="87412"/>
                  <a:pt x="35708" y="83507"/>
                </a:cubicBezTo>
                <a:lnTo>
                  <a:pt x="36552" y="70417"/>
                </a:lnTo>
                <a:cubicBezTo>
                  <a:pt x="33959" y="68418"/>
                  <a:pt x="31678" y="66106"/>
                  <a:pt x="29710" y="63544"/>
                </a:cubicBezTo>
                <a:lnTo>
                  <a:pt x="16589" y="64387"/>
                </a:lnTo>
                <a:cubicBezTo>
                  <a:pt x="12684" y="64637"/>
                  <a:pt x="9122" y="62076"/>
                  <a:pt x="8091" y="58295"/>
                </a:cubicBezTo>
                <a:lnTo>
                  <a:pt x="5905" y="50110"/>
                </a:lnTo>
                <a:cubicBezTo>
                  <a:pt x="4905" y="46330"/>
                  <a:pt x="6686" y="42331"/>
                  <a:pt x="10216" y="40582"/>
                </a:cubicBezTo>
                <a:lnTo>
                  <a:pt x="21994" y="34771"/>
                </a:lnTo>
                <a:cubicBezTo>
                  <a:pt x="22212" y="33178"/>
                  <a:pt x="22525" y="31616"/>
                  <a:pt x="22931" y="30022"/>
                </a:cubicBezTo>
                <a:cubicBezTo>
                  <a:pt x="23368" y="28429"/>
                  <a:pt x="23868" y="26898"/>
                  <a:pt x="24493" y="25430"/>
                </a:cubicBezTo>
                <a:lnTo>
                  <a:pt x="17214" y="14527"/>
                </a:lnTo>
                <a:cubicBezTo>
                  <a:pt x="15027" y="11247"/>
                  <a:pt x="15464" y="6904"/>
                  <a:pt x="18245" y="4124"/>
                </a:cubicBezTo>
                <a:lnTo>
                  <a:pt x="24243" y="-1874"/>
                </a:lnTo>
                <a:cubicBezTo>
                  <a:pt x="27023" y="-4655"/>
                  <a:pt x="31366" y="-5092"/>
                  <a:pt x="34646" y="-2905"/>
                </a:cubicBezTo>
                <a:lnTo>
                  <a:pt x="45580" y="4374"/>
                </a:lnTo>
                <a:cubicBezTo>
                  <a:pt x="48548" y="3155"/>
                  <a:pt x="51704" y="2281"/>
                  <a:pt x="54921" y="1843"/>
                </a:cubicBezTo>
                <a:lnTo>
                  <a:pt x="60732" y="-9903"/>
                </a:lnTo>
                <a:cubicBezTo>
                  <a:pt x="62482" y="-13434"/>
                  <a:pt x="66449" y="-15214"/>
                  <a:pt x="70261" y="-14215"/>
                </a:cubicBezTo>
                <a:close/>
                <a:moveTo>
                  <a:pt x="60107" y="26242"/>
                </a:moveTo>
                <a:cubicBezTo>
                  <a:pt x="52521" y="26242"/>
                  <a:pt x="46361" y="32402"/>
                  <a:pt x="46361" y="39988"/>
                </a:cubicBezTo>
                <a:cubicBezTo>
                  <a:pt x="46361" y="47575"/>
                  <a:pt x="52521" y="53734"/>
                  <a:pt x="60107" y="53734"/>
                </a:cubicBezTo>
                <a:cubicBezTo>
                  <a:pt x="67694" y="53734"/>
                  <a:pt x="73853" y="47575"/>
                  <a:pt x="73853" y="39988"/>
                </a:cubicBezTo>
                <a:cubicBezTo>
                  <a:pt x="73853" y="32402"/>
                  <a:pt x="67694" y="26242"/>
                  <a:pt x="60107" y="26242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/>
          <p:cNvSpPr/>
          <p:nvPr/>
        </p:nvSpPr>
        <p:spPr>
          <a:xfrm>
            <a:off x="506519" y="3741131"/>
            <a:ext cx="248816" cy="248816"/>
          </a:xfrm>
          <a:custGeom>
            <a:rect b="b" l="l" r="r" t="t"/>
            <a:pathLst>
              <a:path extrusionOk="0" h="248816" w="248816">
                <a:moveTo>
                  <a:pt x="124408" y="0"/>
                </a:moveTo>
                <a:lnTo>
                  <a:pt x="124408" y="0"/>
                </a:lnTo>
                <a:cubicBezTo>
                  <a:pt x="193071" y="0"/>
                  <a:pt x="248816" y="55745"/>
                  <a:pt x="248816" y="124408"/>
                </a:cubicBezTo>
                <a:lnTo>
                  <a:pt x="248816" y="124408"/>
                </a:lnTo>
                <a:cubicBezTo>
                  <a:pt x="248816" y="193071"/>
                  <a:pt x="193071" y="248816"/>
                  <a:pt x="124408" y="248816"/>
                </a:cubicBezTo>
                <a:lnTo>
                  <a:pt x="124408" y="248816"/>
                </a:lnTo>
                <a:cubicBezTo>
                  <a:pt x="55745" y="248816"/>
                  <a:pt x="0" y="193071"/>
                  <a:pt x="0" y="124408"/>
                </a:cubicBezTo>
                <a:lnTo>
                  <a:pt x="0" y="124408"/>
                </a:lnTo>
                <a:cubicBezTo>
                  <a:pt x="0" y="55745"/>
                  <a:pt x="55745" y="0"/>
                  <a:pt x="124408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475417" y="3741131"/>
            <a:ext cx="311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926" name="Google Shape;926;p23"/>
          <p:cNvSpPr/>
          <p:nvPr/>
        </p:nvSpPr>
        <p:spPr>
          <a:xfrm>
            <a:off x="861971" y="3918857"/>
            <a:ext cx="25326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 daily/weekly to score all active customers.</a:t>
            </a:r>
            <a:endParaRPr b="0" i="0" sz="1600" u="none" cap="none" strike="noStrike"/>
          </a:p>
        </p:txBody>
      </p:sp>
      <p:sp>
        <p:nvSpPr>
          <p:cNvPr id="927" name="Google Shape;927;p23"/>
          <p:cNvSpPr/>
          <p:nvPr/>
        </p:nvSpPr>
        <p:spPr>
          <a:xfrm>
            <a:off x="506519" y="4203219"/>
            <a:ext cx="248816" cy="248816"/>
          </a:xfrm>
          <a:custGeom>
            <a:rect b="b" l="l" r="r" t="t"/>
            <a:pathLst>
              <a:path extrusionOk="0" h="248816" w="248816">
                <a:moveTo>
                  <a:pt x="124408" y="0"/>
                </a:moveTo>
                <a:lnTo>
                  <a:pt x="124408" y="0"/>
                </a:lnTo>
                <a:cubicBezTo>
                  <a:pt x="193071" y="0"/>
                  <a:pt x="248816" y="55745"/>
                  <a:pt x="248816" y="124408"/>
                </a:cubicBezTo>
                <a:lnTo>
                  <a:pt x="248816" y="124408"/>
                </a:lnTo>
                <a:cubicBezTo>
                  <a:pt x="248816" y="193071"/>
                  <a:pt x="193071" y="248816"/>
                  <a:pt x="124408" y="248816"/>
                </a:cubicBezTo>
                <a:lnTo>
                  <a:pt x="124408" y="248816"/>
                </a:lnTo>
                <a:cubicBezTo>
                  <a:pt x="55745" y="248816"/>
                  <a:pt x="0" y="193071"/>
                  <a:pt x="0" y="124408"/>
                </a:cubicBezTo>
                <a:lnTo>
                  <a:pt x="0" y="124408"/>
                </a:lnTo>
                <a:cubicBezTo>
                  <a:pt x="0" y="55745"/>
                  <a:pt x="55745" y="0"/>
                  <a:pt x="124408" y="0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3"/>
          <p:cNvSpPr/>
          <p:nvPr/>
        </p:nvSpPr>
        <p:spPr>
          <a:xfrm>
            <a:off x="475417" y="4203219"/>
            <a:ext cx="311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929" name="Google Shape;929;p23"/>
          <p:cNvSpPr/>
          <p:nvPr/>
        </p:nvSpPr>
        <p:spPr>
          <a:xfrm>
            <a:off x="861971" y="4380945"/>
            <a:ext cx="28080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Push high-risk customer lists to CRM for campaigns.</a:t>
            </a:r>
            <a:endParaRPr b="0" i="0" sz="1600" u="none" cap="none" strike="noStrike"/>
          </a:p>
        </p:txBody>
      </p:sp>
      <p:sp>
        <p:nvSpPr>
          <p:cNvPr id="930" name="Google Shape;930;p23"/>
          <p:cNvSpPr/>
          <p:nvPr/>
        </p:nvSpPr>
        <p:spPr>
          <a:xfrm>
            <a:off x="506519" y="4665306"/>
            <a:ext cx="248816" cy="248816"/>
          </a:xfrm>
          <a:custGeom>
            <a:rect b="b" l="l" r="r" t="t"/>
            <a:pathLst>
              <a:path extrusionOk="0" h="248816" w="248816">
                <a:moveTo>
                  <a:pt x="124408" y="0"/>
                </a:moveTo>
                <a:lnTo>
                  <a:pt x="124408" y="0"/>
                </a:lnTo>
                <a:cubicBezTo>
                  <a:pt x="193071" y="0"/>
                  <a:pt x="248816" y="55745"/>
                  <a:pt x="248816" y="124408"/>
                </a:cubicBezTo>
                <a:lnTo>
                  <a:pt x="248816" y="124408"/>
                </a:lnTo>
                <a:cubicBezTo>
                  <a:pt x="248816" y="193071"/>
                  <a:pt x="193071" y="248816"/>
                  <a:pt x="124408" y="248816"/>
                </a:cubicBezTo>
                <a:lnTo>
                  <a:pt x="124408" y="248816"/>
                </a:lnTo>
                <a:cubicBezTo>
                  <a:pt x="55745" y="248816"/>
                  <a:pt x="0" y="193071"/>
                  <a:pt x="0" y="124408"/>
                </a:cubicBezTo>
                <a:lnTo>
                  <a:pt x="0" y="124408"/>
                </a:lnTo>
                <a:cubicBezTo>
                  <a:pt x="0" y="55745"/>
                  <a:pt x="55745" y="0"/>
                  <a:pt x="124408" y="0"/>
                </a:cubicBezTo>
                <a:close/>
              </a:path>
            </a:pathLst>
          </a:custGeom>
          <a:solidFill>
            <a:srgbClr val="6C7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/>
          <p:cNvSpPr/>
          <p:nvPr/>
        </p:nvSpPr>
        <p:spPr>
          <a:xfrm>
            <a:off x="475417" y="4665306"/>
            <a:ext cx="311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932" name="Google Shape;932;p23"/>
          <p:cNvSpPr/>
          <p:nvPr/>
        </p:nvSpPr>
        <p:spPr>
          <a:xfrm>
            <a:off x="861971" y="4843032"/>
            <a:ext cx="30480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Trigger notifications for customers with &gt;90% churn risk.</a:t>
            </a:r>
            <a:endParaRPr b="0" i="0" sz="1600" u="none" cap="none" strike="noStrike"/>
          </a:p>
        </p:txBody>
      </p:sp>
      <p:sp>
        <p:nvSpPr>
          <p:cNvPr id="933" name="Google Shape;933;p23"/>
          <p:cNvSpPr/>
          <p:nvPr/>
        </p:nvSpPr>
        <p:spPr>
          <a:xfrm>
            <a:off x="506519" y="5127394"/>
            <a:ext cx="248816" cy="248816"/>
          </a:xfrm>
          <a:custGeom>
            <a:rect b="b" l="l" r="r" t="t"/>
            <a:pathLst>
              <a:path extrusionOk="0" h="248816" w="248816">
                <a:moveTo>
                  <a:pt x="124408" y="0"/>
                </a:moveTo>
                <a:lnTo>
                  <a:pt x="124408" y="0"/>
                </a:lnTo>
                <a:cubicBezTo>
                  <a:pt x="193071" y="0"/>
                  <a:pt x="248816" y="55745"/>
                  <a:pt x="248816" y="124408"/>
                </a:cubicBezTo>
                <a:lnTo>
                  <a:pt x="248816" y="124408"/>
                </a:lnTo>
                <a:cubicBezTo>
                  <a:pt x="248816" y="193071"/>
                  <a:pt x="193071" y="248816"/>
                  <a:pt x="124408" y="248816"/>
                </a:cubicBezTo>
                <a:lnTo>
                  <a:pt x="124408" y="248816"/>
                </a:lnTo>
                <a:cubicBezTo>
                  <a:pt x="55745" y="248816"/>
                  <a:pt x="0" y="193071"/>
                  <a:pt x="0" y="124408"/>
                </a:cubicBezTo>
                <a:lnTo>
                  <a:pt x="0" y="124408"/>
                </a:lnTo>
                <a:cubicBezTo>
                  <a:pt x="0" y="55745"/>
                  <a:pt x="55745" y="0"/>
                  <a:pt x="124408" y="0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475417" y="5127394"/>
            <a:ext cx="311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935" name="Google Shape;935;p23"/>
          <p:cNvSpPr/>
          <p:nvPr/>
        </p:nvSpPr>
        <p:spPr>
          <a:xfrm>
            <a:off x="857471" y="4945961"/>
            <a:ext cx="230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936" name="Google Shape;936;p23"/>
          <p:cNvSpPr/>
          <p:nvPr/>
        </p:nvSpPr>
        <p:spPr>
          <a:xfrm>
            <a:off x="861971" y="5305120"/>
            <a:ext cx="22926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 campaign impact on churn rates.</a:t>
            </a:r>
            <a:endParaRPr b="0" i="0" sz="1600" u="none" cap="none" strike="noStrike"/>
          </a:p>
        </p:txBody>
      </p:sp>
      <p:sp>
        <p:nvSpPr>
          <p:cNvPr id="937" name="Google Shape;937;p23"/>
          <p:cNvSpPr/>
          <p:nvPr/>
        </p:nvSpPr>
        <p:spPr>
          <a:xfrm>
            <a:off x="6173477" y="3239055"/>
            <a:ext cx="5660571" cy="1821691"/>
          </a:xfrm>
          <a:custGeom>
            <a:rect b="b" l="l" r="r" t="t"/>
            <a:pathLst>
              <a:path extrusionOk="0" h="1821691" w="5660571">
                <a:moveTo>
                  <a:pt x="71082" y="0"/>
                </a:moveTo>
                <a:lnTo>
                  <a:pt x="5589489" y="0"/>
                </a:lnTo>
                <a:cubicBezTo>
                  <a:pt x="5628747" y="0"/>
                  <a:pt x="5660571" y="31825"/>
                  <a:pt x="5660571" y="71082"/>
                </a:cubicBezTo>
                <a:lnTo>
                  <a:pt x="5660571" y="1750609"/>
                </a:lnTo>
                <a:cubicBezTo>
                  <a:pt x="5660571" y="1789866"/>
                  <a:pt x="5628747" y="1821691"/>
                  <a:pt x="5589489" y="1821691"/>
                </a:cubicBezTo>
                <a:lnTo>
                  <a:pt x="71082" y="1821691"/>
                </a:lnTo>
                <a:cubicBezTo>
                  <a:pt x="31825" y="1821691"/>
                  <a:pt x="0" y="1789866"/>
                  <a:pt x="0" y="1750609"/>
                </a:cubicBezTo>
                <a:lnTo>
                  <a:pt x="0" y="71082"/>
                </a:lnTo>
                <a:cubicBezTo>
                  <a:pt x="0" y="31851"/>
                  <a:pt x="31851" y="0"/>
                  <a:pt x="71082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/>
          <p:cNvSpPr/>
          <p:nvPr/>
        </p:nvSpPr>
        <p:spPr>
          <a:xfrm>
            <a:off x="6332320" y="3430111"/>
            <a:ext cx="179948" cy="159953"/>
          </a:xfrm>
          <a:custGeom>
            <a:rect b="b" l="l" r="r" t="t"/>
            <a:pathLst>
              <a:path extrusionOk="0" h="159953" w="179948">
                <a:moveTo>
                  <a:pt x="70011" y="30335"/>
                </a:moveTo>
                <a:lnTo>
                  <a:pt x="70011" y="45830"/>
                </a:lnTo>
                <a:lnTo>
                  <a:pt x="70167" y="45987"/>
                </a:lnTo>
                <a:cubicBezTo>
                  <a:pt x="72198" y="20244"/>
                  <a:pt x="93723" y="0"/>
                  <a:pt x="119996" y="0"/>
                </a:cubicBezTo>
                <a:cubicBezTo>
                  <a:pt x="126276" y="0"/>
                  <a:pt x="132305" y="1156"/>
                  <a:pt x="137835" y="3280"/>
                </a:cubicBezTo>
                <a:cubicBezTo>
                  <a:pt x="140959" y="4467"/>
                  <a:pt x="141521" y="8435"/>
                  <a:pt x="139178" y="10809"/>
                </a:cubicBezTo>
                <a:lnTo>
                  <a:pt x="111467" y="38520"/>
                </a:lnTo>
                <a:cubicBezTo>
                  <a:pt x="110530" y="39457"/>
                  <a:pt x="109999" y="40738"/>
                  <a:pt x="109999" y="42050"/>
                </a:cubicBezTo>
                <a:lnTo>
                  <a:pt x="109999" y="54984"/>
                </a:lnTo>
                <a:cubicBezTo>
                  <a:pt x="109999" y="57733"/>
                  <a:pt x="112249" y="59983"/>
                  <a:pt x="114998" y="59983"/>
                </a:cubicBezTo>
                <a:lnTo>
                  <a:pt x="127931" y="59983"/>
                </a:lnTo>
                <a:cubicBezTo>
                  <a:pt x="129244" y="59983"/>
                  <a:pt x="130524" y="59451"/>
                  <a:pt x="131462" y="58514"/>
                </a:cubicBezTo>
                <a:lnTo>
                  <a:pt x="159172" y="30804"/>
                </a:lnTo>
                <a:cubicBezTo>
                  <a:pt x="161547" y="28429"/>
                  <a:pt x="165514" y="29023"/>
                  <a:pt x="166701" y="32147"/>
                </a:cubicBezTo>
                <a:cubicBezTo>
                  <a:pt x="168826" y="37677"/>
                  <a:pt x="169982" y="43706"/>
                  <a:pt x="169982" y="49985"/>
                </a:cubicBezTo>
                <a:cubicBezTo>
                  <a:pt x="169982" y="68917"/>
                  <a:pt x="159453" y="85413"/>
                  <a:pt x="143896" y="93879"/>
                </a:cubicBezTo>
                <a:lnTo>
                  <a:pt x="169357" y="119340"/>
                </a:lnTo>
                <a:cubicBezTo>
                  <a:pt x="175199" y="125182"/>
                  <a:pt x="175199" y="134679"/>
                  <a:pt x="169357" y="140553"/>
                </a:cubicBezTo>
                <a:lnTo>
                  <a:pt x="150581" y="159329"/>
                </a:lnTo>
                <a:cubicBezTo>
                  <a:pt x="144739" y="165171"/>
                  <a:pt x="135242" y="165171"/>
                  <a:pt x="129369" y="159329"/>
                </a:cubicBezTo>
                <a:lnTo>
                  <a:pt x="90005" y="119965"/>
                </a:lnTo>
                <a:cubicBezTo>
                  <a:pt x="81445" y="111405"/>
                  <a:pt x="79508" y="98752"/>
                  <a:pt x="84225" y="88318"/>
                </a:cubicBezTo>
                <a:lnTo>
                  <a:pt x="55890" y="59983"/>
                </a:lnTo>
                <a:lnTo>
                  <a:pt x="40394" y="59983"/>
                </a:lnTo>
                <a:cubicBezTo>
                  <a:pt x="37052" y="59983"/>
                  <a:pt x="33928" y="58327"/>
                  <a:pt x="32084" y="55546"/>
                </a:cubicBezTo>
                <a:lnTo>
                  <a:pt x="7310" y="18401"/>
                </a:lnTo>
                <a:cubicBezTo>
                  <a:pt x="5998" y="16433"/>
                  <a:pt x="6248" y="13777"/>
                  <a:pt x="7935" y="12090"/>
                </a:cubicBezTo>
                <a:lnTo>
                  <a:pt x="22119" y="-2093"/>
                </a:lnTo>
                <a:cubicBezTo>
                  <a:pt x="23806" y="-3780"/>
                  <a:pt x="26430" y="-4030"/>
                  <a:pt x="28429" y="-2718"/>
                </a:cubicBezTo>
                <a:lnTo>
                  <a:pt x="65575" y="22025"/>
                </a:lnTo>
                <a:cubicBezTo>
                  <a:pt x="68355" y="23868"/>
                  <a:pt x="70011" y="26992"/>
                  <a:pt x="70011" y="30335"/>
                </a:cubicBezTo>
                <a:close/>
                <a:moveTo>
                  <a:pt x="67355" y="92660"/>
                </a:moveTo>
                <a:cubicBezTo>
                  <a:pt x="65387" y="104220"/>
                  <a:pt x="68105" y="116435"/>
                  <a:pt x="75603" y="126213"/>
                </a:cubicBezTo>
                <a:lnTo>
                  <a:pt x="45924" y="155861"/>
                </a:lnTo>
                <a:cubicBezTo>
                  <a:pt x="37145" y="164639"/>
                  <a:pt x="22900" y="164639"/>
                  <a:pt x="14121" y="155861"/>
                </a:cubicBezTo>
                <a:cubicBezTo>
                  <a:pt x="5342" y="147082"/>
                  <a:pt x="5342" y="132836"/>
                  <a:pt x="14121" y="124058"/>
                </a:cubicBezTo>
                <a:lnTo>
                  <a:pt x="56421" y="81757"/>
                </a:lnTo>
                <a:lnTo>
                  <a:pt x="67355" y="92692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/>
          <p:nvPr/>
        </p:nvSpPr>
        <p:spPr>
          <a:xfrm>
            <a:off x="6512286" y="3142117"/>
            <a:ext cx="524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940" name="Google Shape;940;p23"/>
          <p:cNvSpPr/>
          <p:nvPr/>
        </p:nvSpPr>
        <p:spPr>
          <a:xfrm>
            <a:off x="6320101" y="3705586"/>
            <a:ext cx="5367324" cy="568723"/>
          </a:xfrm>
          <a:custGeom>
            <a:rect b="b" l="l" r="r" t="t"/>
            <a:pathLst>
              <a:path extrusionOk="0" h="568723" w="5367324">
                <a:moveTo>
                  <a:pt x="35545" y="0"/>
                </a:moveTo>
                <a:lnTo>
                  <a:pt x="5331778" y="0"/>
                </a:lnTo>
                <a:cubicBezTo>
                  <a:pt x="5351409" y="0"/>
                  <a:pt x="5367324" y="15914"/>
                  <a:pt x="5367324" y="35545"/>
                </a:cubicBezTo>
                <a:lnTo>
                  <a:pt x="5367324" y="533178"/>
                </a:lnTo>
                <a:cubicBezTo>
                  <a:pt x="5367324" y="552809"/>
                  <a:pt x="5351409" y="568723"/>
                  <a:pt x="5331778" y="568723"/>
                </a:cubicBezTo>
                <a:lnTo>
                  <a:pt x="35545" y="568723"/>
                </a:lnTo>
                <a:cubicBezTo>
                  <a:pt x="15914" y="568723"/>
                  <a:pt x="0" y="552809"/>
                  <a:pt x="0" y="533178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3"/>
          <p:cNvSpPr/>
          <p:nvPr/>
        </p:nvSpPr>
        <p:spPr>
          <a:xfrm>
            <a:off x="6391192" y="3776676"/>
            <a:ext cx="52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Regular Retraining</a:t>
            </a:r>
            <a:endParaRPr b="0" i="0" sz="1600" u="none" cap="none" strike="noStrike"/>
          </a:p>
        </p:txBody>
      </p:sp>
      <p:sp>
        <p:nvSpPr>
          <p:cNvPr id="942" name="Google Shape;942;p23"/>
          <p:cNvSpPr/>
          <p:nvPr/>
        </p:nvSpPr>
        <p:spPr>
          <a:xfrm>
            <a:off x="6391192" y="4025493"/>
            <a:ext cx="52872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Retrain monthly/quarterly with new data to maintain accuracy.</a:t>
            </a:r>
            <a:endParaRPr b="0" i="0" sz="1600" u="none" cap="none" strike="noStrike"/>
          </a:p>
        </p:txBody>
      </p:sp>
      <p:sp>
        <p:nvSpPr>
          <p:cNvPr id="943" name="Google Shape;943;p23"/>
          <p:cNvSpPr/>
          <p:nvPr/>
        </p:nvSpPr>
        <p:spPr>
          <a:xfrm>
            <a:off x="6320101" y="4345399"/>
            <a:ext cx="5367324" cy="568723"/>
          </a:xfrm>
          <a:custGeom>
            <a:rect b="b" l="l" r="r" t="t"/>
            <a:pathLst>
              <a:path extrusionOk="0" h="568723" w="5367324">
                <a:moveTo>
                  <a:pt x="35545" y="0"/>
                </a:moveTo>
                <a:lnTo>
                  <a:pt x="5331778" y="0"/>
                </a:lnTo>
                <a:cubicBezTo>
                  <a:pt x="5351409" y="0"/>
                  <a:pt x="5367324" y="15914"/>
                  <a:pt x="5367324" y="35545"/>
                </a:cubicBezTo>
                <a:lnTo>
                  <a:pt x="5367324" y="533178"/>
                </a:lnTo>
                <a:cubicBezTo>
                  <a:pt x="5367324" y="552809"/>
                  <a:pt x="5351409" y="568723"/>
                  <a:pt x="5331778" y="568723"/>
                </a:cubicBezTo>
                <a:lnTo>
                  <a:pt x="35545" y="568723"/>
                </a:lnTo>
                <a:cubicBezTo>
                  <a:pt x="15914" y="568723"/>
                  <a:pt x="0" y="552809"/>
                  <a:pt x="0" y="533178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3"/>
          <p:cNvSpPr/>
          <p:nvPr/>
        </p:nvSpPr>
        <p:spPr>
          <a:xfrm>
            <a:off x="6391192" y="4416490"/>
            <a:ext cx="52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Monitoring</a:t>
            </a:r>
            <a:endParaRPr b="0" i="0" sz="1600" u="none" cap="none" strike="noStrike"/>
          </a:p>
        </p:txBody>
      </p:sp>
      <p:sp>
        <p:nvSpPr>
          <p:cNvPr id="945" name="Google Shape;945;p23"/>
          <p:cNvSpPr/>
          <p:nvPr/>
        </p:nvSpPr>
        <p:spPr>
          <a:xfrm>
            <a:off x="6391192" y="4665306"/>
            <a:ext cx="52872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AUC, precision, recall. Set up alerts for drops.</a:t>
            </a:r>
            <a:endParaRPr b="0" i="0" sz="1600" u="none" cap="none" strike="noStrike"/>
          </a:p>
        </p:txBody>
      </p:sp>
      <p:sp>
        <p:nvSpPr>
          <p:cNvPr id="946" name="Google Shape;946;p23"/>
          <p:cNvSpPr/>
          <p:nvPr/>
        </p:nvSpPr>
        <p:spPr>
          <a:xfrm>
            <a:off x="6173477" y="5211813"/>
            <a:ext cx="5660571" cy="1288513"/>
          </a:xfrm>
          <a:custGeom>
            <a:rect b="b" l="l" r="r" t="t"/>
            <a:pathLst>
              <a:path extrusionOk="0" h="1288513" w="5660571">
                <a:moveTo>
                  <a:pt x="71087" y="0"/>
                </a:moveTo>
                <a:lnTo>
                  <a:pt x="5589484" y="0"/>
                </a:lnTo>
                <a:cubicBezTo>
                  <a:pt x="5628745" y="0"/>
                  <a:pt x="5660571" y="31827"/>
                  <a:pt x="5660571" y="71087"/>
                </a:cubicBezTo>
                <a:lnTo>
                  <a:pt x="5660571" y="1217426"/>
                </a:lnTo>
                <a:cubicBezTo>
                  <a:pt x="5660571" y="1256686"/>
                  <a:pt x="5628745" y="1288513"/>
                  <a:pt x="5589484" y="1288513"/>
                </a:cubicBezTo>
                <a:lnTo>
                  <a:pt x="71087" y="1288513"/>
                </a:lnTo>
                <a:cubicBezTo>
                  <a:pt x="31827" y="1288513"/>
                  <a:pt x="0" y="1256686"/>
                  <a:pt x="0" y="1217426"/>
                </a:cubicBezTo>
                <a:lnTo>
                  <a:pt x="0" y="71087"/>
                </a:lnTo>
                <a:cubicBezTo>
                  <a:pt x="0" y="31853"/>
                  <a:pt x="31853" y="0"/>
                  <a:pt x="71087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3"/>
          <p:cNvSpPr/>
          <p:nvPr/>
        </p:nvSpPr>
        <p:spPr>
          <a:xfrm>
            <a:off x="6342317" y="5402869"/>
            <a:ext cx="159953" cy="159953"/>
          </a:xfrm>
          <a:custGeom>
            <a:rect b="b" l="l" r="r" t="t"/>
            <a:pathLst>
              <a:path extrusionOk="0" h="159953" w="159953">
                <a:moveTo>
                  <a:pt x="9997" y="9997"/>
                </a:moveTo>
                <a:cubicBezTo>
                  <a:pt x="15527" y="9997"/>
                  <a:pt x="19994" y="14465"/>
                  <a:pt x="19994" y="19994"/>
                </a:cubicBezTo>
                <a:lnTo>
                  <a:pt x="19994" y="124964"/>
                </a:lnTo>
                <a:cubicBezTo>
                  <a:pt x="19994" y="127713"/>
                  <a:pt x="22244" y="129962"/>
                  <a:pt x="24993" y="129962"/>
                </a:cubicBezTo>
                <a:lnTo>
                  <a:pt x="149956" y="129962"/>
                </a:lnTo>
                <a:cubicBezTo>
                  <a:pt x="155486" y="129962"/>
                  <a:pt x="159953" y="134430"/>
                  <a:pt x="159953" y="139959"/>
                </a:cubicBezTo>
                <a:cubicBezTo>
                  <a:pt x="159953" y="145489"/>
                  <a:pt x="155486" y="149956"/>
                  <a:pt x="149956" y="149956"/>
                </a:cubicBezTo>
                <a:lnTo>
                  <a:pt x="24993" y="149956"/>
                </a:lnTo>
                <a:cubicBezTo>
                  <a:pt x="11184" y="149956"/>
                  <a:pt x="0" y="138772"/>
                  <a:pt x="0" y="124964"/>
                </a:cubicBezTo>
                <a:lnTo>
                  <a:pt x="0" y="19994"/>
                </a:lnTo>
                <a:cubicBezTo>
                  <a:pt x="0" y="14465"/>
                  <a:pt x="4467" y="9997"/>
                  <a:pt x="9997" y="9997"/>
                </a:cubicBezTo>
                <a:close/>
                <a:moveTo>
                  <a:pt x="39988" y="29991"/>
                </a:moveTo>
                <a:cubicBezTo>
                  <a:pt x="39988" y="24462"/>
                  <a:pt x="44456" y="19994"/>
                  <a:pt x="49985" y="19994"/>
                </a:cubicBezTo>
                <a:lnTo>
                  <a:pt x="109968" y="19994"/>
                </a:lnTo>
                <a:cubicBezTo>
                  <a:pt x="115498" y="19994"/>
                  <a:pt x="119965" y="24462"/>
                  <a:pt x="119965" y="29991"/>
                </a:cubicBezTo>
                <a:cubicBezTo>
                  <a:pt x="119965" y="35521"/>
                  <a:pt x="115498" y="39988"/>
                  <a:pt x="109968" y="39988"/>
                </a:cubicBezTo>
                <a:lnTo>
                  <a:pt x="49985" y="39988"/>
                </a:lnTo>
                <a:cubicBezTo>
                  <a:pt x="44456" y="39988"/>
                  <a:pt x="39988" y="35521"/>
                  <a:pt x="39988" y="29991"/>
                </a:cubicBezTo>
                <a:close/>
                <a:moveTo>
                  <a:pt x="49985" y="54984"/>
                </a:moveTo>
                <a:lnTo>
                  <a:pt x="89974" y="54984"/>
                </a:lnTo>
                <a:cubicBezTo>
                  <a:pt x="95503" y="54984"/>
                  <a:pt x="99971" y="59451"/>
                  <a:pt x="99971" y="64981"/>
                </a:cubicBezTo>
                <a:cubicBezTo>
                  <a:pt x="99971" y="70511"/>
                  <a:pt x="95503" y="74978"/>
                  <a:pt x="89974" y="74978"/>
                </a:cubicBezTo>
                <a:lnTo>
                  <a:pt x="49985" y="74978"/>
                </a:lnTo>
                <a:cubicBezTo>
                  <a:pt x="44456" y="74978"/>
                  <a:pt x="39988" y="70511"/>
                  <a:pt x="39988" y="64981"/>
                </a:cubicBezTo>
                <a:cubicBezTo>
                  <a:pt x="39988" y="59451"/>
                  <a:pt x="44456" y="54984"/>
                  <a:pt x="49985" y="54984"/>
                </a:cubicBezTo>
                <a:close/>
                <a:moveTo>
                  <a:pt x="49985" y="89974"/>
                </a:moveTo>
                <a:lnTo>
                  <a:pt x="129962" y="89974"/>
                </a:lnTo>
                <a:cubicBezTo>
                  <a:pt x="135492" y="89974"/>
                  <a:pt x="139959" y="94441"/>
                  <a:pt x="139959" y="99971"/>
                </a:cubicBezTo>
                <a:cubicBezTo>
                  <a:pt x="139959" y="105500"/>
                  <a:pt x="135492" y="109968"/>
                  <a:pt x="129962" y="109968"/>
                </a:cubicBezTo>
                <a:lnTo>
                  <a:pt x="49985" y="109968"/>
                </a:lnTo>
                <a:cubicBezTo>
                  <a:pt x="44456" y="109968"/>
                  <a:pt x="39988" y="105500"/>
                  <a:pt x="39988" y="99971"/>
                </a:cubicBezTo>
                <a:cubicBezTo>
                  <a:pt x="39988" y="94441"/>
                  <a:pt x="44456" y="89974"/>
                  <a:pt x="49985" y="89974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3"/>
          <p:cNvSpPr/>
          <p:nvPr/>
        </p:nvSpPr>
        <p:spPr>
          <a:xfrm>
            <a:off x="6524486" y="5358437"/>
            <a:ext cx="524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9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A/B Testing Strategy</a:t>
            </a:r>
            <a:endParaRPr b="0" i="0" sz="1600" u="none" cap="none" strike="noStrike"/>
          </a:p>
        </p:txBody>
      </p:sp>
      <p:sp>
        <p:nvSpPr>
          <p:cNvPr id="949" name="Google Shape;949;p23"/>
          <p:cNvSpPr/>
          <p:nvPr/>
        </p:nvSpPr>
        <p:spPr>
          <a:xfrm>
            <a:off x="6320101" y="5678344"/>
            <a:ext cx="54294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retention strategies: target high-risk customers vs. a control group.</a:t>
            </a:r>
            <a:endParaRPr b="0" i="0" sz="1600" u="none" cap="none" strike="noStrike"/>
          </a:p>
        </p:txBody>
      </p:sp>
      <p:sp>
        <p:nvSpPr>
          <p:cNvPr id="950" name="Google Shape;950;p23"/>
          <p:cNvSpPr/>
          <p:nvPr/>
        </p:nvSpPr>
        <p:spPr>
          <a:xfrm>
            <a:off x="6320101" y="5927160"/>
            <a:ext cx="5367324" cy="426542"/>
          </a:xfrm>
          <a:custGeom>
            <a:rect b="b" l="l" r="r" t="t"/>
            <a:pathLst>
              <a:path extrusionOk="0" h="426542" w="5367324">
                <a:moveTo>
                  <a:pt x="35544" y="0"/>
                </a:moveTo>
                <a:lnTo>
                  <a:pt x="5331780" y="0"/>
                </a:lnTo>
                <a:cubicBezTo>
                  <a:pt x="5351410" y="0"/>
                  <a:pt x="5367324" y="15913"/>
                  <a:pt x="5367324" y="35544"/>
                </a:cubicBezTo>
                <a:lnTo>
                  <a:pt x="5367324" y="390999"/>
                </a:lnTo>
                <a:cubicBezTo>
                  <a:pt x="5367324" y="410629"/>
                  <a:pt x="5351410" y="426542"/>
                  <a:pt x="5331780" y="426542"/>
                </a:cubicBezTo>
                <a:lnTo>
                  <a:pt x="35544" y="426542"/>
                </a:lnTo>
                <a:cubicBezTo>
                  <a:pt x="15913" y="426542"/>
                  <a:pt x="0" y="410629"/>
                  <a:pt x="0" y="390999"/>
                </a:cubicBezTo>
                <a:lnTo>
                  <a:pt x="0" y="35544"/>
                </a:lnTo>
                <a:cubicBezTo>
                  <a:pt x="0" y="15927"/>
                  <a:pt x="15927" y="0"/>
                  <a:pt x="35544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6391192" y="5998251"/>
            <a:ext cx="5278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9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b="0" i="0" lang="en-US" sz="839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1000 customers (90% risk). Control: 450, Treatment: 450. If treatment reduces churn to 80%, you retain 45 extra customers.</a:t>
            </a:r>
            <a:endParaRPr b="0" i="0" sz="1600" u="none" cap="none" strike="noStrike"/>
          </a:p>
        </p:txBody>
      </p:sp>
      <p:sp>
        <p:nvSpPr>
          <p:cNvPr id="952" name="Google Shape;952;p23"/>
          <p:cNvSpPr/>
          <p:nvPr/>
        </p:nvSpPr>
        <p:spPr>
          <a:xfrm>
            <a:off x="355452" y="721272"/>
            <a:ext cx="116412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9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Deployment Strategy: From Notebook to Production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764222" y="1405516"/>
            <a:ext cx="10974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Production Deployment Workflow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613155" y="2365237"/>
            <a:ext cx="2559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 Model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5" name="Google Shape;955;p23"/>
          <p:cNvSpPr/>
          <p:nvPr/>
        </p:nvSpPr>
        <p:spPr>
          <a:xfrm>
            <a:off x="3417753" y="2365237"/>
            <a:ext cx="2559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Pipeline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6" name="Google Shape;956;p23"/>
          <p:cNvSpPr/>
          <p:nvPr/>
        </p:nvSpPr>
        <p:spPr>
          <a:xfrm>
            <a:off x="6222352" y="2365237"/>
            <a:ext cx="2559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 Jobs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7" name="Google Shape;957;p23"/>
          <p:cNvSpPr/>
          <p:nvPr/>
        </p:nvSpPr>
        <p:spPr>
          <a:xfrm>
            <a:off x="9026951" y="2365237"/>
            <a:ext cx="2559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8" name="Google Shape;958;p23"/>
          <p:cNvSpPr/>
          <p:nvPr/>
        </p:nvSpPr>
        <p:spPr>
          <a:xfrm>
            <a:off x="710904" y="3342729"/>
            <a:ext cx="524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9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Practical Deployment Steps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59" name="Google Shape;959;p23"/>
          <p:cNvSpPr/>
          <p:nvPr/>
        </p:nvSpPr>
        <p:spPr>
          <a:xfrm>
            <a:off x="861971" y="3662636"/>
            <a:ext cx="254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 Predictions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861971" y="4124723"/>
            <a:ext cx="2817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CRM Integration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1" name="Google Shape;961;p23"/>
          <p:cNvSpPr/>
          <p:nvPr/>
        </p:nvSpPr>
        <p:spPr>
          <a:xfrm>
            <a:off x="861971" y="4586811"/>
            <a:ext cx="3057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Up Alerts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2" name="Google Shape;962;p23"/>
          <p:cNvSpPr/>
          <p:nvPr/>
        </p:nvSpPr>
        <p:spPr>
          <a:xfrm>
            <a:off x="861971" y="5048898"/>
            <a:ext cx="2301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Effectiveness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3" name="Google Shape;963;p23"/>
          <p:cNvSpPr/>
          <p:nvPr/>
        </p:nvSpPr>
        <p:spPr>
          <a:xfrm>
            <a:off x="6524486" y="3342729"/>
            <a:ext cx="524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9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Model Maintenance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4" name="Google Shape;964;p23"/>
          <p:cNvSpPr/>
          <p:nvPr/>
        </p:nvSpPr>
        <p:spPr>
          <a:xfrm>
            <a:off x="6391192" y="3733726"/>
            <a:ext cx="52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Regular Retraining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5" name="Google Shape;965;p23"/>
          <p:cNvSpPr/>
          <p:nvPr/>
        </p:nvSpPr>
        <p:spPr>
          <a:xfrm>
            <a:off x="6391192" y="4373540"/>
            <a:ext cx="529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Monitoring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6" name="Google Shape;966;p23"/>
          <p:cNvSpPr/>
          <p:nvPr/>
        </p:nvSpPr>
        <p:spPr>
          <a:xfrm>
            <a:off x="6524486" y="5315487"/>
            <a:ext cx="524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9" u="none" cap="none" strike="noStrike">
                <a:solidFill>
                  <a:srgbClr val="3274B9"/>
                </a:solidFill>
                <a:latin typeface="Liter"/>
                <a:ea typeface="Liter"/>
                <a:cs typeface="Liter"/>
                <a:sym typeface="Liter"/>
              </a:rPr>
              <a:t>A/B Testing Strategy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  <p:sp>
        <p:nvSpPr>
          <p:cNvPr id="967" name="Google Shape;967;p23"/>
          <p:cNvSpPr/>
          <p:nvPr/>
        </p:nvSpPr>
        <p:spPr>
          <a:xfrm>
            <a:off x="6391192" y="5955301"/>
            <a:ext cx="5278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9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b="0" i="0" lang="en-US" sz="839" u="none" cap="none" strike="noStrike">
                <a:solidFill>
                  <a:srgbClr val="3274B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1000 customers (90% risk). Control: 450, Treatment: 450. If treatment reduces churn to 80%, you retain 45 extra customers.</a:t>
            </a:r>
            <a:endParaRPr b="0" i="0" sz="1600" u="none" cap="none" strike="noStrike">
              <a:solidFill>
                <a:srgbClr val="3274B9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oday.duke.edu/b4f027aa98ddd7dccd87a2b5fb46ee0fea0570d7.jpg" id="973" name="Google Shape;973;p24"/>
          <p:cNvPicPr preferRelativeResize="0"/>
          <p:nvPr/>
        </p:nvPicPr>
        <p:blipFill rotWithShape="1">
          <a:blip r:embed="rId3">
            <a:alphaModFix amt="20000"/>
          </a:blip>
          <a:srcRect b="6361" l="0" r="0" t="6370"/>
          <a:stretch/>
        </p:blipFill>
        <p:spPr>
          <a:xfrm>
            <a:off x="0" y="-222011"/>
            <a:ext cx="12192000" cy="7130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74" name="Google Shape;974;p24"/>
          <p:cNvSpPr/>
          <p:nvPr/>
        </p:nvSpPr>
        <p:spPr>
          <a:xfrm>
            <a:off x="-2287" y="-202986"/>
            <a:ext cx="12192000" cy="7130306"/>
          </a:xfrm>
          <a:custGeom>
            <a:rect b="b" l="l" r="r" t="t"/>
            <a:pathLst>
              <a:path extrusionOk="0" h="7130306" w="12192000">
                <a:moveTo>
                  <a:pt x="0" y="0"/>
                </a:moveTo>
                <a:lnTo>
                  <a:pt x="12192000" y="0"/>
                </a:lnTo>
                <a:lnTo>
                  <a:pt x="12192000" y="7130306"/>
                </a:lnTo>
                <a:lnTo>
                  <a:pt x="0" y="71303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975" name="Google Shape;975;p24"/>
          <p:cNvSpPr/>
          <p:nvPr/>
        </p:nvSpPr>
        <p:spPr>
          <a:xfrm>
            <a:off x="4784954" y="19021"/>
            <a:ext cx="2617802" cy="530883"/>
          </a:xfrm>
          <a:custGeom>
            <a:rect b="b" l="l" r="r" t="t"/>
            <a:pathLst>
              <a:path extrusionOk="0" h="530883" w="2617802">
                <a:moveTo>
                  <a:pt x="265441" y="0"/>
                </a:moveTo>
                <a:lnTo>
                  <a:pt x="2352360" y="0"/>
                </a:lnTo>
                <a:cubicBezTo>
                  <a:pt x="2498861" y="0"/>
                  <a:pt x="2617802" y="118940"/>
                  <a:pt x="2617802" y="265441"/>
                </a:cubicBezTo>
                <a:lnTo>
                  <a:pt x="2617802" y="265441"/>
                </a:lnTo>
                <a:cubicBezTo>
                  <a:pt x="2617802" y="411943"/>
                  <a:pt x="2498861" y="530883"/>
                  <a:pt x="2352360" y="530883"/>
                </a:cubicBezTo>
                <a:lnTo>
                  <a:pt x="265441" y="530883"/>
                </a:lnTo>
                <a:cubicBezTo>
                  <a:pt x="118940" y="530883"/>
                  <a:pt x="0" y="411943"/>
                  <a:pt x="0" y="265441"/>
                </a:cubicBezTo>
                <a:lnTo>
                  <a:pt x="0" y="265441"/>
                </a:lnTo>
                <a:cubicBezTo>
                  <a:pt x="0" y="118940"/>
                  <a:pt x="118940" y="0"/>
                  <a:pt x="265441" y="0"/>
                </a:cubicBezTo>
                <a:close/>
              </a:path>
            </a:pathLst>
          </a:custGeom>
          <a:solidFill>
            <a:srgbClr val="4DB59A">
              <a:alpha val="29800"/>
            </a:srgbClr>
          </a:solidFill>
          <a:ln cap="flat" cmpd="sng" w="25400">
            <a:solidFill>
              <a:srgbClr val="4DB5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4"/>
          <p:cNvSpPr/>
          <p:nvPr/>
        </p:nvSpPr>
        <p:spPr>
          <a:xfrm>
            <a:off x="4958864" y="138012"/>
            <a:ext cx="2270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9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CONGRATULATIONS!</a:t>
            </a:r>
            <a:endParaRPr b="0" i="0" sz="1600" u="none" cap="none" strike="noStrike"/>
          </a:p>
        </p:txBody>
      </p:sp>
      <p:sp>
        <p:nvSpPr>
          <p:cNvPr id="977" name="Google Shape;977;p24"/>
          <p:cNvSpPr/>
          <p:nvPr/>
        </p:nvSpPr>
        <p:spPr>
          <a:xfrm>
            <a:off x="3663693" y="599692"/>
            <a:ext cx="48603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24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Your Next Steps in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24" u="none" cap="none" strike="noStrike">
                <a:solidFill>
                  <a:srgbClr val="3274B9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Machine Learning</a:t>
            </a:r>
            <a:endParaRPr b="0" i="0" sz="1600" u="none" cap="none" strike="noStrike"/>
          </a:p>
        </p:txBody>
      </p:sp>
      <p:sp>
        <p:nvSpPr>
          <p:cNvPr id="978" name="Google Shape;978;p24"/>
          <p:cNvSpPr/>
          <p:nvPr/>
        </p:nvSpPr>
        <p:spPr>
          <a:xfrm>
            <a:off x="1947476" y="2070592"/>
            <a:ext cx="8292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1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You've learned three fundamental classification algorithms and built a practical churn prediction model. You now have the knowledge to tackle real-world classification problems.</a:t>
            </a:r>
            <a:endParaRPr b="0" i="0" sz="1600" u="none" cap="none" strike="noStrike"/>
          </a:p>
        </p:txBody>
      </p:sp>
      <p:sp>
        <p:nvSpPr>
          <p:cNvPr id="979" name="Google Shape;979;p24"/>
          <p:cNvSpPr/>
          <p:nvPr/>
        </p:nvSpPr>
        <p:spPr>
          <a:xfrm>
            <a:off x="1997819" y="2911284"/>
            <a:ext cx="2581189" cy="1510270"/>
          </a:xfrm>
          <a:custGeom>
            <a:rect b="b" l="l" r="r" t="t"/>
            <a:pathLst>
              <a:path extrusionOk="0" h="1510270" w="2581189">
                <a:moveTo>
                  <a:pt x="73218" y="0"/>
                </a:moveTo>
                <a:lnTo>
                  <a:pt x="2507971" y="0"/>
                </a:lnTo>
                <a:cubicBezTo>
                  <a:pt x="2548408" y="0"/>
                  <a:pt x="2581189" y="32781"/>
                  <a:pt x="2581189" y="73218"/>
                </a:cubicBezTo>
                <a:lnTo>
                  <a:pt x="2581189" y="1437052"/>
                </a:lnTo>
                <a:cubicBezTo>
                  <a:pt x="2581189" y="1477489"/>
                  <a:pt x="2548408" y="1510270"/>
                  <a:pt x="2507971" y="1510270"/>
                </a:cubicBezTo>
                <a:lnTo>
                  <a:pt x="73218" y="1510270"/>
                </a:lnTo>
                <a:cubicBezTo>
                  <a:pt x="32781" y="1510270"/>
                  <a:pt x="0" y="1477489"/>
                  <a:pt x="0" y="1437052"/>
                </a:cubicBezTo>
                <a:lnTo>
                  <a:pt x="0" y="73218"/>
                </a:lnTo>
                <a:cubicBezTo>
                  <a:pt x="0" y="32808"/>
                  <a:pt x="32808" y="0"/>
                  <a:pt x="73218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4"/>
          <p:cNvSpPr/>
          <p:nvPr/>
        </p:nvSpPr>
        <p:spPr>
          <a:xfrm>
            <a:off x="3122083" y="3156218"/>
            <a:ext cx="329514" cy="329514"/>
          </a:xfrm>
          <a:custGeom>
            <a:rect b="b" l="l" r="r" t="t"/>
            <a:pathLst>
              <a:path extrusionOk="0" h="329514" w="329514">
                <a:moveTo>
                  <a:pt x="41189" y="41189"/>
                </a:moveTo>
                <a:cubicBezTo>
                  <a:pt x="41189" y="29798"/>
                  <a:pt x="31986" y="20595"/>
                  <a:pt x="20595" y="20595"/>
                </a:cubicBezTo>
                <a:cubicBezTo>
                  <a:pt x="9203" y="20595"/>
                  <a:pt x="0" y="29798"/>
                  <a:pt x="0" y="41189"/>
                </a:cubicBezTo>
                <a:lnTo>
                  <a:pt x="0" y="257432"/>
                </a:lnTo>
                <a:cubicBezTo>
                  <a:pt x="0" y="285879"/>
                  <a:pt x="23040" y="308919"/>
                  <a:pt x="51486" y="308919"/>
                </a:cubicBezTo>
                <a:lnTo>
                  <a:pt x="308919" y="308919"/>
                </a:lnTo>
                <a:cubicBezTo>
                  <a:pt x="320310" y="308919"/>
                  <a:pt x="329514" y="299716"/>
                  <a:pt x="329514" y="288324"/>
                </a:cubicBezTo>
                <a:cubicBezTo>
                  <a:pt x="329514" y="276933"/>
                  <a:pt x="320310" y="267730"/>
                  <a:pt x="308919" y="267730"/>
                </a:cubicBezTo>
                <a:lnTo>
                  <a:pt x="51486" y="267730"/>
                </a:lnTo>
                <a:cubicBezTo>
                  <a:pt x="45823" y="267730"/>
                  <a:pt x="41189" y="263096"/>
                  <a:pt x="41189" y="257432"/>
                </a:cubicBezTo>
                <a:lnTo>
                  <a:pt x="41189" y="41189"/>
                </a:lnTo>
                <a:close/>
                <a:moveTo>
                  <a:pt x="302869" y="96923"/>
                </a:moveTo>
                <a:cubicBezTo>
                  <a:pt x="310914" y="88879"/>
                  <a:pt x="310914" y="75814"/>
                  <a:pt x="302869" y="67769"/>
                </a:cubicBezTo>
                <a:cubicBezTo>
                  <a:pt x="294824" y="59724"/>
                  <a:pt x="281760" y="59724"/>
                  <a:pt x="273715" y="67769"/>
                </a:cubicBezTo>
                <a:lnTo>
                  <a:pt x="205946" y="135603"/>
                </a:lnTo>
                <a:lnTo>
                  <a:pt x="169004" y="98725"/>
                </a:lnTo>
                <a:cubicBezTo>
                  <a:pt x="160960" y="90681"/>
                  <a:pt x="147895" y="90681"/>
                  <a:pt x="139850" y="98725"/>
                </a:cubicBezTo>
                <a:lnTo>
                  <a:pt x="78066" y="160509"/>
                </a:lnTo>
                <a:cubicBezTo>
                  <a:pt x="70022" y="168554"/>
                  <a:pt x="70022" y="181619"/>
                  <a:pt x="78066" y="189663"/>
                </a:cubicBezTo>
                <a:cubicBezTo>
                  <a:pt x="86111" y="197708"/>
                  <a:pt x="99176" y="197708"/>
                  <a:pt x="107221" y="189663"/>
                </a:cubicBezTo>
                <a:lnTo>
                  <a:pt x="154459" y="142424"/>
                </a:lnTo>
                <a:lnTo>
                  <a:pt x="191401" y="179366"/>
                </a:lnTo>
                <a:cubicBezTo>
                  <a:pt x="199446" y="187411"/>
                  <a:pt x="212510" y="187411"/>
                  <a:pt x="220555" y="179366"/>
                </a:cubicBezTo>
                <a:lnTo>
                  <a:pt x="302934" y="96988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4"/>
          <p:cNvSpPr/>
          <p:nvPr/>
        </p:nvSpPr>
        <p:spPr>
          <a:xfrm>
            <a:off x="2139693" y="3595569"/>
            <a:ext cx="2297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1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Logistic Regression</a:t>
            </a:r>
            <a:endParaRPr b="0" i="0" sz="1600" u="none" cap="none" strike="noStrike"/>
          </a:p>
        </p:txBody>
      </p:sp>
      <p:sp>
        <p:nvSpPr>
          <p:cNvPr id="982" name="Google Shape;982;p24"/>
          <p:cNvSpPr/>
          <p:nvPr/>
        </p:nvSpPr>
        <p:spPr>
          <a:xfrm>
            <a:off x="2153422" y="3925082"/>
            <a:ext cx="227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interpretability and linear problems</a:t>
            </a:r>
            <a:endParaRPr b="0" i="0" sz="1600" u="none" cap="none" strike="noStrike"/>
          </a:p>
        </p:txBody>
      </p:sp>
      <p:sp>
        <p:nvSpPr>
          <p:cNvPr id="983" name="Google Shape;983;p24"/>
          <p:cNvSpPr/>
          <p:nvPr/>
        </p:nvSpPr>
        <p:spPr>
          <a:xfrm>
            <a:off x="4804690" y="2911284"/>
            <a:ext cx="2581189" cy="1510270"/>
          </a:xfrm>
          <a:custGeom>
            <a:rect b="b" l="l" r="r" t="t"/>
            <a:pathLst>
              <a:path extrusionOk="0" h="1510270" w="2581189">
                <a:moveTo>
                  <a:pt x="73218" y="0"/>
                </a:moveTo>
                <a:lnTo>
                  <a:pt x="2507971" y="0"/>
                </a:lnTo>
                <a:cubicBezTo>
                  <a:pt x="2548408" y="0"/>
                  <a:pt x="2581189" y="32781"/>
                  <a:pt x="2581189" y="73218"/>
                </a:cubicBezTo>
                <a:lnTo>
                  <a:pt x="2581189" y="1437052"/>
                </a:lnTo>
                <a:cubicBezTo>
                  <a:pt x="2581189" y="1477489"/>
                  <a:pt x="2548408" y="1510270"/>
                  <a:pt x="2507971" y="1510270"/>
                </a:cubicBezTo>
                <a:lnTo>
                  <a:pt x="73218" y="1510270"/>
                </a:lnTo>
                <a:cubicBezTo>
                  <a:pt x="32781" y="1510270"/>
                  <a:pt x="0" y="1477489"/>
                  <a:pt x="0" y="1437052"/>
                </a:cubicBezTo>
                <a:lnTo>
                  <a:pt x="0" y="73218"/>
                </a:lnTo>
                <a:cubicBezTo>
                  <a:pt x="0" y="32808"/>
                  <a:pt x="32808" y="0"/>
                  <a:pt x="73218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4"/>
          <p:cNvSpPr/>
          <p:nvPr/>
        </p:nvSpPr>
        <p:spPr>
          <a:xfrm>
            <a:off x="5928955" y="3156218"/>
            <a:ext cx="329514" cy="329514"/>
          </a:xfrm>
          <a:custGeom>
            <a:rect b="b" l="l" r="r" t="t"/>
            <a:pathLst>
              <a:path extrusionOk="0" h="329514" w="329514">
                <a:moveTo>
                  <a:pt x="123568" y="41189"/>
                </a:moveTo>
                <a:cubicBezTo>
                  <a:pt x="123568" y="29798"/>
                  <a:pt x="132771" y="20595"/>
                  <a:pt x="144162" y="20595"/>
                </a:cubicBezTo>
                <a:lnTo>
                  <a:pt x="185351" y="20595"/>
                </a:lnTo>
                <a:cubicBezTo>
                  <a:pt x="196743" y="20595"/>
                  <a:pt x="205946" y="29798"/>
                  <a:pt x="205946" y="41189"/>
                </a:cubicBezTo>
                <a:lnTo>
                  <a:pt x="205946" y="82378"/>
                </a:lnTo>
                <a:cubicBezTo>
                  <a:pt x="205946" y="93770"/>
                  <a:pt x="196743" y="102973"/>
                  <a:pt x="185351" y="102973"/>
                </a:cubicBezTo>
                <a:lnTo>
                  <a:pt x="180203" y="102973"/>
                </a:lnTo>
                <a:lnTo>
                  <a:pt x="180203" y="144162"/>
                </a:lnTo>
                <a:lnTo>
                  <a:pt x="257432" y="144162"/>
                </a:lnTo>
                <a:cubicBezTo>
                  <a:pt x="283047" y="144162"/>
                  <a:pt x="303770" y="164885"/>
                  <a:pt x="303770" y="190500"/>
                </a:cubicBezTo>
                <a:lnTo>
                  <a:pt x="303770" y="226541"/>
                </a:lnTo>
                <a:lnTo>
                  <a:pt x="308919" y="226541"/>
                </a:lnTo>
                <a:cubicBezTo>
                  <a:pt x="320310" y="226541"/>
                  <a:pt x="329514" y="235744"/>
                  <a:pt x="329514" y="247135"/>
                </a:cubicBezTo>
                <a:lnTo>
                  <a:pt x="329514" y="288324"/>
                </a:lnTo>
                <a:cubicBezTo>
                  <a:pt x="329514" y="299716"/>
                  <a:pt x="320310" y="308919"/>
                  <a:pt x="308919" y="308919"/>
                </a:cubicBezTo>
                <a:lnTo>
                  <a:pt x="267730" y="308919"/>
                </a:lnTo>
                <a:cubicBezTo>
                  <a:pt x="256338" y="308919"/>
                  <a:pt x="247135" y="299716"/>
                  <a:pt x="247135" y="288324"/>
                </a:cubicBezTo>
                <a:lnTo>
                  <a:pt x="247135" y="247135"/>
                </a:lnTo>
                <a:cubicBezTo>
                  <a:pt x="247135" y="235744"/>
                  <a:pt x="256338" y="226541"/>
                  <a:pt x="267730" y="226541"/>
                </a:cubicBezTo>
                <a:lnTo>
                  <a:pt x="272878" y="226541"/>
                </a:lnTo>
                <a:lnTo>
                  <a:pt x="272878" y="190500"/>
                </a:lnTo>
                <a:cubicBezTo>
                  <a:pt x="272878" y="181940"/>
                  <a:pt x="265992" y="175054"/>
                  <a:pt x="257432" y="175054"/>
                </a:cubicBezTo>
                <a:lnTo>
                  <a:pt x="180203" y="175054"/>
                </a:lnTo>
                <a:lnTo>
                  <a:pt x="180203" y="226541"/>
                </a:lnTo>
                <a:lnTo>
                  <a:pt x="185351" y="226541"/>
                </a:lnTo>
                <a:cubicBezTo>
                  <a:pt x="196743" y="226541"/>
                  <a:pt x="205946" y="235744"/>
                  <a:pt x="205946" y="247135"/>
                </a:cubicBezTo>
                <a:lnTo>
                  <a:pt x="205946" y="288324"/>
                </a:lnTo>
                <a:cubicBezTo>
                  <a:pt x="205946" y="299716"/>
                  <a:pt x="196743" y="308919"/>
                  <a:pt x="185351" y="308919"/>
                </a:cubicBezTo>
                <a:lnTo>
                  <a:pt x="144162" y="308919"/>
                </a:lnTo>
                <a:cubicBezTo>
                  <a:pt x="132771" y="308919"/>
                  <a:pt x="123568" y="299716"/>
                  <a:pt x="123568" y="288324"/>
                </a:cubicBezTo>
                <a:lnTo>
                  <a:pt x="123568" y="247135"/>
                </a:lnTo>
                <a:cubicBezTo>
                  <a:pt x="123568" y="235744"/>
                  <a:pt x="132771" y="226541"/>
                  <a:pt x="144162" y="226541"/>
                </a:cubicBezTo>
                <a:lnTo>
                  <a:pt x="149311" y="226541"/>
                </a:lnTo>
                <a:lnTo>
                  <a:pt x="149311" y="175054"/>
                </a:lnTo>
                <a:lnTo>
                  <a:pt x="72081" y="175054"/>
                </a:lnTo>
                <a:cubicBezTo>
                  <a:pt x="63521" y="175054"/>
                  <a:pt x="56635" y="181940"/>
                  <a:pt x="56635" y="190500"/>
                </a:cubicBezTo>
                <a:lnTo>
                  <a:pt x="56635" y="226541"/>
                </a:lnTo>
                <a:lnTo>
                  <a:pt x="61784" y="226541"/>
                </a:lnTo>
                <a:cubicBezTo>
                  <a:pt x="73175" y="226541"/>
                  <a:pt x="82378" y="235744"/>
                  <a:pt x="82378" y="247135"/>
                </a:cubicBezTo>
                <a:lnTo>
                  <a:pt x="82378" y="288324"/>
                </a:lnTo>
                <a:cubicBezTo>
                  <a:pt x="82378" y="299716"/>
                  <a:pt x="73175" y="308919"/>
                  <a:pt x="61784" y="308919"/>
                </a:cubicBezTo>
                <a:lnTo>
                  <a:pt x="20595" y="308919"/>
                </a:lnTo>
                <a:cubicBezTo>
                  <a:pt x="9203" y="308919"/>
                  <a:pt x="0" y="299716"/>
                  <a:pt x="0" y="288324"/>
                </a:cubicBezTo>
                <a:lnTo>
                  <a:pt x="0" y="247135"/>
                </a:lnTo>
                <a:cubicBezTo>
                  <a:pt x="0" y="235744"/>
                  <a:pt x="9203" y="226541"/>
                  <a:pt x="20595" y="226541"/>
                </a:cubicBezTo>
                <a:lnTo>
                  <a:pt x="25743" y="226541"/>
                </a:lnTo>
                <a:lnTo>
                  <a:pt x="25743" y="190500"/>
                </a:lnTo>
                <a:cubicBezTo>
                  <a:pt x="25743" y="164885"/>
                  <a:pt x="46467" y="144162"/>
                  <a:pt x="72081" y="144162"/>
                </a:cubicBezTo>
                <a:lnTo>
                  <a:pt x="149311" y="144162"/>
                </a:lnTo>
                <a:lnTo>
                  <a:pt x="149311" y="102973"/>
                </a:lnTo>
                <a:lnTo>
                  <a:pt x="144162" y="102973"/>
                </a:lnTo>
                <a:cubicBezTo>
                  <a:pt x="132771" y="102973"/>
                  <a:pt x="123568" y="93770"/>
                  <a:pt x="123568" y="82378"/>
                </a:cubicBezTo>
                <a:lnTo>
                  <a:pt x="123568" y="41189"/>
                </a:ln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4"/>
          <p:cNvSpPr/>
          <p:nvPr/>
        </p:nvSpPr>
        <p:spPr>
          <a:xfrm>
            <a:off x="4946564" y="3595569"/>
            <a:ext cx="2297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1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Decision Trees</a:t>
            </a:r>
            <a:endParaRPr b="0" i="0" sz="1600" u="none" cap="none" strike="noStrike"/>
          </a:p>
        </p:txBody>
      </p:sp>
      <p:sp>
        <p:nvSpPr>
          <p:cNvPr id="986" name="Google Shape;986;p24"/>
          <p:cNvSpPr/>
          <p:nvPr/>
        </p:nvSpPr>
        <p:spPr>
          <a:xfrm>
            <a:off x="4960294" y="3925082"/>
            <a:ext cx="2270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human-like decisions and non-linear patterns</a:t>
            </a:r>
            <a:endParaRPr b="0" i="0" sz="1600" u="none" cap="none" strike="noStrike"/>
          </a:p>
        </p:txBody>
      </p:sp>
      <p:sp>
        <p:nvSpPr>
          <p:cNvPr id="987" name="Google Shape;987;p24"/>
          <p:cNvSpPr/>
          <p:nvPr/>
        </p:nvSpPr>
        <p:spPr>
          <a:xfrm>
            <a:off x="7611705" y="2911284"/>
            <a:ext cx="2581189" cy="1510270"/>
          </a:xfrm>
          <a:custGeom>
            <a:rect b="b" l="l" r="r" t="t"/>
            <a:pathLst>
              <a:path extrusionOk="0" h="1510270" w="2581189">
                <a:moveTo>
                  <a:pt x="73218" y="0"/>
                </a:moveTo>
                <a:lnTo>
                  <a:pt x="2507971" y="0"/>
                </a:lnTo>
                <a:cubicBezTo>
                  <a:pt x="2548408" y="0"/>
                  <a:pt x="2581189" y="32781"/>
                  <a:pt x="2581189" y="73218"/>
                </a:cubicBezTo>
                <a:lnTo>
                  <a:pt x="2581189" y="1437052"/>
                </a:lnTo>
                <a:cubicBezTo>
                  <a:pt x="2581189" y="1477489"/>
                  <a:pt x="2548408" y="1510270"/>
                  <a:pt x="2507971" y="1510270"/>
                </a:cubicBezTo>
                <a:lnTo>
                  <a:pt x="73218" y="1510270"/>
                </a:lnTo>
                <a:cubicBezTo>
                  <a:pt x="32781" y="1510270"/>
                  <a:pt x="0" y="1477489"/>
                  <a:pt x="0" y="1437052"/>
                </a:cubicBezTo>
                <a:lnTo>
                  <a:pt x="0" y="73218"/>
                </a:lnTo>
                <a:cubicBezTo>
                  <a:pt x="0" y="32808"/>
                  <a:pt x="32808" y="0"/>
                  <a:pt x="73218" y="0"/>
                </a:cubicBezTo>
                <a:close/>
              </a:path>
            </a:pathLst>
          </a:custGeom>
          <a:solidFill>
            <a:srgbClr val="3274B9">
              <a:alpha val="9800"/>
            </a:srgbClr>
          </a:solidFill>
          <a:ln cap="flat" cmpd="sng" w="12700">
            <a:solidFill>
              <a:srgbClr val="3274B9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4"/>
          <p:cNvSpPr/>
          <p:nvPr/>
        </p:nvSpPr>
        <p:spPr>
          <a:xfrm>
            <a:off x="8735970" y="3156218"/>
            <a:ext cx="329514" cy="329514"/>
          </a:xfrm>
          <a:custGeom>
            <a:rect b="b" l="l" r="r" t="t"/>
            <a:pathLst>
              <a:path extrusionOk="0" h="329514" w="329514">
                <a:moveTo>
                  <a:pt x="42412" y="147058"/>
                </a:moveTo>
                <a:cubicBezTo>
                  <a:pt x="50972" y="87205"/>
                  <a:pt x="102522" y="41189"/>
                  <a:pt x="164757" y="41189"/>
                </a:cubicBezTo>
                <a:cubicBezTo>
                  <a:pt x="198867" y="41189"/>
                  <a:pt x="229758" y="55026"/>
                  <a:pt x="252155" y="77358"/>
                </a:cubicBezTo>
                <a:cubicBezTo>
                  <a:pt x="252284" y="77487"/>
                  <a:pt x="252413" y="77616"/>
                  <a:pt x="252541" y="77745"/>
                </a:cubicBezTo>
                <a:lnTo>
                  <a:pt x="257432" y="82378"/>
                </a:lnTo>
                <a:lnTo>
                  <a:pt x="226605" y="82378"/>
                </a:lnTo>
                <a:cubicBezTo>
                  <a:pt x="215214" y="82378"/>
                  <a:pt x="206010" y="91582"/>
                  <a:pt x="206010" y="102973"/>
                </a:cubicBezTo>
                <a:cubicBezTo>
                  <a:pt x="206010" y="114364"/>
                  <a:pt x="215214" y="123568"/>
                  <a:pt x="226605" y="123568"/>
                </a:cubicBezTo>
                <a:lnTo>
                  <a:pt x="308983" y="123568"/>
                </a:lnTo>
                <a:cubicBezTo>
                  <a:pt x="320375" y="123568"/>
                  <a:pt x="329578" y="114364"/>
                  <a:pt x="329578" y="102973"/>
                </a:cubicBezTo>
                <a:lnTo>
                  <a:pt x="329578" y="20595"/>
                </a:lnTo>
                <a:cubicBezTo>
                  <a:pt x="329578" y="9203"/>
                  <a:pt x="320375" y="0"/>
                  <a:pt x="308983" y="0"/>
                </a:cubicBezTo>
                <a:cubicBezTo>
                  <a:pt x="297592" y="0"/>
                  <a:pt x="288389" y="9203"/>
                  <a:pt x="288389" y="20595"/>
                </a:cubicBezTo>
                <a:lnTo>
                  <a:pt x="288389" y="54962"/>
                </a:lnTo>
                <a:lnTo>
                  <a:pt x="281116" y="48076"/>
                </a:lnTo>
                <a:cubicBezTo>
                  <a:pt x="251318" y="18406"/>
                  <a:pt x="210129" y="0"/>
                  <a:pt x="164757" y="0"/>
                </a:cubicBezTo>
                <a:cubicBezTo>
                  <a:pt x="81735" y="0"/>
                  <a:pt x="13065" y="61398"/>
                  <a:pt x="1673" y="141266"/>
                </a:cubicBezTo>
                <a:cubicBezTo>
                  <a:pt x="64" y="152529"/>
                  <a:pt x="7852" y="162955"/>
                  <a:pt x="19114" y="164564"/>
                </a:cubicBezTo>
                <a:cubicBezTo>
                  <a:pt x="30377" y="166173"/>
                  <a:pt x="40803" y="158321"/>
                  <a:pt x="42412" y="147123"/>
                </a:cubicBezTo>
                <a:close/>
                <a:moveTo>
                  <a:pt x="327840" y="188247"/>
                </a:moveTo>
                <a:cubicBezTo>
                  <a:pt x="329449" y="176985"/>
                  <a:pt x="321597" y="166559"/>
                  <a:pt x="310399" y="164950"/>
                </a:cubicBezTo>
                <a:cubicBezTo>
                  <a:pt x="299201" y="163341"/>
                  <a:pt x="288710" y="171193"/>
                  <a:pt x="287102" y="182391"/>
                </a:cubicBezTo>
                <a:cubicBezTo>
                  <a:pt x="278542" y="242244"/>
                  <a:pt x="226991" y="288260"/>
                  <a:pt x="164757" y="288260"/>
                </a:cubicBezTo>
                <a:cubicBezTo>
                  <a:pt x="130647" y="288260"/>
                  <a:pt x="99755" y="274423"/>
                  <a:pt x="77358" y="252091"/>
                </a:cubicBezTo>
                <a:cubicBezTo>
                  <a:pt x="77230" y="251962"/>
                  <a:pt x="77101" y="251833"/>
                  <a:pt x="76972" y="251705"/>
                </a:cubicBezTo>
                <a:lnTo>
                  <a:pt x="72081" y="247071"/>
                </a:lnTo>
                <a:lnTo>
                  <a:pt x="102909" y="247071"/>
                </a:lnTo>
                <a:cubicBezTo>
                  <a:pt x="114300" y="247071"/>
                  <a:pt x="123503" y="237868"/>
                  <a:pt x="123503" y="226476"/>
                </a:cubicBezTo>
                <a:cubicBezTo>
                  <a:pt x="123503" y="215085"/>
                  <a:pt x="114300" y="205882"/>
                  <a:pt x="102909" y="205882"/>
                </a:cubicBezTo>
                <a:lnTo>
                  <a:pt x="20595" y="205946"/>
                </a:lnTo>
                <a:cubicBezTo>
                  <a:pt x="15124" y="205946"/>
                  <a:pt x="9847" y="208134"/>
                  <a:pt x="5985" y="212060"/>
                </a:cubicBezTo>
                <a:cubicBezTo>
                  <a:pt x="2124" y="215986"/>
                  <a:pt x="-64" y="221199"/>
                  <a:pt x="0" y="226734"/>
                </a:cubicBezTo>
                <a:lnTo>
                  <a:pt x="644" y="308468"/>
                </a:lnTo>
                <a:cubicBezTo>
                  <a:pt x="708" y="319860"/>
                  <a:pt x="10040" y="328999"/>
                  <a:pt x="21431" y="328870"/>
                </a:cubicBezTo>
                <a:cubicBezTo>
                  <a:pt x="32823" y="328741"/>
                  <a:pt x="41961" y="319474"/>
                  <a:pt x="41833" y="308082"/>
                </a:cubicBezTo>
                <a:lnTo>
                  <a:pt x="41575" y="274938"/>
                </a:lnTo>
                <a:lnTo>
                  <a:pt x="48462" y="281438"/>
                </a:lnTo>
                <a:cubicBezTo>
                  <a:pt x="78259" y="311107"/>
                  <a:pt x="119384" y="329514"/>
                  <a:pt x="164757" y="329514"/>
                </a:cubicBezTo>
                <a:cubicBezTo>
                  <a:pt x="247779" y="329514"/>
                  <a:pt x="316449" y="268116"/>
                  <a:pt x="327840" y="188247"/>
                </a:cubicBez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4"/>
          <p:cNvSpPr/>
          <p:nvPr/>
        </p:nvSpPr>
        <p:spPr>
          <a:xfrm>
            <a:off x="7753579" y="3595569"/>
            <a:ext cx="2297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1" u="none" cap="none" strike="noStrike">
                <a:solidFill>
                  <a:srgbClr val="F0F2F5"/>
                </a:solidFill>
                <a:latin typeface="Liter"/>
                <a:ea typeface="Liter"/>
                <a:cs typeface="Liter"/>
                <a:sym typeface="Liter"/>
              </a:rPr>
              <a:t>Support Vector Machines</a:t>
            </a:r>
            <a:endParaRPr b="0" i="0" sz="1600" u="none" cap="none" strike="noStrike"/>
          </a:p>
        </p:txBody>
      </p:sp>
      <p:sp>
        <p:nvSpPr>
          <p:cNvPr id="990" name="Google Shape;990;p24"/>
          <p:cNvSpPr/>
          <p:nvPr/>
        </p:nvSpPr>
        <p:spPr>
          <a:xfrm>
            <a:off x="7767309" y="3925082"/>
            <a:ext cx="2270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C7A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complex boundaries and high accuracy</a:t>
            </a:r>
            <a:endParaRPr b="0" i="0" sz="1600" u="none" cap="none" strike="noStrike"/>
          </a:p>
        </p:txBody>
      </p:sp>
      <p:sp>
        <p:nvSpPr>
          <p:cNvPr id="991" name="Google Shape;991;p24"/>
          <p:cNvSpPr/>
          <p:nvPr/>
        </p:nvSpPr>
        <p:spPr>
          <a:xfrm>
            <a:off x="1997819" y="4636060"/>
            <a:ext cx="8192072" cy="1327207"/>
          </a:xfrm>
          <a:custGeom>
            <a:rect b="b" l="l" r="r" t="t"/>
            <a:pathLst>
              <a:path extrusionOk="0" h="1327207" w="8192072">
                <a:moveTo>
                  <a:pt x="73222" y="0"/>
                </a:moveTo>
                <a:lnTo>
                  <a:pt x="8118850" y="0"/>
                </a:lnTo>
                <a:cubicBezTo>
                  <a:pt x="8159289" y="0"/>
                  <a:pt x="8192072" y="32783"/>
                  <a:pt x="8192072" y="73222"/>
                </a:cubicBezTo>
                <a:lnTo>
                  <a:pt x="8192072" y="1253985"/>
                </a:lnTo>
                <a:cubicBezTo>
                  <a:pt x="8192072" y="1294425"/>
                  <a:pt x="8159289" y="1327207"/>
                  <a:pt x="8118850" y="1327207"/>
                </a:cubicBezTo>
                <a:lnTo>
                  <a:pt x="73222" y="1327207"/>
                </a:lnTo>
                <a:cubicBezTo>
                  <a:pt x="32783" y="1327207"/>
                  <a:pt x="0" y="1294425"/>
                  <a:pt x="0" y="1253985"/>
                </a:cubicBezTo>
                <a:lnTo>
                  <a:pt x="0" y="73222"/>
                </a:lnTo>
                <a:cubicBezTo>
                  <a:pt x="0" y="32810"/>
                  <a:pt x="32810" y="0"/>
                  <a:pt x="73222" y="0"/>
                </a:cubicBezTo>
                <a:close/>
              </a:path>
            </a:pathLst>
          </a:custGeom>
          <a:solidFill>
            <a:srgbClr val="4DB59A">
              <a:alpha val="9800"/>
            </a:srgbClr>
          </a:solidFill>
          <a:ln cap="flat" cmpd="sng" w="12700">
            <a:solidFill>
              <a:srgbClr val="4DB59A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4"/>
          <p:cNvSpPr/>
          <p:nvPr/>
        </p:nvSpPr>
        <p:spPr>
          <a:xfrm>
            <a:off x="2130539" y="4830862"/>
            <a:ext cx="7926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9" u="none" cap="none" strike="noStrike">
                <a:solidFill>
                  <a:srgbClr val="F0F2F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Continue Your Journey</a:t>
            </a:r>
            <a:endParaRPr b="0" i="0" sz="1600" u="none" cap="none" strike="noStrike"/>
          </a:p>
        </p:txBody>
      </p:sp>
      <p:sp>
        <p:nvSpPr>
          <p:cNvPr id="993" name="Google Shape;993;p24"/>
          <p:cNvSpPr/>
          <p:nvPr/>
        </p:nvSpPr>
        <p:spPr>
          <a:xfrm>
            <a:off x="2212918" y="5292502"/>
            <a:ext cx="128144" cy="146450"/>
          </a:xfrm>
          <a:custGeom>
            <a:rect b="b" l="l" r="r" t="t"/>
            <a:pathLst>
              <a:path extrusionOk="0" h="146450" w="128144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/>
          <p:cNvSpPr/>
          <p:nvPr/>
        </p:nvSpPr>
        <p:spPr>
          <a:xfrm>
            <a:off x="2441747" y="5270213"/>
            <a:ext cx="191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3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Practice with Kaggle datasets</a:t>
            </a:r>
            <a:endParaRPr b="0" i="0" sz="1600" u="none" cap="none" strike="noStrike"/>
          </a:p>
        </p:txBody>
      </p:sp>
      <p:sp>
        <p:nvSpPr>
          <p:cNvPr id="995" name="Google Shape;995;p24"/>
          <p:cNvSpPr/>
          <p:nvPr/>
        </p:nvSpPr>
        <p:spPr>
          <a:xfrm>
            <a:off x="2212918" y="5585403"/>
            <a:ext cx="128144" cy="146450"/>
          </a:xfrm>
          <a:custGeom>
            <a:rect b="b" l="l" r="r" t="t"/>
            <a:pathLst>
              <a:path extrusionOk="0" h="146450" w="128144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4"/>
          <p:cNvSpPr/>
          <p:nvPr/>
        </p:nvSpPr>
        <p:spPr>
          <a:xfrm>
            <a:off x="2441747" y="5563114"/>
            <a:ext cx="35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3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Explore ensemble methods (Random Forest, XGBoost)</a:t>
            </a:r>
            <a:endParaRPr b="0" i="0" sz="1600" u="none" cap="none" strike="noStrike"/>
          </a:p>
        </p:txBody>
      </p:sp>
      <p:sp>
        <p:nvSpPr>
          <p:cNvPr id="997" name="Google Shape;997;p24"/>
          <p:cNvSpPr/>
          <p:nvPr/>
        </p:nvSpPr>
        <p:spPr>
          <a:xfrm>
            <a:off x="6194539" y="5593292"/>
            <a:ext cx="128144" cy="146450"/>
          </a:xfrm>
          <a:custGeom>
            <a:rect b="b" l="l" r="r" t="t"/>
            <a:pathLst>
              <a:path extrusionOk="0" h="146450" w="128144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4"/>
          <p:cNvSpPr/>
          <p:nvPr/>
        </p:nvSpPr>
        <p:spPr>
          <a:xfrm>
            <a:off x="6423368" y="5270213"/>
            <a:ext cx="2571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3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 neural networks for classification</a:t>
            </a:r>
            <a:endParaRPr b="0" i="0" sz="1600" u="none" cap="none" strike="noStrike"/>
          </a:p>
        </p:txBody>
      </p:sp>
      <p:sp>
        <p:nvSpPr>
          <p:cNvPr id="999" name="Google Shape;999;p24"/>
          <p:cNvSpPr/>
          <p:nvPr/>
        </p:nvSpPr>
        <p:spPr>
          <a:xfrm>
            <a:off x="6194539" y="5886193"/>
            <a:ext cx="128144" cy="146450"/>
          </a:xfrm>
          <a:custGeom>
            <a:rect b="b" l="l" r="r" t="t"/>
            <a:pathLst>
              <a:path extrusionOk="0" h="146450" w="128144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DB5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4"/>
          <p:cNvSpPr/>
          <p:nvPr/>
        </p:nvSpPr>
        <p:spPr>
          <a:xfrm>
            <a:off x="6423368" y="5563114"/>
            <a:ext cx="235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3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Study advanced feature engineering</a:t>
            </a:r>
            <a:endParaRPr b="0" i="0" sz="1600" u="none" cap="none" strike="noStrike"/>
          </a:p>
        </p:txBody>
      </p:sp>
      <p:sp>
        <p:nvSpPr>
          <p:cNvPr id="1001" name="Google Shape;1001;p24"/>
          <p:cNvSpPr/>
          <p:nvPr/>
        </p:nvSpPr>
        <p:spPr>
          <a:xfrm>
            <a:off x="1727801" y="6107765"/>
            <a:ext cx="8732108" cy="558342"/>
          </a:xfrm>
          <a:custGeom>
            <a:rect b="b" l="l" r="r" t="t"/>
            <a:pathLst>
              <a:path extrusionOk="0" h="558342" w="8732108">
                <a:moveTo>
                  <a:pt x="73227" y="0"/>
                </a:moveTo>
                <a:lnTo>
                  <a:pt x="8658882" y="0"/>
                </a:lnTo>
                <a:cubicBezTo>
                  <a:pt x="8699323" y="0"/>
                  <a:pt x="8732108" y="32785"/>
                  <a:pt x="8732108" y="73227"/>
                </a:cubicBezTo>
                <a:lnTo>
                  <a:pt x="8732108" y="485116"/>
                </a:lnTo>
                <a:cubicBezTo>
                  <a:pt x="8732108" y="525558"/>
                  <a:pt x="8699323" y="558342"/>
                  <a:pt x="8658882" y="558342"/>
                </a:cubicBezTo>
                <a:lnTo>
                  <a:pt x="73227" y="558342"/>
                </a:lnTo>
                <a:cubicBezTo>
                  <a:pt x="32812" y="558342"/>
                  <a:pt x="0" y="525531"/>
                  <a:pt x="0" y="485116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3274B9">
              <a:alpha val="20000"/>
            </a:srgbClr>
          </a:solidFill>
          <a:ln cap="flat" cmpd="sng" w="12700">
            <a:solidFill>
              <a:srgbClr val="3274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4"/>
          <p:cNvSpPr/>
          <p:nvPr/>
        </p:nvSpPr>
        <p:spPr>
          <a:xfrm>
            <a:off x="2059602" y="6295405"/>
            <a:ext cx="160180" cy="183063"/>
          </a:xfrm>
          <a:custGeom>
            <a:rect b="b" l="l" r="r" t="t"/>
            <a:pathLst>
              <a:path extrusionOk="0" h="183063" w="160180">
                <a:moveTo>
                  <a:pt x="0" y="77230"/>
                </a:moveTo>
                <a:cubicBezTo>
                  <a:pt x="0" y="53524"/>
                  <a:pt x="19200" y="34324"/>
                  <a:pt x="42905" y="34324"/>
                </a:cubicBezTo>
                <a:lnTo>
                  <a:pt x="45766" y="34324"/>
                </a:lnTo>
                <a:cubicBezTo>
                  <a:pt x="52094" y="34324"/>
                  <a:pt x="57207" y="39437"/>
                  <a:pt x="57207" y="45766"/>
                </a:cubicBezTo>
                <a:cubicBezTo>
                  <a:pt x="57207" y="52094"/>
                  <a:pt x="52094" y="57207"/>
                  <a:pt x="45766" y="57207"/>
                </a:cubicBezTo>
                <a:lnTo>
                  <a:pt x="42905" y="57207"/>
                </a:lnTo>
                <a:cubicBezTo>
                  <a:pt x="31857" y="57207"/>
                  <a:pt x="22883" y="66182"/>
                  <a:pt x="22883" y="77230"/>
                </a:cubicBezTo>
                <a:lnTo>
                  <a:pt x="22883" y="80090"/>
                </a:lnTo>
                <a:lnTo>
                  <a:pt x="45766" y="80090"/>
                </a:lnTo>
                <a:cubicBezTo>
                  <a:pt x="58387" y="80090"/>
                  <a:pt x="68649" y="90352"/>
                  <a:pt x="68649" y="102973"/>
                </a:cubicBezTo>
                <a:lnTo>
                  <a:pt x="68649" y="125856"/>
                </a:lnTo>
                <a:cubicBezTo>
                  <a:pt x="68649" y="138477"/>
                  <a:pt x="58387" y="148739"/>
                  <a:pt x="45766" y="148739"/>
                </a:cubicBezTo>
                <a:lnTo>
                  <a:pt x="22883" y="148739"/>
                </a:lnTo>
                <a:cubicBezTo>
                  <a:pt x="10262" y="148739"/>
                  <a:pt x="0" y="138477"/>
                  <a:pt x="0" y="125856"/>
                </a:cubicBezTo>
                <a:lnTo>
                  <a:pt x="0" y="77230"/>
                </a:lnTo>
                <a:close/>
                <a:moveTo>
                  <a:pt x="91532" y="77230"/>
                </a:moveTo>
                <a:cubicBezTo>
                  <a:pt x="91532" y="53524"/>
                  <a:pt x="110732" y="34324"/>
                  <a:pt x="134437" y="34324"/>
                </a:cubicBezTo>
                <a:lnTo>
                  <a:pt x="137297" y="34324"/>
                </a:lnTo>
                <a:cubicBezTo>
                  <a:pt x="143626" y="34324"/>
                  <a:pt x="148739" y="39437"/>
                  <a:pt x="148739" y="45766"/>
                </a:cubicBezTo>
                <a:cubicBezTo>
                  <a:pt x="148739" y="52094"/>
                  <a:pt x="143626" y="57207"/>
                  <a:pt x="137297" y="57207"/>
                </a:cubicBezTo>
                <a:lnTo>
                  <a:pt x="134437" y="57207"/>
                </a:lnTo>
                <a:cubicBezTo>
                  <a:pt x="123389" y="57207"/>
                  <a:pt x="114414" y="66182"/>
                  <a:pt x="114414" y="77230"/>
                </a:cubicBezTo>
                <a:lnTo>
                  <a:pt x="114414" y="80090"/>
                </a:lnTo>
                <a:lnTo>
                  <a:pt x="137297" y="80090"/>
                </a:lnTo>
                <a:cubicBezTo>
                  <a:pt x="149919" y="80090"/>
                  <a:pt x="160180" y="90352"/>
                  <a:pt x="160180" y="102973"/>
                </a:cubicBezTo>
                <a:lnTo>
                  <a:pt x="160180" y="125856"/>
                </a:lnTo>
                <a:cubicBezTo>
                  <a:pt x="160180" y="138477"/>
                  <a:pt x="149919" y="148739"/>
                  <a:pt x="137297" y="148739"/>
                </a:cubicBezTo>
                <a:lnTo>
                  <a:pt x="114414" y="148739"/>
                </a:lnTo>
                <a:cubicBezTo>
                  <a:pt x="101793" y="148739"/>
                  <a:pt x="91532" y="138477"/>
                  <a:pt x="91532" y="125856"/>
                </a:cubicBezTo>
                <a:lnTo>
                  <a:pt x="91532" y="77230"/>
                </a:lnTo>
                <a:close/>
              </a:path>
            </a:pathLst>
          </a:custGeom>
          <a:solidFill>
            <a:srgbClr val="3274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4"/>
          <p:cNvSpPr/>
          <p:nvPr/>
        </p:nvSpPr>
        <p:spPr>
          <a:xfrm>
            <a:off x="2261116" y="6258792"/>
            <a:ext cx="79470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1" u="none" cap="none" strike="noStrike">
                <a:solidFill>
                  <a:srgbClr val="F0F2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best way to learn is by doing. Start with simple models, understand your data, and iterate.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bdd09a48f7_0_0"/>
          <p:cNvSpPr txBox="1"/>
          <p:nvPr/>
        </p:nvSpPr>
        <p:spPr>
          <a:xfrm>
            <a:off x="1104300" y="964400"/>
            <a:ext cx="9983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accent6"/>
                </a:solidFill>
              </a:rPr>
              <a:t>Important Links:</a:t>
            </a:r>
            <a:endParaRPr b="1" sz="4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Notebook: </a:t>
            </a:r>
            <a:r>
              <a:rPr lang="en-US" sz="3000" u="sng">
                <a:solidFill>
                  <a:schemeClr val="hlink"/>
                </a:solidFill>
                <a:hlinkClick r:id="rId3"/>
              </a:rPr>
              <a:t>Click Here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2026-01-22T05:24:11Z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{"Label":"Supervised Learning Classification Algorithms","ContentProducer":"001191110108MACG2KBH8F10000","ProduceID":"19be4211-f422-8021-8000-00000c9dbadc","ReservedCode1":"","ContentPropagator":"001191110108MACG2KBH8F20000","PropagateID":"19be4211-f422-8021-8000-00000c9dbadc","ReservedCode2":""}</vt:lpwstr>
  </property>
</Properties>
</file>